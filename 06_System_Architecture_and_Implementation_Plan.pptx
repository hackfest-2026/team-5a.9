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slide. The top band is what the user sees: the companion panel docked in our ERP web app. The agent controller in the middle never clicks: it calls typed tools, every call is checked against the catalogue's contracts, and views are set by URL and read back. Data comes from each widget's own query, so the numbers match the screen and carry evidence IDs. The amber numbers 1 to 6 on the arrows are the same six steps as the user workflow strip at the bottom. Creating a case is the only write, and it waits for the user's confirmation. Every call is logged, and the runner turns the log into the KPI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 every library is MIT, BSD or Apache-2.0; SQL Server with the Wide World Importers sample is already restored, and the agent connects with a read-only login. The model is still an open choice: any hosted model with tool calling and structured output. Team: in the first hour we agree three shared formats (catalogue schema, tool input and output with evidence IDs, trace-log format) so all four people can work in parallel against mock data. Timeline: each milestone ends with a working demo, so we can stop after any of them. Stretch work, only if ahead: retrieval test on a padded catalogue, guarded SQL, a page-agent baseline, the validator on/off ablation.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11277295" cy="566928"/>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92608"/>
            <a:ext cx="11277295" cy="566928"/>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92608"/>
            <a:ext cx="11277295" cy="566928"/>
          </a:xfrm>
        </p:spPr>
        <p:txBody>
          <a:bodyPr lIns="0" tIns="0" rIns="0" bIns="0" wrap="square" anchor="ctr">
            <a:noAutofit/>
          </a:bodyPr>
          <a:lstStyle/>
          <a:p>
            <a:pPr algn="l">
              <a:lnSpc>
                <a:spcPct val="100000"/>
              </a:lnSpc>
            </a:pPr>
            <a:r>
              <a:rPr sz="3600" b="1">
                <a:solidFill>
                  <a:schemeClr val="tx2"/>
                </a:solidFill>
              </a:rPr>
              <a:t>System Architecture and Workflow</a:t>
            </a:r>
          </a:p>
        </p:txBody>
      </p:sp>
      <p:sp>
        <p:nvSpPr>
          <p:cNvPr id="3" name="Subtitle"/>
          <p:cNvSpPr txBox="1"/>
          <p:nvPr/>
        </p:nvSpPr>
        <p:spPr>
          <a:xfrm>
            <a:off x="457200" y="868680"/>
            <a:ext cx="11277295" cy="329184"/>
          </a:xfrm>
          <a:prstGeom prst="rect">
            <a:avLst/>
          </a:prstGeom>
          <a:noFill/>
        </p:spPr>
        <p:txBody>
          <a:bodyPr wrap="square" lIns="0" tIns="0" rIns="0" bIns="0" anchor="t">
            <a:noAutofit/>
          </a:bodyPr>
          <a:lstStyle/>
          <a:p>
            <a:pPr algn="l">
              <a:lnSpc>
                <a:spcPct val="100000"/>
              </a:lnSpc>
            </a:pPr>
            <a:r>
              <a:rPr sz="1400" b="0">
                <a:solidFill>
                  <a:schemeClr val="accent3"/>
                </a:solidFill>
              </a:rPr>
              <a:t>One catalogue drives the app and the agent; the agent acts through checked URL state; every number it reports carries evidence</a:t>
            </a:r>
          </a:p>
        </p:txBody>
      </p:sp>
      <p:sp>
        <p:nvSpPr>
          <p:cNvPr id="4" name="Layer: Application and UX"/>
          <p:cNvSpPr/>
          <p:nvPr/>
        </p:nvSpPr>
        <p:spPr>
          <a:xfrm>
            <a:off x="457200" y="1325880"/>
            <a:ext cx="11277295" cy="868680"/>
          </a:xfrm>
          <a:prstGeom prst="roundRect">
            <a:avLst>
              <a:gd name="adj" fmla="val 1052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ader: Application and UX"/>
          <p:cNvSpPr txBox="1"/>
          <p:nvPr/>
        </p:nvSpPr>
        <p:spPr>
          <a:xfrm>
            <a:off x="594360" y="1371600"/>
            <a:ext cx="5486400" cy="237744"/>
          </a:xfrm>
          <a:prstGeom prst="rect">
            <a:avLst/>
          </a:prstGeom>
          <a:noFill/>
        </p:spPr>
        <p:txBody>
          <a:bodyPr wrap="square" lIns="0" tIns="0" rIns="0" bIns="0" anchor="t">
            <a:noAutofit/>
          </a:bodyPr>
          <a:lstStyle/>
          <a:p>
            <a:pPr algn="l">
              <a:lnSpc>
                <a:spcPct val="100000"/>
              </a:lnSpc>
            </a:pPr>
            <a:r>
              <a:rPr sz="1100" b="1">
                <a:solidFill>
                  <a:schemeClr val="tx2"/>
                </a:solidFill>
              </a:rPr>
              <a:t>APPLICATION AND UX · IN THE BROWSER</a:t>
            </a:r>
          </a:p>
        </p:txBody>
      </p:sp>
      <p:sp>
        <p:nvSpPr>
          <p:cNvPr id="6" name="User"/>
          <p:cNvSpPr/>
          <p:nvPr/>
        </p:nvSpPr>
        <p:spPr>
          <a:xfrm>
            <a:off x="603504" y="1645920"/>
            <a:ext cx="475488" cy="47548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bg1"/>
                </a:solidFill>
              </a:rPr>
              <a:t>User</a:t>
            </a:r>
          </a:p>
        </p:txBody>
      </p:sp>
      <p:cxnSp>
        <p:nvCxnSpPr>
          <p:cNvPr id="7" name="Arrow user to panel"/>
          <p:cNvCxnSpPr/>
          <p:nvPr/>
        </p:nvCxnSpPr>
        <p:spPr>
          <a:xfrm>
            <a:off x="1088136" y="1883664"/>
            <a:ext cx="219456" cy="0"/>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Companion panel"/>
          <p:cNvSpPr/>
          <p:nvPr/>
        </p:nvSpPr>
        <p:spPr>
          <a:xfrm>
            <a:off x="1325880" y="1627632"/>
            <a:ext cx="3840480" cy="512064"/>
          </a:xfrm>
          <a:prstGeom prst="roundRect">
            <a:avLst>
              <a:gd name="adj" fmla="val 10714"/>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noAutofit/>
          </a:bodyPr>
          <a:lstStyle/>
          <a:p>
            <a:pPr algn="l">
              <a:lnSpc>
                <a:spcPct val="100000"/>
              </a:lnSpc>
            </a:pPr>
            <a:r>
              <a:rPr sz="1200" b="1">
                <a:solidFill>
                  <a:schemeClr val="tx2"/>
                </a:solidFill>
              </a:rPr>
              <a:t>Companion panel</a:t>
            </a:r>
            <a:r>
              <a:rPr sz="1050" b="0">
                <a:solidFill>
                  <a:schemeClr val="tx1"/>
                </a:solidFill>
              </a:rPr>
              <a:t> — chat, live action steps, fact labels, evidence links, charts, confirmation card</a:t>
            </a:r>
          </a:p>
        </p:txBody>
      </p:sp>
      <p:sp>
        <p:nvSpPr>
          <p:cNvPr id="9" name="Label: context"/>
          <p:cNvSpPr txBox="1"/>
          <p:nvPr/>
        </p:nvSpPr>
        <p:spPr>
          <a:xfrm>
            <a:off x="5166360" y="1645920"/>
            <a:ext cx="521207" cy="201168"/>
          </a:xfrm>
          <a:prstGeom prst="rect">
            <a:avLst/>
          </a:prstGeom>
          <a:noFill/>
        </p:spPr>
        <p:txBody>
          <a:bodyPr wrap="square" lIns="0" tIns="0" rIns="0" bIns="0" anchor="t">
            <a:noAutofit/>
          </a:bodyPr>
          <a:lstStyle/>
          <a:p>
            <a:pPr algn="ctr">
              <a:lnSpc>
                <a:spcPct val="100000"/>
              </a:lnSpc>
            </a:pPr>
            <a:r>
              <a:rPr sz="1000" b="0">
                <a:solidFill>
                  <a:schemeClr val="accent3"/>
                </a:solidFill>
              </a:rPr>
              <a:t>context</a:t>
            </a:r>
          </a:p>
        </p:txBody>
      </p:sp>
      <p:cxnSp>
        <p:nvCxnSpPr>
          <p:cNvPr id="10" name="Arrow app context to panel"/>
          <p:cNvCxnSpPr/>
          <p:nvPr/>
        </p:nvCxnSpPr>
        <p:spPr>
          <a:xfrm flipH="1">
            <a:off x="5184648" y="1938528"/>
            <a:ext cx="493776" cy="0"/>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ERP web app"/>
          <p:cNvSpPr/>
          <p:nvPr/>
        </p:nvSpPr>
        <p:spPr>
          <a:xfrm>
            <a:off x="5687568" y="1627632"/>
            <a:ext cx="5907024" cy="512064"/>
          </a:xfrm>
          <a:prstGeom prst="roundRect">
            <a:avLst>
              <a:gd name="adj" fmla="val 10714"/>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noAutofit/>
          </a:bodyPr>
          <a:lstStyle/>
          <a:p>
            <a:pPr algn="l">
              <a:lnSpc>
                <a:spcPct val="100000"/>
              </a:lnSpc>
            </a:pPr>
            <a:r>
              <a:rPr sz="1200" b="1">
                <a:solidFill>
                  <a:schemeClr val="tx2"/>
                </a:solidFill>
              </a:rPr>
              <a:t>ERP web app</a:t>
            </a:r>
            <a:r>
              <a:rPr sz="1050" b="0">
                <a:solidFill>
                  <a:schemeClr val="tx1"/>
                </a:solidFill>
              </a:rPr>
              <a:t> — Orders · Inventory · Purchasing · Cases, rendered from the catalogue. Page, filters, dates, sort and selection live in the URL.</a:t>
            </a:r>
          </a:p>
        </p:txBody>
      </p:sp>
      <p:sp>
        <p:nvSpPr>
          <p:cNvPr id="12" name="Layer: Agent controller"/>
          <p:cNvSpPr/>
          <p:nvPr/>
        </p:nvSpPr>
        <p:spPr>
          <a:xfrm>
            <a:off x="457200" y="2514600"/>
            <a:ext cx="4389120" cy="2148840"/>
          </a:xfrm>
          <a:prstGeom prst="roundRect">
            <a:avLst>
              <a:gd name="adj" fmla="val 4255"/>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eader: Agent controller"/>
          <p:cNvSpPr txBox="1"/>
          <p:nvPr/>
        </p:nvSpPr>
        <p:spPr>
          <a:xfrm>
            <a:off x="594360" y="2560320"/>
            <a:ext cx="4114800" cy="237744"/>
          </a:xfrm>
          <a:prstGeom prst="rect">
            <a:avLst/>
          </a:prstGeom>
          <a:noFill/>
        </p:spPr>
        <p:txBody>
          <a:bodyPr wrap="square" lIns="0" tIns="0" rIns="0" bIns="0" anchor="t">
            <a:noAutofit/>
          </a:bodyPr>
          <a:lstStyle/>
          <a:p>
            <a:pPr algn="l">
              <a:lnSpc>
                <a:spcPct val="100000"/>
              </a:lnSpc>
            </a:pPr>
            <a:r>
              <a:rPr sz="1100" b="1">
                <a:solidFill>
                  <a:schemeClr val="tx2"/>
                </a:solidFill>
              </a:rPr>
              <a:t>AGENT CONTROLLER · LANGGRAPH</a:t>
            </a:r>
          </a:p>
        </p:txBody>
      </p:sp>
      <p:sp>
        <p:nvSpPr>
          <p:cNvPr id="14" name="Intent and slots"/>
          <p:cNvSpPr/>
          <p:nvPr/>
        </p:nvSpPr>
        <p:spPr>
          <a:xfrm>
            <a:off x="594360" y="2852928"/>
            <a:ext cx="2011680" cy="804672"/>
          </a:xfrm>
          <a:prstGeom prst="roundRect">
            <a:avLst>
              <a:gd name="adj" fmla="val 6818"/>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200" b="1">
                <a:solidFill>
                  <a:schemeClr val="tx2"/>
                </a:solidFill>
              </a:rPr>
              <a:t>Intent and slots</a:t>
            </a:r>
          </a:p>
          <a:p>
            <a:pPr algn="l">
              <a:lnSpc>
                <a:spcPct val="100000"/>
              </a:lnSpc>
            </a:pPr>
            <a:r>
              <a:rPr sz="1050" b="0">
                <a:solidFill>
                  <a:schemeClr val="tx1"/>
                </a:solidFill>
              </a:rPr>
              <a:t>Entity, measure, period and filters; dates read on the scenario clock</a:t>
            </a:r>
          </a:p>
        </p:txBody>
      </p:sp>
      <p:sp>
        <p:nvSpPr>
          <p:cNvPr id="15" name="Router"/>
          <p:cNvSpPr/>
          <p:nvPr/>
        </p:nvSpPr>
        <p:spPr>
          <a:xfrm>
            <a:off x="2697480" y="2852928"/>
            <a:ext cx="2011680" cy="804672"/>
          </a:xfrm>
          <a:prstGeom prst="roundRect">
            <a:avLst>
              <a:gd name="adj" fmla="val 6818"/>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200" b="1">
                <a:solidFill>
                  <a:schemeClr val="tx2"/>
                </a:solidFill>
              </a:rPr>
              <a:t>Router</a:t>
            </a:r>
          </a:p>
          <a:p>
            <a:pPr algn="l">
              <a:lnSpc>
                <a:spcPct val="100000"/>
              </a:lnSpc>
            </a:pPr>
            <a:r>
              <a:rPr sz="1050" b="0">
                <a:solidFill>
                  <a:schemeClr val="tx1"/>
                </a:solidFill>
              </a:rPr>
              <a:t>Keeps pages that fit the slots and picks one or none; asks or abstains</a:t>
            </a:r>
          </a:p>
        </p:txBody>
      </p:sp>
      <p:sp>
        <p:nvSpPr>
          <p:cNvPr id="16" name="Tool loop and state"/>
          <p:cNvSpPr/>
          <p:nvPr/>
        </p:nvSpPr>
        <p:spPr>
          <a:xfrm>
            <a:off x="594360" y="3730752"/>
            <a:ext cx="2011680" cy="804672"/>
          </a:xfrm>
          <a:prstGeom prst="roundRect">
            <a:avLst>
              <a:gd name="adj" fmla="val 6818"/>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200" b="1">
                <a:solidFill>
                  <a:schemeClr val="tx2"/>
                </a:solidFill>
              </a:rPr>
              <a:t>Tool loop and state</a:t>
            </a:r>
          </a:p>
          <a:p>
            <a:pPr algn="l">
              <a:lnSpc>
                <a:spcPct val="100000"/>
              </a:lnSpc>
            </a:pPr>
            <a:r>
              <a:rPr sz="1050" b="0">
                <a:solidFill>
                  <a:schemeClr val="tx1"/>
                </a:solidFill>
              </a:rPr>
              <a:t>Step limit; next step chosen from results; context kept per conversation</a:t>
            </a:r>
          </a:p>
        </p:txBody>
      </p:sp>
      <p:sp>
        <p:nvSpPr>
          <p:cNvPr id="17" name="Answer composer"/>
          <p:cNvSpPr/>
          <p:nvPr/>
        </p:nvSpPr>
        <p:spPr>
          <a:xfrm>
            <a:off x="2697480" y="3730752"/>
            <a:ext cx="2011680" cy="804672"/>
          </a:xfrm>
          <a:prstGeom prst="roundRect">
            <a:avLst>
              <a:gd name="adj" fmla="val 6818"/>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200" b="1">
                <a:solidFill>
                  <a:schemeClr val="tx2"/>
                </a:solidFill>
              </a:rPr>
              <a:t>Answer composer</a:t>
            </a:r>
          </a:p>
          <a:p>
            <a:pPr algn="l">
              <a:lnSpc>
                <a:spcPct val="100000"/>
              </a:lnSpc>
            </a:pPr>
            <a:r>
              <a:rPr sz="1050" b="0">
                <a:solidFill>
                  <a:schemeClr val="tx1"/>
                </a:solidFill>
              </a:rPr>
              <a:t>Every number checked against an evidence ID; observed, calculated or inferred</a:t>
            </a:r>
          </a:p>
        </p:txBody>
      </p:sp>
      <p:sp>
        <p:nvSpPr>
          <p:cNvPr id="18" name="Layer: Tools and guardrails"/>
          <p:cNvSpPr/>
          <p:nvPr/>
        </p:nvSpPr>
        <p:spPr>
          <a:xfrm>
            <a:off x="5212080" y="2514600"/>
            <a:ext cx="4754880" cy="2148840"/>
          </a:xfrm>
          <a:prstGeom prst="roundRect">
            <a:avLst>
              <a:gd name="adj" fmla="val 4255"/>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ader: Tools and guardrails"/>
          <p:cNvSpPr txBox="1"/>
          <p:nvPr/>
        </p:nvSpPr>
        <p:spPr>
          <a:xfrm>
            <a:off x="5349240" y="2560320"/>
            <a:ext cx="4480560" cy="237744"/>
          </a:xfrm>
          <a:prstGeom prst="rect">
            <a:avLst/>
          </a:prstGeom>
          <a:noFill/>
        </p:spPr>
        <p:txBody>
          <a:bodyPr wrap="square" lIns="0" tIns="0" rIns="0" bIns="0" anchor="t">
            <a:noAutofit/>
          </a:bodyPr>
          <a:lstStyle/>
          <a:p>
            <a:pPr algn="l">
              <a:lnSpc>
                <a:spcPct val="100000"/>
              </a:lnSpc>
            </a:pPr>
            <a:r>
              <a:rPr sz="1100" b="1">
                <a:solidFill>
                  <a:schemeClr val="tx2"/>
                </a:solidFill>
              </a:rPr>
              <a:t>TOOLS AND GUARDRAILS</a:t>
            </a:r>
          </a:p>
        </p:txBody>
      </p:sp>
      <p:sp>
        <p:nvSpPr>
          <p:cNvPr id="20" name="Contract validator"/>
          <p:cNvSpPr/>
          <p:nvPr/>
        </p:nvSpPr>
        <p:spPr>
          <a:xfrm>
            <a:off x="5349240" y="2852928"/>
            <a:ext cx="4480560" cy="365760"/>
          </a:xfrm>
          <a:prstGeom prst="roundRect">
            <a:avLst>
              <a:gd name="adj" fmla="val 15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noAutofit/>
          </a:bodyPr>
          <a:lstStyle/>
          <a:p>
            <a:pPr algn="l">
              <a:lnSpc>
                <a:spcPct val="100000"/>
              </a:lnSpc>
            </a:pPr>
            <a:r>
              <a:rPr sz="1200" b="1">
                <a:solidFill>
                  <a:schemeClr val="bg1"/>
                </a:solidFill>
              </a:rPr>
              <a:t>Contract validator</a:t>
            </a:r>
            <a:r>
              <a:rPr sz="1050" b="0">
                <a:solidFill>
                  <a:schemeClr val="bg1"/>
                </a:solidFill>
              </a:rPr>
              <a:t> — checks every call against the catalogue before it runs</a:t>
            </a:r>
          </a:p>
        </p:txBody>
      </p:sp>
      <p:sp>
        <p:nvSpPr>
          <p:cNvPr id="21" name="resolve_entity"/>
          <p:cNvSpPr/>
          <p:nvPr/>
        </p:nvSpPr>
        <p:spPr>
          <a:xfrm>
            <a:off x="5349240" y="3291840"/>
            <a:ext cx="2194560" cy="640080"/>
          </a:xfrm>
          <a:prstGeom prst="roundRect">
            <a:avLst>
              <a:gd name="adj" fmla="val 8571"/>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150" b="1">
                <a:solidFill>
                  <a:schemeClr val="tx2"/>
                </a:solidFill>
              </a:rPr>
              <a:t>resolve_entity</a:t>
            </a:r>
          </a:p>
          <a:p>
            <a:pPr algn="l">
              <a:lnSpc>
                <a:spcPct val="100000"/>
              </a:lnSpc>
            </a:pPr>
            <a:r>
              <a:rPr sz="1050" b="0">
                <a:solidFill>
                  <a:schemeClr val="tx1"/>
                </a:solidFill>
              </a:rPr>
              <a:t>Names to database IDs; several matches become options</a:t>
            </a:r>
          </a:p>
        </p:txBody>
      </p:sp>
      <p:sp>
        <p:nvSpPr>
          <p:cNvPr id="22" name="configure_view"/>
          <p:cNvSpPr/>
          <p:nvPr/>
        </p:nvSpPr>
        <p:spPr>
          <a:xfrm>
            <a:off x="7635240" y="3291840"/>
            <a:ext cx="2194560" cy="640080"/>
          </a:xfrm>
          <a:prstGeom prst="roundRect">
            <a:avLst>
              <a:gd name="adj" fmla="val 8571"/>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150" b="1">
                <a:solidFill>
                  <a:schemeClr val="tx2"/>
                </a:solidFill>
              </a:rPr>
              <a:t>configure_view</a:t>
            </a:r>
          </a:p>
          <a:p>
            <a:pPr algn="l">
              <a:lnSpc>
                <a:spcPct val="100000"/>
              </a:lnSpc>
            </a:pPr>
            <a:r>
              <a:rPr sz="1050" b="0">
                <a:solidFill>
                  <a:schemeClr val="tx1"/>
                </a:solidFill>
              </a:rPr>
              <a:t>Sets the URL, reads back the applied state, retries or restores</a:t>
            </a:r>
          </a:p>
        </p:txBody>
      </p:sp>
      <p:sp>
        <p:nvSpPr>
          <p:cNvPr id="23" name="read_widget, compare_periods"/>
          <p:cNvSpPr/>
          <p:nvPr/>
        </p:nvSpPr>
        <p:spPr>
          <a:xfrm>
            <a:off x="5349240" y="3986784"/>
            <a:ext cx="2194560" cy="640080"/>
          </a:xfrm>
          <a:prstGeom prst="roundRect">
            <a:avLst>
              <a:gd name="adj" fmla="val 8571"/>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150" b="1">
                <a:solidFill>
                  <a:schemeClr val="tx2"/>
                </a:solidFill>
              </a:rPr>
              <a:t>read_widget, compare_periods</a:t>
            </a:r>
          </a:p>
          <a:p>
            <a:pPr algn="l">
              <a:lnSpc>
                <a:spcPct val="100000"/>
              </a:lnSpc>
            </a:pPr>
            <a:r>
              <a:rPr sz="1050" b="0">
                <a:solidFill>
                  <a:schemeClr val="tx1"/>
                </a:solidFill>
              </a:rPr>
              <a:t>The widget's own query; rows carry evidence IDs</a:t>
            </a:r>
          </a:p>
        </p:txBody>
      </p:sp>
      <p:sp>
        <p:nvSpPr>
          <p:cNvPr id="24" name="create_case"/>
          <p:cNvSpPr/>
          <p:nvPr/>
        </p:nvSpPr>
        <p:spPr>
          <a:xfrm>
            <a:off x="7635240" y="3986784"/>
            <a:ext cx="2194560" cy="640080"/>
          </a:xfrm>
          <a:prstGeom prst="roundRect">
            <a:avLst>
              <a:gd name="adj" fmla="val 8571"/>
            </a:avLst>
          </a:prstGeom>
          <a:solidFill>
            <a:schemeClr val="bg1"/>
          </a:solidFill>
          <a:ln w="15875">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150" b="1">
                <a:solidFill>
                  <a:schemeClr val="tx2"/>
                </a:solidFill>
              </a:rPr>
              <a:t>create_case</a:t>
            </a:r>
          </a:p>
          <a:p>
            <a:pPr algn="l">
              <a:lnSpc>
                <a:spcPct val="100000"/>
              </a:lnSpc>
            </a:pPr>
            <a:r>
              <a:rPr sz="1050" b="0">
                <a:solidFill>
                  <a:schemeClr val="tx1"/>
                </a:solidFill>
              </a:rPr>
              <a:t>The only write; runs after the user confirms</a:t>
            </a:r>
          </a:p>
        </p:txBody>
      </p:sp>
      <p:sp>
        <p:nvSpPr>
          <p:cNvPr id="25" name="Layer: Evaluation"/>
          <p:cNvSpPr/>
          <p:nvPr/>
        </p:nvSpPr>
        <p:spPr>
          <a:xfrm>
            <a:off x="10332720" y="2514600"/>
            <a:ext cx="1401775" cy="3044952"/>
          </a:xfrm>
          <a:prstGeom prst="roundRect">
            <a:avLst>
              <a:gd name="adj" fmla="val 6523"/>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eader: Evaluation"/>
          <p:cNvSpPr txBox="1"/>
          <p:nvPr/>
        </p:nvSpPr>
        <p:spPr>
          <a:xfrm>
            <a:off x="10424160" y="2560320"/>
            <a:ext cx="1218895" cy="237744"/>
          </a:xfrm>
          <a:prstGeom prst="rect">
            <a:avLst/>
          </a:prstGeom>
          <a:noFill/>
        </p:spPr>
        <p:txBody>
          <a:bodyPr wrap="square" lIns="0" tIns="0" rIns="0" bIns="0" anchor="t">
            <a:noAutofit/>
          </a:bodyPr>
          <a:lstStyle/>
          <a:p>
            <a:pPr algn="l">
              <a:lnSpc>
                <a:spcPct val="100000"/>
              </a:lnSpc>
            </a:pPr>
            <a:r>
              <a:rPr sz="1100" b="1">
                <a:solidFill>
                  <a:schemeClr val="tx2"/>
                </a:solidFill>
              </a:rPr>
              <a:t>EVALUATION</a:t>
            </a:r>
          </a:p>
        </p:txBody>
      </p:sp>
      <p:sp>
        <p:nvSpPr>
          <p:cNvPr id="27" name="Trace log"/>
          <p:cNvSpPr/>
          <p:nvPr/>
        </p:nvSpPr>
        <p:spPr>
          <a:xfrm>
            <a:off x="10424160" y="2852928"/>
            <a:ext cx="1218895" cy="768096"/>
          </a:xfrm>
          <a:prstGeom prst="roundRect">
            <a:avLst>
              <a:gd name="adj" fmla="val 7142"/>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150" b="1">
                <a:solidFill>
                  <a:schemeClr val="tx2"/>
                </a:solidFill>
              </a:rPr>
              <a:t>Trace log</a:t>
            </a:r>
          </a:p>
          <a:p>
            <a:pPr algn="l">
              <a:lnSpc>
                <a:spcPct val="100000"/>
              </a:lnSpc>
            </a:pPr>
            <a:r>
              <a:rPr sz="1000" b="0">
                <a:solidFill>
                  <a:schemeClr val="tx1"/>
                </a:solidFill>
              </a:rPr>
              <a:t>Every call, requested vs applied state</a:t>
            </a:r>
          </a:p>
        </p:txBody>
      </p:sp>
      <p:cxnSp>
        <p:nvCxnSpPr>
          <p:cNvPr id="28" name="Arrow eval 0"/>
          <p:cNvCxnSpPr/>
          <p:nvPr/>
        </p:nvCxnSpPr>
        <p:spPr>
          <a:xfrm>
            <a:off x="11033607" y="3621024"/>
            <a:ext cx="0" cy="146304"/>
          </a:xfrm>
          <a:prstGeom prst="line">
            <a:avLst/>
          </a:prstGeom>
          <a:ln w="15875">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ask runner"/>
          <p:cNvSpPr/>
          <p:nvPr/>
        </p:nvSpPr>
        <p:spPr>
          <a:xfrm>
            <a:off x="10424160" y="3767328"/>
            <a:ext cx="1218895" cy="768096"/>
          </a:xfrm>
          <a:prstGeom prst="roundRect">
            <a:avLst>
              <a:gd name="adj" fmla="val 7142"/>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150" b="1">
                <a:solidFill>
                  <a:schemeClr val="tx2"/>
                </a:solidFill>
              </a:rPr>
              <a:t>Task runner</a:t>
            </a:r>
          </a:p>
          <a:p>
            <a:pPr algn="l">
              <a:lnSpc>
                <a:spcPct val="100000"/>
              </a:lnSpc>
            </a:pPr>
            <a:r>
              <a:rPr sz="1000" b="0">
                <a:solidFill>
                  <a:schemeClr val="tx1"/>
                </a:solidFill>
              </a:rPr>
              <a:t>About 25 tasks, scored on final state</a:t>
            </a:r>
          </a:p>
        </p:txBody>
      </p:sp>
      <p:cxnSp>
        <p:nvCxnSpPr>
          <p:cNvPr id="30" name="Arrow eval 1"/>
          <p:cNvCxnSpPr/>
          <p:nvPr/>
        </p:nvCxnSpPr>
        <p:spPr>
          <a:xfrm>
            <a:off x="11033607" y="4535424"/>
            <a:ext cx="0" cy="146304"/>
          </a:xfrm>
          <a:prstGeom prst="line">
            <a:avLst/>
          </a:prstGeom>
          <a:ln w="15875">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KPI report"/>
          <p:cNvSpPr/>
          <p:nvPr/>
        </p:nvSpPr>
        <p:spPr>
          <a:xfrm>
            <a:off x="10424160" y="4681728"/>
            <a:ext cx="1218895" cy="768096"/>
          </a:xfrm>
          <a:prstGeom prst="roundRect">
            <a:avLst>
              <a:gd name="adj" fmla="val 7142"/>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73152" rIns="73152" wrap="square">
            <a:noAutofit/>
          </a:bodyPr>
          <a:lstStyle/>
          <a:p>
            <a:pPr algn="l">
              <a:lnSpc>
                <a:spcPct val="100000"/>
              </a:lnSpc>
              <a:spcAft>
                <a:spcPts val="200"/>
              </a:spcAft>
            </a:pPr>
            <a:r>
              <a:rPr sz="1150" b="1">
                <a:solidFill>
                  <a:schemeClr val="tx2"/>
                </a:solidFill>
              </a:rPr>
              <a:t>KPI report</a:t>
            </a:r>
          </a:p>
          <a:p>
            <a:pPr algn="l">
              <a:lnSpc>
                <a:spcPct val="100000"/>
              </a:lnSpc>
            </a:pPr>
            <a:r>
              <a:rPr sz="1000" b="0">
                <a:solidFill>
                  <a:schemeClr val="tx1"/>
                </a:solidFill>
              </a:rPr>
              <a:t>The brief's KPIs plus completion under policy</a:t>
            </a:r>
          </a:p>
        </p:txBody>
      </p:sp>
      <p:cxnSp>
        <p:nvCxnSpPr>
          <p:cNvPr id="32" name="Arrow tools to trace log"/>
          <p:cNvCxnSpPr/>
          <p:nvPr/>
        </p:nvCxnSpPr>
        <p:spPr>
          <a:xfrm>
            <a:off x="9966960" y="3154680"/>
            <a:ext cx="365760" cy="0"/>
          </a:xfrm>
          <a:prstGeom prst="line">
            <a:avLst/>
          </a:prstGeom>
          <a:ln w="15875">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Layer: Data and metadata"/>
          <p:cNvSpPr/>
          <p:nvPr/>
        </p:nvSpPr>
        <p:spPr>
          <a:xfrm>
            <a:off x="457200" y="4956048"/>
            <a:ext cx="9509760" cy="603504"/>
          </a:xfrm>
          <a:prstGeom prst="roundRect">
            <a:avLst>
              <a:gd name="adj" fmla="val 15151"/>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eader: Data and metadata"/>
          <p:cNvSpPr txBox="1"/>
          <p:nvPr/>
        </p:nvSpPr>
        <p:spPr>
          <a:xfrm>
            <a:off x="566928" y="4983480"/>
            <a:ext cx="1143000" cy="548640"/>
          </a:xfrm>
          <a:prstGeom prst="rect">
            <a:avLst/>
          </a:prstGeom>
          <a:noFill/>
        </p:spPr>
        <p:txBody>
          <a:bodyPr wrap="square" lIns="0" tIns="0" rIns="0" bIns="0" anchor="ctr">
            <a:noAutofit/>
          </a:bodyPr>
          <a:lstStyle/>
          <a:p>
            <a:pPr algn="l">
              <a:lnSpc>
                <a:spcPct val="100000"/>
              </a:lnSpc>
            </a:pPr>
            <a:r>
              <a:rPr sz="1100" b="1">
                <a:solidFill>
                  <a:schemeClr val="tx2"/>
                </a:solidFill>
              </a:rPr>
              <a:t>DATA AND</a:t>
            </a:r>
          </a:p>
          <a:p>
            <a:pPr algn="l">
              <a:lnSpc>
                <a:spcPct val="100000"/>
              </a:lnSpc>
            </a:pPr>
            <a:r>
              <a:rPr sz="1100" b="1">
                <a:solidFill>
                  <a:schemeClr val="tx2"/>
                </a:solidFill>
              </a:rPr>
              <a:t>METADATA</a:t>
            </a:r>
          </a:p>
        </p:txBody>
      </p:sp>
      <p:sp>
        <p:nvSpPr>
          <p:cNvPr id="35" name="Catalogue file"/>
          <p:cNvSpPr/>
          <p:nvPr/>
        </p:nvSpPr>
        <p:spPr>
          <a:xfrm>
            <a:off x="1783080" y="5020056"/>
            <a:ext cx="4526280" cy="475488"/>
          </a:xfrm>
          <a:prstGeom prst="roundRect">
            <a:avLst>
              <a:gd name="adj" fmla="val 11538"/>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noAutofit/>
          </a:bodyPr>
          <a:lstStyle/>
          <a:p>
            <a:pPr algn="l">
              <a:lnSpc>
                <a:spcPct val="100000"/>
              </a:lnSpc>
            </a:pPr>
            <a:r>
              <a:rPr sz="1200" b="1">
                <a:solidFill>
                  <a:schemeClr val="tx2"/>
                </a:solidFill>
              </a:rPr>
              <a:t>Catalogue file</a:t>
            </a:r>
            <a:r>
              <a:rPr sz="1050" b="0">
                <a:solidFill>
                  <a:schemeClr val="tx1"/>
                </a:solidFill>
              </a:rPr>
              <a:t> — pages, routes, widgets, filters, measures, meaning and provenance; drives the app and the agent</a:t>
            </a:r>
          </a:p>
        </p:txBody>
      </p:sp>
      <p:sp>
        <p:nvSpPr>
          <p:cNvPr id="36" name="Business database"/>
          <p:cNvSpPr/>
          <p:nvPr/>
        </p:nvSpPr>
        <p:spPr>
          <a:xfrm>
            <a:off x="6446520" y="5020056"/>
            <a:ext cx="3383280" cy="475488"/>
          </a:xfrm>
          <a:prstGeom prst="roundRect">
            <a:avLst>
              <a:gd name="adj" fmla="val 11538"/>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noAutofit/>
          </a:bodyPr>
          <a:lstStyle/>
          <a:p>
            <a:pPr algn="l">
              <a:lnSpc>
                <a:spcPct val="100000"/>
              </a:lnSpc>
            </a:pPr>
            <a:r>
              <a:rPr sz="1200" b="1">
                <a:solidFill>
                  <a:schemeClr val="tx2"/>
                </a:solidFill>
              </a:rPr>
              <a:t>Business database</a:t>
            </a:r>
            <a:r>
              <a:rPr sz="1050" b="0">
                <a:solidFill>
                  <a:schemeClr val="tx1"/>
                </a:solidFill>
              </a:rPr>
              <a:t> — WWI on SQL Server, read-only login, seeded scenarios</a:t>
            </a:r>
          </a:p>
        </p:txBody>
      </p:sp>
      <p:cxnSp>
        <p:nvCxnSpPr>
          <p:cNvPr id="37" name="Flow 1 panel to agent"/>
          <p:cNvCxnSpPr/>
          <p:nvPr/>
        </p:nvCxnSpPr>
        <p:spPr>
          <a:xfrm>
            <a:off x="1828800" y="2139696"/>
            <a:ext cx="0" cy="374904"/>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Flow badge 1"/>
          <p:cNvSpPr/>
          <p:nvPr/>
        </p:nvSpPr>
        <p:spPr>
          <a:xfrm>
            <a:off x="1933956" y="22037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1</a:t>
            </a:r>
          </a:p>
        </p:txBody>
      </p:sp>
      <p:cxnSp>
        <p:nvCxnSpPr>
          <p:cNvPr id="39" name="Flow 6 agent to panel"/>
          <p:cNvCxnSpPr/>
          <p:nvPr/>
        </p:nvCxnSpPr>
        <p:spPr>
          <a:xfrm flipV="1">
            <a:off x="3931920" y="2139696"/>
            <a:ext cx="0" cy="374904"/>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Flow badge 6"/>
          <p:cNvSpPr/>
          <p:nvPr/>
        </p:nvSpPr>
        <p:spPr>
          <a:xfrm>
            <a:off x="4037076" y="22037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6</a:t>
            </a:r>
          </a:p>
        </p:txBody>
      </p:sp>
      <p:cxnSp>
        <p:nvCxnSpPr>
          <p:cNvPr id="41" name="Flow 4 tools and app"/>
          <p:cNvCxnSpPr/>
          <p:nvPr/>
        </p:nvCxnSpPr>
        <p:spPr>
          <a:xfrm flipV="1">
            <a:off x="7589520" y="2139696"/>
            <a:ext cx="0" cy="374904"/>
          </a:xfrm>
          <a:prstGeom prst="line">
            <a:avLst/>
          </a:prstGeom>
          <a:ln w="19050">
            <a:solidFill>
              <a:schemeClr val="accent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Flow badge 4"/>
          <p:cNvSpPr/>
          <p:nvPr/>
        </p:nvSpPr>
        <p:spPr>
          <a:xfrm>
            <a:off x="7694676" y="22037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4</a:t>
            </a:r>
          </a:p>
        </p:txBody>
      </p:sp>
      <p:cxnSp>
        <p:nvCxnSpPr>
          <p:cNvPr id="43" name="Flow 3 agent and tools"/>
          <p:cNvCxnSpPr/>
          <p:nvPr/>
        </p:nvCxnSpPr>
        <p:spPr>
          <a:xfrm>
            <a:off x="4846320" y="3035808"/>
            <a:ext cx="365760" cy="0"/>
          </a:xfrm>
          <a:prstGeom prst="line">
            <a:avLst/>
          </a:prstGeom>
          <a:ln w="19050">
            <a:solidFill>
              <a:schemeClr val="accent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Flow badge 3"/>
          <p:cNvSpPr/>
          <p:nvPr/>
        </p:nvSpPr>
        <p:spPr>
          <a:xfrm>
            <a:off x="4905756" y="2674620"/>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3</a:t>
            </a:r>
          </a:p>
        </p:txBody>
      </p:sp>
      <p:cxnSp>
        <p:nvCxnSpPr>
          <p:cNvPr id="45" name="Flow 2 agent to catalogue"/>
          <p:cNvCxnSpPr/>
          <p:nvPr/>
        </p:nvCxnSpPr>
        <p:spPr>
          <a:xfrm>
            <a:off x="2926080" y="4663440"/>
            <a:ext cx="0" cy="356616"/>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Flow badge 2"/>
          <p:cNvSpPr/>
          <p:nvPr/>
        </p:nvSpPr>
        <p:spPr>
          <a:xfrm>
            <a:off x="3031236" y="4686300"/>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2</a:t>
            </a:r>
          </a:p>
        </p:txBody>
      </p:sp>
      <p:cxnSp>
        <p:nvCxnSpPr>
          <p:cNvPr id="47" name="Contracts tools to catalogue"/>
          <p:cNvCxnSpPr/>
          <p:nvPr/>
        </p:nvCxnSpPr>
        <p:spPr>
          <a:xfrm>
            <a:off x="5852160" y="4663440"/>
            <a:ext cx="0" cy="356616"/>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Label: contracts"/>
          <p:cNvSpPr txBox="1"/>
          <p:nvPr/>
        </p:nvSpPr>
        <p:spPr>
          <a:xfrm>
            <a:off x="5943600" y="4709160"/>
            <a:ext cx="685800" cy="201168"/>
          </a:xfrm>
          <a:prstGeom prst="rect">
            <a:avLst/>
          </a:prstGeom>
          <a:noFill/>
        </p:spPr>
        <p:txBody>
          <a:bodyPr wrap="square" lIns="0" tIns="0" rIns="0" bIns="0" anchor="t">
            <a:noAutofit/>
          </a:bodyPr>
          <a:lstStyle/>
          <a:p>
            <a:pPr algn="l">
              <a:lnSpc>
                <a:spcPct val="100000"/>
              </a:lnSpc>
            </a:pPr>
            <a:r>
              <a:rPr sz="1000" b="0">
                <a:solidFill>
                  <a:schemeClr val="accent3"/>
                </a:solidFill>
              </a:rPr>
              <a:t>contracts</a:t>
            </a:r>
          </a:p>
        </p:txBody>
      </p:sp>
      <p:cxnSp>
        <p:nvCxnSpPr>
          <p:cNvPr id="49" name="Flow 5 tools and database"/>
          <p:cNvCxnSpPr/>
          <p:nvPr/>
        </p:nvCxnSpPr>
        <p:spPr>
          <a:xfrm>
            <a:off x="8412480" y="4663440"/>
            <a:ext cx="0" cy="356616"/>
          </a:xfrm>
          <a:prstGeom prst="line">
            <a:avLst/>
          </a:prstGeom>
          <a:ln w="19050">
            <a:solidFill>
              <a:schemeClr val="accent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Flow badge 5"/>
          <p:cNvSpPr/>
          <p:nvPr/>
        </p:nvSpPr>
        <p:spPr>
          <a:xfrm>
            <a:off x="8517636" y="4686300"/>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5</a:t>
            </a:r>
          </a:p>
        </p:txBody>
      </p:sp>
      <p:sp>
        <p:nvSpPr>
          <p:cNvPr id="51" name="Header: User workflow"/>
          <p:cNvSpPr txBox="1"/>
          <p:nvPr/>
        </p:nvSpPr>
        <p:spPr>
          <a:xfrm>
            <a:off x="457200" y="5650992"/>
            <a:ext cx="1143000" cy="749808"/>
          </a:xfrm>
          <a:prstGeom prst="rect">
            <a:avLst/>
          </a:prstGeom>
          <a:noFill/>
        </p:spPr>
        <p:txBody>
          <a:bodyPr wrap="square" lIns="0" tIns="0" rIns="0" bIns="0" anchor="ctr">
            <a:noAutofit/>
          </a:bodyPr>
          <a:lstStyle/>
          <a:p>
            <a:pPr algn="l">
              <a:lnSpc>
                <a:spcPct val="100000"/>
              </a:lnSpc>
            </a:pPr>
            <a:r>
              <a:rPr sz="1100" b="1">
                <a:solidFill>
                  <a:schemeClr val="tx2"/>
                </a:solidFill>
              </a:rPr>
              <a:t>USER</a:t>
            </a:r>
          </a:p>
          <a:p>
            <a:pPr algn="l">
              <a:lnSpc>
                <a:spcPct val="100000"/>
              </a:lnSpc>
            </a:pPr>
            <a:r>
              <a:rPr sz="1100" b="1">
                <a:solidFill>
                  <a:schemeClr val="tx2"/>
                </a:solidFill>
              </a:rPr>
              <a:t>WORKFLOW</a:t>
            </a:r>
          </a:p>
        </p:txBody>
      </p:sp>
      <p:sp>
        <p:nvSpPr>
          <p:cNvPr id="52" name="Workflow step 1"/>
          <p:cNvSpPr/>
          <p:nvPr/>
        </p:nvSpPr>
        <p:spPr>
          <a:xfrm>
            <a:off x="1691640" y="5650992"/>
            <a:ext cx="1582369" cy="749808"/>
          </a:xfrm>
          <a:prstGeom prst="roundRect">
            <a:avLst>
              <a:gd name="adj" fmla="val 975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Workflow badge 1"/>
          <p:cNvSpPr/>
          <p:nvPr/>
        </p:nvSpPr>
        <p:spPr>
          <a:xfrm>
            <a:off x="1769364" y="57470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1</a:t>
            </a:r>
          </a:p>
        </p:txBody>
      </p:sp>
      <p:sp>
        <p:nvSpPr>
          <p:cNvPr id="54" name="Workflow text 1"/>
          <p:cNvSpPr txBox="1"/>
          <p:nvPr/>
        </p:nvSpPr>
        <p:spPr>
          <a:xfrm>
            <a:off x="2075688" y="5705856"/>
            <a:ext cx="1125169" cy="658368"/>
          </a:xfrm>
          <a:prstGeom prst="rect">
            <a:avLst/>
          </a:prstGeom>
          <a:noFill/>
        </p:spPr>
        <p:txBody>
          <a:bodyPr wrap="square" lIns="0" tIns="0" rIns="0" bIns="0" anchor="t">
            <a:noAutofit/>
          </a:bodyPr>
          <a:lstStyle/>
          <a:p>
            <a:pPr algn="l">
              <a:lnSpc>
                <a:spcPct val="100000"/>
              </a:lnSpc>
            </a:pPr>
            <a:r>
              <a:rPr sz="1100" b="0">
                <a:solidFill>
                  <a:schemeClr val="tx1"/>
                </a:solidFill>
              </a:rPr>
              <a:t>Ask in the panel; the current view is attached</a:t>
            </a:r>
          </a:p>
        </p:txBody>
      </p:sp>
      <p:sp>
        <p:nvSpPr>
          <p:cNvPr id="55" name="Workflow step 2"/>
          <p:cNvSpPr/>
          <p:nvPr/>
        </p:nvSpPr>
        <p:spPr>
          <a:xfrm>
            <a:off x="3383737" y="5650992"/>
            <a:ext cx="1582369" cy="749808"/>
          </a:xfrm>
          <a:prstGeom prst="roundRect">
            <a:avLst>
              <a:gd name="adj" fmla="val 975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Workflow badge 2"/>
          <p:cNvSpPr/>
          <p:nvPr/>
        </p:nvSpPr>
        <p:spPr>
          <a:xfrm>
            <a:off x="3461461" y="57470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2</a:t>
            </a:r>
          </a:p>
        </p:txBody>
      </p:sp>
      <p:sp>
        <p:nvSpPr>
          <p:cNvPr id="57" name="Workflow text 2"/>
          <p:cNvSpPr txBox="1"/>
          <p:nvPr/>
        </p:nvSpPr>
        <p:spPr>
          <a:xfrm>
            <a:off x="3767785" y="5705856"/>
            <a:ext cx="1125169" cy="658368"/>
          </a:xfrm>
          <a:prstGeom prst="rect">
            <a:avLst/>
          </a:prstGeom>
          <a:noFill/>
        </p:spPr>
        <p:txBody>
          <a:bodyPr wrap="square" lIns="0" tIns="0" rIns="0" bIns="0" anchor="t">
            <a:noAutofit/>
          </a:bodyPr>
          <a:lstStyle/>
          <a:p>
            <a:pPr algn="l">
              <a:lnSpc>
                <a:spcPct val="100000"/>
              </a:lnSpc>
            </a:pPr>
            <a:r>
              <a:rPr sz="1100" b="0">
                <a:solidFill>
                  <a:schemeClr val="tx1"/>
                </a:solidFill>
              </a:rPr>
              <a:t>Route to a page from the catalogue, or ask</a:t>
            </a:r>
          </a:p>
        </p:txBody>
      </p:sp>
      <p:sp>
        <p:nvSpPr>
          <p:cNvPr id="58" name="Workflow step 3"/>
          <p:cNvSpPr/>
          <p:nvPr/>
        </p:nvSpPr>
        <p:spPr>
          <a:xfrm>
            <a:off x="5075834" y="5650992"/>
            <a:ext cx="1582369" cy="749808"/>
          </a:xfrm>
          <a:prstGeom prst="roundRect">
            <a:avLst>
              <a:gd name="adj" fmla="val 975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Workflow badge 3"/>
          <p:cNvSpPr/>
          <p:nvPr/>
        </p:nvSpPr>
        <p:spPr>
          <a:xfrm>
            <a:off x="5153558" y="57470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3</a:t>
            </a:r>
          </a:p>
        </p:txBody>
      </p:sp>
      <p:sp>
        <p:nvSpPr>
          <p:cNvPr id="60" name="Workflow text 3"/>
          <p:cNvSpPr txBox="1"/>
          <p:nvPr/>
        </p:nvSpPr>
        <p:spPr>
          <a:xfrm>
            <a:off x="5459882" y="5705856"/>
            <a:ext cx="1125169" cy="658368"/>
          </a:xfrm>
          <a:prstGeom prst="rect">
            <a:avLst/>
          </a:prstGeom>
          <a:noFill/>
        </p:spPr>
        <p:txBody>
          <a:bodyPr wrap="square" lIns="0" tIns="0" rIns="0" bIns="0" anchor="t">
            <a:noAutofit/>
          </a:bodyPr>
          <a:lstStyle/>
          <a:p>
            <a:pPr algn="l">
              <a:lnSpc>
                <a:spcPct val="100000"/>
              </a:lnSpc>
            </a:pPr>
            <a:r>
              <a:rPr sz="1100" b="0">
                <a:solidFill>
                  <a:schemeClr val="tx1"/>
                </a:solidFill>
              </a:rPr>
              <a:t>Validate each tool call against its contract</a:t>
            </a:r>
          </a:p>
        </p:txBody>
      </p:sp>
      <p:sp>
        <p:nvSpPr>
          <p:cNvPr id="61" name="Workflow step 4"/>
          <p:cNvSpPr/>
          <p:nvPr/>
        </p:nvSpPr>
        <p:spPr>
          <a:xfrm>
            <a:off x="6767931" y="5650992"/>
            <a:ext cx="1582369" cy="749808"/>
          </a:xfrm>
          <a:prstGeom prst="roundRect">
            <a:avLst>
              <a:gd name="adj" fmla="val 975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Workflow badge 4"/>
          <p:cNvSpPr/>
          <p:nvPr/>
        </p:nvSpPr>
        <p:spPr>
          <a:xfrm>
            <a:off x="6845655" y="57470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4</a:t>
            </a:r>
          </a:p>
        </p:txBody>
      </p:sp>
      <p:sp>
        <p:nvSpPr>
          <p:cNvPr id="63" name="Workflow text 4"/>
          <p:cNvSpPr txBox="1"/>
          <p:nvPr/>
        </p:nvSpPr>
        <p:spPr>
          <a:xfrm>
            <a:off x="7151979" y="5705856"/>
            <a:ext cx="1125169" cy="658368"/>
          </a:xfrm>
          <a:prstGeom prst="rect">
            <a:avLst/>
          </a:prstGeom>
          <a:noFill/>
        </p:spPr>
        <p:txBody>
          <a:bodyPr wrap="square" lIns="0" tIns="0" rIns="0" bIns="0" anchor="t">
            <a:noAutofit/>
          </a:bodyPr>
          <a:lstStyle/>
          <a:p>
            <a:pPr algn="l">
              <a:lnSpc>
                <a:spcPct val="100000"/>
              </a:lnSpc>
            </a:pPr>
            <a:r>
              <a:rPr sz="1100" b="0">
                <a:solidFill>
                  <a:schemeClr val="tx1"/>
                </a:solidFill>
              </a:rPr>
              <a:t>Set the view by URL, then read it back</a:t>
            </a:r>
          </a:p>
        </p:txBody>
      </p:sp>
      <p:sp>
        <p:nvSpPr>
          <p:cNvPr id="64" name="Workflow step 5"/>
          <p:cNvSpPr/>
          <p:nvPr/>
        </p:nvSpPr>
        <p:spPr>
          <a:xfrm>
            <a:off x="8460028" y="5650992"/>
            <a:ext cx="1582369" cy="749808"/>
          </a:xfrm>
          <a:prstGeom prst="roundRect">
            <a:avLst>
              <a:gd name="adj" fmla="val 975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Workflow badge 5"/>
          <p:cNvSpPr/>
          <p:nvPr/>
        </p:nvSpPr>
        <p:spPr>
          <a:xfrm>
            <a:off x="8537752" y="57470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5</a:t>
            </a:r>
          </a:p>
        </p:txBody>
      </p:sp>
      <p:sp>
        <p:nvSpPr>
          <p:cNvPr id="66" name="Workflow text 5"/>
          <p:cNvSpPr txBox="1"/>
          <p:nvPr/>
        </p:nvSpPr>
        <p:spPr>
          <a:xfrm>
            <a:off x="8844076" y="5705856"/>
            <a:ext cx="1125169" cy="658368"/>
          </a:xfrm>
          <a:prstGeom prst="rect">
            <a:avLst/>
          </a:prstGeom>
          <a:noFill/>
        </p:spPr>
        <p:txBody>
          <a:bodyPr wrap="square" lIns="0" tIns="0" rIns="0" bIns="0" anchor="t">
            <a:noAutofit/>
          </a:bodyPr>
          <a:lstStyle/>
          <a:p>
            <a:pPr algn="l">
              <a:lnSpc>
                <a:spcPct val="100000"/>
              </a:lnSpc>
            </a:pPr>
            <a:r>
              <a:rPr sz="1100" b="0">
                <a:solidFill>
                  <a:schemeClr val="tx1"/>
                </a:solidFill>
              </a:rPr>
              <a:t>Read the widget's data with evidence IDs</a:t>
            </a:r>
          </a:p>
        </p:txBody>
      </p:sp>
      <p:sp>
        <p:nvSpPr>
          <p:cNvPr id="67" name="Workflow step 6"/>
          <p:cNvSpPr/>
          <p:nvPr/>
        </p:nvSpPr>
        <p:spPr>
          <a:xfrm>
            <a:off x="10152126" y="5650992"/>
            <a:ext cx="1582369" cy="749808"/>
          </a:xfrm>
          <a:prstGeom prst="roundRect">
            <a:avLst>
              <a:gd name="adj" fmla="val 975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Workflow badge 6"/>
          <p:cNvSpPr/>
          <p:nvPr/>
        </p:nvSpPr>
        <p:spPr>
          <a:xfrm>
            <a:off x="10229850" y="5747004"/>
            <a:ext cx="246888" cy="24688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050" b="1">
                <a:solidFill>
                  <a:schemeClr val="tx1"/>
                </a:solidFill>
              </a:rPr>
              <a:t>6</a:t>
            </a:r>
          </a:p>
        </p:txBody>
      </p:sp>
      <p:sp>
        <p:nvSpPr>
          <p:cNvPr id="69" name="Workflow text 6"/>
          <p:cNvSpPr txBox="1"/>
          <p:nvPr/>
        </p:nvSpPr>
        <p:spPr>
          <a:xfrm>
            <a:off x="10536174" y="5705856"/>
            <a:ext cx="1125169" cy="658368"/>
          </a:xfrm>
          <a:prstGeom prst="rect">
            <a:avLst/>
          </a:prstGeom>
          <a:noFill/>
        </p:spPr>
        <p:txBody>
          <a:bodyPr wrap="square" lIns="0" tIns="0" rIns="0" bIns="0" anchor="t">
            <a:noAutofit/>
          </a:bodyPr>
          <a:lstStyle/>
          <a:p>
            <a:pPr algn="l">
              <a:lnSpc>
                <a:spcPct val="100000"/>
              </a:lnSpc>
            </a:pPr>
            <a:r>
              <a:rPr sz="1100" b="0">
                <a:solidFill>
                  <a:schemeClr val="tx1"/>
                </a:solidFill>
              </a:rPr>
              <a:t>Answer with fact labels, links and actions taken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92608"/>
            <a:ext cx="11277295" cy="566928"/>
          </a:xfrm>
        </p:spPr>
        <p:txBody>
          <a:bodyPr lIns="0" tIns="0" rIns="0" bIns="0" wrap="square" anchor="ctr">
            <a:noAutofit/>
          </a:bodyPr>
          <a:lstStyle/>
          <a:p>
            <a:pPr algn="l">
              <a:lnSpc>
                <a:spcPct val="100000"/>
              </a:lnSpc>
            </a:pPr>
            <a:r>
              <a:rPr sz="3600" b="1">
                <a:solidFill>
                  <a:schemeClr val="tx2"/>
                </a:solidFill>
              </a:rPr>
              <a:t>Technology Stack and Implementation Plan</a:t>
            </a:r>
          </a:p>
        </p:txBody>
      </p:sp>
      <p:sp>
        <p:nvSpPr>
          <p:cNvPr id="3" name="Subtitle"/>
          <p:cNvSpPr txBox="1"/>
          <p:nvPr/>
        </p:nvSpPr>
        <p:spPr>
          <a:xfrm>
            <a:off x="457200" y="868680"/>
            <a:ext cx="11277295" cy="329184"/>
          </a:xfrm>
          <a:prstGeom prst="rect">
            <a:avLst/>
          </a:prstGeom>
          <a:noFill/>
        </p:spPr>
        <p:txBody>
          <a:bodyPr wrap="square" lIns="0" tIns="0" rIns="0" bIns="0" anchor="t">
            <a:noAutofit/>
          </a:bodyPr>
          <a:lstStyle/>
          <a:p>
            <a:pPr algn="l">
              <a:lnSpc>
                <a:spcPct val="100000"/>
              </a:lnSpc>
            </a:pPr>
            <a:r>
              <a:rPr sz="1400" b="0">
                <a:solidFill>
                  <a:schemeClr val="accent3"/>
                </a:solidFill>
              </a:rPr>
              <a:t>A small, proven stack, four roles working in parallel, and a working demo at the end of every milestone in the 48 hours</a:t>
            </a:r>
          </a:p>
        </p:txBody>
      </p:sp>
      <p:sp>
        <p:nvSpPr>
          <p:cNvPr id="4" name="Panel: Technology stack"/>
          <p:cNvSpPr/>
          <p:nvPr/>
        </p:nvSpPr>
        <p:spPr>
          <a:xfrm>
            <a:off x="457200" y="1325880"/>
            <a:ext cx="5440680" cy="3355848"/>
          </a:xfrm>
          <a:prstGeom prst="roundRect">
            <a:avLst>
              <a:gd name="adj" fmla="val 272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ader: Technology stack"/>
          <p:cNvSpPr txBox="1"/>
          <p:nvPr/>
        </p:nvSpPr>
        <p:spPr>
          <a:xfrm>
            <a:off x="594360" y="1371600"/>
            <a:ext cx="5120640" cy="237744"/>
          </a:xfrm>
          <a:prstGeom prst="rect">
            <a:avLst/>
          </a:prstGeom>
          <a:noFill/>
        </p:spPr>
        <p:txBody>
          <a:bodyPr wrap="square" lIns="0" tIns="0" rIns="0" bIns="0" anchor="t">
            <a:noAutofit/>
          </a:bodyPr>
          <a:lstStyle/>
          <a:p>
            <a:pPr algn="l">
              <a:lnSpc>
                <a:spcPct val="100000"/>
              </a:lnSpc>
            </a:pPr>
            <a:r>
              <a:rPr sz="1100" b="1">
                <a:solidFill>
                  <a:schemeClr val="tx2"/>
                </a:solidFill>
              </a:rPr>
              <a:t>TECHNOLOGY STACK</a:t>
            </a:r>
          </a:p>
        </p:txBody>
      </p:sp>
      <p:sp>
        <p:nvSpPr>
          <p:cNvPr id="6" name="Stack label: Interface"/>
          <p:cNvSpPr txBox="1"/>
          <p:nvPr/>
        </p:nvSpPr>
        <p:spPr>
          <a:xfrm>
            <a:off x="594360" y="1682496"/>
            <a:ext cx="1005840" cy="329184"/>
          </a:xfrm>
          <a:prstGeom prst="rect">
            <a:avLst/>
          </a:prstGeom>
          <a:noFill/>
        </p:spPr>
        <p:txBody>
          <a:bodyPr wrap="square" lIns="0" tIns="0" rIns="0" bIns="0" anchor="ctr">
            <a:noAutofit/>
          </a:bodyPr>
          <a:lstStyle/>
          <a:p>
            <a:pPr algn="l">
              <a:lnSpc>
                <a:spcPct val="100000"/>
              </a:lnSpc>
            </a:pPr>
            <a:r>
              <a:rPr sz="1150" b="1">
                <a:solidFill>
                  <a:schemeClr val="tx2"/>
                </a:solidFill>
              </a:rPr>
              <a:t>Interface</a:t>
            </a:r>
          </a:p>
        </p:txBody>
      </p:sp>
      <p:sp>
        <p:nvSpPr>
          <p:cNvPr id="7" name="Stack: React + Vite"/>
          <p:cNvSpPr/>
          <p:nvPr/>
        </p:nvSpPr>
        <p:spPr>
          <a:xfrm>
            <a:off x="1645920" y="1682496"/>
            <a:ext cx="912312"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React + Vite</a:t>
            </a:r>
          </a:p>
        </p:txBody>
      </p:sp>
      <p:sp>
        <p:nvSpPr>
          <p:cNvPr id="8" name="Stack: Recharts"/>
          <p:cNvSpPr/>
          <p:nvPr/>
        </p:nvSpPr>
        <p:spPr>
          <a:xfrm>
            <a:off x="2631384" y="1682496"/>
            <a:ext cx="730166"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Recharts</a:t>
            </a:r>
          </a:p>
        </p:txBody>
      </p:sp>
      <p:sp>
        <p:nvSpPr>
          <p:cNvPr id="9" name="Stack: CopilotKit"/>
          <p:cNvSpPr/>
          <p:nvPr/>
        </p:nvSpPr>
        <p:spPr>
          <a:xfrm>
            <a:off x="3434703" y="1682496"/>
            <a:ext cx="795373"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CopilotKit</a:t>
            </a:r>
          </a:p>
        </p:txBody>
      </p:sp>
      <p:sp>
        <p:nvSpPr>
          <p:cNvPr id="10" name="Stack label: Back end"/>
          <p:cNvSpPr txBox="1"/>
          <p:nvPr/>
        </p:nvSpPr>
        <p:spPr>
          <a:xfrm>
            <a:off x="594360" y="2084832"/>
            <a:ext cx="1005840" cy="329184"/>
          </a:xfrm>
          <a:prstGeom prst="rect">
            <a:avLst/>
          </a:prstGeom>
          <a:noFill/>
        </p:spPr>
        <p:txBody>
          <a:bodyPr wrap="square" lIns="0" tIns="0" rIns="0" bIns="0" anchor="ctr">
            <a:noAutofit/>
          </a:bodyPr>
          <a:lstStyle/>
          <a:p>
            <a:pPr algn="l">
              <a:lnSpc>
                <a:spcPct val="100000"/>
              </a:lnSpc>
            </a:pPr>
            <a:r>
              <a:rPr sz="1150" b="1">
                <a:solidFill>
                  <a:schemeClr val="tx2"/>
                </a:solidFill>
              </a:rPr>
              <a:t>Back end</a:t>
            </a:r>
          </a:p>
        </p:txBody>
      </p:sp>
      <p:sp>
        <p:nvSpPr>
          <p:cNvPr id="11" name="Stack: FastAPI"/>
          <p:cNvSpPr/>
          <p:nvPr/>
        </p:nvSpPr>
        <p:spPr>
          <a:xfrm>
            <a:off x="1645920" y="2084832"/>
            <a:ext cx="653153"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FastAPI</a:t>
            </a:r>
          </a:p>
        </p:txBody>
      </p:sp>
      <p:sp>
        <p:nvSpPr>
          <p:cNvPr id="12" name="Stack: pyodbc"/>
          <p:cNvSpPr/>
          <p:nvPr/>
        </p:nvSpPr>
        <p:spPr>
          <a:xfrm>
            <a:off x="2372225" y="2084832"/>
            <a:ext cx="651644"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pyodbc</a:t>
            </a:r>
          </a:p>
        </p:txBody>
      </p:sp>
      <p:sp>
        <p:nvSpPr>
          <p:cNvPr id="13" name="Stack label: Agent"/>
          <p:cNvSpPr txBox="1"/>
          <p:nvPr/>
        </p:nvSpPr>
        <p:spPr>
          <a:xfrm>
            <a:off x="594360" y="2487168"/>
            <a:ext cx="1005840" cy="329184"/>
          </a:xfrm>
          <a:prstGeom prst="rect">
            <a:avLst/>
          </a:prstGeom>
          <a:noFill/>
        </p:spPr>
        <p:txBody>
          <a:bodyPr wrap="square" lIns="0" tIns="0" rIns="0" bIns="0" anchor="ctr">
            <a:noAutofit/>
          </a:bodyPr>
          <a:lstStyle/>
          <a:p>
            <a:pPr algn="l">
              <a:lnSpc>
                <a:spcPct val="100000"/>
              </a:lnSpc>
            </a:pPr>
            <a:r>
              <a:rPr sz="1150" b="1">
                <a:solidFill>
                  <a:schemeClr val="tx2"/>
                </a:solidFill>
              </a:rPr>
              <a:t>Agent</a:t>
            </a:r>
          </a:p>
        </p:txBody>
      </p:sp>
      <p:sp>
        <p:nvSpPr>
          <p:cNvPr id="14" name="Stack: LangGraph"/>
          <p:cNvSpPr/>
          <p:nvPr/>
        </p:nvSpPr>
        <p:spPr>
          <a:xfrm>
            <a:off x="1645920" y="2487168"/>
            <a:ext cx="850241"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LangGraph</a:t>
            </a:r>
          </a:p>
        </p:txBody>
      </p:sp>
      <p:sp>
        <p:nvSpPr>
          <p:cNvPr id="15" name="Stack: Pydantic"/>
          <p:cNvSpPr/>
          <p:nvPr/>
        </p:nvSpPr>
        <p:spPr>
          <a:xfrm>
            <a:off x="2569313" y="2487168"/>
            <a:ext cx="721673"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Pydantic</a:t>
            </a:r>
          </a:p>
        </p:txBody>
      </p:sp>
      <p:sp>
        <p:nvSpPr>
          <p:cNvPr id="16" name="Stack: RapidFuzz"/>
          <p:cNvSpPr/>
          <p:nvPr/>
        </p:nvSpPr>
        <p:spPr>
          <a:xfrm>
            <a:off x="3364138" y="2487168"/>
            <a:ext cx="807358"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RapidFuzz</a:t>
            </a:r>
          </a:p>
        </p:txBody>
      </p:sp>
      <p:sp>
        <p:nvSpPr>
          <p:cNvPr id="17" name="Stack: dateparser"/>
          <p:cNvSpPr/>
          <p:nvPr/>
        </p:nvSpPr>
        <p:spPr>
          <a:xfrm>
            <a:off x="4244649" y="2487168"/>
            <a:ext cx="851034"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dateparser</a:t>
            </a:r>
          </a:p>
        </p:txBody>
      </p:sp>
      <p:sp>
        <p:nvSpPr>
          <p:cNvPr id="18" name="Stack label: Data"/>
          <p:cNvSpPr txBox="1"/>
          <p:nvPr/>
        </p:nvSpPr>
        <p:spPr>
          <a:xfrm>
            <a:off x="594360" y="2889504"/>
            <a:ext cx="1005840" cy="329184"/>
          </a:xfrm>
          <a:prstGeom prst="rect">
            <a:avLst/>
          </a:prstGeom>
          <a:noFill/>
        </p:spPr>
        <p:txBody>
          <a:bodyPr wrap="square" lIns="0" tIns="0" rIns="0" bIns="0" anchor="ctr">
            <a:noAutofit/>
          </a:bodyPr>
          <a:lstStyle/>
          <a:p>
            <a:pPr algn="l">
              <a:lnSpc>
                <a:spcPct val="100000"/>
              </a:lnSpc>
            </a:pPr>
            <a:r>
              <a:rPr sz="1150" b="1">
                <a:solidFill>
                  <a:schemeClr val="tx2"/>
                </a:solidFill>
              </a:rPr>
              <a:t>Data</a:t>
            </a:r>
          </a:p>
        </p:txBody>
      </p:sp>
      <p:sp>
        <p:nvSpPr>
          <p:cNvPr id="19" name="Stack: SQL Server + WWI sample"/>
          <p:cNvSpPr/>
          <p:nvPr/>
        </p:nvSpPr>
        <p:spPr>
          <a:xfrm>
            <a:off x="1645920" y="2889504"/>
            <a:ext cx="1706141"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SQL Server + WWI sample</a:t>
            </a:r>
          </a:p>
        </p:txBody>
      </p:sp>
      <p:sp>
        <p:nvSpPr>
          <p:cNvPr id="20" name="Stack: Read-only login"/>
          <p:cNvSpPr/>
          <p:nvPr/>
        </p:nvSpPr>
        <p:spPr>
          <a:xfrm>
            <a:off x="3425213" y="2889504"/>
            <a:ext cx="1114698"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Read-only login</a:t>
            </a:r>
          </a:p>
        </p:txBody>
      </p:sp>
      <p:sp>
        <p:nvSpPr>
          <p:cNvPr id="21" name="Stack label: Model"/>
          <p:cNvSpPr txBox="1"/>
          <p:nvPr/>
        </p:nvSpPr>
        <p:spPr>
          <a:xfrm>
            <a:off x="594360" y="3291840"/>
            <a:ext cx="1005840" cy="329184"/>
          </a:xfrm>
          <a:prstGeom prst="rect">
            <a:avLst/>
          </a:prstGeom>
          <a:noFill/>
        </p:spPr>
        <p:txBody>
          <a:bodyPr wrap="square" lIns="0" tIns="0" rIns="0" bIns="0" anchor="ctr">
            <a:noAutofit/>
          </a:bodyPr>
          <a:lstStyle/>
          <a:p>
            <a:pPr algn="l">
              <a:lnSpc>
                <a:spcPct val="100000"/>
              </a:lnSpc>
            </a:pPr>
            <a:r>
              <a:rPr sz="1150" b="1">
                <a:solidFill>
                  <a:schemeClr val="tx2"/>
                </a:solidFill>
              </a:rPr>
              <a:t>Model</a:t>
            </a:r>
          </a:p>
        </p:txBody>
      </p:sp>
      <p:sp>
        <p:nvSpPr>
          <p:cNvPr id="22" name="Stack: Hosted LLM with tool calling (choice open)"/>
          <p:cNvSpPr/>
          <p:nvPr/>
        </p:nvSpPr>
        <p:spPr>
          <a:xfrm>
            <a:off x="1645920" y="3291840"/>
            <a:ext cx="2644909" cy="329184"/>
          </a:xfrm>
          <a:prstGeom prst="roundRect">
            <a:avLst>
              <a:gd name="adj" fmla="val 50000"/>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Hosted LLM with tool calling (choice open)</a:t>
            </a:r>
          </a:p>
        </p:txBody>
      </p:sp>
      <p:sp>
        <p:nvSpPr>
          <p:cNvPr id="23" name="Stack label: Optional"/>
          <p:cNvSpPr txBox="1"/>
          <p:nvPr/>
        </p:nvSpPr>
        <p:spPr>
          <a:xfrm>
            <a:off x="594360" y="3694176"/>
            <a:ext cx="1005840" cy="329184"/>
          </a:xfrm>
          <a:prstGeom prst="rect">
            <a:avLst/>
          </a:prstGeom>
          <a:noFill/>
        </p:spPr>
        <p:txBody>
          <a:bodyPr wrap="square" lIns="0" tIns="0" rIns="0" bIns="0" anchor="ctr">
            <a:noAutofit/>
          </a:bodyPr>
          <a:lstStyle/>
          <a:p>
            <a:pPr algn="l">
              <a:lnSpc>
                <a:spcPct val="100000"/>
              </a:lnSpc>
            </a:pPr>
            <a:r>
              <a:rPr sz="1150" b="1">
                <a:solidFill>
                  <a:schemeClr val="tx2"/>
                </a:solidFill>
              </a:rPr>
              <a:t>Optional</a:t>
            </a:r>
          </a:p>
        </p:txBody>
      </p:sp>
      <p:sp>
        <p:nvSpPr>
          <p:cNvPr id="24" name="Stack: bm25s + embeddings"/>
          <p:cNvSpPr/>
          <p:nvPr/>
        </p:nvSpPr>
        <p:spPr>
          <a:xfrm>
            <a:off x="1645920" y="3694176"/>
            <a:ext cx="1448431" cy="329184"/>
          </a:xfrm>
          <a:prstGeom prst="roundRect">
            <a:avLst>
              <a:gd name="adj" fmla="val 50000"/>
            </a:avLst>
          </a:prstGeom>
          <a:solidFill>
            <a:schemeClr val="bg1"/>
          </a:solidFill>
          <a:ln w="9525">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bm25s + embeddings</a:t>
            </a:r>
          </a:p>
        </p:txBody>
      </p:sp>
      <p:sp>
        <p:nvSpPr>
          <p:cNvPr id="25" name="Stack: SQLGlot"/>
          <p:cNvSpPr/>
          <p:nvPr/>
        </p:nvSpPr>
        <p:spPr>
          <a:xfrm>
            <a:off x="3167503" y="3694176"/>
            <a:ext cx="692126" cy="329184"/>
          </a:xfrm>
          <a:prstGeom prst="roundRect">
            <a:avLst>
              <a:gd name="adj" fmla="val 50000"/>
            </a:avLst>
          </a:prstGeom>
          <a:solidFill>
            <a:schemeClr val="bg1"/>
          </a:solidFill>
          <a:ln w="9525">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SQLGlot</a:t>
            </a:r>
          </a:p>
        </p:txBody>
      </p:sp>
      <p:sp>
        <p:nvSpPr>
          <p:cNvPr id="26" name="Stack: Playwright"/>
          <p:cNvSpPr/>
          <p:nvPr/>
        </p:nvSpPr>
        <p:spPr>
          <a:xfrm>
            <a:off x="3932781" y="3694176"/>
            <a:ext cx="835398" cy="329184"/>
          </a:xfrm>
          <a:prstGeom prst="roundRect">
            <a:avLst>
              <a:gd name="adj" fmla="val 50000"/>
            </a:avLst>
          </a:prstGeom>
          <a:solidFill>
            <a:schemeClr val="bg1"/>
          </a:solidFill>
          <a:ln w="9525">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tIns="18288" rIns="45720" bIns="18288" wrap="square">
            <a:noAutofit/>
          </a:bodyPr>
          <a:lstStyle/>
          <a:p>
            <a:pPr algn="ctr">
              <a:lnSpc>
                <a:spcPct val="100000"/>
              </a:lnSpc>
            </a:pPr>
            <a:r>
              <a:rPr sz="1100" b="0">
                <a:solidFill>
                  <a:schemeClr val="tx1"/>
                </a:solidFill>
              </a:rPr>
              <a:t>Playwright</a:t>
            </a:r>
          </a:p>
        </p:txBody>
      </p:sp>
      <p:sp>
        <p:nvSpPr>
          <p:cNvPr id="27" name="Stack note"/>
          <p:cNvSpPr txBox="1"/>
          <p:nvPr/>
        </p:nvSpPr>
        <p:spPr>
          <a:xfrm>
            <a:off x="594360" y="4224528"/>
            <a:ext cx="5166360" cy="365760"/>
          </a:xfrm>
          <a:prstGeom prst="rect">
            <a:avLst/>
          </a:prstGeom>
          <a:noFill/>
        </p:spPr>
        <p:txBody>
          <a:bodyPr wrap="square" lIns="0" tIns="0" rIns="0" bIns="0" anchor="t">
            <a:noAutofit/>
          </a:bodyPr>
          <a:lstStyle/>
          <a:p>
            <a:pPr algn="l">
              <a:lnSpc>
                <a:spcPct val="100000"/>
              </a:lnSpc>
            </a:pPr>
            <a:r>
              <a:rPr sz="1050" b="0">
                <a:solidFill>
                  <a:schemeClr val="accent3"/>
                </a:solidFill>
              </a:rPr>
              <a:t>Libraries are MIT, BSD or Apache-2.0. The main path needs no vector database, graph database or browser automation.</a:t>
            </a:r>
          </a:p>
        </p:txBody>
      </p:sp>
      <p:sp>
        <p:nvSpPr>
          <p:cNvPr id="28" name="Panel: Team"/>
          <p:cNvSpPr/>
          <p:nvPr/>
        </p:nvSpPr>
        <p:spPr>
          <a:xfrm>
            <a:off x="6172200" y="1325880"/>
            <a:ext cx="5562295" cy="3355848"/>
          </a:xfrm>
          <a:prstGeom prst="roundRect">
            <a:avLst>
              <a:gd name="adj" fmla="val 272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eader: Team"/>
          <p:cNvSpPr txBox="1"/>
          <p:nvPr/>
        </p:nvSpPr>
        <p:spPr>
          <a:xfrm>
            <a:off x="6309360" y="1371600"/>
            <a:ext cx="5303520" cy="237744"/>
          </a:xfrm>
          <a:prstGeom prst="rect">
            <a:avLst/>
          </a:prstGeom>
          <a:noFill/>
        </p:spPr>
        <p:txBody>
          <a:bodyPr wrap="square" lIns="0" tIns="0" rIns="0" bIns="0" anchor="t">
            <a:noAutofit/>
          </a:bodyPr>
          <a:lstStyle/>
          <a:p>
            <a:pPr algn="l">
              <a:lnSpc>
                <a:spcPct val="100000"/>
              </a:lnSpc>
            </a:pPr>
            <a:r>
              <a:rPr sz="1100" b="1">
                <a:solidFill>
                  <a:schemeClr val="tx2"/>
                </a:solidFill>
              </a:rPr>
              <a:t>TEAM OF FOUR · ONE ROLE EACH</a:t>
            </a:r>
          </a:p>
        </p:txBody>
      </p:sp>
      <p:sp>
        <p:nvSpPr>
          <p:cNvPr id="30" name="Role card A"/>
          <p:cNvSpPr/>
          <p:nvPr/>
        </p:nvSpPr>
        <p:spPr>
          <a:xfrm>
            <a:off x="6309360" y="1664208"/>
            <a:ext cx="2589123" cy="1426464"/>
          </a:xfrm>
          <a:prstGeom prst="roundRect">
            <a:avLst>
              <a:gd name="adj" fmla="val 3846"/>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le badge A"/>
          <p:cNvSpPr/>
          <p:nvPr/>
        </p:nvSpPr>
        <p:spPr>
          <a:xfrm>
            <a:off x="6419088" y="1773936"/>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300" b="1">
                <a:solidFill>
                  <a:schemeClr val="bg1"/>
                </a:solidFill>
              </a:rPr>
              <a:t>A</a:t>
            </a:r>
          </a:p>
        </p:txBody>
      </p:sp>
      <p:sp>
        <p:nvSpPr>
          <p:cNvPr id="32" name="Role name A"/>
          <p:cNvSpPr txBox="1"/>
          <p:nvPr/>
        </p:nvSpPr>
        <p:spPr>
          <a:xfrm>
            <a:off x="6858000" y="1755648"/>
            <a:ext cx="1930755" cy="384048"/>
          </a:xfrm>
          <a:prstGeom prst="rect">
            <a:avLst/>
          </a:prstGeom>
          <a:noFill/>
        </p:spPr>
        <p:txBody>
          <a:bodyPr wrap="square" lIns="0" tIns="0" rIns="0" bIns="0" anchor="ctr">
            <a:noAutofit/>
          </a:bodyPr>
          <a:lstStyle/>
          <a:p>
            <a:pPr algn="l">
              <a:lnSpc>
                <a:spcPct val="100000"/>
              </a:lnSpc>
            </a:pPr>
            <a:r>
              <a:rPr sz="1300" b="1">
                <a:solidFill>
                  <a:schemeClr val="tx2"/>
                </a:solidFill>
              </a:rPr>
              <a:t>App and data</a:t>
            </a:r>
          </a:p>
        </p:txBody>
      </p:sp>
      <p:sp>
        <p:nvSpPr>
          <p:cNvPr id="33" name="Role owns A"/>
          <p:cNvSpPr txBox="1"/>
          <p:nvPr/>
        </p:nvSpPr>
        <p:spPr>
          <a:xfrm>
            <a:off x="6437376" y="2167128"/>
            <a:ext cx="2333091" cy="548640"/>
          </a:xfrm>
          <a:prstGeom prst="rect">
            <a:avLst/>
          </a:prstGeom>
          <a:noFill/>
        </p:spPr>
        <p:txBody>
          <a:bodyPr wrap="square" lIns="0" tIns="0" rIns="0" bIns="0" anchor="t">
            <a:noAutofit/>
          </a:bodyPr>
          <a:lstStyle/>
          <a:p>
            <a:pPr algn="l">
              <a:lnSpc>
                <a:spcPct val="100000"/>
              </a:lnSpc>
            </a:pPr>
            <a:r>
              <a:rPr sz="1100" b="0">
                <a:solidFill>
                  <a:schemeClr val="tx1"/>
                </a:solidFill>
              </a:rPr>
              <a:t>Catalogue file, the four pages, URL state, widget queries, seeded scenarios, claim checks</a:t>
            </a:r>
          </a:p>
        </p:txBody>
      </p:sp>
      <p:sp>
        <p:nvSpPr>
          <p:cNvPr id="34" name="Role lead A"/>
          <p:cNvSpPr/>
          <p:nvPr/>
        </p:nvSpPr>
        <p:spPr>
          <a:xfrm>
            <a:off x="6437376" y="2761488"/>
            <a:ext cx="747835" cy="237744"/>
          </a:xfrm>
          <a:prstGeom prst="roundRect">
            <a:avLst>
              <a:gd name="adj" fmla="val 50000"/>
            </a:avLst>
          </a:prstGeom>
          <a:solidFill>
            <a:schemeClr val="accent2">
              <a:lumMod val="28000"/>
              <a:lumOff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050" b="1">
                <a:solidFill>
                  <a:schemeClr val="tx1"/>
                </a:solidFill>
              </a:rPr>
              <a:t>Leads M1</a:t>
            </a:r>
          </a:p>
        </p:txBody>
      </p:sp>
      <p:sp>
        <p:nvSpPr>
          <p:cNvPr id="35" name="Role card B"/>
          <p:cNvSpPr/>
          <p:nvPr/>
        </p:nvSpPr>
        <p:spPr>
          <a:xfrm>
            <a:off x="9008211" y="1664208"/>
            <a:ext cx="2589123" cy="1426464"/>
          </a:xfrm>
          <a:prstGeom prst="roundRect">
            <a:avLst>
              <a:gd name="adj" fmla="val 3846"/>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le badge B"/>
          <p:cNvSpPr/>
          <p:nvPr/>
        </p:nvSpPr>
        <p:spPr>
          <a:xfrm>
            <a:off x="9117939" y="1773936"/>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300" b="1">
                <a:solidFill>
                  <a:schemeClr val="bg1"/>
                </a:solidFill>
              </a:rPr>
              <a:t>B</a:t>
            </a:r>
          </a:p>
        </p:txBody>
      </p:sp>
      <p:sp>
        <p:nvSpPr>
          <p:cNvPr id="37" name="Role name B"/>
          <p:cNvSpPr txBox="1"/>
          <p:nvPr/>
        </p:nvSpPr>
        <p:spPr>
          <a:xfrm>
            <a:off x="9556851" y="1755648"/>
            <a:ext cx="1930755" cy="384048"/>
          </a:xfrm>
          <a:prstGeom prst="rect">
            <a:avLst/>
          </a:prstGeom>
          <a:noFill/>
        </p:spPr>
        <p:txBody>
          <a:bodyPr wrap="square" lIns="0" tIns="0" rIns="0" bIns="0" anchor="ctr">
            <a:noAutofit/>
          </a:bodyPr>
          <a:lstStyle/>
          <a:p>
            <a:pPr algn="l">
              <a:lnSpc>
                <a:spcPct val="100000"/>
              </a:lnSpc>
            </a:pPr>
            <a:r>
              <a:rPr sz="1300" b="1">
                <a:solidFill>
                  <a:schemeClr val="tx2"/>
                </a:solidFill>
              </a:rPr>
              <a:t>Agent</a:t>
            </a:r>
          </a:p>
        </p:txBody>
      </p:sp>
      <p:sp>
        <p:nvSpPr>
          <p:cNvPr id="38" name="Role owns B"/>
          <p:cNvSpPr txBox="1"/>
          <p:nvPr/>
        </p:nvSpPr>
        <p:spPr>
          <a:xfrm>
            <a:off x="9136227" y="2167128"/>
            <a:ext cx="2333091" cy="548640"/>
          </a:xfrm>
          <a:prstGeom prst="rect">
            <a:avLst/>
          </a:prstGeom>
          <a:noFill/>
        </p:spPr>
        <p:txBody>
          <a:bodyPr wrap="square" lIns="0" tIns="0" rIns="0" bIns="0" anchor="t">
            <a:noAutofit/>
          </a:bodyPr>
          <a:lstStyle/>
          <a:p>
            <a:pPr algn="l">
              <a:lnSpc>
                <a:spcPct val="100000"/>
              </a:lnSpc>
            </a:pPr>
            <a:r>
              <a:rPr sz="1100" b="0">
                <a:solidFill>
                  <a:schemeClr val="tx1"/>
                </a:solidFill>
              </a:rPr>
              <a:t>LangGraph loop, router, contract validator, the tools, investigation state</a:t>
            </a:r>
          </a:p>
        </p:txBody>
      </p:sp>
      <p:sp>
        <p:nvSpPr>
          <p:cNvPr id="39" name="Role lead B"/>
          <p:cNvSpPr/>
          <p:nvPr/>
        </p:nvSpPr>
        <p:spPr>
          <a:xfrm>
            <a:off x="9136227" y="2761488"/>
            <a:ext cx="1766732" cy="237744"/>
          </a:xfrm>
          <a:prstGeom prst="roundRect">
            <a:avLst>
              <a:gd name="adj" fmla="val 50000"/>
            </a:avLst>
          </a:prstGeom>
          <a:solidFill>
            <a:schemeClr val="accent2">
              <a:lumMod val="28000"/>
              <a:lumOff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050" b="1">
                <a:solidFill>
                  <a:schemeClr val="tx1"/>
                </a:solidFill>
              </a:rPr>
              <a:t>Leads M2–M3 · co-leads M4</a:t>
            </a:r>
          </a:p>
        </p:txBody>
      </p:sp>
      <p:sp>
        <p:nvSpPr>
          <p:cNvPr id="40" name="Role card C"/>
          <p:cNvSpPr/>
          <p:nvPr/>
        </p:nvSpPr>
        <p:spPr>
          <a:xfrm>
            <a:off x="6309360" y="3182112"/>
            <a:ext cx="2589123" cy="1426464"/>
          </a:xfrm>
          <a:prstGeom prst="roundRect">
            <a:avLst>
              <a:gd name="adj" fmla="val 3846"/>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le badge C"/>
          <p:cNvSpPr/>
          <p:nvPr/>
        </p:nvSpPr>
        <p:spPr>
          <a:xfrm>
            <a:off x="6419088" y="3291840"/>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300" b="1">
                <a:solidFill>
                  <a:schemeClr val="bg1"/>
                </a:solidFill>
              </a:rPr>
              <a:t>C</a:t>
            </a:r>
          </a:p>
        </p:txBody>
      </p:sp>
      <p:sp>
        <p:nvSpPr>
          <p:cNvPr id="42" name="Role name C"/>
          <p:cNvSpPr txBox="1"/>
          <p:nvPr/>
        </p:nvSpPr>
        <p:spPr>
          <a:xfrm>
            <a:off x="6858000" y="3273552"/>
            <a:ext cx="1930755" cy="384048"/>
          </a:xfrm>
          <a:prstGeom prst="rect">
            <a:avLst/>
          </a:prstGeom>
          <a:noFill/>
        </p:spPr>
        <p:txBody>
          <a:bodyPr wrap="square" lIns="0" tIns="0" rIns="0" bIns="0" anchor="ctr">
            <a:noAutofit/>
          </a:bodyPr>
          <a:lstStyle/>
          <a:p>
            <a:pPr algn="l">
              <a:lnSpc>
                <a:spcPct val="100000"/>
              </a:lnSpc>
            </a:pPr>
            <a:r>
              <a:rPr sz="1300" b="1">
                <a:solidFill>
                  <a:schemeClr val="tx2"/>
                </a:solidFill>
              </a:rPr>
              <a:t>Companion UX</a:t>
            </a:r>
          </a:p>
        </p:txBody>
      </p:sp>
      <p:sp>
        <p:nvSpPr>
          <p:cNvPr id="43" name="Role owns C"/>
          <p:cNvSpPr txBox="1"/>
          <p:nvPr/>
        </p:nvSpPr>
        <p:spPr>
          <a:xfrm>
            <a:off x="6437376" y="3685032"/>
            <a:ext cx="2333091" cy="548640"/>
          </a:xfrm>
          <a:prstGeom prst="rect">
            <a:avLst/>
          </a:prstGeom>
          <a:noFill/>
        </p:spPr>
        <p:txBody>
          <a:bodyPr wrap="square" lIns="0" tIns="0" rIns="0" bIns="0" anchor="t">
            <a:noAutofit/>
          </a:bodyPr>
          <a:lstStyle/>
          <a:p>
            <a:pPr algn="l">
              <a:lnSpc>
                <a:spcPct val="100000"/>
              </a:lnSpc>
            </a:pPr>
            <a:r>
              <a:rPr sz="1100" b="0">
                <a:solidFill>
                  <a:schemeClr val="tx1"/>
                </a:solidFill>
              </a:rPr>
              <a:t>Panel, context bridge, fact labels, action list, confirmation card, charts; starts on mock data</a:t>
            </a:r>
          </a:p>
        </p:txBody>
      </p:sp>
      <p:sp>
        <p:nvSpPr>
          <p:cNvPr id="44" name="Role lead C"/>
          <p:cNvSpPr/>
          <p:nvPr/>
        </p:nvSpPr>
        <p:spPr>
          <a:xfrm>
            <a:off x="6437376" y="4279392"/>
            <a:ext cx="907280" cy="237744"/>
          </a:xfrm>
          <a:prstGeom prst="roundRect">
            <a:avLst>
              <a:gd name="adj" fmla="val 50000"/>
            </a:avLst>
          </a:prstGeom>
          <a:solidFill>
            <a:schemeClr val="accent2">
              <a:lumMod val="28000"/>
              <a:lumOff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050" b="1">
                <a:solidFill>
                  <a:schemeClr val="tx1"/>
                </a:solidFill>
              </a:rPr>
              <a:t>Co-leads M4</a:t>
            </a:r>
          </a:p>
        </p:txBody>
      </p:sp>
      <p:sp>
        <p:nvSpPr>
          <p:cNvPr id="45" name="Role card D"/>
          <p:cNvSpPr/>
          <p:nvPr/>
        </p:nvSpPr>
        <p:spPr>
          <a:xfrm>
            <a:off x="9008211" y="3182112"/>
            <a:ext cx="2589123" cy="1426464"/>
          </a:xfrm>
          <a:prstGeom prst="roundRect">
            <a:avLst>
              <a:gd name="adj" fmla="val 3846"/>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le badge D"/>
          <p:cNvSpPr/>
          <p:nvPr/>
        </p:nvSpPr>
        <p:spPr>
          <a:xfrm>
            <a:off x="9117939" y="3291840"/>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300" b="1">
                <a:solidFill>
                  <a:schemeClr val="bg1"/>
                </a:solidFill>
              </a:rPr>
              <a:t>D</a:t>
            </a:r>
          </a:p>
        </p:txBody>
      </p:sp>
      <p:sp>
        <p:nvSpPr>
          <p:cNvPr id="47" name="Role name D"/>
          <p:cNvSpPr txBox="1"/>
          <p:nvPr/>
        </p:nvSpPr>
        <p:spPr>
          <a:xfrm>
            <a:off x="9556851" y="3273552"/>
            <a:ext cx="1930755" cy="384048"/>
          </a:xfrm>
          <a:prstGeom prst="rect">
            <a:avLst/>
          </a:prstGeom>
          <a:noFill/>
        </p:spPr>
        <p:txBody>
          <a:bodyPr wrap="square" lIns="0" tIns="0" rIns="0" bIns="0" anchor="ctr">
            <a:noAutofit/>
          </a:bodyPr>
          <a:lstStyle/>
          <a:p>
            <a:pPr algn="l">
              <a:lnSpc>
                <a:spcPct val="100000"/>
              </a:lnSpc>
            </a:pPr>
            <a:r>
              <a:rPr sz="1300" b="1">
                <a:solidFill>
                  <a:schemeClr val="tx2"/>
                </a:solidFill>
              </a:rPr>
              <a:t>Evaluation and safety</a:t>
            </a:r>
          </a:p>
        </p:txBody>
      </p:sp>
      <p:sp>
        <p:nvSpPr>
          <p:cNvPr id="48" name="Role owns D"/>
          <p:cNvSpPr txBox="1"/>
          <p:nvPr/>
        </p:nvSpPr>
        <p:spPr>
          <a:xfrm>
            <a:off x="9136227" y="3685032"/>
            <a:ext cx="2333091" cy="548640"/>
          </a:xfrm>
          <a:prstGeom prst="rect">
            <a:avLst/>
          </a:prstGeom>
          <a:noFill/>
        </p:spPr>
        <p:txBody>
          <a:bodyPr wrap="square" lIns="0" tIns="0" rIns="0" bIns="0" anchor="t">
            <a:noAutofit/>
          </a:bodyPr>
          <a:lstStyle/>
          <a:p>
            <a:pPr algn="l">
              <a:lnSpc>
                <a:spcPct val="100000"/>
              </a:lnSpc>
            </a:pPr>
            <a:r>
              <a:rPr sz="1100" b="0">
                <a:solidFill>
                  <a:schemeClr val="tx1"/>
                </a:solidFill>
              </a:rPr>
              <a:t>Task file, requests from outside the team, runner, trace log, evidence checker, KPI table</a:t>
            </a:r>
          </a:p>
        </p:txBody>
      </p:sp>
      <p:sp>
        <p:nvSpPr>
          <p:cNvPr id="49" name="Role lead D"/>
          <p:cNvSpPr/>
          <p:nvPr/>
        </p:nvSpPr>
        <p:spPr>
          <a:xfrm>
            <a:off x="9136227" y="4279392"/>
            <a:ext cx="747835" cy="237744"/>
          </a:xfrm>
          <a:prstGeom prst="roundRect">
            <a:avLst>
              <a:gd name="adj" fmla="val 50000"/>
            </a:avLst>
          </a:prstGeom>
          <a:solidFill>
            <a:schemeClr val="accent2">
              <a:lumMod val="28000"/>
              <a:lumOff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050" b="1">
                <a:solidFill>
                  <a:schemeClr val="tx1"/>
                </a:solidFill>
              </a:rPr>
              <a:t>Leads M5</a:t>
            </a:r>
          </a:p>
        </p:txBody>
      </p:sp>
      <p:sp>
        <p:nvSpPr>
          <p:cNvPr id="50" name="Panel: Timeline"/>
          <p:cNvSpPr/>
          <p:nvPr/>
        </p:nvSpPr>
        <p:spPr>
          <a:xfrm>
            <a:off x="457200" y="4846320"/>
            <a:ext cx="11277295" cy="1554480"/>
          </a:xfrm>
          <a:prstGeom prst="roundRect">
            <a:avLst>
              <a:gd name="adj" fmla="val 5882"/>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Header: Timeline"/>
          <p:cNvSpPr txBox="1"/>
          <p:nvPr/>
        </p:nvSpPr>
        <p:spPr>
          <a:xfrm>
            <a:off x="594360" y="4892040"/>
            <a:ext cx="10972800" cy="237744"/>
          </a:xfrm>
          <a:prstGeom prst="rect">
            <a:avLst/>
          </a:prstGeom>
          <a:noFill/>
        </p:spPr>
        <p:txBody>
          <a:bodyPr wrap="square" lIns="0" tIns="0" rIns="0" bIns="0" anchor="t">
            <a:noAutofit/>
          </a:bodyPr>
          <a:lstStyle/>
          <a:p>
            <a:pPr algn="l">
              <a:lnSpc>
                <a:spcPct val="100000"/>
              </a:lnSpc>
            </a:pPr>
            <a:r>
              <a:rPr sz="1100" b="1">
                <a:solidFill>
                  <a:schemeClr val="tx2"/>
                </a:solidFill>
              </a:rPr>
              <a:t>48-HOUR TIMELINE · A WORKING DEMO AT THE END OF EVERY MILESTONE</a:t>
            </a:r>
          </a:p>
        </p:txBody>
      </p:sp>
      <p:sp>
        <p:nvSpPr>
          <p:cNvPr id="52" name="Milestone M1 Foundation"/>
          <p:cNvSpPr/>
          <p:nvPr/>
        </p:nvSpPr>
        <p:spPr>
          <a:xfrm>
            <a:off x="608076" y="5175504"/>
            <a:ext cx="2264854"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100" b="1">
                <a:solidFill>
                  <a:schemeClr val="bg1"/>
                </a:solidFill>
              </a:rPr>
              <a:t>M1 Foundation</a:t>
            </a:r>
          </a:p>
        </p:txBody>
      </p:sp>
      <p:sp>
        <p:nvSpPr>
          <p:cNvPr id="53" name="Done when M1 Foundation"/>
          <p:cNvSpPr txBox="1"/>
          <p:nvPr/>
        </p:nvSpPr>
        <p:spPr>
          <a:xfrm>
            <a:off x="635508" y="5769864"/>
            <a:ext cx="2209990" cy="585216"/>
          </a:xfrm>
          <a:prstGeom prst="rect">
            <a:avLst/>
          </a:prstGeom>
          <a:noFill/>
        </p:spPr>
        <p:txBody>
          <a:bodyPr wrap="square" lIns="0" tIns="0" rIns="0" bIns="0" anchor="t">
            <a:noAutofit/>
          </a:bodyPr>
          <a:lstStyle/>
          <a:p>
            <a:pPr algn="l">
              <a:lnSpc>
                <a:spcPct val="100000"/>
              </a:lnSpc>
            </a:pPr>
            <a:r>
              <a:rPr sz="1050" b="0">
                <a:solidFill>
                  <a:schemeClr val="tx1"/>
                </a:solidFill>
              </a:rPr>
              <a:t>Formats agreed in hour 1; every view opens from a URL; claim checks pass</a:t>
            </a:r>
          </a:p>
        </p:txBody>
      </p:sp>
      <p:sp>
        <p:nvSpPr>
          <p:cNvPr id="54" name="Milestone M2 Act"/>
          <p:cNvSpPr/>
          <p:nvPr/>
        </p:nvSpPr>
        <p:spPr>
          <a:xfrm>
            <a:off x="2900362" y="5175504"/>
            <a:ext cx="2264854"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100" b="1">
                <a:solidFill>
                  <a:schemeClr val="bg1"/>
                </a:solidFill>
              </a:rPr>
              <a:t>M2 Act</a:t>
            </a:r>
          </a:p>
        </p:txBody>
      </p:sp>
      <p:sp>
        <p:nvSpPr>
          <p:cNvPr id="55" name="Done when M2 Act"/>
          <p:cNvSpPr txBox="1"/>
          <p:nvPr/>
        </p:nvSpPr>
        <p:spPr>
          <a:xfrm>
            <a:off x="2927794" y="5769864"/>
            <a:ext cx="2209990" cy="585216"/>
          </a:xfrm>
          <a:prstGeom prst="rect">
            <a:avLst/>
          </a:prstGeom>
          <a:noFill/>
        </p:spPr>
        <p:txBody>
          <a:bodyPr wrap="square" lIns="0" tIns="0" rIns="0" bIns="0" anchor="t">
            <a:noAutofit/>
          </a:bodyPr>
          <a:lstStyle/>
          <a:p>
            <a:pPr algn="l">
              <a:lnSpc>
                <a:spcPct val="100000"/>
              </a:lnSpc>
            </a:pPr>
            <a:r>
              <a:rPr sz="1050" b="0">
                <a:solidFill>
                  <a:schemeClr val="tx1"/>
                </a:solidFill>
              </a:rPr>
              <a:t>“Show unpicked orders for May” works by chat</a:t>
            </a:r>
          </a:p>
        </p:txBody>
      </p:sp>
      <p:sp>
        <p:nvSpPr>
          <p:cNvPr id="56" name="Milestone M3 Context"/>
          <p:cNvSpPr/>
          <p:nvPr/>
        </p:nvSpPr>
        <p:spPr>
          <a:xfrm>
            <a:off x="5192649" y="5175504"/>
            <a:ext cx="1806397"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100" b="1">
                <a:solidFill>
                  <a:schemeClr val="bg1"/>
                </a:solidFill>
              </a:rPr>
              <a:t>M3 Context</a:t>
            </a:r>
          </a:p>
        </p:txBody>
      </p:sp>
      <p:sp>
        <p:nvSpPr>
          <p:cNvPr id="57" name="Done when M3 Context"/>
          <p:cNvSpPr txBox="1"/>
          <p:nvPr/>
        </p:nvSpPr>
        <p:spPr>
          <a:xfrm>
            <a:off x="5220081" y="5769864"/>
            <a:ext cx="1751533" cy="585216"/>
          </a:xfrm>
          <a:prstGeom prst="rect">
            <a:avLst/>
          </a:prstGeom>
          <a:noFill/>
        </p:spPr>
        <p:txBody>
          <a:bodyPr wrap="square" lIns="0" tIns="0" rIns="0" bIns="0" anchor="t">
            <a:noAutofit/>
          </a:bodyPr>
          <a:lstStyle/>
          <a:p>
            <a:pPr algn="l">
              <a:lnSpc>
                <a:spcPct val="100000"/>
              </a:lnSpc>
            </a:pPr>
            <a:r>
              <a:rPr sz="1050" b="0">
                <a:solidFill>
                  <a:schemeClr val="tx1"/>
                </a:solidFill>
              </a:rPr>
              <a:t>Follow-ups work; unclear requests get a question, not an action</a:t>
            </a:r>
          </a:p>
        </p:txBody>
      </p:sp>
      <p:sp>
        <p:nvSpPr>
          <p:cNvPr id="58" name="Milestone M4 Analyse"/>
          <p:cNvSpPr/>
          <p:nvPr/>
        </p:nvSpPr>
        <p:spPr>
          <a:xfrm>
            <a:off x="7026478" y="5175504"/>
            <a:ext cx="1806397"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100" b="1">
                <a:solidFill>
                  <a:schemeClr val="bg1"/>
                </a:solidFill>
              </a:rPr>
              <a:t>M4 Analyse</a:t>
            </a:r>
          </a:p>
        </p:txBody>
      </p:sp>
      <p:sp>
        <p:nvSpPr>
          <p:cNvPr id="59" name="Done when M4 Analyse"/>
          <p:cNvSpPr txBox="1"/>
          <p:nvPr/>
        </p:nvSpPr>
        <p:spPr>
          <a:xfrm>
            <a:off x="7053910" y="5769864"/>
            <a:ext cx="1751533" cy="585216"/>
          </a:xfrm>
          <a:prstGeom prst="rect">
            <a:avLst/>
          </a:prstGeom>
          <a:noFill/>
        </p:spPr>
        <p:txBody>
          <a:bodyPr wrap="square" lIns="0" tIns="0" rIns="0" bIns="0" anchor="t">
            <a:noAutofit/>
          </a:bodyPr>
          <a:lstStyle/>
          <a:p>
            <a:pPr algn="l">
              <a:lnSpc>
                <a:spcPct val="100000"/>
              </a:lnSpc>
            </a:pPr>
            <a:r>
              <a:rPr sz="1050" b="0">
                <a:solidFill>
                  <a:schemeClr val="tx1"/>
                </a:solidFill>
              </a:rPr>
              <a:t>A period comparison with every number linked to a view</a:t>
            </a:r>
          </a:p>
        </p:txBody>
      </p:sp>
      <p:sp>
        <p:nvSpPr>
          <p:cNvPr id="60" name="Milestone M5 Measure"/>
          <p:cNvSpPr/>
          <p:nvPr/>
        </p:nvSpPr>
        <p:spPr>
          <a:xfrm>
            <a:off x="8860307" y="5175504"/>
            <a:ext cx="1347939"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100" b="1">
                <a:solidFill>
                  <a:schemeClr val="bg1"/>
                </a:solidFill>
              </a:rPr>
              <a:t>M5 Measure</a:t>
            </a:r>
          </a:p>
        </p:txBody>
      </p:sp>
      <p:sp>
        <p:nvSpPr>
          <p:cNvPr id="61" name="Done when M5 Measure"/>
          <p:cNvSpPr txBox="1"/>
          <p:nvPr/>
        </p:nvSpPr>
        <p:spPr>
          <a:xfrm>
            <a:off x="8887739" y="5769864"/>
            <a:ext cx="1293075" cy="585216"/>
          </a:xfrm>
          <a:prstGeom prst="rect">
            <a:avLst/>
          </a:prstGeom>
          <a:noFill/>
        </p:spPr>
        <p:txBody>
          <a:bodyPr wrap="square" lIns="0" tIns="0" rIns="0" bIns="0" anchor="t">
            <a:noAutofit/>
          </a:bodyPr>
          <a:lstStyle/>
          <a:p>
            <a:pPr algn="l">
              <a:lnSpc>
                <a:spcPct val="100000"/>
              </a:lnSpc>
            </a:pPr>
            <a:r>
              <a:rPr sz="1050" b="0">
                <a:solidFill>
                  <a:schemeClr val="tx1"/>
                </a:solidFill>
              </a:rPr>
              <a:t>Confirmed writes; one command prints the KPI table</a:t>
            </a:r>
          </a:p>
        </p:txBody>
      </p:sp>
      <p:sp>
        <p:nvSpPr>
          <p:cNvPr id="62" name="Milestone M6 Rehearse"/>
          <p:cNvSpPr/>
          <p:nvPr/>
        </p:nvSpPr>
        <p:spPr>
          <a:xfrm>
            <a:off x="10235679" y="5175504"/>
            <a:ext cx="1347939"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lnSpc>
                <a:spcPct val="100000"/>
              </a:lnSpc>
            </a:pPr>
            <a:r>
              <a:rPr sz="1100" b="1">
                <a:solidFill>
                  <a:schemeClr val="bg1"/>
                </a:solidFill>
              </a:rPr>
              <a:t>M6 Rehearse</a:t>
            </a:r>
          </a:p>
        </p:txBody>
      </p:sp>
      <p:sp>
        <p:nvSpPr>
          <p:cNvPr id="63" name="Done when M6 Rehearse"/>
          <p:cNvSpPr txBox="1"/>
          <p:nvPr/>
        </p:nvSpPr>
        <p:spPr>
          <a:xfrm>
            <a:off x="10263111" y="5769864"/>
            <a:ext cx="1293075" cy="585216"/>
          </a:xfrm>
          <a:prstGeom prst="rect">
            <a:avLst/>
          </a:prstGeom>
          <a:noFill/>
        </p:spPr>
        <p:txBody>
          <a:bodyPr wrap="square" lIns="0" tIns="0" rIns="0" bIns="0" anchor="t">
            <a:noAutofit/>
          </a:bodyPr>
          <a:lstStyle/>
          <a:p>
            <a:pPr algn="l">
              <a:lnSpc>
                <a:spcPct val="100000"/>
              </a:lnSpc>
            </a:pPr>
            <a:r>
              <a:rPr sz="1050" b="0">
                <a:solidFill>
                  <a:schemeClr val="tx1"/>
                </a:solidFill>
              </a:rPr>
              <a:t>Whole team rehearses; stretch work only if ahead</a:t>
            </a:r>
          </a:p>
        </p:txBody>
      </p:sp>
      <p:sp>
        <p:nvSpPr>
          <p:cNvPr id="64" name="Tick 0 h"/>
          <p:cNvSpPr txBox="1"/>
          <p:nvPr/>
        </p:nvSpPr>
        <p:spPr>
          <a:xfrm>
            <a:off x="594360" y="5559552"/>
            <a:ext cx="548640" cy="182880"/>
          </a:xfrm>
          <a:prstGeom prst="rect">
            <a:avLst/>
          </a:prstGeom>
          <a:noFill/>
        </p:spPr>
        <p:txBody>
          <a:bodyPr wrap="square" lIns="0" tIns="0" rIns="0" bIns="0" anchor="t">
            <a:noAutofit/>
          </a:bodyPr>
          <a:lstStyle/>
          <a:p>
            <a:pPr algn="l">
              <a:lnSpc>
                <a:spcPct val="100000"/>
              </a:lnSpc>
            </a:pPr>
            <a:r>
              <a:rPr sz="1000" b="0">
                <a:solidFill>
                  <a:schemeClr val="accent3"/>
                </a:solidFill>
              </a:rPr>
              <a:t>0 h</a:t>
            </a:r>
          </a:p>
        </p:txBody>
      </p:sp>
      <p:sp>
        <p:nvSpPr>
          <p:cNvPr id="65" name="Tick 10 h"/>
          <p:cNvSpPr txBox="1"/>
          <p:nvPr/>
        </p:nvSpPr>
        <p:spPr>
          <a:xfrm>
            <a:off x="2612326" y="5559552"/>
            <a:ext cx="548640" cy="182880"/>
          </a:xfrm>
          <a:prstGeom prst="rect">
            <a:avLst/>
          </a:prstGeom>
          <a:noFill/>
        </p:spPr>
        <p:txBody>
          <a:bodyPr wrap="square" lIns="0" tIns="0" rIns="0" bIns="0" anchor="t">
            <a:noAutofit/>
          </a:bodyPr>
          <a:lstStyle/>
          <a:p>
            <a:pPr algn="ctr">
              <a:lnSpc>
                <a:spcPct val="100000"/>
              </a:lnSpc>
            </a:pPr>
            <a:r>
              <a:rPr sz="1000" b="0">
                <a:solidFill>
                  <a:schemeClr val="accent3"/>
                </a:solidFill>
              </a:rPr>
              <a:t>10 h</a:t>
            </a:r>
          </a:p>
        </p:txBody>
      </p:sp>
      <p:sp>
        <p:nvSpPr>
          <p:cNvPr id="66" name="Tick 20 h"/>
          <p:cNvSpPr txBox="1"/>
          <p:nvPr/>
        </p:nvSpPr>
        <p:spPr>
          <a:xfrm>
            <a:off x="4904613" y="5559552"/>
            <a:ext cx="548640" cy="182880"/>
          </a:xfrm>
          <a:prstGeom prst="rect">
            <a:avLst/>
          </a:prstGeom>
          <a:noFill/>
        </p:spPr>
        <p:txBody>
          <a:bodyPr wrap="square" lIns="0" tIns="0" rIns="0" bIns="0" anchor="t">
            <a:noAutofit/>
          </a:bodyPr>
          <a:lstStyle/>
          <a:p>
            <a:pPr algn="ctr">
              <a:lnSpc>
                <a:spcPct val="100000"/>
              </a:lnSpc>
            </a:pPr>
            <a:r>
              <a:rPr sz="1000" b="0">
                <a:solidFill>
                  <a:schemeClr val="accent3"/>
                </a:solidFill>
              </a:rPr>
              <a:t>20 h</a:t>
            </a:r>
          </a:p>
        </p:txBody>
      </p:sp>
      <p:sp>
        <p:nvSpPr>
          <p:cNvPr id="67" name="Tick 28 h"/>
          <p:cNvSpPr txBox="1"/>
          <p:nvPr/>
        </p:nvSpPr>
        <p:spPr>
          <a:xfrm>
            <a:off x="6738442" y="5559552"/>
            <a:ext cx="548640" cy="182880"/>
          </a:xfrm>
          <a:prstGeom prst="rect">
            <a:avLst/>
          </a:prstGeom>
          <a:noFill/>
        </p:spPr>
        <p:txBody>
          <a:bodyPr wrap="square" lIns="0" tIns="0" rIns="0" bIns="0" anchor="t">
            <a:noAutofit/>
          </a:bodyPr>
          <a:lstStyle/>
          <a:p>
            <a:pPr algn="ctr">
              <a:lnSpc>
                <a:spcPct val="100000"/>
              </a:lnSpc>
            </a:pPr>
            <a:r>
              <a:rPr sz="1000" b="0">
                <a:solidFill>
                  <a:schemeClr val="accent3"/>
                </a:solidFill>
              </a:rPr>
              <a:t>28 h</a:t>
            </a:r>
          </a:p>
        </p:txBody>
      </p:sp>
      <p:sp>
        <p:nvSpPr>
          <p:cNvPr id="68" name="Tick 36 h"/>
          <p:cNvSpPr txBox="1"/>
          <p:nvPr/>
        </p:nvSpPr>
        <p:spPr>
          <a:xfrm>
            <a:off x="8572271" y="5559552"/>
            <a:ext cx="548640" cy="182880"/>
          </a:xfrm>
          <a:prstGeom prst="rect">
            <a:avLst/>
          </a:prstGeom>
          <a:noFill/>
        </p:spPr>
        <p:txBody>
          <a:bodyPr wrap="square" lIns="0" tIns="0" rIns="0" bIns="0" anchor="t">
            <a:noAutofit/>
          </a:bodyPr>
          <a:lstStyle/>
          <a:p>
            <a:pPr algn="ctr">
              <a:lnSpc>
                <a:spcPct val="100000"/>
              </a:lnSpc>
            </a:pPr>
            <a:r>
              <a:rPr sz="1000" b="0">
                <a:solidFill>
                  <a:schemeClr val="accent3"/>
                </a:solidFill>
              </a:rPr>
              <a:t>36 h</a:t>
            </a:r>
          </a:p>
        </p:txBody>
      </p:sp>
      <p:sp>
        <p:nvSpPr>
          <p:cNvPr id="69" name="Tick 42 h"/>
          <p:cNvSpPr txBox="1"/>
          <p:nvPr/>
        </p:nvSpPr>
        <p:spPr>
          <a:xfrm>
            <a:off x="9947643" y="5559552"/>
            <a:ext cx="548640" cy="182880"/>
          </a:xfrm>
          <a:prstGeom prst="rect">
            <a:avLst/>
          </a:prstGeom>
          <a:noFill/>
        </p:spPr>
        <p:txBody>
          <a:bodyPr wrap="square" lIns="0" tIns="0" rIns="0" bIns="0" anchor="t">
            <a:noAutofit/>
          </a:bodyPr>
          <a:lstStyle/>
          <a:p>
            <a:pPr algn="ctr">
              <a:lnSpc>
                <a:spcPct val="100000"/>
              </a:lnSpc>
            </a:pPr>
            <a:r>
              <a:rPr sz="1000" b="0">
                <a:solidFill>
                  <a:schemeClr val="accent3"/>
                </a:solidFill>
              </a:rPr>
              <a:t>42 h</a:t>
            </a:r>
          </a:p>
        </p:txBody>
      </p:sp>
      <p:sp>
        <p:nvSpPr>
          <p:cNvPr id="70" name="Tick 48 h"/>
          <p:cNvSpPr txBox="1"/>
          <p:nvPr/>
        </p:nvSpPr>
        <p:spPr>
          <a:xfrm>
            <a:off x="11048695" y="5559552"/>
            <a:ext cx="548640" cy="182880"/>
          </a:xfrm>
          <a:prstGeom prst="rect">
            <a:avLst/>
          </a:prstGeom>
          <a:noFill/>
        </p:spPr>
        <p:txBody>
          <a:bodyPr wrap="square" lIns="0" tIns="0" rIns="0" bIns="0" anchor="t">
            <a:noAutofit/>
          </a:bodyPr>
          <a:lstStyle/>
          <a:p>
            <a:pPr algn="r">
              <a:lnSpc>
                <a:spcPct val="100000"/>
              </a:lnSpc>
            </a:pPr>
            <a:r>
              <a:rPr sz="1000" b="0">
                <a:solidFill>
                  <a:schemeClr val="accent3"/>
                </a:solidFill>
              </a:rPr>
              <a:t>48 h</a:t>
            </a:r>
          </a:p>
        </p:txBody>
      </p:sp>
    </p:spTree>
  </p:cSld>
  <p:clrMapOvr>
    <a:masterClrMapping/>
  </p:clrMapOvr>
</p:sld>
</file>

<file path=ppt/theme/theme1.xml><?xml version="1.0" encoding="utf-8"?>
<a:theme xmlns:a="http://schemas.openxmlformats.org/drawingml/2006/main" name="Fulfilment Agent">
  <a:themeElements>
    <a:clrScheme name="Fulfilment Agent">
      <a:dk1>
        <a:srgbClr val="1D2B33"/>
      </a:dk1>
      <a:lt1>
        <a:srgbClr val="FFFFFF"/>
      </a:lt1>
      <a:dk2>
        <a:srgbClr val="0E4D5A"/>
      </a:dk2>
      <a:lt2>
        <a:srgbClr val="EDF4F5"/>
      </a:lt2>
      <a:accent1>
        <a:srgbClr val="1A7F8E"/>
      </a:accent1>
      <a:accent2>
        <a:srgbClr val="E39B2D"/>
      </a:accent2>
      <a:accent3>
        <a:srgbClr val="5E6B73"/>
      </a:accent3>
      <a:accent4>
        <a:srgbClr val="C5D8DB"/>
      </a:accent4>
      <a:accent5>
        <a:srgbClr val="B5532F"/>
      </a:accent5>
      <a:accent6>
        <a:srgbClr val="8FB8BF"/>
      </a:accent6>
      <a:hlink>
        <a:srgbClr val="1A7F8E"/>
      </a:hlink>
      <a:folHlink>
        <a:srgbClr val="5E6B73"/>
      </a:folHlink>
    </a:clrScheme>
    <a:fontScheme name="Fulfilment Agent">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Architecture and Implementation Plan</dc:title>
  <dc:subject>Hackathon submission sections 4 and 5</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