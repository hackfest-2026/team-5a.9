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 Sapiens, Domain 5A. Our users run daily operations in business apps: they know the business but not every screen. Today one question means hopping between screens, setting filters by hand and copying numbers, and chatbots cannot act on the app or show where their numbers came from.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it works in four steps: understand, act, analyse, answer. Each objective maps to a KPI in the brief: intent-to-destination accuracy, UI-state correctness, faithfulness and near-zero action hallucination. Data: Wide World Importers is the business data behind our app. Mind2Web (NeurIPS 2023) is the public web-agent benchmark the brief allows as a surrogate: we adopt its task format and its step and task success metrics, and add page and filter accuracy on our own labelled requests.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tools either answer without operating the app (copilots, text-to-SQL) or operate it without understanding it (browser agents). Recent research embeds agents in apps, so our claim is narrower: business meaning, checked actions and traceable numbers. We measure this with Mind2Web's metrics rather than claiming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Mind2Web is the standard public test of whether an AI can operate real applications the way a person does: 2,350 tasks across 137 real websites, pages holding about 1,100 elements each. Agents finished 2-7% of whole tasks. SeeAct then showed why: hand the model the element to click and success jumps to 51.1%. The bottleneck is grounding - finding the thing to act on - not reasoning. Every figure here is the cited authors own, read from abstracts (report 05).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table as the argument: the left column is why click-driven and chat-BI approaches fail, the middle column is our system, and the right column shows every mechanism is already validated in published work. We assembled it; we did not invent it. The full 28-failure version is report 07 section 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not just evaluate on Mind2Web: it runs on cached copies of pages, scores the exact element clicked, gives one instruction up front with no follow-ups, and contains no questions requiring an answer to be reported. Those four exclusions are the four things this product is for. We use it for one narrow purpose: a retrieval stress test, picking the right component out of hundreds.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stack is deliberately small: no vector database, no graph database, no semantic-layer engine and no browser automation on the main path. At four pages the whole contract fits in the prompt, so there is no retrieval step to get wrong, and view state in the URL means one typed call replaces a click chain. Those components have published methods waiting if the app grows - report 07 section 8 lists them as future work. Each milestone ends in a working demo, so we can stop after any of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demo also shows the case that matters most for trust: a request nothing in the app can answer. The agent says so and suggests the nearest question it can answer, rather than navigating somewhere plausible. About one request in ten in the task file is of that kind, and the invented-action rate is scored on them. Two measurements make the case rather than the demo: the same tasks run with the validator on and off, and completion under policy reported beside raw success - the gap between the two is the safety cost.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KLE Technological University logo" descr="KLE Technological University logo"/>
          <p:cNvPicPr>
            <a:picLocks noChangeAspect="1"/>
          </p:cNvPicPr>
          <p:nvPr/>
        </p:nvPicPr>
        <p:blipFill>
          <a:blip r:embed="rId2"/>
          <a:stretch>
            <a:fillRect/>
          </a:stretch>
        </p:blipFill>
        <p:spPr>
          <a:xfrm>
            <a:off x="9814255" y="292608"/>
            <a:ext cx="1920240" cy="360045"/>
          </a:xfrm>
          <a:prstGeom prst="rect">
            <a:avLst/>
          </a:prstGeom>
        </p:spPr>
      </p:pic>
      <p:pic>
        <p:nvPicPr>
          <p:cNvPr id="3" name="KLE Tech Hackfest 2026 banner" descr="KLE Tech Hackfest 2026 banner"/>
          <p:cNvPicPr>
            <a:picLocks noChangeAspect="1"/>
          </p:cNvPicPr>
          <p:nvPr/>
        </p:nvPicPr>
        <p:blipFill>
          <a:blip r:embed="rId3"/>
          <a:stretch>
            <a:fillRect/>
          </a:stretch>
        </p:blipFill>
        <p:spPr>
          <a:xfrm>
            <a:off x="4687874" y="274320"/>
            <a:ext cx="2815945" cy="713232"/>
          </a:xfrm>
          <a:prstGeom prst="rect">
            <a:avLst/>
          </a:prstGeom>
        </p:spPr>
      </p:pic>
      <p:sp>
        <p:nvSpPr>
          <p:cNvPr id="4" name="Title"/>
          <p:cNvSpPr txBox="1"/>
          <p:nvPr/>
        </p:nvSpPr>
        <p:spPr>
          <a:xfrm>
            <a:off x="457200" y="1069848"/>
            <a:ext cx="11277295" cy="566928"/>
          </a:xfrm>
          <a:prstGeom prst="rect">
            <a:avLst/>
          </a:prstGeom>
          <a:noFill/>
        </p:spPr>
        <p:txBody>
          <a:bodyPr wrap="square" lIns="0" tIns="0" rIns="0" bIns="0" anchor="ctr">
            <a:noAutofit/>
          </a:bodyPr>
          <a:lstStyle/>
          <a:p>
            <a:pPr algn="ctr">
              <a:lnSpc>
                <a:spcPct val="100000"/>
              </a:lnSpc>
            </a:pPr>
            <a:r>
              <a:rPr sz="3200" b="1">
                <a:solidFill>
                  <a:schemeClr val="tx2"/>
                </a:solidFill>
              </a:rPr>
              <a:t>Context-Aware AI Agent for Enterprise Applications</a:t>
            </a:r>
          </a:p>
        </p:txBody>
      </p:sp>
      <p:sp>
        <p:nvSpPr>
          <p:cNvPr id="5" name="Domain"/>
          <p:cNvSpPr txBox="1"/>
          <p:nvPr/>
        </p:nvSpPr>
        <p:spPr>
          <a:xfrm>
            <a:off x="457200" y="1645920"/>
            <a:ext cx="11277295" cy="566928"/>
          </a:xfrm>
          <a:prstGeom prst="rect">
            <a:avLst/>
          </a:prstGeom>
          <a:noFill/>
        </p:spPr>
        <p:txBody>
          <a:bodyPr wrap="square" lIns="0" tIns="0" rIns="0" bIns="0" anchor="t">
            <a:noAutofit/>
          </a:bodyPr>
          <a:lstStyle/>
          <a:p>
            <a:pPr algn="ctr">
              <a:lnSpc>
                <a:spcPct val="100000"/>
              </a:lnSpc>
            </a:pPr>
            <a:r>
              <a:rPr sz="1600" b="0">
                <a:solidFill>
                  <a:schemeClr val="accent3"/>
                </a:solidFill>
              </a:rPr>
              <a:t>Selected domain: </a:t>
            </a:r>
            <a:r>
              <a:rPr sz="1600" b="1">
                <a:solidFill>
                  <a:schemeClr val="tx1"/>
                </a:solidFill>
              </a:rPr>
              <a:t>Domain 5 — Enterprise Applications, Agentic AI &amp; Dynamic Pricing</a:t>
            </a:r>
          </a:p>
          <a:p>
            <a:pPr algn="ctr">
              <a:lnSpc>
                <a:spcPct val="100000"/>
              </a:lnSpc>
            </a:pPr>
            <a:r>
              <a:rPr sz="1600" b="0">
                <a:solidFill>
                  <a:schemeClr val="accent3"/>
                </a:solidFill>
              </a:rPr>
              <a:t>Problem statement: </a:t>
            </a:r>
            <a:r>
              <a:rPr sz="1600" b="1">
                <a:solidFill>
                  <a:schemeClr val="tx1"/>
                </a:solidFill>
              </a:rPr>
              <a:t>5A — Context-Aware Application Agent</a:t>
            </a:r>
          </a:p>
        </p:txBody>
      </p:sp>
      <p:sp>
        <p:nvSpPr>
          <p:cNvPr id="6" name="Team header"/>
          <p:cNvSpPr txBox="1"/>
          <p:nvPr/>
        </p:nvSpPr>
        <p:spPr>
          <a:xfrm>
            <a:off x="457200" y="2377440"/>
            <a:ext cx="5486400" cy="292608"/>
          </a:xfrm>
          <a:prstGeom prst="rect">
            <a:avLst/>
          </a:prstGeom>
          <a:noFill/>
        </p:spPr>
        <p:txBody>
          <a:bodyPr wrap="square" lIns="0" tIns="0" rIns="0" bIns="0" anchor="t">
            <a:noAutofit/>
          </a:bodyPr>
          <a:lstStyle/>
          <a:p>
            <a:pPr algn="l">
              <a:lnSpc>
                <a:spcPct val="100000"/>
              </a:lnSpc>
            </a:pPr>
            <a:r>
              <a:rPr sz="1600" b="1">
                <a:solidFill>
                  <a:schemeClr val="tx2"/>
                </a:solidFill>
              </a:rPr>
              <a:t>TEAM SAPIENS</a:t>
            </a:r>
          </a:p>
        </p:txBody>
      </p:sp>
      <p:sp>
        <p:nvSpPr>
          <p:cNvPr id="7" name="Team table header"/>
          <p:cNvSpPr/>
          <p:nvPr/>
        </p:nvSpPr>
        <p:spPr>
          <a:xfrm>
            <a:off x="457200" y="2724912"/>
            <a:ext cx="5486400" cy="3657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am head Sl. No"/>
          <p:cNvSpPr txBox="1"/>
          <p:nvPr/>
        </p:nvSpPr>
        <p:spPr>
          <a:xfrm>
            <a:off x="594360" y="2724912"/>
            <a:ext cx="640080" cy="365760"/>
          </a:xfrm>
          <a:prstGeom prst="rect">
            <a:avLst/>
          </a:prstGeom>
          <a:noFill/>
        </p:spPr>
        <p:txBody>
          <a:bodyPr wrap="square" lIns="0" tIns="0" rIns="0" bIns="0" anchor="ctr">
            <a:noAutofit/>
          </a:bodyPr>
          <a:lstStyle/>
          <a:p>
            <a:pPr algn="l">
              <a:lnSpc>
                <a:spcPct val="100000"/>
              </a:lnSpc>
            </a:pPr>
            <a:r>
              <a:rPr sz="1600" b="1">
                <a:solidFill>
                  <a:schemeClr val="bg1"/>
                </a:solidFill>
              </a:rPr>
              <a:t>Sl. No</a:t>
            </a:r>
          </a:p>
        </p:txBody>
      </p:sp>
      <p:sp>
        <p:nvSpPr>
          <p:cNvPr id="9" name="Team head Name"/>
          <p:cNvSpPr txBox="1"/>
          <p:nvPr/>
        </p:nvSpPr>
        <p:spPr>
          <a:xfrm>
            <a:off x="1463039" y="2724912"/>
            <a:ext cx="2286000" cy="365760"/>
          </a:xfrm>
          <a:prstGeom prst="rect">
            <a:avLst/>
          </a:prstGeom>
          <a:noFill/>
        </p:spPr>
        <p:txBody>
          <a:bodyPr wrap="square" lIns="0" tIns="0" rIns="0" bIns="0" anchor="ctr">
            <a:noAutofit/>
          </a:bodyPr>
          <a:lstStyle/>
          <a:p>
            <a:pPr algn="l">
              <a:lnSpc>
                <a:spcPct val="100000"/>
              </a:lnSpc>
            </a:pPr>
            <a:r>
              <a:rPr sz="1600" b="1">
                <a:solidFill>
                  <a:schemeClr val="bg1"/>
                </a:solidFill>
              </a:rPr>
              <a:t>Name</a:t>
            </a:r>
          </a:p>
        </p:txBody>
      </p:sp>
      <p:sp>
        <p:nvSpPr>
          <p:cNvPr id="10" name="Team head USN"/>
          <p:cNvSpPr txBox="1"/>
          <p:nvPr/>
        </p:nvSpPr>
        <p:spPr>
          <a:xfrm>
            <a:off x="3977640" y="2724912"/>
            <a:ext cx="1874519" cy="365760"/>
          </a:xfrm>
          <a:prstGeom prst="rect">
            <a:avLst/>
          </a:prstGeom>
          <a:noFill/>
        </p:spPr>
        <p:txBody>
          <a:bodyPr wrap="square" lIns="0" tIns="0" rIns="0" bIns="0" anchor="ctr">
            <a:noAutofit/>
          </a:bodyPr>
          <a:lstStyle/>
          <a:p>
            <a:pPr algn="l">
              <a:lnSpc>
                <a:spcPct val="100000"/>
              </a:lnSpc>
            </a:pPr>
            <a:r>
              <a:rPr sz="1600" b="1">
                <a:solidFill>
                  <a:schemeClr val="bg1"/>
                </a:solidFill>
              </a:rPr>
              <a:t>USN</a:t>
            </a:r>
          </a:p>
        </p:txBody>
      </p:sp>
      <p:sp>
        <p:nvSpPr>
          <p:cNvPr id="11" name="Team row 1"/>
          <p:cNvSpPr/>
          <p:nvPr/>
        </p:nvSpPr>
        <p:spPr>
          <a:xfrm>
            <a:off x="457200" y="3090672"/>
            <a:ext cx="5486400" cy="365760"/>
          </a:xfrm>
          <a:prstGeom prst="rect">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am Sl. No 1"/>
          <p:cNvSpPr txBox="1"/>
          <p:nvPr/>
        </p:nvSpPr>
        <p:spPr>
          <a:xfrm>
            <a:off x="594360" y="3090672"/>
            <a:ext cx="640080" cy="365760"/>
          </a:xfrm>
          <a:prstGeom prst="rect">
            <a:avLst/>
          </a:prstGeom>
          <a:noFill/>
        </p:spPr>
        <p:txBody>
          <a:bodyPr wrap="square" lIns="0" tIns="0" rIns="0" bIns="0" anchor="ctr">
            <a:noAutofit/>
          </a:bodyPr>
          <a:lstStyle/>
          <a:p>
            <a:pPr algn="l">
              <a:lnSpc>
                <a:spcPct val="100000"/>
              </a:lnSpc>
            </a:pPr>
            <a:r>
              <a:rPr sz="1600" b="0">
                <a:solidFill>
                  <a:schemeClr val="tx1"/>
                </a:solidFill>
              </a:rPr>
              <a:t>1</a:t>
            </a:r>
          </a:p>
        </p:txBody>
      </p:sp>
      <p:sp>
        <p:nvSpPr>
          <p:cNvPr id="13" name="Team Name 1"/>
          <p:cNvSpPr txBox="1"/>
          <p:nvPr/>
        </p:nvSpPr>
        <p:spPr>
          <a:xfrm>
            <a:off x="1463039" y="3090672"/>
            <a:ext cx="2286000" cy="365760"/>
          </a:xfrm>
          <a:prstGeom prst="rect">
            <a:avLst/>
          </a:prstGeom>
          <a:noFill/>
        </p:spPr>
        <p:txBody>
          <a:bodyPr wrap="square" lIns="0" tIns="0" rIns="0" bIns="0" anchor="ctr">
            <a:noAutofit/>
          </a:bodyPr>
          <a:lstStyle/>
          <a:p>
            <a:pPr algn="l">
              <a:lnSpc>
                <a:spcPct val="100000"/>
              </a:lnSpc>
            </a:pPr>
            <a:r>
              <a:rPr sz="1600" b="0">
                <a:solidFill>
                  <a:schemeClr val="tx1"/>
                </a:solidFill>
              </a:rPr>
              <a:t>Karthik NHM</a:t>
            </a:r>
          </a:p>
        </p:txBody>
      </p:sp>
      <p:sp>
        <p:nvSpPr>
          <p:cNvPr id="14" name="Team USN 1"/>
          <p:cNvSpPr txBox="1"/>
          <p:nvPr/>
        </p:nvSpPr>
        <p:spPr>
          <a:xfrm>
            <a:off x="3977640" y="3090672"/>
            <a:ext cx="1874519" cy="365760"/>
          </a:xfrm>
          <a:prstGeom prst="rect">
            <a:avLst/>
          </a:prstGeom>
          <a:noFill/>
        </p:spPr>
        <p:txBody>
          <a:bodyPr wrap="square" lIns="0" tIns="0" rIns="0" bIns="0" anchor="ctr">
            <a:noAutofit/>
          </a:bodyPr>
          <a:lstStyle/>
          <a:p>
            <a:pPr algn="l">
              <a:lnSpc>
                <a:spcPct val="100000"/>
              </a:lnSpc>
            </a:pPr>
            <a:r>
              <a:rPr sz="1600" b="0">
                <a:solidFill>
                  <a:schemeClr val="tx1"/>
                </a:solidFill>
              </a:rPr>
              <a:t>01FE24BCI072</a:t>
            </a:r>
          </a:p>
        </p:txBody>
      </p:sp>
      <p:sp>
        <p:nvSpPr>
          <p:cNvPr id="15" name="Team row 2"/>
          <p:cNvSpPr/>
          <p:nvPr/>
        </p:nvSpPr>
        <p:spPr>
          <a:xfrm>
            <a:off x="457200" y="3456432"/>
            <a:ext cx="5486400" cy="365760"/>
          </a:xfrm>
          <a:prstGeom prst="rect">
            <a:avLst/>
          </a:prstGeom>
          <a:solidFill>
            <a:schemeClr val="bg2"/>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am Sl. No 2"/>
          <p:cNvSpPr txBox="1"/>
          <p:nvPr/>
        </p:nvSpPr>
        <p:spPr>
          <a:xfrm>
            <a:off x="594360" y="3456432"/>
            <a:ext cx="640080" cy="365760"/>
          </a:xfrm>
          <a:prstGeom prst="rect">
            <a:avLst/>
          </a:prstGeom>
          <a:noFill/>
        </p:spPr>
        <p:txBody>
          <a:bodyPr wrap="square" lIns="0" tIns="0" rIns="0" bIns="0" anchor="ctr">
            <a:noAutofit/>
          </a:bodyPr>
          <a:lstStyle/>
          <a:p>
            <a:pPr algn="l">
              <a:lnSpc>
                <a:spcPct val="100000"/>
              </a:lnSpc>
            </a:pPr>
            <a:r>
              <a:rPr sz="1600" b="0">
                <a:solidFill>
                  <a:schemeClr val="tx1"/>
                </a:solidFill>
              </a:rPr>
              <a:t>2</a:t>
            </a:r>
          </a:p>
        </p:txBody>
      </p:sp>
      <p:sp>
        <p:nvSpPr>
          <p:cNvPr id="17" name="Team Name 2"/>
          <p:cNvSpPr txBox="1"/>
          <p:nvPr/>
        </p:nvSpPr>
        <p:spPr>
          <a:xfrm>
            <a:off x="1463039" y="3456432"/>
            <a:ext cx="2286000" cy="365760"/>
          </a:xfrm>
          <a:prstGeom prst="rect">
            <a:avLst/>
          </a:prstGeom>
          <a:noFill/>
        </p:spPr>
        <p:txBody>
          <a:bodyPr wrap="square" lIns="0" tIns="0" rIns="0" bIns="0" anchor="ctr">
            <a:noAutofit/>
          </a:bodyPr>
          <a:lstStyle/>
          <a:p>
            <a:pPr algn="l">
              <a:lnSpc>
                <a:spcPct val="100000"/>
              </a:lnSpc>
            </a:pPr>
            <a:r>
              <a:rPr sz="1600" b="0">
                <a:solidFill>
                  <a:schemeClr val="tx1"/>
                </a:solidFill>
              </a:rPr>
              <a:t>Rakshita Kulkarni</a:t>
            </a:r>
          </a:p>
        </p:txBody>
      </p:sp>
      <p:sp>
        <p:nvSpPr>
          <p:cNvPr id="18" name="Team USN 2"/>
          <p:cNvSpPr txBox="1"/>
          <p:nvPr/>
        </p:nvSpPr>
        <p:spPr>
          <a:xfrm>
            <a:off x="3977640" y="3456432"/>
            <a:ext cx="1874519" cy="365760"/>
          </a:xfrm>
          <a:prstGeom prst="rect">
            <a:avLst/>
          </a:prstGeom>
          <a:noFill/>
        </p:spPr>
        <p:txBody>
          <a:bodyPr wrap="square" lIns="0" tIns="0" rIns="0" bIns="0" anchor="ctr">
            <a:noAutofit/>
          </a:bodyPr>
          <a:lstStyle/>
          <a:p>
            <a:pPr algn="l">
              <a:lnSpc>
                <a:spcPct val="100000"/>
              </a:lnSpc>
            </a:pPr>
            <a:r>
              <a:rPr sz="1600" b="0">
                <a:solidFill>
                  <a:schemeClr val="tx1"/>
                </a:solidFill>
              </a:rPr>
              <a:t>01FE23BCS155</a:t>
            </a:r>
          </a:p>
        </p:txBody>
      </p:sp>
      <p:sp>
        <p:nvSpPr>
          <p:cNvPr id="19" name="Team row 3"/>
          <p:cNvSpPr/>
          <p:nvPr/>
        </p:nvSpPr>
        <p:spPr>
          <a:xfrm>
            <a:off x="457200" y="3822191"/>
            <a:ext cx="5486400" cy="365760"/>
          </a:xfrm>
          <a:prstGeom prst="rect">
            <a:avLst/>
          </a:prstGeom>
          <a:solidFill>
            <a:schemeClr val="bg1"/>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am Sl. No 3"/>
          <p:cNvSpPr txBox="1"/>
          <p:nvPr/>
        </p:nvSpPr>
        <p:spPr>
          <a:xfrm>
            <a:off x="594360" y="3822191"/>
            <a:ext cx="640080" cy="365760"/>
          </a:xfrm>
          <a:prstGeom prst="rect">
            <a:avLst/>
          </a:prstGeom>
          <a:noFill/>
        </p:spPr>
        <p:txBody>
          <a:bodyPr wrap="square" lIns="0" tIns="0" rIns="0" bIns="0" anchor="ctr">
            <a:noAutofit/>
          </a:bodyPr>
          <a:lstStyle/>
          <a:p>
            <a:pPr algn="l">
              <a:lnSpc>
                <a:spcPct val="100000"/>
              </a:lnSpc>
            </a:pPr>
            <a:r>
              <a:rPr sz="1600" b="0">
                <a:solidFill>
                  <a:schemeClr val="tx1"/>
                </a:solidFill>
              </a:rPr>
              <a:t>3</a:t>
            </a:r>
          </a:p>
        </p:txBody>
      </p:sp>
      <p:sp>
        <p:nvSpPr>
          <p:cNvPr id="21" name="Team Name 3"/>
          <p:cNvSpPr txBox="1"/>
          <p:nvPr/>
        </p:nvSpPr>
        <p:spPr>
          <a:xfrm>
            <a:off x="1463039" y="3822191"/>
            <a:ext cx="2286000" cy="365760"/>
          </a:xfrm>
          <a:prstGeom prst="rect">
            <a:avLst/>
          </a:prstGeom>
          <a:noFill/>
        </p:spPr>
        <p:txBody>
          <a:bodyPr wrap="square" lIns="0" tIns="0" rIns="0" bIns="0" anchor="ctr">
            <a:noAutofit/>
          </a:bodyPr>
          <a:lstStyle/>
          <a:p>
            <a:pPr algn="l">
              <a:lnSpc>
                <a:spcPct val="100000"/>
              </a:lnSpc>
            </a:pPr>
            <a:r>
              <a:rPr sz="1600" b="0">
                <a:solidFill>
                  <a:schemeClr val="tx1"/>
                </a:solidFill>
              </a:rPr>
              <a:t>Vikas U B</a:t>
            </a:r>
          </a:p>
        </p:txBody>
      </p:sp>
      <p:sp>
        <p:nvSpPr>
          <p:cNvPr id="22" name="Team USN 3"/>
          <p:cNvSpPr txBox="1"/>
          <p:nvPr/>
        </p:nvSpPr>
        <p:spPr>
          <a:xfrm>
            <a:off x="3977640" y="3822191"/>
            <a:ext cx="1874519" cy="365760"/>
          </a:xfrm>
          <a:prstGeom prst="rect">
            <a:avLst/>
          </a:prstGeom>
          <a:noFill/>
        </p:spPr>
        <p:txBody>
          <a:bodyPr wrap="square" lIns="0" tIns="0" rIns="0" bIns="0" anchor="ctr">
            <a:noAutofit/>
          </a:bodyPr>
          <a:lstStyle/>
          <a:p>
            <a:pPr algn="l">
              <a:lnSpc>
                <a:spcPct val="100000"/>
              </a:lnSpc>
            </a:pPr>
            <a:r>
              <a:rPr sz="1600" b="0">
                <a:solidFill>
                  <a:schemeClr val="tx1"/>
                </a:solidFill>
              </a:rPr>
              <a:t>01FE23BCI094</a:t>
            </a:r>
          </a:p>
        </p:txBody>
      </p:sp>
      <p:sp>
        <p:nvSpPr>
          <p:cNvPr id="23" name="Team row 4"/>
          <p:cNvSpPr/>
          <p:nvPr/>
        </p:nvSpPr>
        <p:spPr>
          <a:xfrm>
            <a:off x="457200" y="4187952"/>
            <a:ext cx="5486400" cy="365760"/>
          </a:xfrm>
          <a:prstGeom prst="rect">
            <a:avLst/>
          </a:prstGeom>
          <a:solidFill>
            <a:schemeClr val="bg2"/>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am Sl. No 4"/>
          <p:cNvSpPr txBox="1"/>
          <p:nvPr/>
        </p:nvSpPr>
        <p:spPr>
          <a:xfrm>
            <a:off x="594360" y="4187952"/>
            <a:ext cx="640080" cy="365760"/>
          </a:xfrm>
          <a:prstGeom prst="rect">
            <a:avLst/>
          </a:prstGeom>
          <a:noFill/>
        </p:spPr>
        <p:txBody>
          <a:bodyPr wrap="square" lIns="0" tIns="0" rIns="0" bIns="0" anchor="ctr">
            <a:noAutofit/>
          </a:bodyPr>
          <a:lstStyle/>
          <a:p>
            <a:pPr algn="l">
              <a:lnSpc>
                <a:spcPct val="100000"/>
              </a:lnSpc>
            </a:pPr>
            <a:r>
              <a:rPr sz="1600" b="0">
                <a:solidFill>
                  <a:schemeClr val="tx1"/>
                </a:solidFill>
              </a:rPr>
              <a:t>4</a:t>
            </a:r>
          </a:p>
        </p:txBody>
      </p:sp>
      <p:sp>
        <p:nvSpPr>
          <p:cNvPr id="25" name="Team Name 4"/>
          <p:cNvSpPr txBox="1"/>
          <p:nvPr/>
        </p:nvSpPr>
        <p:spPr>
          <a:xfrm>
            <a:off x="1463039" y="4187952"/>
            <a:ext cx="2286000" cy="365760"/>
          </a:xfrm>
          <a:prstGeom prst="rect">
            <a:avLst/>
          </a:prstGeom>
          <a:noFill/>
        </p:spPr>
        <p:txBody>
          <a:bodyPr wrap="square" lIns="0" tIns="0" rIns="0" bIns="0" anchor="ctr">
            <a:noAutofit/>
          </a:bodyPr>
          <a:lstStyle/>
          <a:p>
            <a:pPr algn="l">
              <a:lnSpc>
                <a:spcPct val="100000"/>
              </a:lnSpc>
            </a:pPr>
            <a:r>
              <a:rPr sz="1600" b="0">
                <a:solidFill>
                  <a:schemeClr val="tx1"/>
                </a:solidFill>
              </a:rPr>
              <a:t>Yashas A B</a:t>
            </a:r>
          </a:p>
        </p:txBody>
      </p:sp>
      <p:sp>
        <p:nvSpPr>
          <p:cNvPr id="26" name="Team USN 4"/>
          <p:cNvSpPr txBox="1"/>
          <p:nvPr/>
        </p:nvSpPr>
        <p:spPr>
          <a:xfrm>
            <a:off x="3977640" y="4187952"/>
            <a:ext cx="1874519" cy="365760"/>
          </a:xfrm>
          <a:prstGeom prst="rect">
            <a:avLst/>
          </a:prstGeom>
          <a:noFill/>
        </p:spPr>
        <p:txBody>
          <a:bodyPr wrap="square" lIns="0" tIns="0" rIns="0" bIns="0" anchor="ctr">
            <a:noAutofit/>
          </a:bodyPr>
          <a:lstStyle/>
          <a:p>
            <a:pPr algn="l">
              <a:lnSpc>
                <a:spcPct val="100000"/>
              </a:lnSpc>
            </a:pPr>
            <a:r>
              <a:rPr sz="1600" b="0">
                <a:solidFill>
                  <a:schemeClr val="tx1"/>
                </a:solidFill>
              </a:rPr>
              <a:t>01FE23BCS026</a:t>
            </a:r>
          </a:p>
        </p:txBody>
      </p:sp>
      <p:sp>
        <p:nvSpPr>
          <p:cNvPr id="27" name="Target users block"/>
          <p:cNvSpPr/>
          <p:nvPr/>
        </p:nvSpPr>
        <p:spPr>
          <a:xfrm>
            <a:off x="6263640" y="2377440"/>
            <a:ext cx="5470855" cy="2194560"/>
          </a:xfrm>
          <a:prstGeom prst="roundRect">
            <a:avLst>
              <a:gd name="adj" fmla="val 4166"/>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arget users header"/>
          <p:cNvSpPr txBox="1"/>
          <p:nvPr/>
        </p:nvSpPr>
        <p:spPr>
          <a:xfrm>
            <a:off x="6492240" y="2514600"/>
            <a:ext cx="5013655" cy="292608"/>
          </a:xfrm>
          <a:prstGeom prst="rect">
            <a:avLst/>
          </a:prstGeom>
          <a:noFill/>
        </p:spPr>
        <p:txBody>
          <a:bodyPr wrap="square" lIns="0" tIns="0" rIns="0" bIns="0" anchor="t">
            <a:noAutofit/>
          </a:bodyPr>
          <a:lstStyle/>
          <a:p>
            <a:pPr algn="l">
              <a:lnSpc>
                <a:spcPct val="100000"/>
              </a:lnSpc>
            </a:pPr>
            <a:r>
              <a:rPr sz="1600" b="1">
                <a:solidFill>
                  <a:schemeClr val="tx2"/>
                </a:solidFill>
              </a:rPr>
              <a:t>TARGET USERS</a:t>
            </a:r>
          </a:p>
        </p:txBody>
      </p:sp>
      <p:sp>
        <p:nvSpPr>
          <p:cNvPr id="29" name="User type Operations staff"/>
          <p:cNvSpPr/>
          <p:nvPr/>
        </p:nvSpPr>
        <p:spPr>
          <a:xfrm>
            <a:off x="6492240" y="2926080"/>
            <a:ext cx="1579778" cy="457200"/>
          </a:xfrm>
          <a:prstGeom prst="roundRect">
            <a:avLst>
              <a:gd name="adj" fmla="val 50000"/>
            </a:avLst>
          </a:prstGeom>
          <a:solidFill>
            <a:schemeClr val="bg1"/>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45720" tIns="0" rIns="45720" bIns="0" wrap="square">
            <a:noAutofit/>
          </a:bodyPr>
          <a:lstStyle/>
          <a:p>
            <a:pPr algn="ctr">
              <a:lnSpc>
                <a:spcPct val="100000"/>
              </a:lnSpc>
            </a:pPr>
            <a:r>
              <a:rPr sz="1600" b="1">
                <a:solidFill>
                  <a:schemeClr val="tx2"/>
                </a:solidFill>
              </a:rPr>
              <a:t>Operations staff</a:t>
            </a:r>
          </a:p>
        </p:txBody>
      </p:sp>
      <p:sp>
        <p:nvSpPr>
          <p:cNvPr id="30" name="User type Planners"/>
          <p:cNvSpPr/>
          <p:nvPr/>
        </p:nvSpPr>
        <p:spPr>
          <a:xfrm>
            <a:off x="8209178" y="2926080"/>
            <a:ext cx="1579778" cy="457200"/>
          </a:xfrm>
          <a:prstGeom prst="roundRect">
            <a:avLst>
              <a:gd name="adj" fmla="val 50000"/>
            </a:avLst>
          </a:prstGeom>
          <a:solidFill>
            <a:schemeClr val="bg1"/>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45720" tIns="0" rIns="45720" bIns="0" wrap="square">
            <a:noAutofit/>
          </a:bodyPr>
          <a:lstStyle/>
          <a:p>
            <a:pPr algn="ctr">
              <a:lnSpc>
                <a:spcPct val="100000"/>
              </a:lnSpc>
            </a:pPr>
            <a:r>
              <a:rPr sz="1600" b="1">
                <a:solidFill>
                  <a:schemeClr val="tx2"/>
                </a:solidFill>
              </a:rPr>
              <a:t>Planners</a:t>
            </a:r>
          </a:p>
        </p:txBody>
      </p:sp>
      <p:sp>
        <p:nvSpPr>
          <p:cNvPr id="31" name="User type Analysts"/>
          <p:cNvSpPr/>
          <p:nvPr/>
        </p:nvSpPr>
        <p:spPr>
          <a:xfrm>
            <a:off x="9926116" y="2926080"/>
            <a:ext cx="1579778" cy="457200"/>
          </a:xfrm>
          <a:prstGeom prst="roundRect">
            <a:avLst>
              <a:gd name="adj" fmla="val 50000"/>
            </a:avLst>
          </a:prstGeom>
          <a:solidFill>
            <a:schemeClr val="bg1"/>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45720" tIns="0" rIns="45720" bIns="0" wrap="square">
            <a:noAutofit/>
          </a:bodyPr>
          <a:lstStyle/>
          <a:p>
            <a:pPr algn="ctr">
              <a:lnSpc>
                <a:spcPct val="100000"/>
              </a:lnSpc>
            </a:pPr>
            <a:r>
              <a:rPr sz="1600" b="1">
                <a:solidFill>
                  <a:schemeClr val="tx2"/>
                </a:solidFill>
              </a:rPr>
              <a:t>Analysts</a:t>
            </a:r>
          </a:p>
        </p:txBody>
      </p:sp>
      <p:sp>
        <p:nvSpPr>
          <p:cNvPr id="32" name="Target users text"/>
          <p:cNvSpPr txBox="1"/>
          <p:nvPr/>
        </p:nvSpPr>
        <p:spPr>
          <a:xfrm>
            <a:off x="6492240" y="3566160"/>
            <a:ext cx="5013655" cy="914400"/>
          </a:xfrm>
          <a:prstGeom prst="rect">
            <a:avLst/>
          </a:prstGeom>
          <a:noFill/>
        </p:spPr>
        <p:txBody>
          <a:bodyPr wrap="square" lIns="0" tIns="0" rIns="0" bIns="0" anchor="t">
            <a:noAutofit/>
          </a:bodyPr>
          <a:lstStyle/>
          <a:p>
            <a:pPr algn="l">
              <a:lnSpc>
                <a:spcPct val="100000"/>
              </a:lnSpc>
            </a:pPr>
            <a:r>
              <a:rPr sz="1600" b="0">
                <a:solidFill>
                  <a:schemeClr val="tx1"/>
                </a:solidFill>
              </a:rPr>
              <a:t>People who run daily work in no-code business apps such as an ERP. They know the business, not every screen or SQL, and ask in everyday words.</a:t>
            </a:r>
          </a:p>
        </p:txBody>
      </p:sp>
      <p:sp>
        <p:nvSpPr>
          <p:cNvPr id="33" name="Problem header"/>
          <p:cNvSpPr txBox="1"/>
          <p:nvPr/>
        </p:nvSpPr>
        <p:spPr>
          <a:xfrm>
            <a:off x="457200" y="4754880"/>
            <a:ext cx="11277295" cy="292608"/>
          </a:xfrm>
          <a:prstGeom prst="rect">
            <a:avLst/>
          </a:prstGeom>
          <a:noFill/>
        </p:spPr>
        <p:txBody>
          <a:bodyPr wrap="square" lIns="0" tIns="0" rIns="0" bIns="0" anchor="t">
            <a:noAutofit/>
          </a:bodyPr>
          <a:lstStyle/>
          <a:p>
            <a:pPr algn="l">
              <a:lnSpc>
                <a:spcPct val="100000"/>
              </a:lnSpc>
            </a:pPr>
            <a:r>
              <a:rPr sz="1600" b="1">
                <a:solidFill>
                  <a:schemeClr val="tx2"/>
                </a:solidFill>
              </a:rPr>
              <a:t>THE PROBLEM WE SOLVE</a:t>
            </a:r>
          </a:p>
        </p:txBody>
      </p:sp>
      <p:sp>
        <p:nvSpPr>
          <p:cNvPr id="34" name="Problem 1 block"/>
          <p:cNvSpPr/>
          <p:nvPr/>
        </p:nvSpPr>
        <p:spPr>
          <a:xfrm>
            <a:off x="457200" y="5120640"/>
            <a:ext cx="3606698" cy="1280160"/>
          </a:xfrm>
          <a:prstGeom prst="roundRect">
            <a:avLst>
              <a:gd name="adj" fmla="val 7142"/>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roblem 1 number"/>
          <p:cNvSpPr/>
          <p:nvPr/>
        </p:nvSpPr>
        <p:spPr>
          <a:xfrm>
            <a:off x="621792" y="5266944"/>
            <a:ext cx="365760" cy="36576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ct val="100000"/>
              </a:lnSpc>
            </a:pPr>
            <a:r>
              <a:rPr sz="1600" b="1">
                <a:solidFill>
                  <a:schemeClr val="tx1"/>
                </a:solidFill>
              </a:rPr>
              <a:t>1</a:t>
            </a:r>
          </a:p>
        </p:txBody>
      </p:sp>
      <p:sp>
        <p:nvSpPr>
          <p:cNvPr id="36" name="Problem 1 text"/>
          <p:cNvSpPr txBox="1"/>
          <p:nvPr/>
        </p:nvSpPr>
        <p:spPr>
          <a:xfrm>
            <a:off x="1097280" y="5230368"/>
            <a:ext cx="2783738" cy="1097280"/>
          </a:xfrm>
          <a:prstGeom prst="rect">
            <a:avLst/>
          </a:prstGeom>
          <a:noFill/>
        </p:spPr>
        <p:txBody>
          <a:bodyPr wrap="square" lIns="0" tIns="0" rIns="0" bIns="0" anchor="t">
            <a:noAutofit/>
          </a:bodyPr>
          <a:lstStyle/>
          <a:p>
            <a:pPr algn="l">
              <a:lnSpc>
                <a:spcPct val="100000"/>
              </a:lnSpc>
              <a:spcAft>
                <a:spcPts val="300"/>
              </a:spcAft>
            </a:pPr>
            <a:r>
              <a:rPr sz="1700" b="1">
                <a:solidFill>
                  <a:schemeClr val="accent2"/>
                </a:solidFill>
              </a:rPr>
              <a:t>Hundreds of screens</a:t>
            </a:r>
          </a:p>
          <a:p>
            <a:pPr algn="l">
              <a:lnSpc>
                <a:spcPct val="100000"/>
              </a:lnSpc>
            </a:pPr>
            <a:r>
              <a:rPr sz="1600" b="0">
                <a:solidFill>
                  <a:schemeClr val="bg1"/>
                </a:solidFill>
              </a:rPr>
              <a:t>Answers are scattered across pages, widgets and filters</a:t>
            </a:r>
          </a:p>
        </p:txBody>
      </p:sp>
      <p:sp>
        <p:nvSpPr>
          <p:cNvPr id="37" name="Problem 2 block"/>
          <p:cNvSpPr/>
          <p:nvPr/>
        </p:nvSpPr>
        <p:spPr>
          <a:xfrm>
            <a:off x="4292498" y="5120640"/>
            <a:ext cx="3606698" cy="1280160"/>
          </a:xfrm>
          <a:prstGeom prst="roundRect">
            <a:avLst>
              <a:gd name="adj" fmla="val 7142"/>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roblem 2 number"/>
          <p:cNvSpPr/>
          <p:nvPr/>
        </p:nvSpPr>
        <p:spPr>
          <a:xfrm>
            <a:off x="4457090" y="5266944"/>
            <a:ext cx="365760" cy="36576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ct val="100000"/>
              </a:lnSpc>
            </a:pPr>
            <a:r>
              <a:rPr sz="1600" b="1">
                <a:solidFill>
                  <a:schemeClr val="tx1"/>
                </a:solidFill>
              </a:rPr>
              <a:t>2</a:t>
            </a:r>
          </a:p>
        </p:txBody>
      </p:sp>
      <p:sp>
        <p:nvSpPr>
          <p:cNvPr id="39" name="Problem 2 text"/>
          <p:cNvSpPr txBox="1"/>
          <p:nvPr/>
        </p:nvSpPr>
        <p:spPr>
          <a:xfrm>
            <a:off x="4932578" y="5230368"/>
            <a:ext cx="2783738" cy="1097280"/>
          </a:xfrm>
          <a:prstGeom prst="rect">
            <a:avLst/>
          </a:prstGeom>
          <a:noFill/>
        </p:spPr>
        <p:txBody>
          <a:bodyPr wrap="square" lIns="0" tIns="0" rIns="0" bIns="0" anchor="t">
            <a:noAutofit/>
          </a:bodyPr>
          <a:lstStyle/>
          <a:p>
            <a:pPr algn="l">
              <a:lnSpc>
                <a:spcPct val="100000"/>
              </a:lnSpc>
              <a:spcAft>
                <a:spcPts val="300"/>
              </a:spcAft>
            </a:pPr>
            <a:r>
              <a:rPr sz="1700" b="1">
                <a:solidFill>
                  <a:schemeClr val="accent2"/>
                </a:solidFill>
              </a:rPr>
              <a:t>Everything by hand</a:t>
            </a:r>
          </a:p>
          <a:p>
            <a:pPr algn="l">
              <a:lnSpc>
                <a:spcPct val="100000"/>
              </a:lnSpc>
            </a:pPr>
            <a:r>
              <a:rPr sz="1600" b="0">
                <a:solidFill>
                  <a:schemeClr val="bg1"/>
                </a:solidFill>
              </a:rPr>
              <a:t>One question means hopping screens and setting filters</a:t>
            </a:r>
          </a:p>
        </p:txBody>
      </p:sp>
      <p:sp>
        <p:nvSpPr>
          <p:cNvPr id="40" name="Problem 3 block"/>
          <p:cNvSpPr/>
          <p:nvPr/>
        </p:nvSpPr>
        <p:spPr>
          <a:xfrm>
            <a:off x="8127796" y="5120640"/>
            <a:ext cx="3606698" cy="1280160"/>
          </a:xfrm>
          <a:prstGeom prst="roundRect">
            <a:avLst>
              <a:gd name="adj" fmla="val 7142"/>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Problem 3 number"/>
          <p:cNvSpPr/>
          <p:nvPr/>
        </p:nvSpPr>
        <p:spPr>
          <a:xfrm>
            <a:off x="8292388" y="5266944"/>
            <a:ext cx="365760" cy="36576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ct val="100000"/>
              </a:lnSpc>
            </a:pPr>
            <a:r>
              <a:rPr sz="1600" b="1">
                <a:solidFill>
                  <a:schemeClr val="tx1"/>
                </a:solidFill>
              </a:rPr>
              <a:t>3</a:t>
            </a:r>
          </a:p>
        </p:txBody>
      </p:sp>
      <p:sp>
        <p:nvSpPr>
          <p:cNvPr id="42" name="Problem 3 text"/>
          <p:cNvSpPr txBox="1"/>
          <p:nvPr/>
        </p:nvSpPr>
        <p:spPr>
          <a:xfrm>
            <a:off x="8767876" y="5230368"/>
            <a:ext cx="2783738" cy="1097280"/>
          </a:xfrm>
          <a:prstGeom prst="rect">
            <a:avLst/>
          </a:prstGeom>
          <a:noFill/>
        </p:spPr>
        <p:txBody>
          <a:bodyPr wrap="square" lIns="0" tIns="0" rIns="0" bIns="0" anchor="t">
            <a:noAutofit/>
          </a:bodyPr>
          <a:lstStyle/>
          <a:p>
            <a:pPr algn="l">
              <a:lnSpc>
                <a:spcPct val="100000"/>
              </a:lnSpc>
              <a:spcAft>
                <a:spcPts val="300"/>
              </a:spcAft>
            </a:pPr>
            <a:r>
              <a:rPr sz="1700" b="1">
                <a:solidFill>
                  <a:schemeClr val="accent2"/>
                </a:solidFill>
              </a:rPr>
              <a:t>Answers nobody can check</a:t>
            </a:r>
          </a:p>
          <a:p>
            <a:pPr algn="l">
              <a:lnSpc>
                <a:spcPct val="100000"/>
              </a:lnSpc>
            </a:pPr>
            <a:r>
              <a:rPr sz="1600" b="0">
                <a:solidFill>
                  <a:schemeClr val="bg1"/>
                </a:solidFill>
              </a:rPr>
              <a:t>Chatbots cannot operate the app or show their sources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KLE Technological University logo" descr="KLE Technological University logo"/>
          <p:cNvPicPr>
            <a:picLocks noChangeAspect="1"/>
          </p:cNvPicPr>
          <p:nvPr/>
        </p:nvPicPr>
        <p:blipFill>
          <a:blip r:embed="rId2"/>
          <a:stretch>
            <a:fillRect/>
          </a:stretch>
        </p:blipFill>
        <p:spPr>
          <a:xfrm>
            <a:off x="9814255" y="292608"/>
            <a:ext cx="1920240" cy="360045"/>
          </a:xfrm>
          <a:prstGeom prst="rect">
            <a:avLst/>
          </a:prstGeom>
        </p:spPr>
      </p:pic>
      <p:sp>
        <p:nvSpPr>
          <p:cNvPr id="3" name="Title"/>
          <p:cNvSpPr txBox="1"/>
          <p:nvPr/>
        </p:nvSpPr>
        <p:spPr>
          <a:xfrm>
            <a:off x="457200" y="274320"/>
            <a:ext cx="9082735" cy="640080"/>
          </a:xfrm>
          <a:prstGeom prst="rect">
            <a:avLst/>
          </a:prstGeom>
          <a:noFill/>
        </p:spPr>
        <p:txBody>
          <a:bodyPr wrap="square" lIns="0" tIns="0" rIns="0" bIns="0" anchor="ctr">
            <a:noAutofit/>
          </a:bodyPr>
          <a:lstStyle/>
          <a:p>
            <a:pPr algn="l">
              <a:lnSpc>
                <a:spcPct val="100000"/>
              </a:lnSpc>
            </a:pPr>
            <a:r>
              <a:rPr sz="3600" b="1">
                <a:solidFill>
                  <a:schemeClr val="tx2"/>
                </a:solidFill>
              </a:rPr>
              <a:t>Proposed Solution and Objectives</a:t>
            </a:r>
          </a:p>
        </p:txBody>
      </p:sp>
      <p:sp>
        <p:nvSpPr>
          <p:cNvPr id="4" name="Idea banner"/>
          <p:cNvSpPr/>
          <p:nvPr/>
        </p:nvSpPr>
        <p:spPr>
          <a:xfrm>
            <a:off x="457200" y="1024128"/>
            <a:ext cx="11277295" cy="731520"/>
          </a:xfrm>
          <a:prstGeom prst="roundRect">
            <a:avLst>
              <a:gd name="adj" fmla="val 125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tIns="54864" rIns="228600" bIns="54864" wrap="square">
            <a:noAutofit/>
          </a:bodyPr>
          <a:lstStyle/>
          <a:p>
            <a:pPr algn="l">
              <a:lnSpc>
                <a:spcPct val="100000"/>
              </a:lnSpc>
            </a:pPr>
            <a:r>
              <a:rPr sz="1800" b="1">
                <a:solidFill>
                  <a:schemeClr val="accent2"/>
                </a:solidFill>
              </a:rPr>
              <a:t>Our idea: </a:t>
            </a:r>
            <a:r>
              <a:rPr sz="1800" b="0">
                <a:solidFill>
                  <a:schemeClr val="bg1"/>
                </a:solidFill>
              </a:rPr>
              <a:t>ask in plain words; the agent finds the page, sets it up, analyses the data and answers with sources.</a:t>
            </a:r>
          </a:p>
        </p:txBody>
      </p:sp>
      <p:sp>
        <p:nvSpPr>
          <p:cNvPr id="5" name="Features header"/>
          <p:cNvSpPr txBox="1"/>
          <p:nvPr/>
        </p:nvSpPr>
        <p:spPr>
          <a:xfrm>
            <a:off x="457200" y="1874519"/>
            <a:ext cx="11277295" cy="292608"/>
          </a:xfrm>
          <a:prstGeom prst="rect">
            <a:avLst/>
          </a:prstGeom>
          <a:noFill/>
        </p:spPr>
        <p:txBody>
          <a:bodyPr wrap="square" lIns="0" tIns="0" rIns="0" bIns="0" anchor="t">
            <a:noAutofit/>
          </a:bodyPr>
          <a:lstStyle/>
          <a:p>
            <a:pPr algn="l">
              <a:lnSpc>
                <a:spcPct val="100000"/>
              </a:lnSpc>
            </a:pPr>
            <a:r>
              <a:rPr sz="1600" b="1">
                <a:solidFill>
                  <a:schemeClr val="tx2"/>
                </a:solidFill>
              </a:rPr>
              <a:t>CORE FEATURES · HOW IT WORKS</a:t>
            </a:r>
          </a:p>
        </p:txBody>
      </p:sp>
      <p:sp>
        <p:nvSpPr>
          <p:cNvPr id="6" name="Feature Understand block"/>
          <p:cNvSpPr/>
          <p:nvPr/>
        </p:nvSpPr>
        <p:spPr>
          <a:xfrm>
            <a:off x="457200" y="2212848"/>
            <a:ext cx="2613583" cy="1005840"/>
          </a:xfrm>
          <a:prstGeom prst="roundRect">
            <a:avLst>
              <a:gd name="adj" fmla="val 909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eature Understand text"/>
          <p:cNvSpPr txBox="1"/>
          <p:nvPr/>
        </p:nvSpPr>
        <p:spPr>
          <a:xfrm>
            <a:off x="640080" y="2322576"/>
            <a:ext cx="2247823" cy="822960"/>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Understand</a:t>
            </a:r>
          </a:p>
          <a:p>
            <a:pPr algn="l">
              <a:lnSpc>
                <a:spcPct val="100000"/>
              </a:lnSpc>
            </a:pPr>
            <a:r>
              <a:rPr sz="1600" b="0">
                <a:solidFill>
                  <a:schemeClr val="tx1"/>
                </a:solidFill>
              </a:rPr>
              <a:t>Reads the question and what is on screen</a:t>
            </a:r>
          </a:p>
        </p:txBody>
      </p:sp>
      <p:sp>
        <p:nvSpPr>
          <p:cNvPr id="8" name="Feature arrow 1"/>
          <p:cNvSpPr txBox="1"/>
          <p:nvPr/>
        </p:nvSpPr>
        <p:spPr>
          <a:xfrm>
            <a:off x="3070783" y="2478023"/>
            <a:ext cx="274320" cy="475488"/>
          </a:xfrm>
          <a:prstGeom prst="rect">
            <a:avLst/>
          </a:prstGeom>
          <a:noFill/>
        </p:spPr>
        <p:txBody>
          <a:bodyPr wrap="square" lIns="0" tIns="0" rIns="0" bIns="0" anchor="ctr">
            <a:noAutofit/>
          </a:bodyPr>
          <a:lstStyle/>
          <a:p>
            <a:pPr algn="ctr">
              <a:lnSpc>
                <a:spcPct val="100000"/>
              </a:lnSpc>
            </a:pPr>
            <a:r>
              <a:rPr sz="2800" b="1">
                <a:solidFill>
                  <a:schemeClr val="accent1"/>
                </a:solidFill>
              </a:rPr>
              <a:t>›</a:t>
            </a:r>
          </a:p>
        </p:txBody>
      </p:sp>
      <p:sp>
        <p:nvSpPr>
          <p:cNvPr id="9" name="Feature Act block"/>
          <p:cNvSpPr/>
          <p:nvPr/>
        </p:nvSpPr>
        <p:spPr>
          <a:xfrm>
            <a:off x="3345103" y="2212848"/>
            <a:ext cx="2613583" cy="1005840"/>
          </a:xfrm>
          <a:prstGeom prst="roundRect">
            <a:avLst>
              <a:gd name="adj" fmla="val 909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eature Act text"/>
          <p:cNvSpPr txBox="1"/>
          <p:nvPr/>
        </p:nvSpPr>
        <p:spPr>
          <a:xfrm>
            <a:off x="3527983" y="2322576"/>
            <a:ext cx="2247823" cy="822960"/>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Act</a:t>
            </a:r>
          </a:p>
          <a:p>
            <a:pPr algn="l">
              <a:lnSpc>
                <a:spcPct val="100000"/>
              </a:lnSpc>
            </a:pPr>
            <a:r>
              <a:rPr sz="1600" b="0">
                <a:solidFill>
                  <a:schemeClr val="tx1"/>
                </a:solidFill>
              </a:rPr>
              <a:t>Opens the page; sets filters, dates and sort</a:t>
            </a:r>
          </a:p>
        </p:txBody>
      </p:sp>
      <p:sp>
        <p:nvSpPr>
          <p:cNvPr id="11" name="Feature arrow 2"/>
          <p:cNvSpPr txBox="1"/>
          <p:nvPr/>
        </p:nvSpPr>
        <p:spPr>
          <a:xfrm>
            <a:off x="5958687" y="2478023"/>
            <a:ext cx="274320" cy="475488"/>
          </a:xfrm>
          <a:prstGeom prst="rect">
            <a:avLst/>
          </a:prstGeom>
          <a:noFill/>
        </p:spPr>
        <p:txBody>
          <a:bodyPr wrap="square" lIns="0" tIns="0" rIns="0" bIns="0" anchor="ctr">
            <a:noAutofit/>
          </a:bodyPr>
          <a:lstStyle/>
          <a:p>
            <a:pPr algn="ctr">
              <a:lnSpc>
                <a:spcPct val="100000"/>
              </a:lnSpc>
            </a:pPr>
            <a:r>
              <a:rPr sz="2800" b="1">
                <a:solidFill>
                  <a:schemeClr val="accent1"/>
                </a:solidFill>
              </a:rPr>
              <a:t>›</a:t>
            </a:r>
          </a:p>
        </p:txBody>
      </p:sp>
      <p:sp>
        <p:nvSpPr>
          <p:cNvPr id="12" name="Feature Analyse block"/>
          <p:cNvSpPr/>
          <p:nvPr/>
        </p:nvSpPr>
        <p:spPr>
          <a:xfrm>
            <a:off x="6233007" y="2212848"/>
            <a:ext cx="2613583" cy="1005840"/>
          </a:xfrm>
          <a:prstGeom prst="roundRect">
            <a:avLst>
              <a:gd name="adj" fmla="val 909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eature Analyse text"/>
          <p:cNvSpPr txBox="1"/>
          <p:nvPr/>
        </p:nvSpPr>
        <p:spPr>
          <a:xfrm>
            <a:off x="6415887" y="2322576"/>
            <a:ext cx="2247823" cy="822960"/>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Analyse</a:t>
            </a:r>
          </a:p>
          <a:p>
            <a:pPr algn="l">
              <a:lnSpc>
                <a:spcPct val="100000"/>
              </a:lnSpc>
            </a:pPr>
            <a:r>
              <a:rPr sz="1600" b="0">
                <a:solidFill>
                  <a:schemeClr val="tx1"/>
                </a:solidFill>
              </a:rPr>
              <a:t>Reads and compares data; finds top contributors</a:t>
            </a:r>
          </a:p>
        </p:txBody>
      </p:sp>
      <p:sp>
        <p:nvSpPr>
          <p:cNvPr id="14" name="Feature arrow 3"/>
          <p:cNvSpPr txBox="1"/>
          <p:nvPr/>
        </p:nvSpPr>
        <p:spPr>
          <a:xfrm>
            <a:off x="8846591" y="2478023"/>
            <a:ext cx="274320" cy="475488"/>
          </a:xfrm>
          <a:prstGeom prst="rect">
            <a:avLst/>
          </a:prstGeom>
          <a:noFill/>
        </p:spPr>
        <p:txBody>
          <a:bodyPr wrap="square" lIns="0" tIns="0" rIns="0" bIns="0" anchor="ctr">
            <a:noAutofit/>
          </a:bodyPr>
          <a:lstStyle/>
          <a:p>
            <a:pPr algn="ctr">
              <a:lnSpc>
                <a:spcPct val="100000"/>
              </a:lnSpc>
            </a:pPr>
            <a:r>
              <a:rPr sz="2800" b="1">
                <a:solidFill>
                  <a:schemeClr val="accent1"/>
                </a:solidFill>
              </a:rPr>
              <a:t>›</a:t>
            </a:r>
          </a:p>
        </p:txBody>
      </p:sp>
      <p:sp>
        <p:nvSpPr>
          <p:cNvPr id="15" name="Feature Answer block"/>
          <p:cNvSpPr/>
          <p:nvPr/>
        </p:nvSpPr>
        <p:spPr>
          <a:xfrm>
            <a:off x="9120911" y="2212848"/>
            <a:ext cx="2613583" cy="1005840"/>
          </a:xfrm>
          <a:prstGeom prst="roundRect">
            <a:avLst>
              <a:gd name="adj" fmla="val 909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eature Answer text"/>
          <p:cNvSpPr txBox="1"/>
          <p:nvPr/>
        </p:nvSpPr>
        <p:spPr>
          <a:xfrm>
            <a:off x="9303791" y="2322576"/>
            <a:ext cx="2247823" cy="822960"/>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Answer</a:t>
            </a:r>
          </a:p>
          <a:p>
            <a:pPr algn="l">
              <a:lnSpc>
                <a:spcPct val="100000"/>
              </a:lnSpc>
            </a:pPr>
            <a:r>
              <a:rPr sz="1600" b="0">
                <a:solidFill>
                  <a:schemeClr val="tx1"/>
                </a:solidFill>
              </a:rPr>
              <a:t>On that page, every number linked to its source</a:t>
            </a:r>
          </a:p>
        </p:txBody>
      </p:sp>
      <p:sp>
        <p:nvSpPr>
          <p:cNvPr id="17" name="Objectives header"/>
          <p:cNvSpPr txBox="1"/>
          <p:nvPr/>
        </p:nvSpPr>
        <p:spPr>
          <a:xfrm>
            <a:off x="457200" y="3355848"/>
            <a:ext cx="11277295" cy="292608"/>
          </a:xfrm>
          <a:prstGeom prst="rect">
            <a:avLst/>
          </a:prstGeom>
          <a:noFill/>
        </p:spPr>
        <p:txBody>
          <a:bodyPr wrap="square" lIns="0" tIns="0" rIns="0" bIns="0" anchor="t">
            <a:noAutofit/>
          </a:bodyPr>
          <a:lstStyle/>
          <a:p>
            <a:pPr algn="l">
              <a:lnSpc>
                <a:spcPct val="100000"/>
              </a:lnSpc>
            </a:pPr>
            <a:r>
              <a:rPr sz="1600" b="1">
                <a:solidFill>
                  <a:schemeClr val="tx2"/>
                </a:solidFill>
              </a:rPr>
              <a:t>KEY OBJECTIVES AND THE BENEFIT TO USERS</a:t>
            </a:r>
          </a:p>
        </p:txBody>
      </p:sp>
      <p:sp>
        <p:nvSpPr>
          <p:cNvPr id="18" name="Objective Right page block"/>
          <p:cNvSpPr/>
          <p:nvPr/>
        </p:nvSpPr>
        <p:spPr>
          <a:xfrm>
            <a:off x="457200" y="3685032"/>
            <a:ext cx="2682163" cy="987552"/>
          </a:xfrm>
          <a:prstGeom prst="roundRect">
            <a:avLst>
              <a:gd name="adj" fmla="val 9259"/>
            </a:avLst>
          </a:prstGeom>
          <a:solidFill>
            <a:schemeClr val="bg1"/>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bjective Right page text"/>
          <p:cNvSpPr txBox="1"/>
          <p:nvPr/>
        </p:nvSpPr>
        <p:spPr>
          <a:xfrm>
            <a:off x="640080" y="3794760"/>
            <a:ext cx="2316403" cy="804672"/>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Right page</a:t>
            </a:r>
          </a:p>
          <a:p>
            <a:pPr algn="l">
              <a:lnSpc>
                <a:spcPct val="100000"/>
              </a:lnSpc>
            </a:pPr>
            <a:r>
              <a:rPr sz="1600" b="0">
                <a:solidFill>
                  <a:schemeClr val="tx1"/>
                </a:solidFill>
              </a:rPr>
              <a:t>One question, no manual navigation</a:t>
            </a:r>
          </a:p>
        </p:txBody>
      </p:sp>
      <p:sp>
        <p:nvSpPr>
          <p:cNvPr id="20" name="Objective Right view block"/>
          <p:cNvSpPr/>
          <p:nvPr/>
        </p:nvSpPr>
        <p:spPr>
          <a:xfrm>
            <a:off x="3322243" y="3685032"/>
            <a:ext cx="2682163" cy="987552"/>
          </a:xfrm>
          <a:prstGeom prst="roundRect">
            <a:avLst>
              <a:gd name="adj" fmla="val 9259"/>
            </a:avLst>
          </a:prstGeom>
          <a:solidFill>
            <a:schemeClr val="bg1"/>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bjective Right view text"/>
          <p:cNvSpPr txBox="1"/>
          <p:nvPr/>
        </p:nvSpPr>
        <p:spPr>
          <a:xfrm>
            <a:off x="3505123" y="3794760"/>
            <a:ext cx="2316403" cy="804672"/>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Right view</a:t>
            </a:r>
          </a:p>
          <a:p>
            <a:pPr algn="l">
              <a:lnSpc>
                <a:spcPct val="100000"/>
              </a:lnSpc>
            </a:pPr>
            <a:r>
              <a:rPr sz="1600" b="0">
                <a:solidFill>
                  <a:schemeClr val="tx1"/>
                </a:solidFill>
              </a:rPr>
              <a:t>Filters set correctly and checked on screen</a:t>
            </a:r>
          </a:p>
        </p:txBody>
      </p:sp>
      <p:sp>
        <p:nvSpPr>
          <p:cNvPr id="22" name="Objective Traceable numbers block"/>
          <p:cNvSpPr/>
          <p:nvPr/>
        </p:nvSpPr>
        <p:spPr>
          <a:xfrm>
            <a:off x="6187287" y="3685032"/>
            <a:ext cx="2682163" cy="987552"/>
          </a:xfrm>
          <a:prstGeom prst="roundRect">
            <a:avLst>
              <a:gd name="adj" fmla="val 9259"/>
            </a:avLst>
          </a:prstGeom>
          <a:solidFill>
            <a:schemeClr val="bg1"/>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bjective Traceable numbers text"/>
          <p:cNvSpPr txBox="1"/>
          <p:nvPr/>
        </p:nvSpPr>
        <p:spPr>
          <a:xfrm>
            <a:off x="6370167" y="3794760"/>
            <a:ext cx="2316403" cy="804672"/>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Traceable numbers</a:t>
            </a:r>
          </a:p>
          <a:p>
            <a:pPr algn="l">
              <a:lnSpc>
                <a:spcPct val="100000"/>
              </a:lnSpc>
            </a:pPr>
            <a:r>
              <a:rPr sz="1600" b="0">
                <a:solidFill>
                  <a:schemeClr val="tx1"/>
                </a:solidFill>
              </a:rPr>
              <a:t>Same figures as the screen, with sources</a:t>
            </a:r>
          </a:p>
        </p:txBody>
      </p:sp>
      <p:sp>
        <p:nvSpPr>
          <p:cNvPr id="24" name="Objective No invented actions block"/>
          <p:cNvSpPr/>
          <p:nvPr/>
        </p:nvSpPr>
        <p:spPr>
          <a:xfrm>
            <a:off x="9052331" y="3685032"/>
            <a:ext cx="2682163" cy="987552"/>
          </a:xfrm>
          <a:prstGeom prst="roundRect">
            <a:avLst>
              <a:gd name="adj" fmla="val 9259"/>
            </a:avLst>
          </a:prstGeom>
          <a:solidFill>
            <a:schemeClr val="bg1"/>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bjective No invented actions text"/>
          <p:cNvSpPr txBox="1"/>
          <p:nvPr/>
        </p:nvSpPr>
        <p:spPr>
          <a:xfrm>
            <a:off x="9235211" y="3794760"/>
            <a:ext cx="2316403" cy="804672"/>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No invented actions</a:t>
            </a:r>
          </a:p>
          <a:p>
            <a:pPr algn="l">
              <a:lnSpc>
                <a:spcPct val="100000"/>
              </a:lnSpc>
            </a:pPr>
            <a:r>
              <a:rPr sz="1600" b="0">
                <a:solidFill>
                  <a:schemeClr val="tx1"/>
                </a:solidFill>
              </a:rPr>
              <a:t>Asks when unsure; confirms any change</a:t>
            </a:r>
          </a:p>
        </p:txBody>
      </p:sp>
      <p:sp>
        <p:nvSpPr>
          <p:cNvPr id="26" name="Data header"/>
          <p:cNvSpPr txBox="1"/>
          <p:nvPr/>
        </p:nvSpPr>
        <p:spPr>
          <a:xfrm>
            <a:off x="457200" y="4809744"/>
            <a:ext cx="11277295" cy="292608"/>
          </a:xfrm>
          <a:prstGeom prst="rect">
            <a:avLst/>
          </a:prstGeom>
          <a:noFill/>
        </p:spPr>
        <p:txBody>
          <a:bodyPr wrap="square" lIns="0" tIns="0" rIns="0" bIns="0" anchor="t">
            <a:noAutofit/>
          </a:bodyPr>
          <a:lstStyle/>
          <a:p>
            <a:pPr algn="l">
              <a:lnSpc>
                <a:spcPct val="100000"/>
              </a:lnSpc>
            </a:pPr>
            <a:r>
              <a:rPr sz="1600" b="1">
                <a:solidFill>
                  <a:schemeClr val="tx2"/>
                </a:solidFill>
              </a:rPr>
              <a:t>DATA AND BENCHMARK</a:t>
            </a:r>
          </a:p>
        </p:txBody>
      </p:sp>
      <p:sp>
        <p:nvSpPr>
          <p:cNvPr id="27" name="Data Wide World Importers block"/>
          <p:cNvSpPr/>
          <p:nvPr/>
        </p:nvSpPr>
        <p:spPr>
          <a:xfrm>
            <a:off x="457200" y="5138928"/>
            <a:ext cx="3606698" cy="1261872"/>
          </a:xfrm>
          <a:prstGeom prst="roundRect">
            <a:avLst>
              <a:gd name="adj" fmla="val 7246"/>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ata Wide World Importers text"/>
          <p:cNvSpPr txBox="1"/>
          <p:nvPr/>
        </p:nvSpPr>
        <p:spPr>
          <a:xfrm>
            <a:off x="640080" y="5248656"/>
            <a:ext cx="3240938" cy="1078992"/>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Wide World Importers</a:t>
            </a:r>
          </a:p>
          <a:p>
            <a:pPr algn="l">
              <a:lnSpc>
                <a:spcPct val="100000"/>
              </a:lnSpc>
            </a:pPr>
            <a:r>
              <a:rPr sz="1600" b="0">
                <a:solidFill>
                  <a:schemeClr val="tx1"/>
                </a:solidFill>
              </a:rPr>
              <a:t>Microsoft’s sample ERP data: orders, stock, purchasing</a:t>
            </a:r>
          </a:p>
        </p:txBody>
      </p:sp>
      <p:sp>
        <p:nvSpPr>
          <p:cNvPr id="29" name="Data Mind2Web benchmark block"/>
          <p:cNvSpPr/>
          <p:nvPr/>
        </p:nvSpPr>
        <p:spPr>
          <a:xfrm>
            <a:off x="4292498" y="5138928"/>
            <a:ext cx="3606698" cy="1261872"/>
          </a:xfrm>
          <a:prstGeom prst="roundRect">
            <a:avLst>
              <a:gd name="adj" fmla="val 7246"/>
            </a:avLst>
          </a:prstGeom>
          <a:solidFill>
            <a:schemeClr val="accent2">
              <a:lumMod val="25000"/>
              <a:lumOff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ata Mind2Web benchmark text"/>
          <p:cNvSpPr txBox="1"/>
          <p:nvPr/>
        </p:nvSpPr>
        <p:spPr>
          <a:xfrm>
            <a:off x="4475378" y="5248656"/>
            <a:ext cx="3240938" cy="1078992"/>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Mind2Web benchmark</a:t>
            </a:r>
          </a:p>
          <a:p>
            <a:pPr algn="l">
              <a:lnSpc>
                <a:spcPct val="100000"/>
              </a:lnSpc>
            </a:pPr>
            <a:r>
              <a:rPr sz="1600" b="0">
                <a:solidFill>
                  <a:schemeClr val="tx1"/>
                </a:solidFill>
              </a:rPr>
              <a:t>2,000+ real web tasks on 137 sites; its step and task success metrics score our agent</a:t>
            </a:r>
          </a:p>
        </p:txBody>
      </p:sp>
      <p:sp>
        <p:nvSpPr>
          <p:cNvPr id="31" name="Data Our labelled requests block"/>
          <p:cNvSpPr/>
          <p:nvPr/>
        </p:nvSpPr>
        <p:spPr>
          <a:xfrm>
            <a:off x="8127796" y="5138928"/>
            <a:ext cx="3606698" cy="1261872"/>
          </a:xfrm>
          <a:prstGeom prst="roundRect">
            <a:avLst>
              <a:gd name="adj" fmla="val 7246"/>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ata Our labelled requests text"/>
          <p:cNvSpPr txBox="1"/>
          <p:nvPr/>
        </p:nvSpPr>
        <p:spPr>
          <a:xfrm>
            <a:off x="8310676" y="5248656"/>
            <a:ext cx="3240938" cy="1078992"/>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Our labelled requests</a:t>
            </a:r>
          </a:p>
          <a:p>
            <a:pPr algn="l">
              <a:lnSpc>
                <a:spcPct val="100000"/>
              </a:lnSpc>
            </a:pPr>
            <a:r>
              <a:rPr sz="1600" b="0">
                <a:solidFill>
                  <a:schemeClr val="tx1"/>
                </a:solidFill>
              </a:rPr>
              <a:t>About 25 tasks, including some no page can answer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KLE Technological University logo" descr="KLE Technological University logo"/>
          <p:cNvPicPr>
            <a:picLocks noChangeAspect="1"/>
          </p:cNvPicPr>
          <p:nvPr/>
        </p:nvPicPr>
        <p:blipFill>
          <a:blip r:embed="rId2"/>
          <a:stretch>
            <a:fillRect/>
          </a:stretch>
        </p:blipFill>
        <p:spPr>
          <a:xfrm>
            <a:off x="9814255" y="292608"/>
            <a:ext cx="1920240" cy="360045"/>
          </a:xfrm>
          <a:prstGeom prst="rect">
            <a:avLst/>
          </a:prstGeom>
        </p:spPr>
      </p:pic>
      <p:sp>
        <p:nvSpPr>
          <p:cNvPr id="3" name="Title"/>
          <p:cNvSpPr txBox="1"/>
          <p:nvPr/>
        </p:nvSpPr>
        <p:spPr>
          <a:xfrm>
            <a:off x="457200" y="274320"/>
            <a:ext cx="9082735" cy="640080"/>
          </a:xfrm>
          <a:prstGeom prst="rect">
            <a:avLst/>
          </a:prstGeom>
          <a:noFill/>
        </p:spPr>
        <p:txBody>
          <a:bodyPr wrap="square" lIns="0" tIns="0" rIns="0" bIns="0" anchor="ctr">
            <a:noAutofit/>
          </a:bodyPr>
          <a:lstStyle/>
          <a:p>
            <a:pPr algn="l">
              <a:lnSpc>
                <a:spcPct val="100000"/>
              </a:lnSpc>
            </a:pPr>
            <a:r>
              <a:rPr sz="3600" b="1">
                <a:solidFill>
                  <a:schemeClr val="tx2"/>
                </a:solidFill>
              </a:rPr>
              <a:t>Innovation and Existing Alternatives</a:t>
            </a:r>
          </a:p>
        </p:txBody>
      </p:sp>
      <p:sp>
        <p:nvSpPr>
          <p:cNvPr id="4" name="Existing header"/>
          <p:cNvSpPr txBox="1"/>
          <p:nvPr/>
        </p:nvSpPr>
        <p:spPr>
          <a:xfrm>
            <a:off x="457200" y="1051560"/>
            <a:ext cx="7040880" cy="292608"/>
          </a:xfrm>
          <a:prstGeom prst="rect">
            <a:avLst/>
          </a:prstGeom>
          <a:noFill/>
        </p:spPr>
        <p:txBody>
          <a:bodyPr wrap="square" lIns="0" tIns="0" rIns="0" bIns="0" anchor="t">
            <a:noAutofit/>
          </a:bodyPr>
          <a:lstStyle/>
          <a:p>
            <a:pPr algn="l">
              <a:lnSpc>
                <a:spcPct val="100000"/>
              </a:lnSpc>
            </a:pPr>
            <a:r>
              <a:rPr sz="1600" b="1">
                <a:solidFill>
                  <a:schemeClr val="tx2"/>
                </a:solidFill>
              </a:rPr>
              <a:t>EXISTING APPROACHES AND THEIR LIMITS</a:t>
            </a:r>
          </a:p>
        </p:txBody>
      </p:sp>
      <p:sp>
        <p:nvSpPr>
          <p:cNvPr id="5" name="Alternative 1 block"/>
          <p:cNvSpPr/>
          <p:nvPr/>
        </p:nvSpPr>
        <p:spPr>
          <a:xfrm>
            <a:off x="457200" y="1417320"/>
            <a:ext cx="3406140" cy="1600200"/>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lternative 1 text"/>
          <p:cNvSpPr txBox="1"/>
          <p:nvPr/>
        </p:nvSpPr>
        <p:spPr>
          <a:xfrm>
            <a:off x="640080" y="1527048"/>
            <a:ext cx="3040379" cy="1417320"/>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Vendor copilots</a:t>
            </a:r>
          </a:p>
          <a:p>
            <a:pPr algn="l">
              <a:lnSpc>
                <a:spcPct val="100000"/>
              </a:lnSpc>
              <a:spcAft>
                <a:spcPts val="300"/>
              </a:spcAft>
            </a:pPr>
            <a:r>
              <a:rPr sz="1600" b="0">
                <a:solidFill>
                  <a:schemeClr val="accent3"/>
                </a:solidFill>
              </a:rPr>
              <a:t>Microsoft Copilot, SAP Joule</a:t>
            </a:r>
          </a:p>
          <a:p>
            <a:pPr algn="l">
              <a:lnSpc>
                <a:spcPct val="100000"/>
              </a:lnSpc>
            </a:pPr>
            <a:r>
              <a:rPr sz="1600" b="0">
                <a:solidFill>
                  <a:schemeClr val="tx1"/>
                </a:solidFill>
              </a:rPr>
              <a:t>Only pre-built skills; locked to one platform</a:t>
            </a:r>
          </a:p>
        </p:txBody>
      </p:sp>
      <p:sp>
        <p:nvSpPr>
          <p:cNvPr id="7" name="Alternative 2 block"/>
          <p:cNvSpPr/>
          <p:nvPr/>
        </p:nvSpPr>
        <p:spPr>
          <a:xfrm>
            <a:off x="4091939" y="1417320"/>
            <a:ext cx="3406140" cy="1600200"/>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lternative 2 text"/>
          <p:cNvSpPr txBox="1"/>
          <p:nvPr/>
        </p:nvSpPr>
        <p:spPr>
          <a:xfrm>
            <a:off x="4274820" y="1527048"/>
            <a:ext cx="3040379" cy="1417320"/>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Text-to-SQL tools</a:t>
            </a:r>
          </a:p>
          <a:p>
            <a:pPr algn="l">
              <a:lnSpc>
                <a:spcPct val="100000"/>
              </a:lnSpc>
              <a:spcAft>
                <a:spcPts val="300"/>
              </a:spcAft>
            </a:pPr>
            <a:r>
              <a:rPr sz="1600" b="0">
                <a:solidFill>
                  <a:schemeClr val="accent3"/>
                </a:solidFill>
              </a:rPr>
              <a:t>Vanna, WrenAI</a:t>
            </a:r>
          </a:p>
          <a:p>
            <a:pPr algn="l">
              <a:lnSpc>
                <a:spcPct val="100000"/>
              </a:lnSpc>
            </a:pPr>
            <a:r>
              <a:rPr sz="1600" b="0">
                <a:solidFill>
                  <a:schemeClr val="tx1"/>
                </a:solidFill>
              </a:rPr>
              <a:t>Numbers can differ from what the screen shows</a:t>
            </a:r>
          </a:p>
        </p:txBody>
      </p:sp>
      <p:sp>
        <p:nvSpPr>
          <p:cNvPr id="9" name="Alternative 3 block"/>
          <p:cNvSpPr/>
          <p:nvPr/>
        </p:nvSpPr>
        <p:spPr>
          <a:xfrm>
            <a:off x="457200" y="3200400"/>
            <a:ext cx="3406140" cy="1600200"/>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lternative 3 text"/>
          <p:cNvSpPr txBox="1"/>
          <p:nvPr/>
        </p:nvSpPr>
        <p:spPr>
          <a:xfrm>
            <a:off x="640080" y="3310128"/>
            <a:ext cx="3040379" cy="1417320"/>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Browser agents</a:t>
            </a:r>
          </a:p>
          <a:p>
            <a:pPr algn="l">
              <a:lnSpc>
                <a:spcPct val="100000"/>
              </a:lnSpc>
              <a:spcAft>
                <a:spcPts val="300"/>
              </a:spcAft>
            </a:pPr>
            <a:r>
              <a:rPr sz="1600" b="0">
                <a:solidFill>
                  <a:schemeClr val="accent3"/>
                </a:solidFill>
              </a:rPr>
              <a:t>browser-use, BrowserOS</a:t>
            </a:r>
          </a:p>
          <a:p>
            <a:pPr algn="l">
              <a:lnSpc>
                <a:spcPct val="100000"/>
              </a:lnSpc>
            </a:pPr>
            <a:r>
              <a:rPr sz="1600" b="0">
                <a:solidFill>
                  <a:schemeClr val="tx1"/>
                </a:solidFill>
              </a:rPr>
              <a:t>Click through screens: slow, fragile, unchecked</a:t>
            </a:r>
          </a:p>
        </p:txBody>
      </p:sp>
      <p:sp>
        <p:nvSpPr>
          <p:cNvPr id="11" name="Alternative 4 block"/>
          <p:cNvSpPr/>
          <p:nvPr/>
        </p:nvSpPr>
        <p:spPr>
          <a:xfrm>
            <a:off x="4091939" y="3200400"/>
            <a:ext cx="3406140" cy="1600200"/>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lternative 4 text"/>
          <p:cNvSpPr txBox="1"/>
          <p:nvPr/>
        </p:nvSpPr>
        <p:spPr>
          <a:xfrm>
            <a:off x="4274820" y="3310128"/>
            <a:ext cx="3040379" cy="1417320"/>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In-app agent research</a:t>
            </a:r>
          </a:p>
          <a:p>
            <a:pPr algn="l">
              <a:lnSpc>
                <a:spcPct val="100000"/>
              </a:lnSpc>
              <a:spcAft>
                <a:spcPts val="300"/>
              </a:spcAft>
            </a:pPr>
            <a:r>
              <a:rPr sz="1600" b="0">
                <a:solidFill>
                  <a:schemeClr val="accent3"/>
                </a:solidFill>
              </a:rPr>
              <a:t>EmbeWebAgent, VACP</a:t>
            </a:r>
          </a:p>
          <a:p>
            <a:pPr algn="l">
              <a:lnSpc>
                <a:spcPct val="100000"/>
              </a:lnSpc>
            </a:pPr>
            <a:r>
              <a:rPr sz="1600" b="0">
                <a:solidFill>
                  <a:schemeClr val="tx1"/>
                </a:solidFill>
              </a:rPr>
              <a:t>Expose app actions, but no meaning or evidence</a:t>
            </a:r>
          </a:p>
        </p:txBody>
      </p:sp>
      <p:sp>
        <p:nvSpPr>
          <p:cNvPr id="13" name="Different panel"/>
          <p:cNvSpPr/>
          <p:nvPr/>
        </p:nvSpPr>
        <p:spPr>
          <a:xfrm>
            <a:off x="7772400" y="1051560"/>
            <a:ext cx="3962095" cy="3931920"/>
          </a:xfrm>
          <a:prstGeom prst="roundRect">
            <a:avLst>
              <a:gd name="adj" fmla="val 2325"/>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ifferent header"/>
          <p:cNvSpPr txBox="1"/>
          <p:nvPr/>
        </p:nvSpPr>
        <p:spPr>
          <a:xfrm>
            <a:off x="8001000" y="1188720"/>
            <a:ext cx="3504895" cy="292608"/>
          </a:xfrm>
          <a:prstGeom prst="rect">
            <a:avLst/>
          </a:prstGeom>
          <a:noFill/>
        </p:spPr>
        <p:txBody>
          <a:bodyPr wrap="square" lIns="0" tIns="0" rIns="0" bIns="0" anchor="t">
            <a:noAutofit/>
          </a:bodyPr>
          <a:lstStyle/>
          <a:p>
            <a:pPr algn="l">
              <a:lnSpc>
                <a:spcPct val="100000"/>
              </a:lnSpc>
            </a:pPr>
            <a:r>
              <a:rPr sz="1600" b="1">
                <a:solidFill>
                  <a:schemeClr val="accent2"/>
                </a:solidFill>
              </a:rPr>
              <a:t>WHAT MAKES OURS DIFFERENT</a:t>
            </a:r>
          </a:p>
        </p:txBody>
      </p:sp>
      <p:sp>
        <p:nvSpPr>
          <p:cNvPr id="15" name="Different number 1"/>
          <p:cNvSpPr/>
          <p:nvPr/>
        </p:nvSpPr>
        <p:spPr>
          <a:xfrm>
            <a:off x="8001000" y="1645920"/>
            <a:ext cx="365760" cy="36576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ct val="100000"/>
              </a:lnSpc>
            </a:pPr>
            <a:r>
              <a:rPr sz="1600" b="1">
                <a:solidFill>
                  <a:schemeClr val="tx1"/>
                </a:solidFill>
              </a:rPr>
              <a:t>1</a:t>
            </a:r>
          </a:p>
        </p:txBody>
      </p:sp>
      <p:sp>
        <p:nvSpPr>
          <p:cNvPr id="16" name="Different item 1"/>
          <p:cNvSpPr txBox="1"/>
          <p:nvPr/>
        </p:nvSpPr>
        <p:spPr>
          <a:xfrm>
            <a:off x="8503920" y="1645920"/>
            <a:ext cx="3047695" cy="777240"/>
          </a:xfrm>
          <a:prstGeom prst="rect">
            <a:avLst/>
          </a:prstGeom>
          <a:noFill/>
        </p:spPr>
        <p:txBody>
          <a:bodyPr wrap="square" lIns="0" tIns="0" rIns="0" bIns="0" anchor="t">
            <a:noAutofit/>
          </a:bodyPr>
          <a:lstStyle/>
          <a:p>
            <a:pPr algn="l">
              <a:lnSpc>
                <a:spcPct val="100000"/>
              </a:lnSpc>
              <a:spcAft>
                <a:spcPts val="200"/>
              </a:spcAft>
            </a:pPr>
            <a:r>
              <a:rPr sz="1700" b="1">
                <a:solidFill>
                  <a:schemeClr val="bg1"/>
                </a:solidFill>
              </a:rPr>
              <a:t>One map for app and agent</a:t>
            </a:r>
          </a:p>
          <a:p>
            <a:pPr algn="l">
              <a:lnSpc>
                <a:spcPct val="100000"/>
              </a:lnSpc>
            </a:pPr>
            <a:r>
              <a:rPr sz="1600" b="0">
                <a:solidFill>
                  <a:schemeClr val="bg1"/>
                </a:solidFill>
              </a:rPr>
              <a:t>Both are built from one catalogue</a:t>
            </a:r>
          </a:p>
        </p:txBody>
      </p:sp>
      <p:sp>
        <p:nvSpPr>
          <p:cNvPr id="17" name="Different number 2"/>
          <p:cNvSpPr/>
          <p:nvPr/>
        </p:nvSpPr>
        <p:spPr>
          <a:xfrm>
            <a:off x="8001000" y="2468880"/>
            <a:ext cx="365760" cy="36576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ct val="100000"/>
              </a:lnSpc>
            </a:pPr>
            <a:r>
              <a:rPr sz="1600" b="1">
                <a:solidFill>
                  <a:schemeClr val="tx1"/>
                </a:solidFill>
              </a:rPr>
              <a:t>2</a:t>
            </a:r>
          </a:p>
        </p:txBody>
      </p:sp>
      <p:sp>
        <p:nvSpPr>
          <p:cNvPr id="18" name="Different item 2"/>
          <p:cNvSpPr txBox="1"/>
          <p:nvPr/>
        </p:nvSpPr>
        <p:spPr>
          <a:xfrm>
            <a:off x="8503920" y="2468880"/>
            <a:ext cx="3047695" cy="777240"/>
          </a:xfrm>
          <a:prstGeom prst="rect">
            <a:avLst/>
          </a:prstGeom>
          <a:noFill/>
        </p:spPr>
        <p:txBody>
          <a:bodyPr wrap="square" lIns="0" tIns="0" rIns="0" bIns="0" anchor="t">
            <a:noAutofit/>
          </a:bodyPr>
          <a:lstStyle/>
          <a:p>
            <a:pPr algn="l">
              <a:lnSpc>
                <a:spcPct val="100000"/>
              </a:lnSpc>
              <a:spcAft>
                <a:spcPts val="200"/>
              </a:spcAft>
            </a:pPr>
            <a:r>
              <a:rPr sz="1700" b="1">
                <a:solidFill>
                  <a:schemeClr val="bg1"/>
                </a:solidFill>
              </a:rPr>
              <a:t>Checked actions</a:t>
            </a:r>
          </a:p>
          <a:p>
            <a:pPr algn="l">
              <a:lnSpc>
                <a:spcPct val="100000"/>
              </a:lnSpc>
            </a:pPr>
            <a:r>
              <a:rPr sz="1600" b="0">
                <a:solidFill>
                  <a:schemeClr val="bg1"/>
                </a:solidFill>
              </a:rPr>
              <a:t>One URL change, then read back</a:t>
            </a:r>
          </a:p>
        </p:txBody>
      </p:sp>
      <p:sp>
        <p:nvSpPr>
          <p:cNvPr id="19" name="Different number 3"/>
          <p:cNvSpPr/>
          <p:nvPr/>
        </p:nvSpPr>
        <p:spPr>
          <a:xfrm>
            <a:off x="8001000" y="3291840"/>
            <a:ext cx="365760" cy="36576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ct val="100000"/>
              </a:lnSpc>
            </a:pPr>
            <a:r>
              <a:rPr sz="1600" b="1">
                <a:solidFill>
                  <a:schemeClr val="tx1"/>
                </a:solidFill>
              </a:rPr>
              <a:t>3</a:t>
            </a:r>
          </a:p>
        </p:txBody>
      </p:sp>
      <p:sp>
        <p:nvSpPr>
          <p:cNvPr id="20" name="Different item 3"/>
          <p:cNvSpPr txBox="1"/>
          <p:nvPr/>
        </p:nvSpPr>
        <p:spPr>
          <a:xfrm>
            <a:off x="8503920" y="3291840"/>
            <a:ext cx="3047695" cy="777240"/>
          </a:xfrm>
          <a:prstGeom prst="rect">
            <a:avLst/>
          </a:prstGeom>
          <a:noFill/>
        </p:spPr>
        <p:txBody>
          <a:bodyPr wrap="square" lIns="0" tIns="0" rIns="0" bIns="0" anchor="t">
            <a:noAutofit/>
          </a:bodyPr>
          <a:lstStyle/>
          <a:p>
            <a:pPr algn="l">
              <a:lnSpc>
                <a:spcPct val="100000"/>
              </a:lnSpc>
              <a:spcAft>
                <a:spcPts val="200"/>
              </a:spcAft>
            </a:pPr>
            <a:r>
              <a:rPr sz="1700" b="1">
                <a:solidFill>
                  <a:schemeClr val="bg1"/>
                </a:solidFill>
              </a:rPr>
              <a:t>Knows what data means</a:t>
            </a:r>
          </a:p>
          <a:p>
            <a:pPr algn="l">
              <a:lnSpc>
                <a:spcPct val="100000"/>
              </a:lnSpc>
            </a:pPr>
            <a:r>
              <a:rPr sz="1600" b="0">
                <a:solidFill>
                  <a:schemeClr val="bg1"/>
                </a:solidFill>
              </a:rPr>
              <a:t>Units, grain and valid filters recorded</a:t>
            </a:r>
          </a:p>
        </p:txBody>
      </p:sp>
      <p:sp>
        <p:nvSpPr>
          <p:cNvPr id="21" name="Different number 4"/>
          <p:cNvSpPr/>
          <p:nvPr/>
        </p:nvSpPr>
        <p:spPr>
          <a:xfrm>
            <a:off x="8001000" y="4114800"/>
            <a:ext cx="365760" cy="36576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tIns="0" rIns="0" bIns="0" wrap="square">
            <a:noAutofit/>
          </a:bodyPr>
          <a:lstStyle/>
          <a:p>
            <a:pPr algn="ctr">
              <a:lnSpc>
                <a:spcPct val="100000"/>
              </a:lnSpc>
            </a:pPr>
            <a:r>
              <a:rPr sz="1600" b="1">
                <a:solidFill>
                  <a:schemeClr val="tx1"/>
                </a:solidFill>
              </a:rPr>
              <a:t>4</a:t>
            </a:r>
          </a:p>
        </p:txBody>
      </p:sp>
      <p:sp>
        <p:nvSpPr>
          <p:cNvPr id="22" name="Different item 4"/>
          <p:cNvSpPr txBox="1"/>
          <p:nvPr/>
        </p:nvSpPr>
        <p:spPr>
          <a:xfrm>
            <a:off x="8503920" y="4114800"/>
            <a:ext cx="3047695" cy="777240"/>
          </a:xfrm>
          <a:prstGeom prst="rect">
            <a:avLst/>
          </a:prstGeom>
          <a:noFill/>
        </p:spPr>
        <p:txBody>
          <a:bodyPr wrap="square" lIns="0" tIns="0" rIns="0" bIns="0" anchor="t">
            <a:noAutofit/>
          </a:bodyPr>
          <a:lstStyle/>
          <a:p>
            <a:pPr algn="l">
              <a:lnSpc>
                <a:spcPct val="100000"/>
              </a:lnSpc>
              <a:spcAft>
                <a:spcPts val="200"/>
              </a:spcAft>
            </a:pPr>
            <a:r>
              <a:rPr sz="1700" b="1">
                <a:solidFill>
                  <a:schemeClr val="bg1"/>
                </a:solidFill>
              </a:rPr>
              <a:t>Evidence for every number</a:t>
            </a:r>
          </a:p>
          <a:p>
            <a:pPr algn="l">
              <a:lnSpc>
                <a:spcPct val="100000"/>
              </a:lnSpc>
            </a:pPr>
            <a:r>
              <a:rPr sz="1600" b="0">
                <a:solidFill>
                  <a:schemeClr val="bg1"/>
                </a:solidFill>
              </a:rPr>
              <a:t>Observed, calculated or inferred</a:t>
            </a:r>
          </a:p>
        </p:txBody>
      </p:sp>
      <p:sp>
        <p:nvSpPr>
          <p:cNvPr id="23" name="Evidence block"/>
          <p:cNvSpPr/>
          <p:nvPr/>
        </p:nvSpPr>
        <p:spPr>
          <a:xfrm>
            <a:off x="457200" y="5166360"/>
            <a:ext cx="5524347" cy="1234439"/>
          </a:xfrm>
          <a:prstGeom prst="roundRect">
            <a:avLst>
              <a:gd name="adj" fmla="val 7407"/>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vidence text"/>
          <p:cNvSpPr txBox="1"/>
          <p:nvPr/>
        </p:nvSpPr>
        <p:spPr>
          <a:xfrm>
            <a:off x="640080" y="5276088"/>
            <a:ext cx="5158587" cy="1051559"/>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Why act through the app’s own routes</a:t>
            </a:r>
          </a:p>
          <a:p>
            <a:pPr algn="l">
              <a:lnSpc>
                <a:spcPct val="100000"/>
              </a:lnSpc>
            </a:pPr>
            <a:r>
              <a:rPr sz="1600" b="0">
                <a:solidFill>
                  <a:schemeClr val="tx1"/>
                </a:solidFill>
              </a:rPr>
              <a:t>On WebArena, browsing alone completed 14.8% of tasks; adding direct API calls raised it to 38.9% (Song et al., 2025).</a:t>
            </a:r>
          </a:p>
        </p:txBody>
      </p:sp>
      <p:sp>
        <p:nvSpPr>
          <p:cNvPr id="25" name="Proof block"/>
          <p:cNvSpPr/>
          <p:nvPr/>
        </p:nvSpPr>
        <p:spPr>
          <a:xfrm>
            <a:off x="6210147" y="5166360"/>
            <a:ext cx="5524347" cy="1234439"/>
          </a:xfrm>
          <a:prstGeom prst="roundRect">
            <a:avLst>
              <a:gd name="adj" fmla="val 7407"/>
            </a:avLst>
          </a:prstGeom>
          <a:solidFill>
            <a:schemeClr val="accent2">
              <a:lumMod val="25000"/>
              <a:lumOff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roof text"/>
          <p:cNvSpPr txBox="1"/>
          <p:nvPr/>
        </p:nvSpPr>
        <p:spPr>
          <a:xfrm>
            <a:off x="6393027" y="5276088"/>
            <a:ext cx="5158587" cy="1051559"/>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How we will prove it</a:t>
            </a:r>
          </a:p>
          <a:p>
            <a:pPr algn="l">
              <a:lnSpc>
                <a:spcPct val="100000"/>
              </a:lnSpc>
            </a:pPr>
            <a:r>
              <a:rPr sz="1600" b="0">
                <a:solidFill>
                  <a:schemeClr val="tx1"/>
                </a:solidFill>
              </a:rPr>
              <a:t>Scored with Mind2Web’s step and task success, plus page and filter accuracy on our own tasks.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9811512" y="292608"/>
            <a:ext cx="1920240" cy="356616"/>
          </a:xfrm>
          <a:prstGeom prst="rect">
            <a:avLst/>
          </a:prstGeom>
        </p:spPr>
      </p:pic>
      <p:sp>
        <p:nvSpPr>
          <p:cNvPr id="3" name="Title"/>
          <p:cNvSpPr txBox="1"/>
          <p:nvPr/>
        </p:nvSpPr>
        <p:spPr>
          <a:xfrm>
            <a:off x="457200" y="256032"/>
            <a:ext cx="9079992" cy="603504"/>
          </a:xfrm>
          <a:prstGeom prst="rect">
            <a:avLst/>
          </a:prstGeom>
          <a:noFill/>
        </p:spPr>
        <p:txBody>
          <a:bodyPr wrap="square" lIns="0" tIns="0" rIns="0" bIns="0" anchor="ctr">
            <a:noAutofit/>
          </a:bodyPr>
          <a:lstStyle/>
          <a:p>
            <a:pPr algn="l">
              <a:lnSpc>
                <a:spcPct val="100000"/>
              </a:lnSpc>
            </a:pPr>
            <a:r>
              <a:rPr sz="3600" b="1">
                <a:solidFill>
                  <a:schemeClr val="tx2"/>
                </a:solidFill>
              </a:rPr>
              <a:t>Existing Approaches and What Limits Them</a:t>
            </a:r>
          </a:p>
        </p:txBody>
      </p:sp>
      <p:sp>
        <p:nvSpPr>
          <p:cNvPr id="4" name="Lead-in"/>
          <p:cNvSpPr txBox="1"/>
          <p:nvPr/>
        </p:nvSpPr>
        <p:spPr>
          <a:xfrm>
            <a:off x="457200" y="905256"/>
            <a:ext cx="11274552" cy="237744"/>
          </a:xfrm>
          <a:prstGeom prst="rect">
            <a:avLst/>
          </a:prstGeom>
          <a:noFill/>
        </p:spPr>
        <p:txBody>
          <a:bodyPr wrap="square" lIns="0" tIns="0" rIns="0" bIns="0" anchor="t">
            <a:noAutofit/>
          </a:bodyPr>
          <a:lstStyle/>
          <a:p>
            <a:pPr algn="l">
              <a:lnSpc>
                <a:spcPct val="100000"/>
              </a:lnSpc>
            </a:pPr>
            <a:r>
              <a:rPr sz="1400" b="0">
                <a:solidFill>
                  <a:schemeClr val="accent3"/>
                </a:solidFill>
              </a:rPr>
              <a:t>Every limitation below is the cited authors’ own published result, not our measurement.</a:t>
            </a:r>
          </a:p>
        </p:txBody>
      </p:sp>
      <p:sp>
        <p:nvSpPr>
          <p:cNvPr id="5" name="Header band"/>
          <p:cNvSpPr/>
          <p:nvPr/>
        </p:nvSpPr>
        <p:spPr>
          <a:xfrm>
            <a:off x="457200" y="1207008"/>
            <a:ext cx="11274552" cy="365760"/>
          </a:xfrm>
          <a:prstGeom prst="roundRect">
            <a:avLst>
              <a:gd name="adj" fmla="val 1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 APPROACH"/>
          <p:cNvSpPr txBox="1"/>
          <p:nvPr/>
        </p:nvSpPr>
        <p:spPr>
          <a:xfrm>
            <a:off x="658368" y="1243584"/>
            <a:ext cx="2377440" cy="292608"/>
          </a:xfrm>
          <a:prstGeom prst="rect">
            <a:avLst/>
          </a:prstGeom>
          <a:noFill/>
        </p:spPr>
        <p:txBody>
          <a:bodyPr wrap="square" lIns="0" tIns="0" rIns="0" bIns="0" anchor="ctr">
            <a:noAutofit/>
          </a:bodyPr>
          <a:lstStyle/>
          <a:p>
            <a:pPr algn="l">
              <a:lnSpc>
                <a:spcPct val="100000"/>
              </a:lnSpc>
            </a:pPr>
            <a:r>
              <a:rPr sz="1500" b="1">
                <a:solidFill>
                  <a:schemeClr val="bg1"/>
                </a:solidFill>
              </a:rPr>
              <a:t>APPROACH</a:t>
            </a:r>
          </a:p>
        </p:txBody>
      </p:sp>
      <p:sp>
        <p:nvSpPr>
          <p:cNvPr id="7" name="H REPRESENTATIVE"/>
          <p:cNvSpPr txBox="1"/>
          <p:nvPr/>
        </p:nvSpPr>
        <p:spPr>
          <a:xfrm>
            <a:off x="3154680" y="1243584"/>
            <a:ext cx="2103120" cy="292608"/>
          </a:xfrm>
          <a:prstGeom prst="rect">
            <a:avLst/>
          </a:prstGeom>
          <a:noFill/>
        </p:spPr>
        <p:txBody>
          <a:bodyPr wrap="square" lIns="0" tIns="0" rIns="0" bIns="0" anchor="ctr">
            <a:noAutofit/>
          </a:bodyPr>
          <a:lstStyle/>
          <a:p>
            <a:pPr algn="l">
              <a:lnSpc>
                <a:spcPct val="100000"/>
              </a:lnSpc>
            </a:pPr>
            <a:r>
              <a:rPr sz="1500" b="1">
                <a:solidFill>
                  <a:schemeClr val="bg1"/>
                </a:solidFill>
              </a:rPr>
              <a:t>REPRESENTATIVE WORK</a:t>
            </a:r>
          </a:p>
        </p:txBody>
      </p:sp>
      <p:sp>
        <p:nvSpPr>
          <p:cNvPr id="8" name="H PUBLISHED LIMI"/>
          <p:cNvSpPr txBox="1"/>
          <p:nvPr/>
        </p:nvSpPr>
        <p:spPr>
          <a:xfrm>
            <a:off x="5394960" y="1243584"/>
            <a:ext cx="6126480" cy="292608"/>
          </a:xfrm>
          <a:prstGeom prst="rect">
            <a:avLst/>
          </a:prstGeom>
          <a:noFill/>
        </p:spPr>
        <p:txBody>
          <a:bodyPr wrap="square" lIns="0" tIns="0" rIns="0" bIns="0" anchor="ctr">
            <a:noAutofit/>
          </a:bodyPr>
          <a:lstStyle/>
          <a:p>
            <a:pPr algn="l">
              <a:lnSpc>
                <a:spcPct val="100000"/>
              </a:lnSpc>
            </a:pPr>
            <a:r>
              <a:rPr sz="1500" b="1">
                <a:solidFill>
                  <a:schemeClr val="bg1"/>
                </a:solidFill>
              </a:rPr>
              <a:t>PUBLISHED LIMITATION</a:t>
            </a:r>
          </a:p>
        </p:txBody>
      </p:sp>
      <p:sp>
        <p:nvSpPr>
          <p:cNvPr id="9" name="Row 1 band"/>
          <p:cNvSpPr/>
          <p:nvPr/>
        </p:nvSpPr>
        <p:spPr>
          <a:xfrm>
            <a:off x="457200" y="1627632"/>
            <a:ext cx="11274552" cy="566928"/>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1C1"/>
          <p:cNvSpPr txBox="1"/>
          <p:nvPr/>
        </p:nvSpPr>
        <p:spPr>
          <a:xfrm>
            <a:off x="658368" y="1664208"/>
            <a:ext cx="2377440" cy="493776"/>
          </a:xfrm>
          <a:prstGeom prst="rect">
            <a:avLst/>
          </a:prstGeom>
          <a:noFill/>
        </p:spPr>
        <p:txBody>
          <a:bodyPr wrap="square" lIns="0" tIns="0" rIns="0" bIns="0" anchor="ctr">
            <a:noAutofit/>
          </a:bodyPr>
          <a:lstStyle/>
          <a:p>
            <a:pPr algn="l">
              <a:lnSpc>
                <a:spcPct val="100000"/>
              </a:lnSpc>
            </a:pPr>
            <a:r>
              <a:rPr sz="1500" b="1">
                <a:solidFill>
                  <a:schemeClr val="tx2"/>
                </a:solidFill>
              </a:rPr>
              <a:t>Click-driven browser and GUI agents</a:t>
            </a:r>
          </a:p>
        </p:txBody>
      </p:sp>
      <p:sp>
        <p:nvSpPr>
          <p:cNvPr id="11" name="R1C2"/>
          <p:cNvSpPr txBox="1"/>
          <p:nvPr/>
        </p:nvSpPr>
        <p:spPr>
          <a:xfrm>
            <a:off x="3154680" y="1664208"/>
            <a:ext cx="2103120" cy="493776"/>
          </a:xfrm>
          <a:prstGeom prst="rect">
            <a:avLst/>
          </a:prstGeom>
          <a:noFill/>
        </p:spPr>
        <p:txBody>
          <a:bodyPr wrap="square" lIns="0" tIns="0" rIns="0" bIns="0" anchor="ctr">
            <a:noAutofit/>
          </a:bodyPr>
          <a:lstStyle/>
          <a:p>
            <a:pPr algn="l">
              <a:lnSpc>
                <a:spcPct val="100000"/>
              </a:lnSpc>
            </a:pPr>
            <a:r>
              <a:rPr sz="1400" b="0">
                <a:solidFill>
                  <a:schemeClr val="tx1"/>
                </a:solidFill>
              </a:rPr>
              <a:t>Playwright, BrowserOS, vision GUI models</a:t>
            </a:r>
          </a:p>
        </p:txBody>
      </p:sp>
      <p:sp>
        <p:nvSpPr>
          <p:cNvPr id="12" name="R1C3"/>
          <p:cNvSpPr txBox="1"/>
          <p:nvPr/>
        </p:nvSpPr>
        <p:spPr>
          <a:xfrm>
            <a:off x="5394960" y="1664208"/>
            <a:ext cx="6126480" cy="493776"/>
          </a:xfrm>
          <a:prstGeom prst="rect">
            <a:avLst/>
          </a:prstGeom>
          <a:noFill/>
        </p:spPr>
        <p:txBody>
          <a:bodyPr wrap="square" lIns="0" tIns="0" rIns="0" bIns="0" anchor="ctr">
            <a:noAutofit/>
          </a:bodyPr>
          <a:lstStyle/>
          <a:p>
            <a:pPr algn="l">
              <a:lnSpc>
                <a:spcPct val="100000"/>
              </a:lnSpc>
            </a:pPr>
            <a:r>
              <a:rPr sz="1400" b="0">
                <a:solidFill>
                  <a:schemeClr val="accent3"/>
                </a:solidFill>
              </a:rPr>
              <a:t>2–7% of whole tasks on real websites; 9–19% on enterprise multi-step workflows</a:t>
            </a:r>
          </a:p>
        </p:txBody>
      </p:sp>
      <p:sp>
        <p:nvSpPr>
          <p:cNvPr id="13" name="Row 2 band"/>
          <p:cNvSpPr/>
          <p:nvPr/>
        </p:nvSpPr>
        <p:spPr>
          <a:xfrm>
            <a:off x="457200" y="2240280"/>
            <a:ext cx="11274552" cy="566928"/>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2C1"/>
          <p:cNvSpPr txBox="1"/>
          <p:nvPr/>
        </p:nvSpPr>
        <p:spPr>
          <a:xfrm>
            <a:off x="658368" y="2276856"/>
            <a:ext cx="2377440" cy="493776"/>
          </a:xfrm>
          <a:prstGeom prst="rect">
            <a:avLst/>
          </a:prstGeom>
          <a:noFill/>
        </p:spPr>
        <p:txBody>
          <a:bodyPr wrap="square" lIns="0" tIns="0" rIns="0" bIns="0" anchor="ctr">
            <a:noAutofit/>
          </a:bodyPr>
          <a:lstStyle/>
          <a:p>
            <a:pPr algn="l">
              <a:lnSpc>
                <a:spcPct val="100000"/>
              </a:lnSpc>
            </a:pPr>
            <a:r>
              <a:rPr sz="1500" b="1">
                <a:solidFill>
                  <a:schemeClr val="tx2"/>
                </a:solidFill>
              </a:rPr>
              <a:t>Grounding-first multimodal agents</a:t>
            </a:r>
          </a:p>
        </p:txBody>
      </p:sp>
      <p:sp>
        <p:nvSpPr>
          <p:cNvPr id="15" name="R2C2"/>
          <p:cNvSpPr txBox="1"/>
          <p:nvPr/>
        </p:nvSpPr>
        <p:spPr>
          <a:xfrm>
            <a:off x="3154680" y="2276856"/>
            <a:ext cx="2103120" cy="493776"/>
          </a:xfrm>
          <a:prstGeom prst="rect">
            <a:avLst/>
          </a:prstGeom>
          <a:noFill/>
        </p:spPr>
        <p:txBody>
          <a:bodyPr wrap="square" lIns="0" tIns="0" rIns="0" bIns="0" anchor="ctr">
            <a:noAutofit/>
          </a:bodyPr>
          <a:lstStyle/>
          <a:p>
            <a:pPr algn="l">
              <a:lnSpc>
                <a:spcPct val="100000"/>
              </a:lnSpc>
            </a:pPr>
            <a:r>
              <a:rPr sz="1400" b="0">
                <a:solidFill>
                  <a:schemeClr val="tx1"/>
                </a:solidFill>
              </a:rPr>
              <a:t>SeeAct</a:t>
            </a:r>
          </a:p>
        </p:txBody>
      </p:sp>
      <p:sp>
        <p:nvSpPr>
          <p:cNvPr id="16" name="R2C3"/>
          <p:cNvSpPr txBox="1"/>
          <p:nvPr/>
        </p:nvSpPr>
        <p:spPr>
          <a:xfrm>
            <a:off x="5394960" y="2276856"/>
            <a:ext cx="6126480" cy="493776"/>
          </a:xfrm>
          <a:prstGeom prst="rect">
            <a:avLst/>
          </a:prstGeom>
          <a:noFill/>
        </p:spPr>
        <p:txBody>
          <a:bodyPr wrap="square" lIns="0" tIns="0" rIns="0" bIns="0" anchor="ctr">
            <a:noAutofit/>
          </a:bodyPr>
          <a:lstStyle/>
          <a:p>
            <a:pPr algn="l">
              <a:lnSpc>
                <a:spcPct val="100000"/>
              </a:lnSpc>
            </a:pPr>
            <a:r>
              <a:rPr sz="1400" b="0">
                <a:solidFill>
                  <a:schemeClr val="accent3"/>
                </a:solidFill>
              </a:rPr>
              <a:t>51.1% only when the element to click was supplied by hand — finding, not thinking, is the bottleneck</a:t>
            </a:r>
          </a:p>
        </p:txBody>
      </p:sp>
      <p:sp>
        <p:nvSpPr>
          <p:cNvPr id="17" name="Row 3 band"/>
          <p:cNvSpPr/>
          <p:nvPr/>
        </p:nvSpPr>
        <p:spPr>
          <a:xfrm>
            <a:off x="457200" y="2852928"/>
            <a:ext cx="11274552" cy="566928"/>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3C1"/>
          <p:cNvSpPr txBox="1"/>
          <p:nvPr/>
        </p:nvSpPr>
        <p:spPr>
          <a:xfrm>
            <a:off x="658368" y="2889504"/>
            <a:ext cx="2377440" cy="493776"/>
          </a:xfrm>
          <a:prstGeom prst="rect">
            <a:avLst/>
          </a:prstGeom>
          <a:noFill/>
        </p:spPr>
        <p:txBody>
          <a:bodyPr wrap="square" lIns="0" tIns="0" rIns="0" bIns="0" anchor="ctr">
            <a:noAutofit/>
          </a:bodyPr>
          <a:lstStyle/>
          <a:p>
            <a:pPr algn="l">
              <a:lnSpc>
                <a:spcPct val="100000"/>
              </a:lnSpc>
            </a:pPr>
            <a:r>
              <a:rPr sz="1500" b="1">
                <a:solidFill>
                  <a:schemeClr val="tx2"/>
                </a:solidFill>
              </a:rPr>
              <a:t>Embedded app agents (closest to us)</a:t>
            </a:r>
          </a:p>
        </p:txBody>
      </p:sp>
      <p:sp>
        <p:nvSpPr>
          <p:cNvPr id="19" name="R3C2"/>
          <p:cNvSpPr txBox="1"/>
          <p:nvPr/>
        </p:nvSpPr>
        <p:spPr>
          <a:xfrm>
            <a:off x="3154680" y="2889504"/>
            <a:ext cx="2103120" cy="493776"/>
          </a:xfrm>
          <a:prstGeom prst="rect">
            <a:avLst/>
          </a:prstGeom>
          <a:noFill/>
        </p:spPr>
        <p:txBody>
          <a:bodyPr wrap="square" lIns="0" tIns="0" rIns="0" bIns="0" anchor="ctr">
            <a:noAutofit/>
          </a:bodyPr>
          <a:lstStyle/>
          <a:p>
            <a:pPr algn="l">
              <a:lnSpc>
                <a:spcPct val="100000"/>
              </a:lnSpc>
            </a:pPr>
            <a:r>
              <a:rPr sz="1400" b="0">
                <a:solidFill>
                  <a:schemeClr val="tx1"/>
                </a:solidFill>
              </a:rPr>
              <a:t>EmbeWebAgent, VACP</a:t>
            </a:r>
          </a:p>
        </p:txBody>
      </p:sp>
      <p:sp>
        <p:nvSpPr>
          <p:cNvPr id="20" name="R3C3"/>
          <p:cNvSpPr txBox="1"/>
          <p:nvPr/>
        </p:nvSpPr>
        <p:spPr>
          <a:xfrm>
            <a:off x="5394960" y="2889504"/>
            <a:ext cx="6126480" cy="493776"/>
          </a:xfrm>
          <a:prstGeom prst="rect">
            <a:avLst/>
          </a:prstGeom>
          <a:noFill/>
        </p:spPr>
        <p:txBody>
          <a:bodyPr wrap="square" lIns="0" tIns="0" rIns="0" bIns="0" anchor="ctr">
            <a:noAutofit/>
          </a:bodyPr>
          <a:lstStyle/>
          <a:p>
            <a:pPr algn="l">
              <a:lnSpc>
                <a:spcPct val="100000"/>
              </a:lnSpc>
            </a:pPr>
            <a:r>
              <a:rPr sz="1400" b="0">
                <a:solidFill>
                  <a:schemeClr val="accent3"/>
                </a:solidFill>
              </a:rPr>
              <a:t>Declare app state and functions, but not business meaning; their numbers carry no trace back to a view</a:t>
            </a:r>
          </a:p>
        </p:txBody>
      </p:sp>
      <p:sp>
        <p:nvSpPr>
          <p:cNvPr id="21" name="Row 4 band"/>
          <p:cNvSpPr/>
          <p:nvPr/>
        </p:nvSpPr>
        <p:spPr>
          <a:xfrm>
            <a:off x="457200" y="3465576"/>
            <a:ext cx="11274552" cy="566928"/>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4C1"/>
          <p:cNvSpPr txBox="1"/>
          <p:nvPr/>
        </p:nvSpPr>
        <p:spPr>
          <a:xfrm>
            <a:off x="658368" y="3502152"/>
            <a:ext cx="2377440" cy="493776"/>
          </a:xfrm>
          <a:prstGeom prst="rect">
            <a:avLst/>
          </a:prstGeom>
          <a:noFill/>
        </p:spPr>
        <p:txBody>
          <a:bodyPr wrap="square" lIns="0" tIns="0" rIns="0" bIns="0" anchor="ctr">
            <a:noAutofit/>
          </a:bodyPr>
          <a:lstStyle/>
          <a:p>
            <a:pPr algn="l">
              <a:lnSpc>
                <a:spcPct val="100000"/>
              </a:lnSpc>
            </a:pPr>
            <a:r>
              <a:rPr sz="1500" b="1">
                <a:solidFill>
                  <a:schemeClr val="tx2"/>
                </a:solidFill>
              </a:rPr>
              <a:t>Typed-action proposals</a:t>
            </a:r>
          </a:p>
        </p:txBody>
      </p:sp>
      <p:sp>
        <p:nvSpPr>
          <p:cNvPr id="23" name="R4C2"/>
          <p:cNvSpPr txBox="1"/>
          <p:nvPr/>
        </p:nvSpPr>
        <p:spPr>
          <a:xfrm>
            <a:off x="3154680" y="3502152"/>
            <a:ext cx="2103120" cy="493776"/>
          </a:xfrm>
          <a:prstGeom prst="rect">
            <a:avLst/>
          </a:prstGeom>
          <a:noFill/>
        </p:spPr>
        <p:txBody>
          <a:bodyPr wrap="square" lIns="0" tIns="0" rIns="0" bIns="0" anchor="ctr">
            <a:noAutofit/>
          </a:bodyPr>
          <a:lstStyle/>
          <a:p>
            <a:pPr algn="l">
              <a:lnSpc>
                <a:spcPct val="100000"/>
              </a:lnSpc>
            </a:pPr>
            <a:r>
              <a:rPr sz="1400" b="0">
                <a:solidFill>
                  <a:schemeClr val="tx1"/>
                </a:solidFill>
              </a:rPr>
              <a:t>“Web verbs”, Vector</a:t>
            </a:r>
          </a:p>
        </p:txBody>
      </p:sp>
      <p:sp>
        <p:nvSpPr>
          <p:cNvPr id="24" name="R4C3"/>
          <p:cNvSpPr txBox="1"/>
          <p:nvPr/>
        </p:nvSpPr>
        <p:spPr>
          <a:xfrm>
            <a:off x="5394960" y="3502152"/>
            <a:ext cx="6126480" cy="493776"/>
          </a:xfrm>
          <a:prstGeom prst="rect">
            <a:avLst/>
          </a:prstGeom>
          <a:noFill/>
        </p:spPr>
        <p:txBody>
          <a:bodyPr wrap="square" lIns="0" tIns="0" rIns="0" bIns="0" anchor="ctr">
            <a:noAutofit/>
          </a:bodyPr>
          <a:lstStyle/>
          <a:p>
            <a:pPr algn="l">
              <a:lnSpc>
                <a:spcPct val="100000"/>
              </a:lnSpc>
            </a:pPr>
            <a:r>
              <a:rPr sz="1400" b="0">
                <a:solidFill>
                  <a:schemeClr val="accent3"/>
                </a:solidFill>
              </a:rPr>
              <a:t>The right direction, but a position paper and a routing study — no prototype, no measured KPIs</a:t>
            </a:r>
          </a:p>
        </p:txBody>
      </p:sp>
      <p:sp>
        <p:nvSpPr>
          <p:cNvPr id="25" name="Row 5 band"/>
          <p:cNvSpPr/>
          <p:nvPr/>
        </p:nvSpPr>
        <p:spPr>
          <a:xfrm>
            <a:off x="457200" y="4078224"/>
            <a:ext cx="11274552" cy="566928"/>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5C1"/>
          <p:cNvSpPr txBox="1"/>
          <p:nvPr/>
        </p:nvSpPr>
        <p:spPr>
          <a:xfrm>
            <a:off x="658368" y="4114800"/>
            <a:ext cx="2377440" cy="493776"/>
          </a:xfrm>
          <a:prstGeom prst="rect">
            <a:avLst/>
          </a:prstGeom>
          <a:noFill/>
        </p:spPr>
        <p:txBody>
          <a:bodyPr wrap="square" lIns="0" tIns="0" rIns="0" bIns="0" anchor="ctr">
            <a:noAutofit/>
          </a:bodyPr>
          <a:lstStyle/>
          <a:p>
            <a:pPr algn="l">
              <a:lnSpc>
                <a:spcPct val="100000"/>
              </a:lnSpc>
            </a:pPr>
            <a:r>
              <a:rPr sz="1500" b="1">
                <a:solidFill>
                  <a:schemeClr val="tx2"/>
                </a:solidFill>
              </a:rPr>
              <a:t>Text-to-SQL and chat-BI</a:t>
            </a:r>
          </a:p>
        </p:txBody>
      </p:sp>
      <p:sp>
        <p:nvSpPr>
          <p:cNvPr id="27" name="R5C2"/>
          <p:cNvSpPr txBox="1"/>
          <p:nvPr/>
        </p:nvSpPr>
        <p:spPr>
          <a:xfrm>
            <a:off x="3154680" y="4114800"/>
            <a:ext cx="2103120" cy="493776"/>
          </a:xfrm>
          <a:prstGeom prst="rect">
            <a:avLst/>
          </a:prstGeom>
          <a:noFill/>
        </p:spPr>
        <p:txBody>
          <a:bodyPr wrap="square" lIns="0" tIns="0" rIns="0" bIns="0" anchor="ctr">
            <a:noAutofit/>
          </a:bodyPr>
          <a:lstStyle/>
          <a:p>
            <a:pPr algn="l">
              <a:lnSpc>
                <a:spcPct val="100000"/>
              </a:lnSpc>
            </a:pPr>
            <a:r>
              <a:rPr sz="1400" b="0">
                <a:solidFill>
                  <a:schemeClr val="tx1"/>
                </a:solidFill>
              </a:rPr>
              <a:t>Vanna, WrenAI, TA-SQL</a:t>
            </a:r>
          </a:p>
        </p:txBody>
      </p:sp>
      <p:sp>
        <p:nvSpPr>
          <p:cNvPr id="28" name="R5C3"/>
          <p:cNvSpPr txBox="1"/>
          <p:nvPr/>
        </p:nvSpPr>
        <p:spPr>
          <a:xfrm>
            <a:off x="5394960" y="4114800"/>
            <a:ext cx="6126480" cy="493776"/>
          </a:xfrm>
          <a:prstGeom prst="rect">
            <a:avLst/>
          </a:prstGeom>
          <a:noFill/>
        </p:spPr>
        <p:txBody>
          <a:bodyPr wrap="square" lIns="0" tIns="0" rIns="0" bIns="0" anchor="ctr">
            <a:noAutofit/>
          </a:bodyPr>
          <a:lstStyle/>
          <a:p>
            <a:pPr algn="l">
              <a:lnSpc>
                <a:spcPct val="100000"/>
              </a:lnSpc>
            </a:pPr>
            <a:r>
              <a:rPr sz="1400" b="0">
                <a:solidFill>
                  <a:schemeClr val="accent3"/>
                </a:solidFill>
              </a:rPr>
              <a:t>Valid SQL with the wrong meaning; figures that contradict the chart sitting beside them</a:t>
            </a:r>
          </a:p>
        </p:txBody>
      </p:sp>
      <p:sp>
        <p:nvSpPr>
          <p:cNvPr id="29" name="Row 6 band"/>
          <p:cNvSpPr/>
          <p:nvPr/>
        </p:nvSpPr>
        <p:spPr>
          <a:xfrm>
            <a:off x="457200" y="4690872"/>
            <a:ext cx="11274552" cy="566928"/>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6C1"/>
          <p:cNvSpPr txBox="1"/>
          <p:nvPr/>
        </p:nvSpPr>
        <p:spPr>
          <a:xfrm>
            <a:off x="658368" y="4727448"/>
            <a:ext cx="2377440" cy="493776"/>
          </a:xfrm>
          <a:prstGeom prst="rect">
            <a:avLst/>
          </a:prstGeom>
          <a:noFill/>
        </p:spPr>
        <p:txBody>
          <a:bodyPr wrap="square" lIns="0" tIns="0" rIns="0" bIns="0" anchor="ctr">
            <a:noAutofit/>
          </a:bodyPr>
          <a:lstStyle/>
          <a:p>
            <a:pPr algn="l">
              <a:lnSpc>
                <a:spcPct val="100000"/>
              </a:lnSpc>
            </a:pPr>
            <a:r>
              <a:rPr sz="1500" b="1">
                <a:solidFill>
                  <a:schemeClr val="tx2"/>
                </a:solidFill>
              </a:rPr>
              <a:t>Classic RPA</a:t>
            </a:r>
          </a:p>
        </p:txBody>
      </p:sp>
      <p:sp>
        <p:nvSpPr>
          <p:cNvPr id="31" name="R6C2"/>
          <p:cNvSpPr txBox="1"/>
          <p:nvPr/>
        </p:nvSpPr>
        <p:spPr>
          <a:xfrm>
            <a:off x="3154680" y="4727448"/>
            <a:ext cx="2103120" cy="493776"/>
          </a:xfrm>
          <a:prstGeom prst="rect">
            <a:avLst/>
          </a:prstGeom>
          <a:noFill/>
        </p:spPr>
        <p:txBody>
          <a:bodyPr wrap="square" lIns="0" tIns="0" rIns="0" bIns="0" anchor="ctr">
            <a:noAutofit/>
          </a:bodyPr>
          <a:lstStyle/>
          <a:p>
            <a:pPr algn="l">
              <a:lnSpc>
                <a:spcPct val="100000"/>
              </a:lnSpc>
            </a:pPr>
            <a:r>
              <a:rPr sz="1400" b="0">
                <a:solidFill>
                  <a:schemeClr val="tx1"/>
                </a:solidFill>
              </a:rPr>
              <a:t>ECLAIR case studies</a:t>
            </a:r>
          </a:p>
        </p:txBody>
      </p:sp>
      <p:sp>
        <p:nvSpPr>
          <p:cNvPr id="32" name="R6C3"/>
          <p:cNvSpPr txBox="1"/>
          <p:nvPr/>
        </p:nvSpPr>
        <p:spPr>
          <a:xfrm>
            <a:off x="5394960" y="4727448"/>
            <a:ext cx="6126480" cy="493776"/>
          </a:xfrm>
          <a:prstGeom prst="rect">
            <a:avLst/>
          </a:prstGeom>
          <a:noFill/>
        </p:spPr>
        <p:txBody>
          <a:bodyPr wrap="square" lIns="0" tIns="0" rIns="0" bIns="0" anchor="ctr">
            <a:noAutofit/>
          </a:bodyPr>
          <a:lstStyle/>
          <a:p>
            <a:pPr algn="l">
              <a:lnSpc>
                <a:spcPct val="100000"/>
              </a:lnSpc>
            </a:pPr>
            <a:r>
              <a:rPr sz="1400" b="0">
                <a:solidFill>
                  <a:schemeClr val="accent3"/>
                </a:solidFill>
              </a:rPr>
              <a:t>12–18 months to set up, 60% accuracy at the start, heavy ongoing maintenance</a:t>
            </a:r>
          </a:p>
        </p:txBody>
      </p:sp>
      <p:sp>
        <p:nvSpPr>
          <p:cNvPr id="33" name="Row 7 band"/>
          <p:cNvSpPr/>
          <p:nvPr/>
        </p:nvSpPr>
        <p:spPr>
          <a:xfrm>
            <a:off x="457200" y="5303520"/>
            <a:ext cx="11274552" cy="566928"/>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7C1"/>
          <p:cNvSpPr txBox="1"/>
          <p:nvPr/>
        </p:nvSpPr>
        <p:spPr>
          <a:xfrm>
            <a:off x="658368" y="5340096"/>
            <a:ext cx="2377440" cy="493776"/>
          </a:xfrm>
          <a:prstGeom prst="rect">
            <a:avLst/>
          </a:prstGeom>
          <a:noFill/>
        </p:spPr>
        <p:txBody>
          <a:bodyPr wrap="square" lIns="0" tIns="0" rIns="0" bIns="0" anchor="ctr">
            <a:noAutofit/>
          </a:bodyPr>
          <a:lstStyle/>
          <a:p>
            <a:pPr algn="l">
              <a:lnSpc>
                <a:spcPct val="100000"/>
              </a:lnSpc>
            </a:pPr>
            <a:r>
              <a:rPr sz="1500" b="1">
                <a:solidFill>
                  <a:schemeClr val="tx2"/>
                </a:solidFill>
              </a:rPr>
              <a:t>Long agent chains, generally</a:t>
            </a:r>
          </a:p>
        </p:txBody>
      </p:sp>
      <p:sp>
        <p:nvSpPr>
          <p:cNvPr id="35" name="R7C2"/>
          <p:cNvSpPr txBox="1"/>
          <p:nvPr/>
        </p:nvSpPr>
        <p:spPr>
          <a:xfrm>
            <a:off x="3154680" y="5340096"/>
            <a:ext cx="2103120" cy="493776"/>
          </a:xfrm>
          <a:prstGeom prst="rect">
            <a:avLst/>
          </a:prstGeom>
          <a:noFill/>
        </p:spPr>
        <p:txBody>
          <a:bodyPr wrap="square" lIns="0" tIns="0" rIns="0" bIns="0" anchor="ctr">
            <a:noAutofit/>
          </a:bodyPr>
          <a:lstStyle/>
          <a:p>
            <a:pPr algn="l">
              <a:lnSpc>
                <a:spcPct val="100000"/>
              </a:lnSpc>
            </a:pPr>
            <a:r>
              <a:rPr sz="1400" b="0">
                <a:solidFill>
                  <a:schemeClr val="tx1"/>
                </a:solidFill>
              </a:rPr>
              <a:t>—</a:t>
            </a:r>
          </a:p>
        </p:txBody>
      </p:sp>
      <p:sp>
        <p:nvSpPr>
          <p:cNvPr id="36" name="R7C3"/>
          <p:cNvSpPr txBox="1"/>
          <p:nvPr/>
        </p:nvSpPr>
        <p:spPr>
          <a:xfrm>
            <a:off x="5394960" y="5340096"/>
            <a:ext cx="6126480" cy="493776"/>
          </a:xfrm>
          <a:prstGeom prst="rect">
            <a:avLst/>
          </a:prstGeom>
          <a:noFill/>
        </p:spPr>
        <p:txBody>
          <a:bodyPr wrap="square" lIns="0" tIns="0" rIns="0" bIns="0" anchor="ctr">
            <a:noAutofit/>
          </a:bodyPr>
          <a:lstStyle/>
          <a:p>
            <a:pPr algn="l">
              <a:lnSpc>
                <a:spcPct val="100000"/>
              </a:lnSpc>
            </a:pPr>
            <a:r>
              <a:rPr sz="1400" b="0">
                <a:solidFill>
                  <a:schemeClr val="accent3"/>
                </a:solidFill>
              </a:rPr>
              <a:t>Success decays geometrically per step; completion under policy under two-thirds of headline success</a:t>
            </a:r>
          </a:p>
        </p:txBody>
      </p:sp>
      <p:sp>
        <p:nvSpPr>
          <p:cNvPr id="37" name="Conclusion band"/>
          <p:cNvSpPr/>
          <p:nvPr/>
        </p:nvSpPr>
        <p:spPr>
          <a:xfrm>
            <a:off x="457200" y="5943600"/>
            <a:ext cx="11274552" cy="530352"/>
          </a:xfrm>
          <a:prstGeom prst="roundRect">
            <a:avLst>
              <a:gd name="adj" fmla="val 1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Conclusion"/>
          <p:cNvSpPr txBox="1"/>
          <p:nvPr/>
        </p:nvSpPr>
        <p:spPr>
          <a:xfrm>
            <a:off x="658368" y="5980176"/>
            <a:ext cx="10872216" cy="457199"/>
          </a:xfrm>
          <a:prstGeom prst="rect">
            <a:avLst/>
          </a:prstGeom>
          <a:noFill/>
        </p:spPr>
        <p:txBody>
          <a:bodyPr wrap="square" lIns="0" tIns="0" rIns="0" bIns="0" anchor="ctr">
            <a:noAutofit/>
          </a:bodyPr>
          <a:lstStyle/>
          <a:p>
            <a:pPr algn="l">
              <a:lnSpc>
                <a:spcPct val="100000"/>
              </a:lnSpc>
            </a:pPr>
            <a:r>
              <a:rPr sz="1400" b="0">
                <a:solidFill>
                  <a:schemeClr val="tx1"/>
                </a:solidFill>
              </a:rPr>
              <a:t>What we conclude:  stop competing on clicking better — remove clicking from the critical path, and spend the effort where nobody above has: declaring what the numbers mean.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9811512" y="292608"/>
            <a:ext cx="1920240" cy="356616"/>
          </a:xfrm>
          <a:prstGeom prst="rect">
            <a:avLst/>
          </a:prstGeom>
        </p:spPr>
      </p:pic>
      <p:sp>
        <p:nvSpPr>
          <p:cNvPr id="3" name="Title"/>
          <p:cNvSpPr txBox="1"/>
          <p:nvPr/>
        </p:nvSpPr>
        <p:spPr>
          <a:xfrm>
            <a:off x="457200" y="256032"/>
            <a:ext cx="9079992" cy="603504"/>
          </a:xfrm>
          <a:prstGeom prst="rect">
            <a:avLst/>
          </a:prstGeom>
          <a:noFill/>
        </p:spPr>
        <p:txBody>
          <a:bodyPr wrap="square" lIns="0" tIns="0" rIns="0" bIns="0" anchor="ctr">
            <a:noAutofit/>
          </a:bodyPr>
          <a:lstStyle/>
          <a:p>
            <a:pPr algn="l">
              <a:lnSpc>
                <a:spcPct val="100000"/>
              </a:lnSpc>
            </a:pPr>
            <a:r>
              <a:rPr sz="3600" b="1">
                <a:solidFill>
                  <a:schemeClr val="tx2"/>
                </a:solidFill>
              </a:rPr>
              <a:t>How We Actually Fix It  (1 of 2)</a:t>
            </a:r>
          </a:p>
        </p:txBody>
      </p:sp>
      <p:sp>
        <p:nvSpPr>
          <p:cNvPr id="4" name="Lead-in"/>
          <p:cNvSpPr txBox="1"/>
          <p:nvPr/>
        </p:nvSpPr>
        <p:spPr>
          <a:xfrm>
            <a:off x="457200" y="905256"/>
            <a:ext cx="11274552" cy="237744"/>
          </a:xfrm>
          <a:prstGeom prst="rect">
            <a:avLst/>
          </a:prstGeom>
          <a:noFill/>
        </p:spPr>
        <p:txBody>
          <a:bodyPr wrap="square" lIns="0" tIns="0" rIns="0" bIns="0" anchor="t">
            <a:noAutofit/>
          </a:bodyPr>
          <a:lstStyle/>
          <a:p>
            <a:pPr algn="l">
              <a:lnSpc>
                <a:spcPct val="100000"/>
              </a:lnSpc>
            </a:pPr>
            <a:r>
              <a:rPr sz="1400" b="0">
                <a:solidFill>
                  <a:schemeClr val="accent3"/>
                </a:solidFill>
              </a:rPr>
              <a:t>Left: the failure. Middle: the mechanism we build. Right: the published method it comes from.</a:t>
            </a:r>
          </a:p>
        </p:txBody>
      </p:sp>
      <p:sp>
        <p:nvSpPr>
          <p:cNvPr id="5" name="Header band"/>
          <p:cNvSpPr/>
          <p:nvPr/>
        </p:nvSpPr>
        <p:spPr>
          <a:xfrm>
            <a:off x="457200" y="1207008"/>
            <a:ext cx="11274552" cy="365760"/>
          </a:xfrm>
          <a:prstGeom prst="roundRect">
            <a:avLst>
              <a:gd name="adj" fmla="val 1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 THE PROBLEM"/>
          <p:cNvSpPr txBox="1"/>
          <p:nvPr/>
        </p:nvSpPr>
        <p:spPr>
          <a:xfrm>
            <a:off x="658368" y="1243584"/>
            <a:ext cx="2743200" cy="292608"/>
          </a:xfrm>
          <a:prstGeom prst="rect">
            <a:avLst/>
          </a:prstGeom>
          <a:noFill/>
        </p:spPr>
        <p:txBody>
          <a:bodyPr wrap="square" lIns="0" tIns="0" rIns="0" bIns="0" anchor="ctr">
            <a:noAutofit/>
          </a:bodyPr>
          <a:lstStyle/>
          <a:p>
            <a:pPr algn="l">
              <a:lnSpc>
                <a:spcPct val="100000"/>
              </a:lnSpc>
            </a:pPr>
            <a:r>
              <a:rPr sz="1500" b="1">
                <a:solidFill>
                  <a:schemeClr val="bg1"/>
                </a:solidFill>
              </a:rPr>
              <a:t>THE PROBLEM</a:t>
            </a:r>
          </a:p>
        </p:txBody>
      </p:sp>
      <p:sp>
        <p:nvSpPr>
          <p:cNvPr id="7" name="H WHAT WE ACTUAL"/>
          <p:cNvSpPr txBox="1"/>
          <p:nvPr/>
        </p:nvSpPr>
        <p:spPr>
          <a:xfrm>
            <a:off x="3611880" y="1243584"/>
            <a:ext cx="4617720" cy="292608"/>
          </a:xfrm>
          <a:prstGeom prst="rect">
            <a:avLst/>
          </a:prstGeom>
          <a:noFill/>
        </p:spPr>
        <p:txBody>
          <a:bodyPr wrap="square" lIns="0" tIns="0" rIns="0" bIns="0" anchor="ctr">
            <a:noAutofit/>
          </a:bodyPr>
          <a:lstStyle/>
          <a:p>
            <a:pPr algn="l">
              <a:lnSpc>
                <a:spcPct val="100000"/>
              </a:lnSpc>
            </a:pPr>
            <a:r>
              <a:rPr sz="1500" b="1">
                <a:solidFill>
                  <a:schemeClr val="bg1"/>
                </a:solidFill>
              </a:rPr>
              <a:t>WHAT WE ACTUALLY BUILD</a:t>
            </a:r>
          </a:p>
        </p:txBody>
      </p:sp>
      <p:sp>
        <p:nvSpPr>
          <p:cNvPr id="8" name="H METHOD TAKEN F"/>
          <p:cNvSpPr txBox="1"/>
          <p:nvPr/>
        </p:nvSpPr>
        <p:spPr>
          <a:xfrm>
            <a:off x="8458200" y="1243584"/>
            <a:ext cx="3090672" cy="292608"/>
          </a:xfrm>
          <a:prstGeom prst="rect">
            <a:avLst/>
          </a:prstGeom>
          <a:noFill/>
        </p:spPr>
        <p:txBody>
          <a:bodyPr wrap="square" lIns="0" tIns="0" rIns="0" bIns="0" anchor="ctr">
            <a:noAutofit/>
          </a:bodyPr>
          <a:lstStyle/>
          <a:p>
            <a:pPr algn="l">
              <a:lnSpc>
                <a:spcPct val="100000"/>
              </a:lnSpc>
            </a:pPr>
            <a:r>
              <a:rPr sz="1500" b="1">
                <a:solidFill>
                  <a:schemeClr val="bg1"/>
                </a:solidFill>
              </a:rPr>
              <a:t>METHOD TAKEN FROM</a:t>
            </a:r>
          </a:p>
        </p:txBody>
      </p:sp>
      <p:sp>
        <p:nvSpPr>
          <p:cNvPr id="9" name="Row 1 band"/>
          <p:cNvSpPr/>
          <p:nvPr/>
        </p:nvSpPr>
        <p:spPr>
          <a:xfrm>
            <a:off x="457200" y="1627632"/>
            <a:ext cx="11274552" cy="804672"/>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1C1"/>
          <p:cNvSpPr txBox="1"/>
          <p:nvPr/>
        </p:nvSpPr>
        <p:spPr>
          <a:xfrm>
            <a:off x="658368" y="1664208"/>
            <a:ext cx="2743200" cy="731520"/>
          </a:xfrm>
          <a:prstGeom prst="rect">
            <a:avLst/>
          </a:prstGeom>
          <a:noFill/>
        </p:spPr>
        <p:txBody>
          <a:bodyPr wrap="square" lIns="0" tIns="0" rIns="0" bIns="0" anchor="ctr">
            <a:noAutofit/>
          </a:bodyPr>
          <a:lstStyle/>
          <a:p>
            <a:pPr algn="l">
              <a:lnSpc>
                <a:spcPct val="100000"/>
              </a:lnSpc>
            </a:pPr>
            <a:r>
              <a:rPr sz="1500" b="1">
                <a:solidFill>
                  <a:schemeClr val="tx2"/>
                </a:solidFill>
              </a:rPr>
              <a:t>Finds the right-looking page and misreads it — orders vs order lines</a:t>
            </a:r>
          </a:p>
        </p:txBody>
      </p:sp>
      <p:sp>
        <p:nvSpPr>
          <p:cNvPr id="11" name="R1C2"/>
          <p:cNvSpPr txBox="1"/>
          <p:nvPr/>
        </p:nvSpPr>
        <p:spPr>
          <a:xfrm>
            <a:off x="3611880" y="1664208"/>
            <a:ext cx="4617720" cy="731520"/>
          </a:xfrm>
          <a:prstGeom prst="rect">
            <a:avLst/>
          </a:prstGeom>
          <a:noFill/>
        </p:spPr>
        <p:txBody>
          <a:bodyPr wrap="square" lIns="0" tIns="0" rIns="0" bIns="0" anchor="ctr">
            <a:noAutofit/>
          </a:bodyPr>
          <a:lstStyle/>
          <a:p>
            <a:pPr algn="l">
              <a:lnSpc>
                <a:spcPct val="100000"/>
              </a:lnSpc>
            </a:pPr>
            <a:r>
              <a:rPr sz="1400" b="0">
                <a:solidFill>
                  <a:schemeClr val="tx1"/>
                </a:solidFill>
              </a:rPr>
              <a:t>The contract declares every widget’s grain and unit. The router keeps only pages whose grain fits the request, then offers “none of these”</a:t>
            </a:r>
          </a:p>
        </p:txBody>
      </p:sp>
      <p:sp>
        <p:nvSpPr>
          <p:cNvPr id="12" name="R1C3"/>
          <p:cNvSpPr txBox="1"/>
          <p:nvPr/>
        </p:nvSpPr>
        <p:spPr>
          <a:xfrm>
            <a:off x="8458200" y="1664208"/>
            <a:ext cx="3090672" cy="731520"/>
          </a:xfrm>
          <a:prstGeom prst="rect">
            <a:avLst/>
          </a:prstGeom>
          <a:noFill/>
        </p:spPr>
        <p:txBody>
          <a:bodyPr wrap="square" lIns="0" tIns="0" rIns="0" bIns="0" anchor="ctr">
            <a:noAutofit/>
          </a:bodyPr>
          <a:lstStyle/>
          <a:p>
            <a:pPr algn="l">
              <a:lnSpc>
                <a:spcPct val="100000"/>
              </a:lnSpc>
            </a:pPr>
            <a:r>
              <a:rPr sz="1400" b="0">
                <a:solidFill>
                  <a:schemeClr val="accent3"/>
                </a:solidFill>
              </a:rPr>
              <a:t>Mind2Web’s own shortlist-then-choose (MindAct): recall@50 of 85–89%</a:t>
            </a:r>
          </a:p>
        </p:txBody>
      </p:sp>
      <p:sp>
        <p:nvSpPr>
          <p:cNvPr id="13" name="Row 2 band"/>
          <p:cNvSpPr/>
          <p:nvPr/>
        </p:nvSpPr>
        <p:spPr>
          <a:xfrm>
            <a:off x="457200" y="2487168"/>
            <a:ext cx="11274552" cy="804672"/>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2C1"/>
          <p:cNvSpPr txBox="1"/>
          <p:nvPr/>
        </p:nvSpPr>
        <p:spPr>
          <a:xfrm>
            <a:off x="658368" y="2523744"/>
            <a:ext cx="2743200" cy="731520"/>
          </a:xfrm>
          <a:prstGeom prst="rect">
            <a:avLst/>
          </a:prstGeom>
          <a:noFill/>
        </p:spPr>
        <p:txBody>
          <a:bodyPr wrap="square" lIns="0" tIns="0" rIns="0" bIns="0" anchor="ctr">
            <a:noAutofit/>
          </a:bodyPr>
          <a:lstStyle/>
          <a:p>
            <a:pPr algn="l">
              <a:lnSpc>
                <a:spcPct val="100000"/>
              </a:lnSpc>
            </a:pPr>
            <a:r>
              <a:rPr sz="1500" b="1">
                <a:solidFill>
                  <a:schemeClr val="tx2"/>
                </a:solidFill>
              </a:rPr>
              <a:t>Invents a filter, value or date that does not exist</a:t>
            </a:r>
          </a:p>
        </p:txBody>
      </p:sp>
      <p:sp>
        <p:nvSpPr>
          <p:cNvPr id="15" name="R2C2"/>
          <p:cNvSpPr txBox="1"/>
          <p:nvPr/>
        </p:nvSpPr>
        <p:spPr>
          <a:xfrm>
            <a:off x="3611880" y="2523744"/>
            <a:ext cx="4617720" cy="731520"/>
          </a:xfrm>
          <a:prstGeom prst="rect">
            <a:avLst/>
          </a:prstGeom>
          <a:noFill/>
        </p:spPr>
        <p:txBody>
          <a:bodyPr wrap="square" lIns="0" tIns="0" rIns="0" bIns="0" anchor="ctr">
            <a:noAutofit/>
          </a:bodyPr>
          <a:lstStyle/>
          <a:p>
            <a:pPr algn="l">
              <a:lnSpc>
                <a:spcPct val="100000"/>
              </a:lnSpc>
            </a:pPr>
            <a:r>
              <a:rPr sz="1400" b="0">
                <a:solidFill>
                  <a:schemeClr val="tx1"/>
                </a:solidFill>
              </a:rPr>
              <a:t>The contract lists every filter’s type, allowed values, dependencies and setting order. A validator refuses any call that breaks them, before it runs</a:t>
            </a:r>
          </a:p>
        </p:txBody>
      </p:sp>
      <p:sp>
        <p:nvSpPr>
          <p:cNvPr id="16" name="R2C3"/>
          <p:cNvSpPr txBox="1"/>
          <p:nvPr/>
        </p:nvSpPr>
        <p:spPr>
          <a:xfrm>
            <a:off x="8458200" y="2523744"/>
            <a:ext cx="3090672" cy="731520"/>
          </a:xfrm>
          <a:prstGeom prst="rect">
            <a:avLst/>
          </a:prstGeom>
          <a:noFill/>
        </p:spPr>
        <p:txBody>
          <a:bodyPr wrap="square" lIns="0" tIns="0" rIns="0" bIns="0" anchor="ctr">
            <a:noAutofit/>
          </a:bodyPr>
          <a:lstStyle/>
          <a:p>
            <a:pPr algn="l">
              <a:lnSpc>
                <a:spcPct val="100000"/>
              </a:lnSpc>
            </a:pPr>
            <a:r>
              <a:rPr sz="1400" b="0">
                <a:solidFill>
                  <a:schemeClr val="accent3"/>
                </a:solidFill>
              </a:rPr>
              <a:t>Typed “web verbs” (preconditions); CLAIRE — removing validation halved success</a:t>
            </a:r>
          </a:p>
        </p:txBody>
      </p:sp>
      <p:sp>
        <p:nvSpPr>
          <p:cNvPr id="17" name="Row 3 band"/>
          <p:cNvSpPr/>
          <p:nvPr/>
        </p:nvSpPr>
        <p:spPr>
          <a:xfrm>
            <a:off x="457200" y="3346703"/>
            <a:ext cx="11274552" cy="804672"/>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3C1"/>
          <p:cNvSpPr txBox="1"/>
          <p:nvPr/>
        </p:nvSpPr>
        <p:spPr>
          <a:xfrm>
            <a:off x="658368" y="3383279"/>
            <a:ext cx="2743200" cy="731520"/>
          </a:xfrm>
          <a:prstGeom prst="rect">
            <a:avLst/>
          </a:prstGeom>
          <a:noFill/>
        </p:spPr>
        <p:txBody>
          <a:bodyPr wrap="square" lIns="0" tIns="0" rIns="0" bIns="0" anchor="ctr">
            <a:noAutofit/>
          </a:bodyPr>
          <a:lstStyle/>
          <a:p>
            <a:pPr algn="l">
              <a:lnSpc>
                <a:spcPct val="100000"/>
              </a:lnSpc>
            </a:pPr>
            <a:r>
              <a:rPr sz="1500" b="1">
                <a:solidFill>
                  <a:schemeClr val="tx2"/>
                </a:solidFill>
              </a:rPr>
              <a:t>A filter silently fails to apply, and success is reported anyway</a:t>
            </a:r>
          </a:p>
        </p:txBody>
      </p:sp>
      <p:sp>
        <p:nvSpPr>
          <p:cNvPr id="19" name="R3C2"/>
          <p:cNvSpPr txBox="1"/>
          <p:nvPr/>
        </p:nvSpPr>
        <p:spPr>
          <a:xfrm>
            <a:off x="3611880" y="3383279"/>
            <a:ext cx="4617720" cy="731520"/>
          </a:xfrm>
          <a:prstGeom prst="rect">
            <a:avLst/>
          </a:prstGeom>
          <a:noFill/>
        </p:spPr>
        <p:txBody>
          <a:bodyPr wrap="square" lIns="0" tIns="0" rIns="0" bIns="0" anchor="ctr">
            <a:noAutofit/>
          </a:bodyPr>
          <a:lstStyle/>
          <a:p>
            <a:pPr algn="l">
              <a:lnSpc>
                <a:spcPct val="100000"/>
              </a:lnSpc>
            </a:pPr>
            <a:r>
              <a:rPr sz="1400" b="0">
                <a:solidFill>
                  <a:schemeClr val="tx1"/>
                </a:solidFill>
              </a:rPr>
              <a:t>configure_view changes one URL, then reads back the state the app actually applied and compares it with what was asked. Retry once, then restore</a:t>
            </a:r>
          </a:p>
        </p:txBody>
      </p:sp>
      <p:sp>
        <p:nvSpPr>
          <p:cNvPr id="20" name="R3C3"/>
          <p:cNvSpPr txBox="1"/>
          <p:nvPr/>
        </p:nvSpPr>
        <p:spPr>
          <a:xfrm>
            <a:off x="8458200" y="3383279"/>
            <a:ext cx="3090672" cy="731520"/>
          </a:xfrm>
          <a:prstGeom prst="rect">
            <a:avLst/>
          </a:prstGeom>
          <a:noFill/>
        </p:spPr>
        <p:txBody>
          <a:bodyPr wrap="square" lIns="0" tIns="0" rIns="0" bIns="0" anchor="ctr">
            <a:noAutofit/>
          </a:bodyPr>
          <a:lstStyle/>
          <a:p>
            <a:pPr algn="l">
              <a:lnSpc>
                <a:spcPct val="100000"/>
              </a:lnSpc>
            </a:pPr>
            <a:r>
              <a:rPr sz="1400" b="0">
                <a:solidFill>
                  <a:schemeClr val="accent3"/>
                </a:solidFill>
              </a:rPr>
              <a:t>Hybrid World-Model Planning: gate the agent’s claimed state against a real check</a:t>
            </a:r>
          </a:p>
        </p:txBody>
      </p:sp>
      <p:sp>
        <p:nvSpPr>
          <p:cNvPr id="21" name="Row 4 band"/>
          <p:cNvSpPr/>
          <p:nvPr/>
        </p:nvSpPr>
        <p:spPr>
          <a:xfrm>
            <a:off x="457200" y="4206240"/>
            <a:ext cx="11274552" cy="804672"/>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4C1"/>
          <p:cNvSpPr txBox="1"/>
          <p:nvPr/>
        </p:nvSpPr>
        <p:spPr>
          <a:xfrm>
            <a:off x="658368" y="4242816"/>
            <a:ext cx="2743200" cy="731520"/>
          </a:xfrm>
          <a:prstGeom prst="rect">
            <a:avLst/>
          </a:prstGeom>
          <a:noFill/>
        </p:spPr>
        <p:txBody>
          <a:bodyPr wrap="square" lIns="0" tIns="0" rIns="0" bIns="0" anchor="ctr">
            <a:noAutofit/>
          </a:bodyPr>
          <a:lstStyle/>
          <a:p>
            <a:pPr algn="l">
              <a:lnSpc>
                <a:spcPct val="100000"/>
              </a:lnSpc>
            </a:pPr>
            <a:r>
              <a:rPr sz="1500" b="1">
                <a:solidFill>
                  <a:schemeClr val="tx2"/>
                </a:solidFill>
              </a:rPr>
              <a:t>Agent-written SQL joins wrongly; numbers contradict the chart</a:t>
            </a:r>
          </a:p>
        </p:txBody>
      </p:sp>
      <p:sp>
        <p:nvSpPr>
          <p:cNvPr id="23" name="R4C2"/>
          <p:cNvSpPr txBox="1"/>
          <p:nvPr/>
        </p:nvSpPr>
        <p:spPr>
          <a:xfrm>
            <a:off x="3611880" y="4242816"/>
            <a:ext cx="4617720" cy="731520"/>
          </a:xfrm>
          <a:prstGeom prst="rect">
            <a:avLst/>
          </a:prstGeom>
          <a:noFill/>
        </p:spPr>
        <p:txBody>
          <a:bodyPr wrap="square" lIns="0" tIns="0" rIns="0" bIns="0" anchor="ctr">
            <a:noAutofit/>
          </a:bodyPr>
          <a:lstStyle/>
          <a:p>
            <a:pPr algn="l">
              <a:lnSpc>
                <a:spcPct val="100000"/>
              </a:lnSpc>
            </a:pPr>
            <a:r>
              <a:rPr sz="1400" b="0">
                <a:solidFill>
                  <a:schemeClr val="tx1"/>
                </a:solidFill>
              </a:rPr>
              <a:t>The agent never writes SQL. It names a widget or measure and passes filters; the contract holds one parameterised query — the screen’s own</a:t>
            </a:r>
          </a:p>
        </p:txBody>
      </p:sp>
      <p:sp>
        <p:nvSpPr>
          <p:cNvPr id="24" name="R4C3"/>
          <p:cNvSpPr txBox="1"/>
          <p:nvPr/>
        </p:nvSpPr>
        <p:spPr>
          <a:xfrm>
            <a:off x="8458200" y="4242816"/>
            <a:ext cx="3090672" cy="731520"/>
          </a:xfrm>
          <a:prstGeom prst="rect">
            <a:avLst/>
          </a:prstGeom>
          <a:noFill/>
        </p:spPr>
        <p:txBody>
          <a:bodyPr wrap="square" lIns="0" tIns="0" rIns="0" bIns="0" anchor="ctr">
            <a:noAutofit/>
          </a:bodyPr>
          <a:lstStyle/>
          <a:p>
            <a:pPr algn="l">
              <a:lnSpc>
                <a:spcPct val="100000"/>
              </a:lnSpc>
            </a:pPr>
            <a:r>
              <a:rPr sz="1400" b="0">
                <a:solidFill>
                  <a:schemeClr val="accent3"/>
                </a:solidFill>
              </a:rPr>
              <a:t>VACP; headless-BI practice: one definition serves screen and API</a:t>
            </a:r>
          </a:p>
        </p:txBody>
      </p:sp>
      <p:sp>
        <p:nvSpPr>
          <p:cNvPr id="25" name="Row 5 band"/>
          <p:cNvSpPr/>
          <p:nvPr/>
        </p:nvSpPr>
        <p:spPr>
          <a:xfrm>
            <a:off x="457200" y="5065775"/>
            <a:ext cx="11274552" cy="804672"/>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5C1"/>
          <p:cNvSpPr txBox="1"/>
          <p:nvPr/>
        </p:nvSpPr>
        <p:spPr>
          <a:xfrm>
            <a:off x="658368" y="5102351"/>
            <a:ext cx="2743200" cy="731520"/>
          </a:xfrm>
          <a:prstGeom prst="rect">
            <a:avLst/>
          </a:prstGeom>
          <a:noFill/>
        </p:spPr>
        <p:txBody>
          <a:bodyPr wrap="square" lIns="0" tIns="0" rIns="0" bIns="0" anchor="ctr">
            <a:noAutofit/>
          </a:bodyPr>
          <a:lstStyle/>
          <a:p>
            <a:pPr algn="l">
              <a:lnSpc>
                <a:spcPct val="100000"/>
              </a:lnSpc>
            </a:pPr>
            <a:r>
              <a:rPr sz="1500" b="1">
                <a:solidFill>
                  <a:schemeClr val="tx2"/>
                </a:solidFill>
              </a:rPr>
              <a:t>Unsupported “likely causes”, and figures nobody can trace</a:t>
            </a:r>
          </a:p>
        </p:txBody>
      </p:sp>
      <p:sp>
        <p:nvSpPr>
          <p:cNvPr id="27" name="R5C2"/>
          <p:cNvSpPr txBox="1"/>
          <p:nvPr/>
        </p:nvSpPr>
        <p:spPr>
          <a:xfrm>
            <a:off x="3611880" y="5102351"/>
            <a:ext cx="4617720" cy="731520"/>
          </a:xfrm>
          <a:prstGeom prst="rect">
            <a:avLst/>
          </a:prstGeom>
          <a:noFill/>
        </p:spPr>
        <p:txBody>
          <a:bodyPr wrap="square" lIns="0" tIns="0" rIns="0" bIns="0" anchor="ctr">
            <a:noAutofit/>
          </a:bodyPr>
          <a:lstStyle/>
          <a:p>
            <a:pPr algn="l">
              <a:lnSpc>
                <a:spcPct val="100000"/>
              </a:lnSpc>
            </a:pPr>
            <a:r>
              <a:rPr sz="1400" b="0">
                <a:solidFill>
                  <a:schemeClr val="tx1"/>
                </a:solidFill>
              </a:rPr>
              <a:t>Every result carries an evidence ID; a figure matching no ID blocks the answer. Statements are labelled observed, calculated or inferred</a:t>
            </a:r>
          </a:p>
        </p:txBody>
      </p:sp>
      <p:sp>
        <p:nvSpPr>
          <p:cNvPr id="28" name="R5C3"/>
          <p:cNvSpPr txBox="1"/>
          <p:nvPr/>
        </p:nvSpPr>
        <p:spPr>
          <a:xfrm>
            <a:off x="8458200" y="5102351"/>
            <a:ext cx="3090672" cy="731520"/>
          </a:xfrm>
          <a:prstGeom prst="rect">
            <a:avLst/>
          </a:prstGeom>
          <a:noFill/>
        </p:spPr>
        <p:txBody>
          <a:bodyPr wrap="square" lIns="0" tIns="0" rIns="0" bIns="0" anchor="ctr">
            <a:noAutofit/>
          </a:bodyPr>
          <a:lstStyle/>
          <a:p>
            <a:pPr algn="l">
              <a:lnSpc>
                <a:spcPct val="100000"/>
              </a:lnSpc>
            </a:pPr>
            <a:r>
              <a:rPr sz="1400" b="0">
                <a:solidFill>
                  <a:schemeClr val="accent3"/>
                </a:solidFill>
              </a:rPr>
              <a:t>AD-Bench (scores answer and trajectory); DAComp (rubric-graded analysis)</a:t>
            </a:r>
          </a:p>
        </p:txBody>
      </p:sp>
      <p:sp>
        <p:nvSpPr>
          <p:cNvPr id="29" name="Why these five band"/>
          <p:cNvSpPr/>
          <p:nvPr/>
        </p:nvSpPr>
        <p:spPr>
          <a:xfrm>
            <a:off x="457200" y="5943600"/>
            <a:ext cx="11274552" cy="530352"/>
          </a:xfrm>
          <a:prstGeom prst="roundRect">
            <a:avLst>
              <a:gd name="adj" fmla="val 1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Why these five"/>
          <p:cNvSpPr txBox="1"/>
          <p:nvPr/>
        </p:nvSpPr>
        <p:spPr>
          <a:xfrm>
            <a:off x="658368" y="5980176"/>
            <a:ext cx="10872216" cy="457199"/>
          </a:xfrm>
          <a:prstGeom prst="rect">
            <a:avLst/>
          </a:prstGeom>
          <a:noFill/>
        </p:spPr>
        <p:txBody>
          <a:bodyPr wrap="square" lIns="0" tIns="0" rIns="0" bIns="0" anchor="ctr">
            <a:noAutofit/>
          </a:bodyPr>
          <a:lstStyle/>
          <a:p>
            <a:pPr algn="l">
              <a:lnSpc>
                <a:spcPct val="100000"/>
              </a:lnSpc>
            </a:pPr>
            <a:r>
              <a:rPr sz="1400" b="0">
                <a:solidFill>
                  <a:schemeClr val="tx1"/>
                </a:solidFill>
              </a:rPr>
              <a:t>These five carry the KPIs the brief weights most: intent-to-destination, UI-state correctness, analytical faithfulness and near-zero action hallucination.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9811512" y="292608"/>
            <a:ext cx="1920240" cy="356616"/>
          </a:xfrm>
          <a:prstGeom prst="rect">
            <a:avLst/>
          </a:prstGeom>
        </p:spPr>
      </p:pic>
      <p:sp>
        <p:nvSpPr>
          <p:cNvPr id="3" name="Title"/>
          <p:cNvSpPr txBox="1"/>
          <p:nvPr/>
        </p:nvSpPr>
        <p:spPr>
          <a:xfrm>
            <a:off x="457200" y="256032"/>
            <a:ext cx="9079992" cy="603504"/>
          </a:xfrm>
          <a:prstGeom prst="rect">
            <a:avLst/>
          </a:prstGeom>
          <a:noFill/>
        </p:spPr>
        <p:txBody>
          <a:bodyPr wrap="square" lIns="0" tIns="0" rIns="0" bIns="0" anchor="ctr">
            <a:noAutofit/>
          </a:bodyPr>
          <a:lstStyle/>
          <a:p>
            <a:pPr algn="l">
              <a:lnSpc>
                <a:spcPct val="100000"/>
              </a:lnSpc>
            </a:pPr>
            <a:r>
              <a:rPr sz="3600" b="1">
                <a:solidFill>
                  <a:schemeClr val="tx2"/>
                </a:solidFill>
              </a:rPr>
              <a:t>How We Actually Fix It  (2 of 2)</a:t>
            </a:r>
          </a:p>
        </p:txBody>
      </p:sp>
      <p:sp>
        <p:nvSpPr>
          <p:cNvPr id="4" name="Lead-in"/>
          <p:cNvSpPr txBox="1"/>
          <p:nvPr/>
        </p:nvSpPr>
        <p:spPr>
          <a:xfrm>
            <a:off x="457200" y="905256"/>
            <a:ext cx="11274552" cy="237744"/>
          </a:xfrm>
          <a:prstGeom prst="rect">
            <a:avLst/>
          </a:prstGeom>
          <a:noFill/>
        </p:spPr>
        <p:txBody>
          <a:bodyPr wrap="square" lIns="0" tIns="0" rIns="0" bIns="0" anchor="t">
            <a:noAutofit/>
          </a:bodyPr>
          <a:lstStyle/>
          <a:p>
            <a:pPr algn="l">
              <a:lnSpc>
                <a:spcPct val="100000"/>
              </a:lnSpc>
            </a:pPr>
            <a:r>
              <a:rPr sz="1400" b="0">
                <a:solidFill>
                  <a:schemeClr val="accent3"/>
                </a:solidFill>
              </a:rPr>
              <a:t>The remaining five failures, each answered by one concrete mechanism with a published precedent.</a:t>
            </a:r>
          </a:p>
        </p:txBody>
      </p:sp>
      <p:sp>
        <p:nvSpPr>
          <p:cNvPr id="5" name="Header band"/>
          <p:cNvSpPr/>
          <p:nvPr/>
        </p:nvSpPr>
        <p:spPr>
          <a:xfrm>
            <a:off x="457200" y="1207008"/>
            <a:ext cx="11274552" cy="365760"/>
          </a:xfrm>
          <a:prstGeom prst="roundRect">
            <a:avLst>
              <a:gd name="adj" fmla="val 1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 THE PROBLEM"/>
          <p:cNvSpPr txBox="1"/>
          <p:nvPr/>
        </p:nvSpPr>
        <p:spPr>
          <a:xfrm>
            <a:off x="658368" y="1243584"/>
            <a:ext cx="2743200" cy="292608"/>
          </a:xfrm>
          <a:prstGeom prst="rect">
            <a:avLst/>
          </a:prstGeom>
          <a:noFill/>
        </p:spPr>
        <p:txBody>
          <a:bodyPr wrap="square" lIns="0" tIns="0" rIns="0" bIns="0" anchor="ctr">
            <a:noAutofit/>
          </a:bodyPr>
          <a:lstStyle/>
          <a:p>
            <a:pPr algn="l">
              <a:lnSpc>
                <a:spcPct val="100000"/>
              </a:lnSpc>
            </a:pPr>
            <a:r>
              <a:rPr sz="1500" b="1">
                <a:solidFill>
                  <a:schemeClr val="bg1"/>
                </a:solidFill>
              </a:rPr>
              <a:t>THE PROBLEM</a:t>
            </a:r>
          </a:p>
        </p:txBody>
      </p:sp>
      <p:sp>
        <p:nvSpPr>
          <p:cNvPr id="7" name="H WHAT WE ACTUAL"/>
          <p:cNvSpPr txBox="1"/>
          <p:nvPr/>
        </p:nvSpPr>
        <p:spPr>
          <a:xfrm>
            <a:off x="3611880" y="1243584"/>
            <a:ext cx="4617720" cy="292608"/>
          </a:xfrm>
          <a:prstGeom prst="rect">
            <a:avLst/>
          </a:prstGeom>
          <a:noFill/>
        </p:spPr>
        <p:txBody>
          <a:bodyPr wrap="square" lIns="0" tIns="0" rIns="0" bIns="0" anchor="ctr">
            <a:noAutofit/>
          </a:bodyPr>
          <a:lstStyle/>
          <a:p>
            <a:pPr algn="l">
              <a:lnSpc>
                <a:spcPct val="100000"/>
              </a:lnSpc>
            </a:pPr>
            <a:r>
              <a:rPr sz="1500" b="1">
                <a:solidFill>
                  <a:schemeClr val="bg1"/>
                </a:solidFill>
              </a:rPr>
              <a:t>WHAT WE ACTUALLY BUILD</a:t>
            </a:r>
          </a:p>
        </p:txBody>
      </p:sp>
      <p:sp>
        <p:nvSpPr>
          <p:cNvPr id="8" name="H METHOD TAKEN F"/>
          <p:cNvSpPr txBox="1"/>
          <p:nvPr/>
        </p:nvSpPr>
        <p:spPr>
          <a:xfrm>
            <a:off x="8458200" y="1243584"/>
            <a:ext cx="3090672" cy="292608"/>
          </a:xfrm>
          <a:prstGeom prst="rect">
            <a:avLst/>
          </a:prstGeom>
          <a:noFill/>
        </p:spPr>
        <p:txBody>
          <a:bodyPr wrap="square" lIns="0" tIns="0" rIns="0" bIns="0" anchor="ctr">
            <a:noAutofit/>
          </a:bodyPr>
          <a:lstStyle/>
          <a:p>
            <a:pPr algn="l">
              <a:lnSpc>
                <a:spcPct val="100000"/>
              </a:lnSpc>
            </a:pPr>
            <a:r>
              <a:rPr sz="1500" b="1">
                <a:solidFill>
                  <a:schemeClr val="bg1"/>
                </a:solidFill>
              </a:rPr>
              <a:t>METHOD TAKEN FROM</a:t>
            </a:r>
          </a:p>
        </p:txBody>
      </p:sp>
      <p:sp>
        <p:nvSpPr>
          <p:cNvPr id="9" name="Row 1 band"/>
          <p:cNvSpPr/>
          <p:nvPr/>
        </p:nvSpPr>
        <p:spPr>
          <a:xfrm>
            <a:off x="457200" y="1627632"/>
            <a:ext cx="11274552" cy="804672"/>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1C1"/>
          <p:cNvSpPr txBox="1"/>
          <p:nvPr/>
        </p:nvSpPr>
        <p:spPr>
          <a:xfrm>
            <a:off x="658368" y="1664208"/>
            <a:ext cx="2743200" cy="731520"/>
          </a:xfrm>
          <a:prstGeom prst="rect">
            <a:avLst/>
          </a:prstGeom>
          <a:noFill/>
        </p:spPr>
        <p:txBody>
          <a:bodyPr wrap="square" lIns="0" tIns="0" rIns="0" bIns="0" anchor="ctr">
            <a:noAutofit/>
          </a:bodyPr>
          <a:lstStyle/>
          <a:p>
            <a:pPr algn="l">
              <a:lnSpc>
                <a:spcPct val="100000"/>
              </a:lnSpc>
            </a:pPr>
            <a:r>
              <a:rPr sz="1500" b="1">
                <a:solidFill>
                  <a:schemeClr val="tx2"/>
                </a:solidFill>
              </a:rPr>
              <a:t>Click chains are slow and break on layout changes</a:t>
            </a:r>
          </a:p>
        </p:txBody>
      </p:sp>
      <p:sp>
        <p:nvSpPr>
          <p:cNvPr id="11" name="R1C2"/>
          <p:cNvSpPr txBox="1"/>
          <p:nvPr/>
        </p:nvSpPr>
        <p:spPr>
          <a:xfrm>
            <a:off x="3611880" y="1664208"/>
            <a:ext cx="4617720" cy="731520"/>
          </a:xfrm>
          <a:prstGeom prst="rect">
            <a:avLst/>
          </a:prstGeom>
          <a:noFill/>
        </p:spPr>
        <p:txBody>
          <a:bodyPr wrap="square" lIns="0" tIns="0" rIns="0" bIns="0" anchor="ctr">
            <a:noAutofit/>
          </a:bodyPr>
          <a:lstStyle/>
          <a:p>
            <a:pPr algn="l">
              <a:lnSpc>
                <a:spcPct val="100000"/>
              </a:lnSpc>
            </a:pPr>
            <a:r>
              <a:rPr sz="1400" b="0">
                <a:solidFill>
                  <a:schemeClr val="tx1"/>
                </a:solidFill>
              </a:rPr>
              <a:t>The whole view — page, filters, dates, sort, selection — lives in the URL, so changing it is one typed call. Playwright only drift-checks the app</a:t>
            </a:r>
          </a:p>
        </p:txBody>
      </p:sp>
      <p:sp>
        <p:nvSpPr>
          <p:cNvPr id="12" name="R1C3"/>
          <p:cNvSpPr txBox="1"/>
          <p:nvPr/>
        </p:nvSpPr>
        <p:spPr>
          <a:xfrm>
            <a:off x="8458200" y="1664208"/>
            <a:ext cx="3090672" cy="731520"/>
          </a:xfrm>
          <a:prstGeom prst="rect">
            <a:avLst/>
          </a:prstGeom>
          <a:noFill/>
        </p:spPr>
        <p:txBody>
          <a:bodyPr wrap="square" lIns="0" tIns="0" rIns="0" bIns="0" anchor="ctr">
            <a:noAutofit/>
          </a:bodyPr>
          <a:lstStyle/>
          <a:p>
            <a:pPr algn="l">
              <a:lnSpc>
                <a:spcPct val="100000"/>
              </a:lnSpc>
            </a:pPr>
            <a:r>
              <a:rPr sz="1400" b="0">
                <a:solidFill>
                  <a:schemeClr val="accent3"/>
                </a:solidFill>
              </a:rPr>
              <a:t>Beyond Browsing: +24 points over browsing. Unbrowse: 950 ms vs 3,404 ms</a:t>
            </a:r>
          </a:p>
        </p:txBody>
      </p:sp>
      <p:sp>
        <p:nvSpPr>
          <p:cNvPr id="13" name="Row 2 band"/>
          <p:cNvSpPr/>
          <p:nvPr/>
        </p:nvSpPr>
        <p:spPr>
          <a:xfrm>
            <a:off x="457200" y="2487168"/>
            <a:ext cx="11274552" cy="804672"/>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2C1"/>
          <p:cNvSpPr txBox="1"/>
          <p:nvPr/>
        </p:nvSpPr>
        <p:spPr>
          <a:xfrm>
            <a:off x="658368" y="2523744"/>
            <a:ext cx="2743200" cy="731520"/>
          </a:xfrm>
          <a:prstGeom prst="rect">
            <a:avLst/>
          </a:prstGeom>
          <a:noFill/>
        </p:spPr>
        <p:txBody>
          <a:bodyPr wrap="square" lIns="0" tIns="0" rIns="0" bIns="0" anchor="ctr">
            <a:noAutofit/>
          </a:bodyPr>
          <a:lstStyle/>
          <a:p>
            <a:pPr algn="l">
              <a:lnSpc>
                <a:spcPct val="100000"/>
              </a:lnSpc>
            </a:pPr>
            <a:r>
              <a:rPr sz="1500" b="1">
                <a:solidFill>
                  <a:schemeClr val="tx2"/>
                </a:solidFill>
              </a:rPr>
              <a:t>The exported metadata is simply wrong</a:t>
            </a:r>
          </a:p>
        </p:txBody>
      </p:sp>
      <p:sp>
        <p:nvSpPr>
          <p:cNvPr id="15" name="R2C2"/>
          <p:cNvSpPr txBox="1"/>
          <p:nvPr/>
        </p:nvSpPr>
        <p:spPr>
          <a:xfrm>
            <a:off x="3611880" y="2523744"/>
            <a:ext cx="4617720" cy="731520"/>
          </a:xfrm>
          <a:prstGeom prst="rect">
            <a:avLst/>
          </a:prstGeom>
          <a:noFill/>
        </p:spPr>
        <p:txBody>
          <a:bodyPr wrap="square" lIns="0" tIns="0" rIns="0" bIns="0" anchor="ctr">
            <a:noAutofit/>
          </a:bodyPr>
          <a:lstStyle/>
          <a:p>
            <a:pPr algn="l">
              <a:lnSpc>
                <a:spcPct val="100000"/>
              </a:lnSpc>
            </a:pPr>
            <a:r>
              <a:rPr sz="1400" b="0">
                <a:solidFill>
                  <a:schemeClr val="tx1"/>
                </a:solidFill>
              </a:rPr>
              <a:t>Each description carries a provenance tag, and the riskiest become SQL assertions run on every build. A failing one is marked unverified</a:t>
            </a:r>
          </a:p>
        </p:txBody>
      </p:sp>
      <p:sp>
        <p:nvSpPr>
          <p:cNvPr id="16" name="R2C3"/>
          <p:cNvSpPr txBox="1"/>
          <p:nvPr/>
        </p:nvSpPr>
        <p:spPr>
          <a:xfrm>
            <a:off x="8458200" y="2523744"/>
            <a:ext cx="3090672" cy="731520"/>
          </a:xfrm>
          <a:prstGeom prst="rect">
            <a:avLst/>
          </a:prstGeom>
          <a:noFill/>
        </p:spPr>
        <p:txBody>
          <a:bodyPr wrap="square" lIns="0" tIns="0" rIns="0" bIns="0" anchor="ctr">
            <a:noAutofit/>
          </a:bodyPr>
          <a:lstStyle/>
          <a:p>
            <a:pPr algn="l">
              <a:lnSpc>
                <a:spcPct val="100000"/>
              </a:lnSpc>
            </a:pPr>
            <a:r>
              <a:rPr sz="1400" b="0">
                <a:solidFill>
                  <a:schemeClr val="accent3"/>
                </a:solidFill>
              </a:rPr>
              <a:t>CLAIRE (deterministic validation stage)</a:t>
            </a:r>
          </a:p>
        </p:txBody>
      </p:sp>
      <p:sp>
        <p:nvSpPr>
          <p:cNvPr id="17" name="Row 3 band"/>
          <p:cNvSpPr/>
          <p:nvPr/>
        </p:nvSpPr>
        <p:spPr>
          <a:xfrm>
            <a:off x="457200" y="3346703"/>
            <a:ext cx="11274552" cy="804672"/>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3C1"/>
          <p:cNvSpPr txBox="1"/>
          <p:nvPr/>
        </p:nvSpPr>
        <p:spPr>
          <a:xfrm>
            <a:off x="658368" y="3383279"/>
            <a:ext cx="2743200" cy="731520"/>
          </a:xfrm>
          <a:prstGeom prst="rect">
            <a:avLst/>
          </a:prstGeom>
          <a:noFill/>
        </p:spPr>
        <p:txBody>
          <a:bodyPr wrap="square" lIns="0" tIns="0" rIns="0" bIns="0" anchor="ctr">
            <a:noAutofit/>
          </a:bodyPr>
          <a:lstStyle/>
          <a:p>
            <a:pPr algn="l">
              <a:lnSpc>
                <a:spcPct val="100000"/>
              </a:lnSpc>
            </a:pPr>
            <a:r>
              <a:rPr sz="1500" b="1">
                <a:solidFill>
                  <a:schemeClr val="tx2"/>
                </a:solidFill>
              </a:rPr>
              <a:t>“This item” and “same period” lose their meaning next turn</a:t>
            </a:r>
          </a:p>
        </p:txBody>
      </p:sp>
      <p:sp>
        <p:nvSpPr>
          <p:cNvPr id="19" name="R3C2"/>
          <p:cNvSpPr txBox="1"/>
          <p:nvPr/>
        </p:nvSpPr>
        <p:spPr>
          <a:xfrm>
            <a:off x="3611880" y="3383279"/>
            <a:ext cx="4617720" cy="731520"/>
          </a:xfrm>
          <a:prstGeom prst="rect">
            <a:avLst/>
          </a:prstGeom>
          <a:noFill/>
        </p:spPr>
        <p:txBody>
          <a:bodyPr wrap="square" lIns="0" tIns="0" rIns="0" bIns="0" anchor="ctr">
            <a:noAutofit/>
          </a:bodyPr>
          <a:lstStyle/>
          <a:p>
            <a:pPr algn="l">
              <a:lnSpc>
                <a:spcPct val="100000"/>
              </a:lnSpc>
            </a:pPr>
            <a:r>
              <a:rPr sz="1400" b="0">
                <a:solidFill>
                  <a:schemeClr val="tx1"/>
                </a:solidFill>
              </a:rPr>
              <a:t>Current page, filters and selection travel with every message; investigation state carries them across turns; an ambiguous name returns options</a:t>
            </a:r>
          </a:p>
        </p:txBody>
      </p:sp>
      <p:sp>
        <p:nvSpPr>
          <p:cNvPr id="20" name="R3C3"/>
          <p:cNvSpPr txBox="1"/>
          <p:nvPr/>
        </p:nvSpPr>
        <p:spPr>
          <a:xfrm>
            <a:off x="8458200" y="3383279"/>
            <a:ext cx="3090672" cy="731520"/>
          </a:xfrm>
          <a:prstGeom prst="rect">
            <a:avLst/>
          </a:prstGeom>
          <a:noFill/>
        </p:spPr>
        <p:txBody>
          <a:bodyPr wrap="square" lIns="0" tIns="0" rIns="0" bIns="0" anchor="ctr">
            <a:noAutofit/>
          </a:bodyPr>
          <a:lstStyle/>
          <a:p>
            <a:pPr algn="l">
              <a:lnSpc>
                <a:spcPct val="100000"/>
              </a:lnSpc>
            </a:pPr>
            <a:r>
              <a:rPr sz="1400" b="0">
                <a:solidFill>
                  <a:schemeClr val="accent3"/>
                </a:solidFill>
              </a:rPr>
              <a:t>MT-Mind2Web / Self-MAP (multi-turn memory)</a:t>
            </a:r>
          </a:p>
        </p:txBody>
      </p:sp>
      <p:sp>
        <p:nvSpPr>
          <p:cNvPr id="21" name="Row 4 band"/>
          <p:cNvSpPr/>
          <p:nvPr/>
        </p:nvSpPr>
        <p:spPr>
          <a:xfrm>
            <a:off x="457200" y="4206240"/>
            <a:ext cx="11274552" cy="804672"/>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4C1"/>
          <p:cNvSpPr txBox="1"/>
          <p:nvPr/>
        </p:nvSpPr>
        <p:spPr>
          <a:xfrm>
            <a:off x="658368" y="4242816"/>
            <a:ext cx="2743200" cy="731520"/>
          </a:xfrm>
          <a:prstGeom prst="rect">
            <a:avLst/>
          </a:prstGeom>
          <a:noFill/>
        </p:spPr>
        <p:txBody>
          <a:bodyPr wrap="square" lIns="0" tIns="0" rIns="0" bIns="0" anchor="ctr">
            <a:noAutofit/>
          </a:bodyPr>
          <a:lstStyle/>
          <a:p>
            <a:pPr algn="l">
              <a:lnSpc>
                <a:spcPct val="100000"/>
              </a:lnSpc>
            </a:pPr>
            <a:r>
              <a:rPr sz="1500" b="1">
                <a:solidFill>
                  <a:schemeClr val="tx2"/>
                </a:solidFill>
              </a:rPr>
              <a:t>An unsafe write slips through a generic “are you sure?”</a:t>
            </a:r>
          </a:p>
        </p:txBody>
      </p:sp>
      <p:sp>
        <p:nvSpPr>
          <p:cNvPr id="23" name="R4C2"/>
          <p:cNvSpPr txBox="1"/>
          <p:nvPr/>
        </p:nvSpPr>
        <p:spPr>
          <a:xfrm>
            <a:off x="3611880" y="4242816"/>
            <a:ext cx="4617720" cy="731520"/>
          </a:xfrm>
          <a:prstGeom prst="rect">
            <a:avLst/>
          </a:prstGeom>
          <a:noFill/>
        </p:spPr>
        <p:txBody>
          <a:bodyPr wrap="square" lIns="0" tIns="0" rIns="0" bIns="0" anchor="ctr">
            <a:noAutofit/>
          </a:bodyPr>
          <a:lstStyle/>
          <a:p>
            <a:pPr algn="l">
              <a:lnSpc>
                <a:spcPct val="100000"/>
              </a:lnSpc>
            </a:pPr>
            <a:r>
              <a:rPr sz="1400" b="0">
                <a:solidFill>
                  <a:schemeClr val="tx1"/>
                </a:solidFill>
              </a:rPr>
              <a:t>Two tiers: reads just run. The one write shows a card built from the exact pending action, not from model text, re-verified at saving</a:t>
            </a:r>
          </a:p>
        </p:txBody>
      </p:sp>
      <p:sp>
        <p:nvSpPr>
          <p:cNvPr id="24" name="R4C3"/>
          <p:cNvSpPr txBox="1"/>
          <p:nvPr/>
        </p:nvSpPr>
        <p:spPr>
          <a:xfrm>
            <a:off x="8458200" y="4242816"/>
            <a:ext cx="3090672" cy="731520"/>
          </a:xfrm>
          <a:prstGeom prst="rect">
            <a:avLst/>
          </a:prstGeom>
          <a:noFill/>
        </p:spPr>
        <p:txBody>
          <a:bodyPr wrap="square" lIns="0" tIns="0" rIns="0" bIns="0" anchor="ctr">
            <a:noAutofit/>
          </a:bodyPr>
          <a:lstStyle/>
          <a:p>
            <a:pPr algn="l">
              <a:lnSpc>
                <a:spcPct val="100000"/>
              </a:lnSpc>
            </a:pPr>
            <a:r>
              <a:rPr sz="1400" b="0">
                <a:solidFill>
                  <a:schemeClr val="accent3"/>
                </a:solidFill>
              </a:rPr>
              <a:t>Verifiable Action Card; Commit-Time Authorization — 207 of 216 runs committed after approval lapsed</a:t>
            </a:r>
          </a:p>
        </p:txBody>
      </p:sp>
      <p:sp>
        <p:nvSpPr>
          <p:cNvPr id="25" name="Row 5 band"/>
          <p:cNvSpPr/>
          <p:nvPr/>
        </p:nvSpPr>
        <p:spPr>
          <a:xfrm>
            <a:off x="457200" y="5065775"/>
            <a:ext cx="11274552" cy="804672"/>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5C1"/>
          <p:cNvSpPr txBox="1"/>
          <p:nvPr/>
        </p:nvSpPr>
        <p:spPr>
          <a:xfrm>
            <a:off x="658368" y="5102351"/>
            <a:ext cx="2743200" cy="731520"/>
          </a:xfrm>
          <a:prstGeom prst="rect">
            <a:avLst/>
          </a:prstGeom>
          <a:noFill/>
        </p:spPr>
        <p:txBody>
          <a:bodyPr wrap="square" lIns="0" tIns="0" rIns="0" bIns="0" anchor="ctr">
            <a:noAutofit/>
          </a:bodyPr>
          <a:lstStyle/>
          <a:p>
            <a:pPr algn="l">
              <a:lnSpc>
                <a:spcPct val="100000"/>
              </a:lnSpc>
            </a:pPr>
            <a:r>
              <a:rPr sz="1500" b="1">
                <a:solidFill>
                  <a:schemeClr val="tx2"/>
                </a:solidFill>
              </a:rPr>
              <a:t>None of it can be proved afterwards</a:t>
            </a:r>
          </a:p>
        </p:txBody>
      </p:sp>
      <p:sp>
        <p:nvSpPr>
          <p:cNvPr id="27" name="R5C2"/>
          <p:cNvSpPr txBox="1"/>
          <p:nvPr/>
        </p:nvSpPr>
        <p:spPr>
          <a:xfrm>
            <a:off x="3611880" y="5102351"/>
            <a:ext cx="4617720" cy="731520"/>
          </a:xfrm>
          <a:prstGeom prst="rect">
            <a:avLst/>
          </a:prstGeom>
          <a:noFill/>
        </p:spPr>
        <p:txBody>
          <a:bodyPr wrap="square" lIns="0" tIns="0" rIns="0" bIns="0" anchor="ctr">
            <a:noAutofit/>
          </a:bodyPr>
          <a:lstStyle/>
          <a:p>
            <a:pPr algn="l">
              <a:lnSpc>
                <a:spcPct val="100000"/>
              </a:lnSpc>
            </a:pPr>
            <a:r>
              <a:rPr sz="1400" b="0">
                <a:solidFill>
                  <a:schemeClr val="tx1"/>
                </a:solidFill>
              </a:rPr>
              <a:t>A task file giving expected page, final state, values, evidence and policies; a trace log of every call; the final state scored</a:t>
            </a:r>
          </a:p>
        </p:txBody>
      </p:sp>
      <p:sp>
        <p:nvSpPr>
          <p:cNvPr id="28" name="R5C3"/>
          <p:cNvSpPr txBox="1"/>
          <p:nvPr/>
        </p:nvSpPr>
        <p:spPr>
          <a:xfrm>
            <a:off x="8458200" y="5102351"/>
            <a:ext cx="3090672" cy="731520"/>
          </a:xfrm>
          <a:prstGeom prst="rect">
            <a:avLst/>
          </a:prstGeom>
          <a:noFill/>
        </p:spPr>
        <p:txBody>
          <a:bodyPr wrap="square" lIns="0" tIns="0" rIns="0" bIns="0" anchor="ctr">
            <a:noAutofit/>
          </a:bodyPr>
          <a:lstStyle/>
          <a:p>
            <a:pPr algn="l">
              <a:lnSpc>
                <a:spcPct val="100000"/>
              </a:lnSpc>
            </a:pPr>
            <a:r>
              <a:rPr sz="1400" b="0">
                <a:solidFill>
                  <a:schemeClr val="accent3"/>
                </a:solidFill>
              </a:rPr>
              <a:t>EntWorld (SQL checks); WebCanvas (key states); ST-WebAgentBench (CuP)</a:t>
            </a:r>
          </a:p>
        </p:txBody>
      </p:sp>
      <p:sp>
        <p:nvSpPr>
          <p:cNvPr id="29" name="Closing band"/>
          <p:cNvSpPr/>
          <p:nvPr/>
        </p:nvSpPr>
        <p:spPr>
          <a:xfrm>
            <a:off x="457200" y="5943600"/>
            <a:ext cx="11274552" cy="530352"/>
          </a:xfrm>
          <a:prstGeom prst="roundRect">
            <a:avLst>
              <a:gd name="adj" fmla="val 1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Closing"/>
          <p:cNvSpPr txBox="1"/>
          <p:nvPr/>
        </p:nvSpPr>
        <p:spPr>
          <a:xfrm>
            <a:off x="658368" y="5980176"/>
            <a:ext cx="10872216" cy="457199"/>
          </a:xfrm>
          <a:prstGeom prst="rect">
            <a:avLst/>
          </a:prstGeom>
          <a:noFill/>
        </p:spPr>
        <p:txBody>
          <a:bodyPr wrap="square" lIns="0" tIns="0" rIns="0" bIns="0" anchor="ctr">
            <a:noAutofit/>
          </a:bodyPr>
          <a:lstStyle/>
          <a:p>
            <a:pPr algn="l">
              <a:lnSpc>
                <a:spcPct val="100000"/>
              </a:lnSpc>
            </a:pPr>
            <a:r>
              <a:rPr sz="1400" b="0">
                <a:solidFill>
                  <a:schemeClr val="tx1"/>
                </a:solidFill>
              </a:rPr>
              <a:t>We assembled it; we did not invent it.  Of 1,506 papers citing the standard benchmark, about 40 touch enterprise or analytics — and exactly one mentions no-code.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9811512" y="292608"/>
            <a:ext cx="1920240" cy="356616"/>
          </a:xfrm>
          <a:prstGeom prst="rect">
            <a:avLst/>
          </a:prstGeom>
        </p:spPr>
      </p:pic>
      <p:sp>
        <p:nvSpPr>
          <p:cNvPr id="3" name="Title"/>
          <p:cNvSpPr txBox="1"/>
          <p:nvPr/>
        </p:nvSpPr>
        <p:spPr>
          <a:xfrm>
            <a:off x="457200" y="256032"/>
            <a:ext cx="9079992" cy="603504"/>
          </a:xfrm>
          <a:prstGeom prst="rect">
            <a:avLst/>
          </a:prstGeom>
          <a:noFill/>
        </p:spPr>
        <p:txBody>
          <a:bodyPr wrap="square" lIns="0" tIns="0" rIns="0" bIns="0" anchor="ctr">
            <a:noAutofit/>
          </a:bodyPr>
          <a:lstStyle/>
          <a:p>
            <a:pPr algn="l">
              <a:lnSpc>
                <a:spcPct val="100000"/>
              </a:lnSpc>
            </a:pPr>
            <a:r>
              <a:rPr sz="3600" b="1">
                <a:solidFill>
                  <a:schemeClr val="tx2"/>
                </a:solidFill>
              </a:rPr>
              <a:t>Technology Stack and Implementation Plan</a:t>
            </a:r>
          </a:p>
        </p:txBody>
      </p:sp>
      <p:sp>
        <p:nvSpPr>
          <p:cNvPr id="4" name="Lead-in"/>
          <p:cNvSpPr txBox="1"/>
          <p:nvPr/>
        </p:nvSpPr>
        <p:spPr>
          <a:xfrm>
            <a:off x="457200" y="905256"/>
            <a:ext cx="11274552" cy="237744"/>
          </a:xfrm>
          <a:prstGeom prst="rect">
            <a:avLst/>
          </a:prstGeom>
          <a:noFill/>
        </p:spPr>
        <p:txBody>
          <a:bodyPr wrap="square" lIns="0" tIns="0" rIns="0" bIns="0" anchor="t">
            <a:noAutofit/>
          </a:bodyPr>
          <a:lstStyle/>
          <a:p>
            <a:pPr algn="l">
              <a:lnSpc>
                <a:spcPct val="100000"/>
              </a:lnSpc>
            </a:pPr>
            <a:r>
              <a:rPr sz="1400" b="0">
                <a:solidFill>
                  <a:schemeClr val="accent3"/>
                </a:solidFill>
              </a:rPr>
              <a:t>Every library in the stack is MIT or BSD licensed, and the ERP database is already restored and connected.</a:t>
            </a:r>
          </a:p>
        </p:txBody>
      </p:sp>
      <p:sp>
        <p:nvSpPr>
          <p:cNvPr id="5" name="Hdr PROPOSED TECHNOLOG"/>
          <p:cNvSpPr txBox="1"/>
          <p:nvPr/>
        </p:nvSpPr>
        <p:spPr>
          <a:xfrm>
            <a:off x="457200" y="1216152"/>
            <a:ext cx="11274552" cy="256032"/>
          </a:xfrm>
          <a:prstGeom prst="rect">
            <a:avLst/>
          </a:prstGeom>
          <a:noFill/>
        </p:spPr>
        <p:txBody>
          <a:bodyPr wrap="square" lIns="0" tIns="0" rIns="0" bIns="0" anchor="t">
            <a:noAutofit/>
          </a:bodyPr>
          <a:lstStyle/>
          <a:p>
            <a:pPr algn="l">
              <a:lnSpc>
                <a:spcPct val="100000"/>
              </a:lnSpc>
            </a:pPr>
            <a:r>
              <a:rPr sz="1600" b="1">
                <a:solidFill>
                  <a:schemeClr val="tx2"/>
                </a:solidFill>
              </a:rPr>
              <a:t>PROPOSED TECHNOLOGIES · LANGCHAIN FAMILY, AS THE BRIEF SUGGESTS</a:t>
            </a:r>
          </a:p>
        </p:txBody>
      </p:sp>
      <p:sp>
        <p:nvSpPr>
          <p:cNvPr id="6" name="Tech 1 block"/>
          <p:cNvSpPr/>
          <p:nvPr/>
        </p:nvSpPr>
        <p:spPr>
          <a:xfrm>
            <a:off x="457200" y="1508760"/>
            <a:ext cx="2722626" cy="1024128"/>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ch 1 text"/>
          <p:cNvSpPr txBox="1"/>
          <p:nvPr/>
        </p:nvSpPr>
        <p:spPr>
          <a:xfrm>
            <a:off x="621792" y="1600200"/>
            <a:ext cx="2393442" cy="841248"/>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App and UI</a:t>
            </a:r>
          </a:p>
          <a:p>
            <a:pPr algn="l">
              <a:lnSpc>
                <a:spcPct val="100000"/>
              </a:lnSpc>
            </a:pPr>
            <a:r>
              <a:rPr sz="1400" b="0">
                <a:solidFill>
                  <a:schemeClr val="tx1"/>
                </a:solidFill>
              </a:rPr>
              <a:t>React with Vite, Recharts for charts, CopilotKit chat panel</a:t>
            </a:r>
          </a:p>
        </p:txBody>
      </p:sp>
      <p:sp>
        <p:nvSpPr>
          <p:cNvPr id="8" name="Tech 2 block"/>
          <p:cNvSpPr/>
          <p:nvPr/>
        </p:nvSpPr>
        <p:spPr>
          <a:xfrm>
            <a:off x="3307842" y="1508760"/>
            <a:ext cx="2722626" cy="1024128"/>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ch 2 text"/>
          <p:cNvSpPr txBox="1"/>
          <p:nvPr/>
        </p:nvSpPr>
        <p:spPr>
          <a:xfrm>
            <a:off x="3472434" y="1600200"/>
            <a:ext cx="2393442" cy="841248"/>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Agent controller</a:t>
            </a:r>
          </a:p>
          <a:p>
            <a:pPr algn="l">
              <a:lnSpc>
                <a:spcPct val="100000"/>
              </a:lnSpc>
            </a:pPr>
            <a:r>
              <a:rPr sz="1400" b="0">
                <a:solidFill>
                  <a:schemeClr val="tx1"/>
                </a:solidFill>
              </a:rPr>
              <a:t>LangGraph loop, Pydantic validation, RapidFuzz, dateparser</a:t>
            </a:r>
          </a:p>
        </p:txBody>
      </p:sp>
      <p:sp>
        <p:nvSpPr>
          <p:cNvPr id="10" name="Tech 3 block"/>
          <p:cNvSpPr/>
          <p:nvPr/>
        </p:nvSpPr>
        <p:spPr>
          <a:xfrm>
            <a:off x="6158484" y="1508760"/>
            <a:ext cx="2722626" cy="1024128"/>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ch 3 text"/>
          <p:cNvSpPr txBox="1"/>
          <p:nvPr/>
        </p:nvSpPr>
        <p:spPr>
          <a:xfrm>
            <a:off x="6323076" y="1600200"/>
            <a:ext cx="2393442" cy="841248"/>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Data</a:t>
            </a:r>
          </a:p>
          <a:p>
            <a:pPr algn="l">
              <a:lnSpc>
                <a:spcPct val="100000"/>
              </a:lnSpc>
            </a:pPr>
            <a:r>
              <a:rPr sz="1400" b="0">
                <a:solidFill>
                  <a:schemeClr val="tx1"/>
                </a:solidFill>
              </a:rPr>
              <a:t>SQL Server with Wide World Importers, read-only login via pyodbc</a:t>
            </a:r>
          </a:p>
        </p:txBody>
      </p:sp>
      <p:sp>
        <p:nvSpPr>
          <p:cNvPr id="12" name="Tech 4 block"/>
          <p:cNvSpPr/>
          <p:nvPr/>
        </p:nvSpPr>
        <p:spPr>
          <a:xfrm>
            <a:off x="9009126" y="1508760"/>
            <a:ext cx="2722626" cy="1024128"/>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ch 4 text"/>
          <p:cNvSpPr txBox="1"/>
          <p:nvPr/>
        </p:nvSpPr>
        <p:spPr>
          <a:xfrm>
            <a:off x="9173718" y="1600200"/>
            <a:ext cx="2393442" cy="841248"/>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Model and extras</a:t>
            </a:r>
          </a:p>
          <a:p>
            <a:pPr algn="l">
              <a:lnSpc>
                <a:spcPct val="100000"/>
              </a:lnSpc>
            </a:pPr>
            <a:r>
              <a:rPr sz="1400" b="0">
                <a:solidFill>
                  <a:schemeClr val="tx1"/>
                </a:solidFill>
              </a:rPr>
              <a:t>Hosted LLM with tool calling; bm25s, SQLGlot, Playwright if time</a:t>
            </a:r>
          </a:p>
        </p:txBody>
      </p:sp>
      <p:sp>
        <p:nvSpPr>
          <p:cNvPr id="14" name="Hdr TEAM RESPONSIBILIT"/>
          <p:cNvSpPr txBox="1"/>
          <p:nvPr/>
        </p:nvSpPr>
        <p:spPr>
          <a:xfrm>
            <a:off x="457200" y="2670048"/>
            <a:ext cx="11274552" cy="256032"/>
          </a:xfrm>
          <a:prstGeom prst="rect">
            <a:avLst/>
          </a:prstGeom>
          <a:noFill/>
        </p:spPr>
        <p:txBody>
          <a:bodyPr wrap="square" lIns="0" tIns="0" rIns="0" bIns="0" anchor="t">
            <a:noAutofit/>
          </a:bodyPr>
          <a:lstStyle/>
          <a:p>
            <a:pPr algn="l">
              <a:lnSpc>
                <a:spcPct val="100000"/>
              </a:lnSpc>
            </a:pPr>
            <a:r>
              <a:rPr sz="1600" b="1">
                <a:solidFill>
                  <a:schemeClr val="tx2"/>
                </a:solidFill>
              </a:rPr>
              <a:t>TEAM RESPONSIBILITIES · FOUR PEOPLE, PARALLEL FROM HOUR ONE</a:t>
            </a:r>
          </a:p>
        </p:txBody>
      </p:sp>
      <p:sp>
        <p:nvSpPr>
          <p:cNvPr id="15" name="Role 1 block"/>
          <p:cNvSpPr/>
          <p:nvPr/>
        </p:nvSpPr>
        <p:spPr>
          <a:xfrm>
            <a:off x="457200" y="2962656"/>
            <a:ext cx="2722626" cy="1024128"/>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le 1 text"/>
          <p:cNvSpPr txBox="1"/>
          <p:nvPr/>
        </p:nvSpPr>
        <p:spPr>
          <a:xfrm>
            <a:off x="621792" y="3054096"/>
            <a:ext cx="2393442" cy="841248"/>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App and data</a:t>
            </a:r>
          </a:p>
          <a:p>
            <a:pPr algn="l">
              <a:lnSpc>
                <a:spcPct val="100000"/>
              </a:lnSpc>
            </a:pPr>
            <a:r>
              <a:rPr sz="1400" b="0">
                <a:solidFill>
                  <a:schemeClr val="tx1"/>
                </a:solidFill>
              </a:rPr>
              <a:t>Contract file, four pages, URL state, widget queries, scenarios</a:t>
            </a:r>
          </a:p>
        </p:txBody>
      </p:sp>
      <p:sp>
        <p:nvSpPr>
          <p:cNvPr id="17" name="Role 2 block"/>
          <p:cNvSpPr/>
          <p:nvPr/>
        </p:nvSpPr>
        <p:spPr>
          <a:xfrm>
            <a:off x="3307842" y="2962656"/>
            <a:ext cx="2722626" cy="1024128"/>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le 2 text"/>
          <p:cNvSpPr txBox="1"/>
          <p:nvPr/>
        </p:nvSpPr>
        <p:spPr>
          <a:xfrm>
            <a:off x="3472434" y="3054096"/>
            <a:ext cx="2393442" cy="841248"/>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Agent</a:t>
            </a:r>
          </a:p>
          <a:p>
            <a:pPr algn="l">
              <a:lnSpc>
                <a:spcPct val="100000"/>
              </a:lnSpc>
            </a:pPr>
            <a:r>
              <a:rPr sz="1400" b="0">
                <a:solidFill>
                  <a:schemeClr val="tx1"/>
                </a:solidFill>
              </a:rPr>
              <a:t>LangGraph loop, intent and slots, router, validator, the tools</a:t>
            </a:r>
          </a:p>
        </p:txBody>
      </p:sp>
      <p:sp>
        <p:nvSpPr>
          <p:cNvPr id="19" name="Role 3 block"/>
          <p:cNvSpPr/>
          <p:nvPr/>
        </p:nvSpPr>
        <p:spPr>
          <a:xfrm>
            <a:off x="6158484" y="2962656"/>
            <a:ext cx="2722626" cy="1024128"/>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le 3 text"/>
          <p:cNvSpPr txBox="1"/>
          <p:nvPr/>
        </p:nvSpPr>
        <p:spPr>
          <a:xfrm>
            <a:off x="6323076" y="3054096"/>
            <a:ext cx="2393442" cy="841248"/>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Companion UX</a:t>
            </a:r>
          </a:p>
          <a:p>
            <a:pPr algn="l">
              <a:lnSpc>
                <a:spcPct val="100000"/>
              </a:lnSpc>
            </a:pPr>
            <a:r>
              <a:rPr sz="1400" b="0">
                <a:solidFill>
                  <a:schemeClr val="tx1"/>
                </a:solidFill>
              </a:rPr>
              <a:t>Panel, context bridge, fact labels, action list, confirm card</a:t>
            </a:r>
          </a:p>
        </p:txBody>
      </p:sp>
      <p:sp>
        <p:nvSpPr>
          <p:cNvPr id="21" name="Role 4 block"/>
          <p:cNvSpPr/>
          <p:nvPr/>
        </p:nvSpPr>
        <p:spPr>
          <a:xfrm>
            <a:off x="9009126" y="2962656"/>
            <a:ext cx="2722626" cy="1024128"/>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le 4 text"/>
          <p:cNvSpPr txBox="1"/>
          <p:nvPr/>
        </p:nvSpPr>
        <p:spPr>
          <a:xfrm>
            <a:off x="9173718" y="3054096"/>
            <a:ext cx="2393442" cy="841248"/>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Evaluation</a:t>
            </a:r>
          </a:p>
          <a:p>
            <a:pPr algn="l">
              <a:lnSpc>
                <a:spcPct val="100000"/>
              </a:lnSpc>
            </a:pPr>
            <a:r>
              <a:rPr sz="1400" b="0">
                <a:solidFill>
                  <a:schemeClr val="tx1"/>
                </a:solidFill>
              </a:rPr>
              <a:t>Task file, runner, trace log, KPI table, validator ablation</a:t>
            </a:r>
          </a:p>
        </p:txBody>
      </p:sp>
      <p:sp>
        <p:nvSpPr>
          <p:cNvPr id="23" name="Hdr 48-HOUR TIMELINE ·"/>
          <p:cNvSpPr txBox="1"/>
          <p:nvPr/>
        </p:nvSpPr>
        <p:spPr>
          <a:xfrm>
            <a:off x="457200" y="4123944"/>
            <a:ext cx="11274552" cy="256032"/>
          </a:xfrm>
          <a:prstGeom prst="rect">
            <a:avLst/>
          </a:prstGeom>
          <a:noFill/>
        </p:spPr>
        <p:txBody>
          <a:bodyPr wrap="square" lIns="0" tIns="0" rIns="0" bIns="0" anchor="t">
            <a:noAutofit/>
          </a:bodyPr>
          <a:lstStyle/>
          <a:p>
            <a:pPr algn="l">
              <a:lnSpc>
                <a:spcPct val="100000"/>
              </a:lnSpc>
            </a:pPr>
            <a:r>
              <a:rPr sz="1600" b="1">
                <a:solidFill>
                  <a:schemeClr val="tx2"/>
                </a:solidFill>
              </a:rPr>
              <a:t>48-HOUR TIMELINE · EACH MILESTONE ENDS IN A WORKING DEMO</a:t>
            </a:r>
          </a:p>
        </p:txBody>
      </p:sp>
      <p:sp>
        <p:nvSpPr>
          <p:cNvPr id="24" name="MsA 1 block"/>
          <p:cNvSpPr/>
          <p:nvPr/>
        </p:nvSpPr>
        <p:spPr>
          <a:xfrm>
            <a:off x="457200" y="4416552"/>
            <a:ext cx="3672840" cy="585216"/>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MsA 1 text"/>
          <p:cNvSpPr txBox="1"/>
          <p:nvPr/>
        </p:nvSpPr>
        <p:spPr>
          <a:xfrm>
            <a:off x="621792" y="4453128"/>
            <a:ext cx="3343656" cy="512064"/>
          </a:xfrm>
          <a:prstGeom prst="rect">
            <a:avLst/>
          </a:prstGeom>
          <a:noFill/>
        </p:spPr>
        <p:txBody>
          <a:bodyPr wrap="square" lIns="0" tIns="0" rIns="0" bIns="0" anchor="ctr">
            <a:noAutofit/>
          </a:bodyPr>
          <a:lstStyle/>
          <a:p>
            <a:pPr algn="l">
              <a:lnSpc>
                <a:spcPct val="100000"/>
              </a:lnSpc>
            </a:pPr>
            <a:r>
              <a:rPr sz="1400" b="1">
                <a:solidFill>
                  <a:schemeClr val="tx2"/>
                </a:solidFill>
              </a:rPr>
              <a:t>M1 · 0–10 h   </a:t>
            </a:r>
            <a:r>
              <a:rPr sz="1400" b="0">
                <a:solidFill>
                  <a:schemeClr val="tx1"/>
                </a:solidFill>
              </a:rPr>
              <a:t>Contract, four pages, URL state, claim checks</a:t>
            </a:r>
          </a:p>
        </p:txBody>
      </p:sp>
      <p:sp>
        <p:nvSpPr>
          <p:cNvPr id="26" name="MsA 2 block"/>
          <p:cNvSpPr/>
          <p:nvPr/>
        </p:nvSpPr>
        <p:spPr>
          <a:xfrm>
            <a:off x="4258056" y="4416552"/>
            <a:ext cx="3672840" cy="585216"/>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MsA 2 text"/>
          <p:cNvSpPr txBox="1"/>
          <p:nvPr/>
        </p:nvSpPr>
        <p:spPr>
          <a:xfrm>
            <a:off x="4422647" y="4453128"/>
            <a:ext cx="3343656" cy="512064"/>
          </a:xfrm>
          <a:prstGeom prst="rect">
            <a:avLst/>
          </a:prstGeom>
          <a:noFill/>
        </p:spPr>
        <p:txBody>
          <a:bodyPr wrap="square" lIns="0" tIns="0" rIns="0" bIns="0" anchor="ctr">
            <a:noAutofit/>
          </a:bodyPr>
          <a:lstStyle/>
          <a:p>
            <a:pPr algn="l">
              <a:lnSpc>
                <a:spcPct val="100000"/>
              </a:lnSpc>
            </a:pPr>
            <a:r>
              <a:rPr sz="1400" b="1">
                <a:solidFill>
                  <a:schemeClr val="tx2"/>
                </a:solidFill>
              </a:rPr>
              <a:t>M2 · 10–20 h   </a:t>
            </a:r>
            <a:r>
              <a:rPr sz="1400" b="0">
                <a:solidFill>
                  <a:schemeClr val="tx1"/>
                </a:solidFill>
              </a:rPr>
              <a:t>Router, validator, configure_view, read_widget</a:t>
            </a:r>
          </a:p>
        </p:txBody>
      </p:sp>
      <p:sp>
        <p:nvSpPr>
          <p:cNvPr id="28" name="MsA 3 block"/>
          <p:cNvSpPr/>
          <p:nvPr/>
        </p:nvSpPr>
        <p:spPr>
          <a:xfrm>
            <a:off x="8058911" y="4416552"/>
            <a:ext cx="3672840" cy="585216"/>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MsA 3 text"/>
          <p:cNvSpPr txBox="1"/>
          <p:nvPr/>
        </p:nvSpPr>
        <p:spPr>
          <a:xfrm>
            <a:off x="8223503" y="4453128"/>
            <a:ext cx="3343656" cy="512064"/>
          </a:xfrm>
          <a:prstGeom prst="rect">
            <a:avLst/>
          </a:prstGeom>
          <a:noFill/>
        </p:spPr>
        <p:txBody>
          <a:bodyPr wrap="square" lIns="0" tIns="0" rIns="0" bIns="0" anchor="ctr">
            <a:noAutofit/>
          </a:bodyPr>
          <a:lstStyle/>
          <a:p>
            <a:pPr algn="l">
              <a:lnSpc>
                <a:spcPct val="100000"/>
              </a:lnSpc>
            </a:pPr>
            <a:r>
              <a:rPr sz="1400" b="1">
                <a:solidFill>
                  <a:schemeClr val="tx2"/>
                </a:solidFill>
              </a:rPr>
              <a:t>M3 · 20–28 h   </a:t>
            </a:r>
            <a:r>
              <a:rPr sz="1400" b="0">
                <a:solidFill>
                  <a:schemeClr val="tx1"/>
                </a:solidFill>
              </a:rPr>
              <a:t>Context, resolve_entity, ask-or-abstain</a:t>
            </a:r>
          </a:p>
        </p:txBody>
      </p:sp>
      <p:sp>
        <p:nvSpPr>
          <p:cNvPr id="30" name="MsB 1 block"/>
          <p:cNvSpPr/>
          <p:nvPr/>
        </p:nvSpPr>
        <p:spPr>
          <a:xfrm>
            <a:off x="457200" y="5074920"/>
            <a:ext cx="3672840" cy="585216"/>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MsB 1 text"/>
          <p:cNvSpPr txBox="1"/>
          <p:nvPr/>
        </p:nvSpPr>
        <p:spPr>
          <a:xfrm>
            <a:off x="621792" y="5111496"/>
            <a:ext cx="3343656" cy="512064"/>
          </a:xfrm>
          <a:prstGeom prst="rect">
            <a:avLst/>
          </a:prstGeom>
          <a:noFill/>
        </p:spPr>
        <p:txBody>
          <a:bodyPr wrap="square" lIns="0" tIns="0" rIns="0" bIns="0" anchor="ctr">
            <a:noAutofit/>
          </a:bodyPr>
          <a:lstStyle/>
          <a:p>
            <a:pPr algn="l">
              <a:lnSpc>
                <a:spcPct val="100000"/>
              </a:lnSpc>
            </a:pPr>
            <a:r>
              <a:rPr sz="1400" b="1">
                <a:solidFill>
                  <a:schemeClr val="tx2"/>
                </a:solidFill>
              </a:rPr>
              <a:t>M4 · 28–36 h   </a:t>
            </a:r>
            <a:r>
              <a:rPr sz="1400" b="0">
                <a:solidFill>
                  <a:schemeClr val="tx1"/>
                </a:solidFill>
              </a:rPr>
              <a:t>compare_periods, evidence IDs, fact labels</a:t>
            </a:r>
          </a:p>
        </p:txBody>
      </p:sp>
      <p:sp>
        <p:nvSpPr>
          <p:cNvPr id="32" name="MsB 2 block"/>
          <p:cNvSpPr/>
          <p:nvPr/>
        </p:nvSpPr>
        <p:spPr>
          <a:xfrm>
            <a:off x="4258056" y="5074920"/>
            <a:ext cx="3672840" cy="585216"/>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MsB 2 text"/>
          <p:cNvSpPr txBox="1"/>
          <p:nvPr/>
        </p:nvSpPr>
        <p:spPr>
          <a:xfrm>
            <a:off x="4422647" y="5111496"/>
            <a:ext cx="3343656" cy="512064"/>
          </a:xfrm>
          <a:prstGeom prst="rect">
            <a:avLst/>
          </a:prstGeom>
          <a:noFill/>
        </p:spPr>
        <p:txBody>
          <a:bodyPr wrap="square" lIns="0" tIns="0" rIns="0" bIns="0" anchor="ctr">
            <a:noAutofit/>
          </a:bodyPr>
          <a:lstStyle/>
          <a:p>
            <a:pPr algn="l">
              <a:lnSpc>
                <a:spcPct val="100000"/>
              </a:lnSpc>
            </a:pPr>
            <a:r>
              <a:rPr sz="1400" b="1">
                <a:solidFill>
                  <a:schemeClr val="tx2"/>
                </a:solidFill>
              </a:rPr>
              <a:t>M5 · 36–42 h   </a:t>
            </a:r>
            <a:r>
              <a:rPr sz="1400" b="0">
                <a:solidFill>
                  <a:schemeClr val="tx1"/>
                </a:solidFill>
              </a:rPr>
              <a:t>Runner, every KPI, validator ablation</a:t>
            </a:r>
          </a:p>
        </p:txBody>
      </p:sp>
      <p:sp>
        <p:nvSpPr>
          <p:cNvPr id="34" name="MsB 3 block"/>
          <p:cNvSpPr/>
          <p:nvPr/>
        </p:nvSpPr>
        <p:spPr>
          <a:xfrm>
            <a:off x="8058911" y="5074920"/>
            <a:ext cx="3672840" cy="585216"/>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MsB 3 text"/>
          <p:cNvSpPr txBox="1"/>
          <p:nvPr/>
        </p:nvSpPr>
        <p:spPr>
          <a:xfrm>
            <a:off x="8223503" y="5111496"/>
            <a:ext cx="3343656" cy="512064"/>
          </a:xfrm>
          <a:prstGeom prst="rect">
            <a:avLst/>
          </a:prstGeom>
          <a:noFill/>
        </p:spPr>
        <p:txBody>
          <a:bodyPr wrap="square" lIns="0" tIns="0" rIns="0" bIns="0" anchor="ctr">
            <a:noAutofit/>
          </a:bodyPr>
          <a:lstStyle/>
          <a:p>
            <a:pPr algn="l">
              <a:lnSpc>
                <a:spcPct val="100000"/>
              </a:lnSpc>
            </a:pPr>
            <a:r>
              <a:rPr sz="1400" b="1">
                <a:solidFill>
                  <a:schemeClr val="tx2"/>
                </a:solidFill>
              </a:rPr>
              <a:t>M6 · 42–48 h   </a:t>
            </a:r>
            <a:r>
              <a:rPr sz="1400" b="0">
                <a:solidFill>
                  <a:schemeClr val="tx1"/>
                </a:solidFill>
              </a:rPr>
              <a:t>Rehearsal, measured numbers into the deck</a:t>
            </a:r>
          </a:p>
        </p:txBody>
      </p:sp>
      <p:sp>
        <p:nvSpPr>
          <p:cNvPr id="36" name="Parallel note band"/>
          <p:cNvSpPr/>
          <p:nvPr/>
        </p:nvSpPr>
        <p:spPr>
          <a:xfrm>
            <a:off x="457200" y="5760720"/>
            <a:ext cx="11274552" cy="530352"/>
          </a:xfrm>
          <a:prstGeom prst="roundRect">
            <a:avLst>
              <a:gd name="adj" fmla="val 1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Parallel note"/>
          <p:cNvSpPr txBox="1"/>
          <p:nvPr/>
        </p:nvSpPr>
        <p:spPr>
          <a:xfrm>
            <a:off x="658368" y="5797296"/>
            <a:ext cx="10872216" cy="457199"/>
          </a:xfrm>
          <a:prstGeom prst="rect">
            <a:avLst/>
          </a:prstGeom>
          <a:noFill/>
        </p:spPr>
        <p:txBody>
          <a:bodyPr wrap="square" lIns="0" tIns="0" rIns="0" bIns="0" anchor="ctr">
            <a:noAutofit/>
          </a:bodyPr>
          <a:lstStyle/>
          <a:p>
            <a:pPr algn="l">
              <a:lnSpc>
                <a:spcPct val="100000"/>
              </a:lnSpc>
            </a:pPr>
            <a:r>
              <a:rPr sz="1400" b="0">
                <a:solidFill>
                  <a:schemeClr val="tx1"/>
                </a:solidFill>
              </a:rPr>
              <a:t>Three formats are agreed in hour one — the contract schema, the tool input and output schema, and the trace-log format — so all four people build in parallel against mock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9811512" y="292608"/>
            <a:ext cx="1920240" cy="356616"/>
          </a:xfrm>
          <a:prstGeom prst="rect">
            <a:avLst/>
          </a:prstGeom>
        </p:spPr>
      </p:pic>
      <p:sp>
        <p:nvSpPr>
          <p:cNvPr id="3" name="Title"/>
          <p:cNvSpPr txBox="1"/>
          <p:nvPr/>
        </p:nvSpPr>
        <p:spPr>
          <a:xfrm>
            <a:off x="457200" y="256032"/>
            <a:ext cx="9079992" cy="603504"/>
          </a:xfrm>
          <a:prstGeom prst="rect">
            <a:avLst/>
          </a:prstGeom>
          <a:noFill/>
        </p:spPr>
        <p:txBody>
          <a:bodyPr wrap="square" lIns="0" tIns="0" rIns="0" bIns="0" anchor="ctr">
            <a:noAutofit/>
          </a:bodyPr>
          <a:lstStyle/>
          <a:p>
            <a:pPr algn="l">
              <a:lnSpc>
                <a:spcPct val="100000"/>
              </a:lnSpc>
            </a:pPr>
            <a:r>
              <a:rPr sz="3600" b="1">
                <a:solidFill>
                  <a:schemeClr val="tx2"/>
                </a:solidFill>
              </a:rPr>
              <a:t>Expected Outcomes and Demo Plan</a:t>
            </a:r>
          </a:p>
        </p:txBody>
      </p:sp>
      <p:sp>
        <p:nvSpPr>
          <p:cNvPr id="4" name="Lead-in"/>
          <p:cNvSpPr txBox="1"/>
          <p:nvPr/>
        </p:nvSpPr>
        <p:spPr>
          <a:xfrm>
            <a:off x="457200" y="905256"/>
            <a:ext cx="11274552" cy="237744"/>
          </a:xfrm>
          <a:prstGeom prst="rect">
            <a:avLst/>
          </a:prstGeom>
          <a:noFill/>
        </p:spPr>
        <p:txBody>
          <a:bodyPr wrap="square" lIns="0" tIns="0" rIns="0" bIns="0" anchor="t">
            <a:noAutofit/>
          </a:bodyPr>
          <a:lstStyle/>
          <a:p>
            <a:pPr algn="l">
              <a:lnSpc>
                <a:spcPct val="100000"/>
              </a:lnSpc>
            </a:pPr>
            <a:r>
              <a:rPr sz="1400" b="0">
                <a:solidFill>
                  <a:schemeClr val="accent3"/>
                </a:solidFill>
              </a:rPr>
              <a:t>Nothing here is measured yet — these are the deliverables we will ship and the measures we will report.</a:t>
            </a:r>
          </a:p>
        </p:txBody>
      </p:sp>
      <p:sp>
        <p:nvSpPr>
          <p:cNvPr id="5" name="Hdr PLANNED DELIVERABL"/>
          <p:cNvSpPr txBox="1"/>
          <p:nvPr/>
        </p:nvSpPr>
        <p:spPr>
          <a:xfrm>
            <a:off x="457200" y="1216152"/>
            <a:ext cx="11274552" cy="256032"/>
          </a:xfrm>
          <a:prstGeom prst="rect">
            <a:avLst/>
          </a:prstGeom>
          <a:noFill/>
        </p:spPr>
        <p:txBody>
          <a:bodyPr wrap="square" lIns="0" tIns="0" rIns="0" bIns="0" anchor="t">
            <a:noAutofit/>
          </a:bodyPr>
          <a:lstStyle/>
          <a:p>
            <a:pPr algn="l">
              <a:lnSpc>
                <a:spcPct val="100000"/>
              </a:lnSpc>
            </a:pPr>
            <a:r>
              <a:rPr sz="1600" b="1">
                <a:solidFill>
                  <a:schemeClr val="tx2"/>
                </a:solidFill>
              </a:rPr>
              <a:t>PLANNED DELIVERABLES</a:t>
            </a:r>
          </a:p>
        </p:txBody>
      </p:sp>
      <p:sp>
        <p:nvSpPr>
          <p:cNvPr id="6" name="Deliv 1 block"/>
          <p:cNvSpPr/>
          <p:nvPr/>
        </p:nvSpPr>
        <p:spPr>
          <a:xfrm>
            <a:off x="457200" y="1508760"/>
            <a:ext cx="2722626" cy="896112"/>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Deliv 1 text"/>
          <p:cNvSpPr txBox="1"/>
          <p:nvPr/>
        </p:nvSpPr>
        <p:spPr>
          <a:xfrm>
            <a:off x="621792" y="1600200"/>
            <a:ext cx="2393442" cy="713232"/>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Working ERP app</a:t>
            </a:r>
          </a:p>
          <a:p>
            <a:pPr algn="l">
              <a:lnSpc>
                <a:spcPct val="100000"/>
              </a:lnSpc>
            </a:pPr>
            <a:r>
              <a:rPr sz="1400" b="0">
                <a:solidFill>
                  <a:schemeClr val="tx1"/>
                </a:solidFill>
              </a:rPr>
              <a:t>Four pages rendered from one contract</a:t>
            </a:r>
          </a:p>
        </p:txBody>
      </p:sp>
      <p:sp>
        <p:nvSpPr>
          <p:cNvPr id="8" name="Deliv 2 block"/>
          <p:cNvSpPr/>
          <p:nvPr/>
        </p:nvSpPr>
        <p:spPr>
          <a:xfrm>
            <a:off x="3307842" y="1508760"/>
            <a:ext cx="2722626" cy="896112"/>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eliv 2 text"/>
          <p:cNvSpPr txBox="1"/>
          <p:nvPr/>
        </p:nvSpPr>
        <p:spPr>
          <a:xfrm>
            <a:off x="3472434" y="1600200"/>
            <a:ext cx="2393442" cy="713232"/>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The companion</a:t>
            </a:r>
          </a:p>
          <a:p>
            <a:pPr algn="l">
              <a:lnSpc>
                <a:spcPct val="100000"/>
              </a:lnSpc>
            </a:pPr>
            <a:r>
              <a:rPr sz="1400" b="0">
                <a:solidFill>
                  <a:schemeClr val="tx1"/>
                </a:solidFill>
              </a:rPr>
              <a:t>Navigates, filters, compares and cites sources</a:t>
            </a:r>
          </a:p>
        </p:txBody>
      </p:sp>
      <p:sp>
        <p:nvSpPr>
          <p:cNvPr id="10" name="Deliv 3 block"/>
          <p:cNvSpPr/>
          <p:nvPr/>
        </p:nvSpPr>
        <p:spPr>
          <a:xfrm>
            <a:off x="6158484" y="1508760"/>
            <a:ext cx="2722626" cy="896112"/>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Deliv 3 text"/>
          <p:cNvSpPr txBox="1"/>
          <p:nvPr/>
        </p:nvSpPr>
        <p:spPr>
          <a:xfrm>
            <a:off x="6323076" y="1600200"/>
            <a:ext cx="2393442" cy="713232"/>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Task file and runner</a:t>
            </a:r>
          </a:p>
          <a:p>
            <a:pPr algn="l">
              <a:lnSpc>
                <a:spcPct val="100000"/>
              </a:lnSpc>
            </a:pPr>
            <a:r>
              <a:rPr sz="1400" b="0">
                <a:solidFill>
                  <a:schemeClr val="tx1"/>
                </a:solidFill>
              </a:rPr>
              <a:t>About 25 labelled requests; one command prints KPIs</a:t>
            </a:r>
          </a:p>
        </p:txBody>
      </p:sp>
      <p:sp>
        <p:nvSpPr>
          <p:cNvPr id="12" name="Deliv 4 block"/>
          <p:cNvSpPr/>
          <p:nvPr/>
        </p:nvSpPr>
        <p:spPr>
          <a:xfrm>
            <a:off x="9009126" y="1508760"/>
            <a:ext cx="2722626" cy="896112"/>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eliv 4 text"/>
          <p:cNvSpPr txBox="1"/>
          <p:nvPr/>
        </p:nvSpPr>
        <p:spPr>
          <a:xfrm>
            <a:off x="9173718" y="1600200"/>
            <a:ext cx="2393442" cy="713232"/>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Evidence pack</a:t>
            </a:r>
          </a:p>
          <a:p>
            <a:pPr algn="l">
              <a:lnSpc>
                <a:spcPct val="100000"/>
              </a:lnSpc>
            </a:pPr>
            <a:r>
              <a:rPr sz="1400" b="0">
                <a:solidFill>
                  <a:schemeClr val="tx1"/>
                </a:solidFill>
              </a:rPr>
              <a:t>Trace log of every call, plus the ablation</a:t>
            </a:r>
          </a:p>
        </p:txBody>
      </p:sp>
      <p:sp>
        <p:nvSpPr>
          <p:cNvPr id="14" name="Hdr WHAT THE DEMO SHOW"/>
          <p:cNvSpPr txBox="1"/>
          <p:nvPr/>
        </p:nvSpPr>
        <p:spPr>
          <a:xfrm>
            <a:off x="457200" y="2514600"/>
            <a:ext cx="11274552" cy="256032"/>
          </a:xfrm>
          <a:prstGeom prst="rect">
            <a:avLst/>
          </a:prstGeom>
          <a:noFill/>
        </p:spPr>
        <p:txBody>
          <a:bodyPr wrap="square" lIns="0" tIns="0" rIns="0" bIns="0" anchor="t">
            <a:noAutofit/>
          </a:bodyPr>
          <a:lstStyle/>
          <a:p>
            <a:pPr algn="l">
              <a:lnSpc>
                <a:spcPct val="100000"/>
              </a:lnSpc>
            </a:pPr>
            <a:r>
              <a:rPr sz="1600" b="1">
                <a:solidFill>
                  <a:schemeClr val="tx2"/>
                </a:solidFill>
              </a:rPr>
              <a:t>WHAT THE DEMO SHOWS · ONE INVESTIGATION, FOUR TURNS, NO MANUAL CLICKS</a:t>
            </a:r>
          </a:p>
        </p:txBody>
      </p:sp>
      <p:sp>
        <p:nvSpPr>
          <p:cNvPr id="15" name="Demo 1 block"/>
          <p:cNvSpPr/>
          <p:nvPr/>
        </p:nvSpPr>
        <p:spPr>
          <a:xfrm>
            <a:off x="457200" y="2807208"/>
            <a:ext cx="2722626" cy="896112"/>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Demo 1 text"/>
          <p:cNvSpPr txBox="1"/>
          <p:nvPr/>
        </p:nvSpPr>
        <p:spPr>
          <a:xfrm>
            <a:off x="621792" y="2898648"/>
            <a:ext cx="2393442" cy="713232"/>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Navigate</a:t>
            </a:r>
          </a:p>
          <a:p>
            <a:pPr algn="l">
              <a:lnSpc>
                <a:spcPct val="100000"/>
              </a:lnSpc>
            </a:pPr>
            <a:r>
              <a:rPr sz="1400" b="0">
                <a:solidFill>
                  <a:schemeClr val="tx1"/>
                </a:solidFill>
              </a:rPr>
              <a:t>“Unpicked orders for May” — filters read back</a:t>
            </a:r>
          </a:p>
        </p:txBody>
      </p:sp>
      <p:sp>
        <p:nvSpPr>
          <p:cNvPr id="17" name="Demo 2 block"/>
          <p:cNvSpPr/>
          <p:nvPr/>
        </p:nvSpPr>
        <p:spPr>
          <a:xfrm>
            <a:off x="3307842" y="2807208"/>
            <a:ext cx="2722626" cy="896112"/>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emo 2 text"/>
          <p:cNvSpPr txBox="1"/>
          <p:nvPr/>
        </p:nvSpPr>
        <p:spPr>
          <a:xfrm>
            <a:off x="3472434" y="2898648"/>
            <a:ext cx="2393442" cy="713232"/>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Compare</a:t>
            </a:r>
          </a:p>
          <a:p>
            <a:pPr algn="l">
              <a:lnSpc>
                <a:spcPct val="100000"/>
              </a:lnSpc>
            </a:pPr>
            <a:r>
              <a:rPr sz="1400" b="0">
                <a:solidFill>
                  <a:schemeClr val="tx1"/>
                </a:solidFill>
              </a:rPr>
              <a:t>“Which items drove the rise?” — ranked contributors</a:t>
            </a:r>
          </a:p>
        </p:txBody>
      </p:sp>
      <p:sp>
        <p:nvSpPr>
          <p:cNvPr id="19" name="Demo 3 block"/>
          <p:cNvSpPr/>
          <p:nvPr/>
        </p:nvSpPr>
        <p:spPr>
          <a:xfrm>
            <a:off x="6158484" y="2807208"/>
            <a:ext cx="2722626" cy="896112"/>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Demo 3 text"/>
          <p:cNvSpPr txBox="1"/>
          <p:nvPr/>
        </p:nvSpPr>
        <p:spPr>
          <a:xfrm>
            <a:off x="6323076" y="2898648"/>
            <a:ext cx="2393442" cy="713232"/>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Follow up</a:t>
            </a:r>
          </a:p>
          <a:p>
            <a:pPr algn="l">
              <a:lnSpc>
                <a:spcPct val="100000"/>
              </a:lnSpc>
            </a:pPr>
            <a:r>
              <a:rPr sz="1400" b="0">
                <a:solidFill>
                  <a:schemeClr val="tx1"/>
                </a:solidFill>
              </a:rPr>
              <a:t>“Supplier for this item” — uses the selection</a:t>
            </a:r>
          </a:p>
        </p:txBody>
      </p:sp>
      <p:sp>
        <p:nvSpPr>
          <p:cNvPr id="21" name="Demo 4 block"/>
          <p:cNvSpPr/>
          <p:nvPr/>
        </p:nvSpPr>
        <p:spPr>
          <a:xfrm>
            <a:off x="9009126" y="2807208"/>
            <a:ext cx="2722626" cy="896112"/>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emo 4 text"/>
          <p:cNvSpPr txBox="1"/>
          <p:nvPr/>
        </p:nvSpPr>
        <p:spPr>
          <a:xfrm>
            <a:off x="9173718" y="2898648"/>
            <a:ext cx="2393442" cy="713232"/>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Confirm</a:t>
            </a:r>
          </a:p>
          <a:p>
            <a:pPr algn="l">
              <a:lnSpc>
                <a:spcPct val="100000"/>
              </a:lnSpc>
            </a:pPr>
            <a:r>
              <a:rPr sz="1400" b="0">
                <a:solidFill>
                  <a:schemeClr val="tx1"/>
                </a:solidFill>
              </a:rPr>
              <a:t>“Open a case for this” — card from the exact action</a:t>
            </a:r>
          </a:p>
        </p:txBody>
      </p:sp>
      <p:sp>
        <p:nvSpPr>
          <p:cNvPr id="23" name="Hdr MEASURES OF SUCCES"/>
          <p:cNvSpPr txBox="1"/>
          <p:nvPr/>
        </p:nvSpPr>
        <p:spPr>
          <a:xfrm>
            <a:off x="457200" y="3813048"/>
            <a:ext cx="11274552" cy="256032"/>
          </a:xfrm>
          <a:prstGeom prst="rect">
            <a:avLst/>
          </a:prstGeom>
          <a:noFill/>
        </p:spPr>
        <p:txBody>
          <a:bodyPr wrap="square" lIns="0" tIns="0" rIns="0" bIns="0" anchor="t">
            <a:noAutofit/>
          </a:bodyPr>
          <a:lstStyle/>
          <a:p>
            <a:pPr algn="l">
              <a:lnSpc>
                <a:spcPct val="100000"/>
              </a:lnSpc>
            </a:pPr>
            <a:r>
              <a:rPr sz="1600" b="1">
                <a:solidFill>
                  <a:schemeClr val="tx2"/>
                </a:solidFill>
              </a:rPr>
              <a:t>MEASURES OF SUCCESS · ALL COMPUTED FROM THE TRACE LOG</a:t>
            </a:r>
          </a:p>
        </p:txBody>
      </p:sp>
      <p:sp>
        <p:nvSpPr>
          <p:cNvPr id="24" name="KPI 1 block"/>
          <p:cNvSpPr/>
          <p:nvPr/>
        </p:nvSpPr>
        <p:spPr>
          <a:xfrm>
            <a:off x="457200" y="4105656"/>
            <a:ext cx="2722626" cy="896112"/>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KPI 1 text"/>
          <p:cNvSpPr txBox="1"/>
          <p:nvPr/>
        </p:nvSpPr>
        <p:spPr>
          <a:xfrm>
            <a:off x="621792" y="4197096"/>
            <a:ext cx="2393442" cy="713232"/>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Right page</a:t>
            </a:r>
          </a:p>
          <a:p>
            <a:pPr algn="l">
              <a:lnSpc>
                <a:spcPct val="100000"/>
              </a:lnSpc>
            </a:pPr>
            <a:r>
              <a:rPr sz="1400" b="0">
                <a:solidFill>
                  <a:schemeClr val="tx1"/>
                </a:solidFill>
              </a:rPr>
              <a:t>Top-1 destination accuracy, reported per split</a:t>
            </a:r>
          </a:p>
        </p:txBody>
      </p:sp>
      <p:sp>
        <p:nvSpPr>
          <p:cNvPr id="26" name="KPI 2 block"/>
          <p:cNvSpPr/>
          <p:nvPr/>
        </p:nvSpPr>
        <p:spPr>
          <a:xfrm>
            <a:off x="3307842" y="4105656"/>
            <a:ext cx="2722626" cy="896112"/>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KPI 2 text"/>
          <p:cNvSpPr txBox="1"/>
          <p:nvPr/>
        </p:nvSpPr>
        <p:spPr>
          <a:xfrm>
            <a:off x="3472434" y="4197096"/>
            <a:ext cx="2393442" cy="713232"/>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Right view</a:t>
            </a:r>
          </a:p>
          <a:p>
            <a:pPr algn="l">
              <a:lnSpc>
                <a:spcPct val="100000"/>
              </a:lnSpc>
            </a:pPr>
            <a:r>
              <a:rPr sz="1400" b="0">
                <a:solidFill>
                  <a:schemeClr val="tx1"/>
                </a:solidFill>
              </a:rPr>
              <a:t>Final-state exact match; F1 for each filter</a:t>
            </a:r>
          </a:p>
        </p:txBody>
      </p:sp>
      <p:sp>
        <p:nvSpPr>
          <p:cNvPr id="28" name="KPI 3 block"/>
          <p:cNvSpPr/>
          <p:nvPr/>
        </p:nvSpPr>
        <p:spPr>
          <a:xfrm>
            <a:off x="6158484" y="4105656"/>
            <a:ext cx="2722626" cy="896112"/>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KPI 3 text"/>
          <p:cNvSpPr txBox="1"/>
          <p:nvPr/>
        </p:nvSpPr>
        <p:spPr>
          <a:xfrm>
            <a:off x="6323076" y="4197096"/>
            <a:ext cx="2393442" cy="713232"/>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Traceable</a:t>
            </a:r>
          </a:p>
          <a:p>
            <a:pPr algn="l">
              <a:lnSpc>
                <a:spcPct val="100000"/>
              </a:lnSpc>
            </a:pPr>
            <a:r>
              <a:rPr sz="1400" b="0">
                <a:solidFill>
                  <a:schemeClr val="tx1"/>
                </a:solidFill>
              </a:rPr>
              <a:t>Share of numbers carrying an evidence ID</a:t>
            </a:r>
          </a:p>
        </p:txBody>
      </p:sp>
      <p:sp>
        <p:nvSpPr>
          <p:cNvPr id="30" name="KPI 4 block"/>
          <p:cNvSpPr/>
          <p:nvPr/>
        </p:nvSpPr>
        <p:spPr>
          <a:xfrm>
            <a:off x="9009126" y="4105656"/>
            <a:ext cx="2722626" cy="896112"/>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KPI 4 text"/>
          <p:cNvSpPr txBox="1"/>
          <p:nvPr/>
        </p:nvSpPr>
        <p:spPr>
          <a:xfrm>
            <a:off x="9173718" y="4197096"/>
            <a:ext cx="2393442" cy="713232"/>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Safe</a:t>
            </a:r>
          </a:p>
          <a:p>
            <a:pPr algn="l">
              <a:lnSpc>
                <a:spcPct val="100000"/>
              </a:lnSpc>
            </a:pPr>
            <a:r>
              <a:rPr sz="1400" b="0">
                <a:solidFill>
                  <a:schemeClr val="tx1"/>
                </a:solidFill>
              </a:rPr>
              <a:t>Policy compliance beside raw task success</a:t>
            </a:r>
          </a:p>
        </p:txBody>
      </p:sp>
      <p:sp>
        <p:nvSpPr>
          <p:cNvPr id="32" name="Hdr KEY RISKS AND DEPE"/>
          <p:cNvSpPr txBox="1"/>
          <p:nvPr/>
        </p:nvSpPr>
        <p:spPr>
          <a:xfrm>
            <a:off x="457200" y="5111496"/>
            <a:ext cx="11274552" cy="256032"/>
          </a:xfrm>
          <a:prstGeom prst="rect">
            <a:avLst/>
          </a:prstGeom>
          <a:noFill/>
        </p:spPr>
        <p:txBody>
          <a:bodyPr wrap="square" lIns="0" tIns="0" rIns="0" bIns="0" anchor="t">
            <a:noAutofit/>
          </a:bodyPr>
          <a:lstStyle/>
          <a:p>
            <a:pPr algn="l">
              <a:lnSpc>
                <a:spcPct val="100000"/>
              </a:lnSpc>
            </a:pPr>
            <a:r>
              <a:rPr sz="1600" b="1">
                <a:solidFill>
                  <a:schemeClr val="tx2"/>
                </a:solidFill>
              </a:rPr>
              <a:t>KEY RISKS AND DEPENDENCIES</a:t>
            </a:r>
          </a:p>
        </p:txBody>
      </p:sp>
      <p:sp>
        <p:nvSpPr>
          <p:cNvPr id="33" name="Risk 1 block"/>
          <p:cNvSpPr/>
          <p:nvPr/>
        </p:nvSpPr>
        <p:spPr>
          <a:xfrm>
            <a:off x="457200" y="5404104"/>
            <a:ext cx="2722626" cy="896112"/>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isk 1 text"/>
          <p:cNvSpPr txBox="1"/>
          <p:nvPr/>
        </p:nvSpPr>
        <p:spPr>
          <a:xfrm>
            <a:off x="621792" y="5495544"/>
            <a:ext cx="2393442" cy="713232"/>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Platform change</a:t>
            </a:r>
          </a:p>
          <a:p>
            <a:pPr algn="l">
              <a:lnSpc>
                <a:spcPct val="100000"/>
              </a:lnSpc>
            </a:pPr>
            <a:r>
              <a:rPr sz="1400" b="0">
                <a:solidFill>
                  <a:schemeClr val="tx1"/>
                </a:solidFill>
              </a:rPr>
              <a:t>No URL state means Playwright becomes the path</a:t>
            </a:r>
          </a:p>
        </p:txBody>
      </p:sp>
      <p:sp>
        <p:nvSpPr>
          <p:cNvPr id="35" name="Risk 2 block"/>
          <p:cNvSpPr/>
          <p:nvPr/>
        </p:nvSpPr>
        <p:spPr>
          <a:xfrm>
            <a:off x="3307842" y="5404104"/>
            <a:ext cx="2722626" cy="896112"/>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isk 2 text"/>
          <p:cNvSpPr txBox="1"/>
          <p:nvPr/>
        </p:nvSpPr>
        <p:spPr>
          <a:xfrm>
            <a:off x="3472434" y="5495544"/>
            <a:ext cx="2393442" cy="713232"/>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Database access</a:t>
            </a:r>
          </a:p>
          <a:p>
            <a:pPr algn="l">
              <a:lnSpc>
                <a:spcPct val="100000"/>
              </a:lnSpc>
            </a:pPr>
            <a:r>
              <a:rPr sz="1400" b="0">
                <a:solidFill>
                  <a:schemeClr val="tx1"/>
                </a:solidFill>
              </a:rPr>
              <a:t>Read-only login created and tested in hour one</a:t>
            </a:r>
          </a:p>
        </p:txBody>
      </p:sp>
      <p:sp>
        <p:nvSpPr>
          <p:cNvPr id="37" name="Risk 3 block"/>
          <p:cNvSpPr/>
          <p:nvPr/>
        </p:nvSpPr>
        <p:spPr>
          <a:xfrm>
            <a:off x="6158484" y="5404104"/>
            <a:ext cx="2722626" cy="896112"/>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isk 3 text"/>
          <p:cNvSpPr txBox="1"/>
          <p:nvPr/>
        </p:nvSpPr>
        <p:spPr>
          <a:xfrm>
            <a:off x="6323076" y="5495544"/>
            <a:ext cx="2393442" cy="713232"/>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Our own phrasings</a:t>
            </a:r>
          </a:p>
          <a:p>
            <a:pPr algn="l">
              <a:lnSpc>
                <a:spcPct val="100000"/>
              </a:lnSpc>
            </a:pPr>
            <a:r>
              <a:rPr sz="1400" b="0">
                <a:solidFill>
                  <a:schemeClr val="tx1"/>
                </a:solidFill>
              </a:rPr>
              <a:t>Requests collected from people outside the team</a:t>
            </a:r>
          </a:p>
        </p:txBody>
      </p:sp>
      <p:sp>
        <p:nvSpPr>
          <p:cNvPr id="39" name="Risk 4 block"/>
          <p:cNvSpPr/>
          <p:nvPr/>
        </p:nvSpPr>
        <p:spPr>
          <a:xfrm>
            <a:off x="9009126" y="5404104"/>
            <a:ext cx="2722626" cy="896112"/>
          </a:xfrm>
          <a:prstGeom prst="roundRect">
            <a:avLst>
              <a:gd name="adj" fmla="val 571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isk 4 text"/>
          <p:cNvSpPr txBox="1"/>
          <p:nvPr/>
        </p:nvSpPr>
        <p:spPr>
          <a:xfrm>
            <a:off x="9173718" y="5495544"/>
            <a:ext cx="2393442" cy="713232"/>
          </a:xfrm>
          <a:prstGeom prst="rect">
            <a:avLst/>
          </a:prstGeom>
          <a:noFill/>
        </p:spPr>
        <p:txBody>
          <a:bodyPr wrap="square" lIns="0" tIns="0" rIns="0" bIns="0" anchor="t">
            <a:noAutofit/>
          </a:bodyPr>
          <a:lstStyle/>
          <a:p>
            <a:pPr algn="l">
              <a:lnSpc>
                <a:spcPct val="100000"/>
              </a:lnSpc>
              <a:spcAft>
                <a:spcPts val="300"/>
              </a:spcAft>
            </a:pPr>
            <a:r>
              <a:rPr sz="1700" b="1">
                <a:solidFill>
                  <a:schemeClr val="tx2"/>
                </a:solidFill>
              </a:rPr>
              <a:t>EntWorld access</a:t>
            </a:r>
          </a:p>
          <a:p>
            <a:pPr algn="l">
              <a:lnSpc>
                <a:spcPct val="100000"/>
              </a:lnSpc>
            </a:pPr>
            <a:r>
              <a:rPr sz="1400" b="0">
                <a:solidFill>
                  <a:schemeClr val="tx1"/>
                </a:solidFill>
              </a:rPr>
              <a:t>If unreleased, we keep the method and say so</a:t>
            </a:r>
          </a:p>
        </p:txBody>
      </p:sp>
    </p:spTree>
  </p:cSld>
  <p:clrMapOvr>
    <a:masterClrMapping/>
  </p:clrMapOvr>
</p:sld>
</file>

<file path=ppt/theme/theme1.xml><?xml version="1.0" encoding="utf-8"?>
<a:theme xmlns:a="http://schemas.openxmlformats.org/drawingml/2006/main" name="Sapiens">
  <a:themeElements>
    <a:clrScheme name="Sapiens">
      <a:dk1>
        <a:srgbClr val="1D2B33"/>
      </a:dk1>
      <a:lt1>
        <a:srgbClr val="FFFFFF"/>
      </a:lt1>
      <a:dk2>
        <a:srgbClr val="0E4D5A"/>
      </a:dk2>
      <a:lt2>
        <a:srgbClr val="EDF4F5"/>
      </a:lt2>
      <a:accent1>
        <a:srgbClr val="1A7F8E"/>
      </a:accent1>
      <a:accent2>
        <a:srgbClr val="E39B2D"/>
      </a:accent2>
      <a:accent3>
        <a:srgbClr val="5E6B73"/>
      </a:accent3>
      <a:accent4>
        <a:srgbClr val="C5D8DB"/>
      </a:accent4>
      <a:accent5>
        <a:srgbClr val="B5532F"/>
      </a:accent5>
      <a:accent6>
        <a:srgbClr val="8FB8BF"/>
      </a:accent6>
      <a:hlink>
        <a:srgbClr val="1A7F8E"/>
      </a:hlink>
      <a:folHlink>
        <a:srgbClr val="5E6B7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Context-Aware AI Agent for Enterprise Applications</dc:title>
  <dc:subject/>
  <dc:creator>Team Sapiens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