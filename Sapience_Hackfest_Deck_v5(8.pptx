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8" r:id="rId29"/>
    <p:sldId id="269" r:id="rId20"/>
    <p:sldId id="259" r:id="rId5"/>
    <p:sldId id="260" r:id="rId6"/>
    <p:sldId id="277" r:id="rId28"/>
    <p:sldId id="261" r:id="rId7"/>
    <p:sldId id="274" r:id="rId25"/>
    <p:sldId id="275" r:id="rId26"/>
    <p:sldId id="276" r:id="rId27"/>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23</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23</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23</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23</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23</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targets and acceptance criteria for the final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Reliable multi-step task completion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tasks meet every required outcome: operation, scope, destination and values.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Faithful 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Each reported figure matches its source value, unit, scope and stated caveat.</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Context continuity and correct destination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Follow-ups, reloads and navigation keep scope and reach the intended view.</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No false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or failed requests are never reported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23</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user"/>
          <p:cNvSpPr/>
          <p:nvPr/>
        </p:nvSpPr>
        <p:spPr>
          <a:xfrm>
            <a:off x="640080" y="1234440"/>
            <a:ext cx="10972800" cy="502920"/>
          </a:xfrm>
          <a:prstGeom prst="rect">
            <a:avLst/>
          </a:prstGeom>
          <a:solidFill>
            <a:srgbClr val="F1F6F6"/>
          </a:solidFill>
          <a:ln w="19050">
            <a:solidFill>
              <a:srgbClr val="CDD7D9"/>
            </a:solidFill>
          </a:ln>
        </p:spPr>
      </p:sp>
      <p:sp>
        <p:nvSpPr>
          <p:cNvPr id="80" name="user-t"/>
          <p:cNvSpPr/>
          <p:nvPr/>
        </p:nvSpPr>
        <p:spPr>
          <a:xfrm>
            <a:off x="768096" y="1344596"/>
            <a:ext cx="1071676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User: asks in plain language; gets the answer, its figures and a link to the page</a:t>
            </a:r>
          </a:p>
        </p:txBody>
      </p:sp>
      <p:cxnSp>
        <p:nvCxnSpPr>
          <p:cNvPr id="81" name="u-a"/>
          <p:cNvCxnSpPr/>
          <p:nvPr/>
        </p:nvCxnSpPr>
        <p:spPr>
          <a:xfrm>
            <a:off x="6126480" y="1737360"/>
            <a:ext cx="0" cy="228600"/>
          </a:xfrm>
          <a:prstGeom prst="straightConnector1">
            <a:avLst/>
          </a:prstGeom>
          <a:ln w="19050">
            <a:solidFill>
              <a:srgbClr val="006D77"/>
            </a:solidFill>
            <a:headEnd type="triangle" w="med" len="med"/>
            <a:tailEnd type="triangle" w="med" len="med"/>
          </a:ln>
        </p:spPr>
      </p:cxnSp>
      <p:sp>
        <p:nvSpPr>
          <p:cNvPr id="82" name="core"/>
          <p:cNvSpPr/>
          <p:nvPr/>
        </p:nvSpPr>
        <p:spPr>
          <a:xfrm>
            <a:off x="640080" y="1965960"/>
            <a:ext cx="10972800" cy="1463040"/>
          </a:xfrm>
          <a:prstGeom prst="rect">
            <a:avLst/>
          </a:prstGeom>
          <a:solidFill>
            <a:srgbClr val="EAF2F1"/>
          </a:solidFill>
          <a:ln w="19050">
            <a:solidFill>
              <a:srgbClr val="006D77"/>
            </a:solidFill>
          </a:ln>
        </p:spPr>
      </p:sp>
      <p:sp>
        <p:nvSpPr>
          <p:cNvPr id="83" name="core-l"/>
          <p:cNvSpPr/>
          <p:nvPr/>
        </p:nvSpPr>
        <p:spPr>
          <a:xfrm>
            <a:off x="822960" y="2084831"/>
            <a:ext cx="1280160" cy="64008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a:t>
            </a:r>
          </a:p>
          <a:p>
            <a:pPr algn="l">
              <a:lnSpc>
                <a:spcPct val="112000"/>
              </a:lnSpc>
              <a:buNone/>
            </a:pPr>
            <a:r>
              <a:rPr lang="en-US" sz="1800" b="1">
                <a:solidFill>
                  <a:srgbClr val="102A43"/>
                </a:solidFill>
                <a:latin typeface="Arial"/>
                <a:ea typeface="Arial"/>
                <a:cs typeface="Arial"/>
              </a:rPr>
              <a:t>core</a:t>
            </a:r>
          </a:p>
        </p:txBody>
      </p:sp>
      <p:sp>
        <p:nvSpPr>
          <p:cNvPr id="84" name="core-s0"/>
          <p:cNvSpPr/>
          <p:nvPr/>
        </p:nvSpPr>
        <p:spPr>
          <a:xfrm>
            <a:off x="2194560" y="2075688"/>
            <a:ext cx="1645920" cy="841248"/>
          </a:xfrm>
          <a:prstGeom prst="rect">
            <a:avLst/>
          </a:prstGeom>
          <a:solidFill>
            <a:srgbClr val="FFFFFF"/>
          </a:solidFill>
          <a:ln w="19050">
            <a:solidFill>
              <a:srgbClr val="006D77"/>
            </a:solidFill>
          </a:ln>
        </p:spPr>
      </p:sp>
      <p:sp>
        <p:nvSpPr>
          <p:cNvPr id="85" name="core-s0-t"/>
          <p:cNvSpPr/>
          <p:nvPr/>
        </p:nvSpPr>
        <p:spPr>
          <a:xfrm>
            <a:off x="2286000"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86" name="core-s0-s"/>
          <p:cNvSpPr/>
          <p:nvPr/>
        </p:nvSpPr>
        <p:spPr>
          <a:xfrm>
            <a:off x="2286000"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87" name="core-a0"/>
          <p:cNvCxnSpPr/>
          <p:nvPr/>
        </p:nvCxnSpPr>
        <p:spPr>
          <a:xfrm>
            <a:off x="3840480" y="2496312"/>
            <a:ext cx="274319" cy="0"/>
          </a:xfrm>
          <a:prstGeom prst="straightConnector1">
            <a:avLst/>
          </a:prstGeom>
          <a:ln w="19050">
            <a:solidFill>
              <a:srgbClr val="006D77"/>
            </a:solidFill>
            <a:tailEnd type="triangle" w="med" len="med"/>
          </a:ln>
        </p:spPr>
      </p:cxnSp>
      <p:sp>
        <p:nvSpPr>
          <p:cNvPr id="88" name="core-s1"/>
          <p:cNvSpPr/>
          <p:nvPr/>
        </p:nvSpPr>
        <p:spPr>
          <a:xfrm>
            <a:off x="4114800" y="2075688"/>
            <a:ext cx="1645920" cy="841248"/>
          </a:xfrm>
          <a:prstGeom prst="rect">
            <a:avLst/>
          </a:prstGeom>
          <a:solidFill>
            <a:srgbClr val="FFFFFF"/>
          </a:solidFill>
          <a:ln w="19050">
            <a:solidFill>
              <a:srgbClr val="006D77"/>
            </a:solidFill>
          </a:ln>
        </p:spPr>
      </p:sp>
      <p:sp>
        <p:nvSpPr>
          <p:cNvPr id="89" name="core-s1-t"/>
          <p:cNvSpPr/>
          <p:nvPr/>
        </p:nvSpPr>
        <p:spPr>
          <a:xfrm>
            <a:off x="4206240"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90" name="core-s1-s"/>
          <p:cNvSpPr/>
          <p:nvPr/>
        </p:nvSpPr>
        <p:spPr>
          <a:xfrm>
            <a:off x="4206240"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91" name="core-a1"/>
          <p:cNvCxnSpPr/>
          <p:nvPr/>
        </p:nvCxnSpPr>
        <p:spPr>
          <a:xfrm>
            <a:off x="5760720" y="2496312"/>
            <a:ext cx="274319" cy="0"/>
          </a:xfrm>
          <a:prstGeom prst="straightConnector1">
            <a:avLst/>
          </a:prstGeom>
          <a:ln w="19050">
            <a:solidFill>
              <a:srgbClr val="006D77"/>
            </a:solidFill>
            <a:tailEnd type="triangle" w="med" len="med"/>
          </a:ln>
        </p:spPr>
      </p:cxnSp>
      <p:sp>
        <p:nvSpPr>
          <p:cNvPr id="92" name="core-s2"/>
          <p:cNvSpPr/>
          <p:nvPr/>
        </p:nvSpPr>
        <p:spPr>
          <a:xfrm>
            <a:off x="6035040" y="2075688"/>
            <a:ext cx="1645920" cy="841248"/>
          </a:xfrm>
          <a:prstGeom prst="rect">
            <a:avLst/>
          </a:prstGeom>
          <a:solidFill>
            <a:srgbClr val="FFFFFF"/>
          </a:solidFill>
          <a:ln w="19050">
            <a:solidFill>
              <a:srgbClr val="006D77"/>
            </a:solidFill>
          </a:ln>
        </p:spPr>
      </p:sp>
      <p:sp>
        <p:nvSpPr>
          <p:cNvPr id="93" name="core-s2-t"/>
          <p:cNvSpPr/>
          <p:nvPr/>
        </p:nvSpPr>
        <p:spPr>
          <a:xfrm>
            <a:off x="612647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94" name="core-s2-s"/>
          <p:cNvSpPr/>
          <p:nvPr/>
        </p:nvSpPr>
        <p:spPr>
          <a:xfrm>
            <a:off x="612647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calls</a:t>
            </a:r>
          </a:p>
        </p:txBody>
      </p:sp>
      <p:cxnSp>
        <p:nvCxnSpPr>
          <p:cNvPr id="95" name="core-a2"/>
          <p:cNvCxnSpPr/>
          <p:nvPr/>
        </p:nvCxnSpPr>
        <p:spPr>
          <a:xfrm>
            <a:off x="7680960" y="2496312"/>
            <a:ext cx="274319" cy="0"/>
          </a:xfrm>
          <a:prstGeom prst="straightConnector1">
            <a:avLst/>
          </a:prstGeom>
          <a:ln w="19050">
            <a:solidFill>
              <a:srgbClr val="006D77"/>
            </a:solidFill>
            <a:tailEnd type="triangle" w="med" len="med"/>
          </a:ln>
        </p:spPr>
      </p:cxnSp>
      <p:sp>
        <p:nvSpPr>
          <p:cNvPr id="96" name="core-s3"/>
          <p:cNvSpPr/>
          <p:nvPr/>
        </p:nvSpPr>
        <p:spPr>
          <a:xfrm>
            <a:off x="7955279" y="2075688"/>
            <a:ext cx="1645920" cy="841248"/>
          </a:xfrm>
          <a:prstGeom prst="rect">
            <a:avLst/>
          </a:prstGeom>
          <a:solidFill>
            <a:srgbClr val="FFFFFF"/>
          </a:solidFill>
          <a:ln w="19050">
            <a:solidFill>
              <a:srgbClr val="006D77"/>
            </a:solidFill>
          </a:ln>
        </p:spPr>
      </p:sp>
      <p:sp>
        <p:nvSpPr>
          <p:cNvPr id="97" name="core-s3-t"/>
          <p:cNvSpPr/>
          <p:nvPr/>
        </p:nvSpPr>
        <p:spPr>
          <a:xfrm>
            <a:off x="804671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98" name="core-s3-s"/>
          <p:cNvSpPr/>
          <p:nvPr/>
        </p:nvSpPr>
        <p:spPr>
          <a:xfrm>
            <a:off x="804671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99" name="core-a3"/>
          <p:cNvCxnSpPr/>
          <p:nvPr/>
        </p:nvCxnSpPr>
        <p:spPr>
          <a:xfrm>
            <a:off x="9601200" y="2496312"/>
            <a:ext cx="274319" cy="0"/>
          </a:xfrm>
          <a:prstGeom prst="straightConnector1">
            <a:avLst/>
          </a:prstGeom>
          <a:ln w="19050">
            <a:solidFill>
              <a:srgbClr val="006D77"/>
            </a:solidFill>
            <a:tailEnd type="triangle" w="med" len="med"/>
          </a:ln>
        </p:spPr>
      </p:cxnSp>
      <p:sp>
        <p:nvSpPr>
          <p:cNvPr id="100" name="core-s4"/>
          <p:cNvSpPr/>
          <p:nvPr/>
        </p:nvSpPr>
        <p:spPr>
          <a:xfrm>
            <a:off x="9875519" y="2075688"/>
            <a:ext cx="1645920" cy="841248"/>
          </a:xfrm>
          <a:prstGeom prst="rect">
            <a:avLst/>
          </a:prstGeom>
          <a:solidFill>
            <a:srgbClr val="FFFFFF"/>
          </a:solidFill>
          <a:ln w="19050">
            <a:solidFill>
              <a:srgbClr val="006D77"/>
            </a:solidFill>
          </a:ln>
        </p:spPr>
      </p:sp>
      <p:sp>
        <p:nvSpPr>
          <p:cNvPr id="101" name="core-s4-t"/>
          <p:cNvSpPr/>
          <p:nvPr/>
        </p:nvSpPr>
        <p:spPr>
          <a:xfrm>
            <a:off x="996695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102" name="core-s4-s"/>
          <p:cNvSpPr/>
          <p:nvPr/>
        </p:nvSpPr>
        <p:spPr>
          <a:xfrm>
            <a:off x="996695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sources cited</a:t>
            </a:r>
          </a:p>
        </p:txBody>
      </p:sp>
      <p:sp>
        <p:nvSpPr>
          <p:cNvPr id="103" name="gates"/>
          <p:cNvSpPr/>
          <p:nvPr/>
        </p:nvSpPr>
        <p:spPr>
          <a:xfrm>
            <a:off x="2194560" y="2999232"/>
            <a:ext cx="905256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Gates: schema · grounding · read-before-write · loop check · budget of 8 calls</a:t>
            </a:r>
          </a:p>
        </p:txBody>
      </p:sp>
      <p:cxnSp>
        <p:nvCxnSpPr>
          <p:cNvPr id="104" name="c-api"/>
          <p:cNvCxnSpPr/>
          <p:nvPr/>
        </p:nvCxnSpPr>
        <p:spPr>
          <a:xfrm>
            <a:off x="2743200" y="3429000"/>
            <a:ext cx="0" cy="228600"/>
          </a:xfrm>
          <a:prstGeom prst="straightConnector1">
            <a:avLst/>
          </a:prstGeom>
          <a:ln w="19050">
            <a:solidFill>
              <a:srgbClr val="006D77"/>
            </a:solidFill>
            <a:headEnd type="triangle" w="med" len="med"/>
            <a:tailEnd type="triangle" w="med" len="med"/>
          </a:ln>
        </p:spPr>
      </p:cxnSp>
      <p:cxnSp>
        <p:nvCxnSpPr>
          <p:cNvPr id="105" name="c-know"/>
          <p:cNvCxnSpPr/>
          <p:nvPr/>
        </p:nvCxnSpPr>
        <p:spPr>
          <a:xfrm>
            <a:off x="6309360" y="3429000"/>
            <a:ext cx="0" cy="228600"/>
          </a:xfrm>
          <a:prstGeom prst="straightConnector1">
            <a:avLst/>
          </a:prstGeom>
          <a:ln w="19050">
            <a:solidFill>
              <a:srgbClr val="006D77"/>
            </a:solidFill>
            <a:headEnd type="triangle" w="med" len="med"/>
            <a:tailEnd type="triangle" w="med" len="med"/>
          </a:ln>
        </p:spPr>
      </p:cxnSp>
      <p:cxnSp>
        <p:nvCxnSpPr>
          <p:cNvPr id="106" name="c-vacp"/>
          <p:cNvCxnSpPr/>
          <p:nvPr/>
        </p:nvCxnSpPr>
        <p:spPr>
          <a:xfrm>
            <a:off x="9784080" y="3429000"/>
            <a:ext cx="0" cy="228600"/>
          </a:xfrm>
          <a:prstGeom prst="straightConnector1">
            <a:avLst/>
          </a:prstGeom>
          <a:ln w="19050">
            <a:solidFill>
              <a:srgbClr val="006D77"/>
            </a:solidFill>
            <a:prstDash val="dash"/>
            <a:headEnd type="triangle" w="med" len="med"/>
            <a:tailEnd type="triangle" w="med" len="med"/>
          </a:ln>
        </p:spPr>
      </p:cxnSp>
      <p:sp>
        <p:nvSpPr>
          <p:cNvPr id="107" name="api-tools"/>
          <p:cNvSpPr/>
          <p:nvPr/>
        </p:nvSpPr>
        <p:spPr>
          <a:xfrm>
            <a:off x="640080" y="3657600"/>
            <a:ext cx="4023360" cy="1069848"/>
          </a:xfrm>
          <a:prstGeom prst="rect">
            <a:avLst/>
          </a:prstGeom>
          <a:solidFill>
            <a:srgbClr val="FFFFFF"/>
          </a:solidFill>
          <a:ln w="19050">
            <a:solidFill>
              <a:srgbClr val="006D77"/>
            </a:solidFill>
          </a:ln>
        </p:spPr>
      </p:sp>
      <p:sp>
        <p:nvSpPr>
          <p:cNvPr id="108" name="api-tools-t"/>
          <p:cNvSpPr/>
          <p:nvPr/>
        </p:nvSpPr>
        <p:spPr>
          <a:xfrm>
            <a:off x="768096" y="3749039"/>
            <a:ext cx="376732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 tools (6)</a:t>
            </a:r>
          </a:p>
        </p:txBody>
      </p:sp>
      <p:sp>
        <p:nvSpPr>
          <p:cNvPr id="109" name="api-tools-s"/>
          <p:cNvSpPr/>
          <p:nvPr/>
        </p:nvSpPr>
        <p:spPr>
          <a:xfrm>
            <a:off x="768096" y="4080509"/>
            <a:ext cx="376732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lookup, resolve, analyze, records, related, open_page</a:t>
            </a:r>
          </a:p>
        </p:txBody>
      </p:sp>
      <p:sp>
        <p:nvSpPr>
          <p:cNvPr id="110" name="contract"/>
          <p:cNvSpPr/>
          <p:nvPr/>
        </p:nvSpPr>
        <p:spPr>
          <a:xfrm>
            <a:off x="4846320" y="3657600"/>
            <a:ext cx="2926080" cy="1069848"/>
          </a:xfrm>
          <a:prstGeom prst="rect">
            <a:avLst/>
          </a:prstGeom>
          <a:solidFill>
            <a:srgbClr val="FFFFFF"/>
          </a:solidFill>
          <a:ln w="19050">
            <a:solidFill>
              <a:srgbClr val="006D77"/>
            </a:solidFill>
          </a:ln>
        </p:spPr>
      </p:sp>
      <p:sp>
        <p:nvSpPr>
          <p:cNvPr id="111" name="contract-t"/>
          <p:cNvSpPr/>
          <p:nvPr/>
        </p:nvSpPr>
        <p:spPr>
          <a:xfrm>
            <a:off x="4974336" y="3749039"/>
            <a:ext cx="267004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Contract and pages</a:t>
            </a:r>
          </a:p>
        </p:txBody>
      </p:sp>
      <p:sp>
        <p:nvSpPr>
          <p:cNvPr id="112" name="contract-s"/>
          <p:cNvSpPr/>
          <p:nvPr/>
        </p:nvSpPr>
        <p:spPr>
          <a:xfrm>
            <a:off x="4974336" y="4080509"/>
            <a:ext cx="267004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Measures, periods, page catalogue</a:t>
            </a:r>
          </a:p>
        </p:txBody>
      </p:sp>
      <p:sp>
        <p:nvSpPr>
          <p:cNvPr id="113" name="vacp-act"/>
          <p:cNvSpPr/>
          <p:nvPr/>
        </p:nvSpPr>
        <p:spPr>
          <a:xfrm>
            <a:off x="7955279" y="3657600"/>
            <a:ext cx="3657600" cy="1069848"/>
          </a:xfrm>
          <a:prstGeom prst="rect">
            <a:avLst/>
          </a:prstGeom>
          <a:solidFill>
            <a:srgbClr val="FFFFFF"/>
          </a:solidFill>
          <a:ln w="19050">
            <a:solidFill>
              <a:srgbClr val="006D77"/>
            </a:solidFill>
            <a:prstDash val="dash"/>
          </a:ln>
        </p:spPr>
      </p:sp>
      <p:sp>
        <p:nvSpPr>
          <p:cNvPr id="114" name="vacp-act-t"/>
          <p:cNvSpPr/>
          <p:nvPr/>
        </p:nvSpPr>
        <p:spPr>
          <a:xfrm>
            <a:off x="8083296" y="3749039"/>
            <a:ext cx="34015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actions</a:t>
            </a:r>
          </a:p>
        </p:txBody>
      </p:sp>
      <p:sp>
        <p:nvSpPr>
          <p:cNvPr id="115" name="vacp-act-s"/>
          <p:cNvSpPr/>
          <p:nvPr/>
        </p:nvSpPr>
        <p:spPr>
          <a:xfrm>
            <a:off x="8083296" y="4080509"/>
            <a:ext cx="340156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getState, execute: filters, navigate, open record</a:t>
            </a:r>
          </a:p>
        </p:txBody>
      </p:sp>
      <p:cxnSp>
        <p:nvCxnSpPr>
          <p:cNvPr id="116" name="s-api"/>
          <p:cNvCxnSpPr/>
          <p:nvPr/>
        </p:nvCxnSpPr>
        <p:spPr>
          <a:xfrm>
            <a:off x="2651760" y="4727448"/>
            <a:ext cx="0" cy="228600"/>
          </a:xfrm>
          <a:prstGeom prst="straightConnector1">
            <a:avLst/>
          </a:prstGeom>
          <a:ln w="19050">
            <a:solidFill>
              <a:srgbClr val="006D77"/>
            </a:solidFill>
            <a:headEnd type="triangle" w="med" len="med"/>
            <a:tailEnd type="triangle" w="med" len="med"/>
          </a:ln>
        </p:spPr>
      </p:cxnSp>
      <p:cxnSp>
        <p:nvCxnSpPr>
          <p:cNvPr id="117" name="s-vacp"/>
          <p:cNvCxnSpPr/>
          <p:nvPr/>
        </p:nvCxnSpPr>
        <p:spPr>
          <a:xfrm>
            <a:off x="9784080" y="4727448"/>
            <a:ext cx="0" cy="228600"/>
          </a:xfrm>
          <a:prstGeom prst="straightConnector1">
            <a:avLst/>
          </a:prstGeom>
          <a:ln w="19050">
            <a:solidFill>
              <a:srgbClr val="006D77"/>
            </a:solidFill>
            <a:prstDash val="dash"/>
            <a:headEnd type="triangle" w="med" len="med"/>
            <a:tailEnd type="triangle" w="med" len="med"/>
          </a:ln>
        </p:spPr>
      </p:cxnSp>
      <p:sp>
        <p:nvSpPr>
          <p:cNvPr id="118" name="sys-api"/>
          <p:cNvSpPr/>
          <p:nvPr/>
        </p:nvSpPr>
        <p:spPr>
          <a:xfrm>
            <a:off x="640080" y="4956048"/>
            <a:ext cx="4023360" cy="841248"/>
          </a:xfrm>
          <a:prstGeom prst="rect">
            <a:avLst/>
          </a:prstGeom>
          <a:solidFill>
            <a:srgbClr val="FFFFFF"/>
          </a:solidFill>
          <a:ln w="19050">
            <a:solidFill>
              <a:srgbClr val="006D77"/>
            </a:solidFill>
          </a:ln>
        </p:spPr>
      </p:sp>
      <p:sp>
        <p:nvSpPr>
          <p:cNvPr id="119" name="sys-api-t"/>
          <p:cNvSpPr/>
          <p:nvPr/>
        </p:nvSpPr>
        <p:spPr>
          <a:xfrm>
            <a:off x="768096" y="5047488"/>
            <a:ext cx="376732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WWI v2 app API</a:t>
            </a:r>
          </a:p>
        </p:txBody>
      </p:sp>
      <p:sp>
        <p:nvSpPr>
          <p:cNvPr id="120" name="sys-api-s"/>
          <p:cNvSpPr/>
          <p:nvPr/>
        </p:nvSpPr>
        <p:spPr>
          <a:xfrm>
            <a:off x="768096" y="5378957"/>
            <a:ext cx="376732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Read-only; data to 21 June 2016</a:t>
            </a:r>
          </a:p>
        </p:txBody>
      </p:sp>
      <p:sp>
        <p:nvSpPr>
          <p:cNvPr id="121" name="session"/>
          <p:cNvSpPr/>
          <p:nvPr/>
        </p:nvSpPr>
        <p:spPr>
          <a:xfrm>
            <a:off x="4846320" y="4956048"/>
            <a:ext cx="2926080" cy="841248"/>
          </a:xfrm>
          <a:prstGeom prst="rect">
            <a:avLst/>
          </a:prstGeom>
          <a:solidFill>
            <a:srgbClr val="FFFFFF"/>
          </a:solidFill>
          <a:ln w="19050">
            <a:solidFill>
              <a:srgbClr val="006D77"/>
            </a:solidFill>
          </a:ln>
        </p:spPr>
      </p:sp>
      <p:sp>
        <p:nvSpPr>
          <p:cNvPr id="122" name="session-t"/>
          <p:cNvSpPr/>
          <p:nvPr/>
        </p:nvSpPr>
        <p:spPr>
          <a:xfrm>
            <a:off x="4974336" y="5047488"/>
            <a:ext cx="267004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Session and trace</a:t>
            </a:r>
          </a:p>
        </p:txBody>
      </p:sp>
      <p:sp>
        <p:nvSpPr>
          <p:cNvPr id="123" name="session-s"/>
          <p:cNvSpPr/>
          <p:nvPr/>
        </p:nvSpPr>
        <p:spPr>
          <a:xfrm>
            <a:off x="4974336" y="5378957"/>
            <a:ext cx="26700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State kept across turns</a:t>
            </a:r>
          </a:p>
        </p:txBody>
      </p:sp>
      <p:sp>
        <p:nvSpPr>
          <p:cNvPr id="124" name="sys-erp"/>
          <p:cNvSpPr/>
          <p:nvPr/>
        </p:nvSpPr>
        <p:spPr>
          <a:xfrm>
            <a:off x="7955279" y="4956048"/>
            <a:ext cx="3657600" cy="841248"/>
          </a:xfrm>
          <a:prstGeom prst="rect">
            <a:avLst/>
          </a:prstGeom>
          <a:solidFill>
            <a:srgbClr val="FFFFFF"/>
          </a:solidFill>
          <a:ln w="19050">
            <a:solidFill>
              <a:srgbClr val="006D77"/>
            </a:solidFill>
            <a:prstDash val="dash"/>
          </a:ln>
        </p:spPr>
      </p:sp>
      <p:sp>
        <p:nvSpPr>
          <p:cNvPr id="125" name="sys-erp-t"/>
          <p:cNvSpPr/>
          <p:nvPr/>
        </p:nvSpPr>
        <p:spPr>
          <a:xfrm>
            <a:off x="8083296" y="5047488"/>
            <a:ext cx="34015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15 Desk</a:t>
            </a:r>
          </a:p>
        </p:txBody>
      </p:sp>
      <p:sp>
        <p:nvSpPr>
          <p:cNvPr id="126" name="sys-erp-s"/>
          <p:cNvSpPr/>
          <p:nvPr/>
        </p:nvSpPr>
        <p:spPr>
          <a:xfrm>
            <a:off x="8083296" y="5378957"/>
            <a:ext cx="34015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Through window.__vacp</a:t>
            </a:r>
          </a:p>
        </p:txBody>
      </p:sp>
      <p:cxnSp>
        <p:nvCxnSpPr>
          <p:cNvPr id="127" name="sess-a"/>
          <p:cNvCxnSpPr/>
          <p:nvPr/>
        </p:nvCxnSpPr>
        <p:spPr>
          <a:xfrm flipV="1">
            <a:off x="6309360" y="4727448"/>
            <a:ext cx="0" cy="228600"/>
          </a:xfrm>
          <a:prstGeom prst="straightConnector1">
            <a:avLst/>
          </a:prstGeom>
          <a:ln w="19050">
            <a:solidFill>
              <a:srgbClr val="006D77"/>
            </a:solidFill>
            <a:headEnd type="triangle" w="med" len="med"/>
            <a:tailEnd type="triangle" w="med" len="med"/>
          </a:ln>
        </p:spPr>
      </p:cxnSp>
      <p:sp>
        <p:nvSpPr>
          <p:cNvPr id="128" name="ov-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Solid: built and tested. Dashed: the VACP bridge is verified on its own; joining it to the agent is pending.</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23</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Example: “Compare total orders in April and May 2016.”</a:t>
            </a:r>
          </a:p>
        </p:txBody>
      </p:sp>
      <p:sp>
        <p:nvSpPr>
          <p:cNvPr id="42" name="tl-solid"/>
          <p:cNvSpPr/>
          <p:nvPr/>
        </p:nvSpPr>
        <p:spPr>
          <a:xfrm>
            <a:off x="822960" y="3520440"/>
            <a:ext cx="5877763" cy="0"/>
          </a:xfrm>
          <a:prstGeom prst="rect">
            <a:avLst/>
          </a:prstGeom>
          <a:noFill/>
          <a:ln w="28575">
            <a:solidFill>
              <a:srgbClr val="006D77"/>
            </a:solidFill>
          </a:ln>
        </p:spPr>
      </p:sp>
      <p:sp>
        <p:nvSpPr>
          <p:cNvPr id="43" name="tl-dash"/>
          <p:cNvSpPr/>
          <p:nvPr/>
        </p:nvSpPr>
        <p:spPr>
          <a:xfrm>
            <a:off x="6700723" y="3520440"/>
            <a:ext cx="4637836" cy="0"/>
          </a:xfrm>
          <a:prstGeom prst="rect">
            <a:avLst/>
          </a:prstGeom>
          <a:noFill/>
          <a:ln w="28575">
            <a:solidFill>
              <a:srgbClr val="006D77"/>
            </a:solidFill>
            <a:prstDash val="dash"/>
          </a:ln>
        </p:spPr>
      </p:sp>
      <p:sp>
        <p:nvSpPr>
          <p:cNvPr id="44" name="halo0"/>
          <p:cNvSpPr/>
          <p:nvPr/>
        </p:nvSpPr>
        <p:spPr>
          <a:xfrm>
            <a:off x="1499616" y="3282696"/>
            <a:ext cx="475488" cy="475488"/>
          </a:xfrm>
          <a:prstGeom prst="ellipse">
            <a:avLst/>
          </a:prstGeom>
          <a:solidFill>
            <a:srgbClr val="EAF2F1"/>
          </a:solidFill>
          <a:ln w="0">
            <a:noFill/>
          </a:ln>
        </p:spPr>
      </p:sp>
      <p:sp>
        <p:nvSpPr>
          <p:cNvPr id="45" name="dot0"/>
          <p:cNvSpPr/>
          <p:nvPr/>
        </p:nvSpPr>
        <p:spPr>
          <a:xfrm>
            <a:off x="1636775" y="3419856"/>
            <a:ext cx="201168" cy="201168"/>
          </a:xfrm>
          <a:prstGeom prst="ellipse">
            <a:avLst/>
          </a:prstGeom>
          <a:solidFill>
            <a:srgbClr val="006D77"/>
          </a:solidFill>
          <a:ln w="22225">
            <a:solidFill>
              <a:srgbClr val="006D77"/>
            </a:solidFill>
          </a:ln>
        </p:spPr>
      </p:sp>
      <p:sp>
        <p:nvSpPr>
          <p:cNvPr id="46" name="n0"/>
          <p:cNvSpPr/>
          <p:nvPr/>
        </p:nvSpPr>
        <p:spPr>
          <a:xfrm>
            <a:off x="594359"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01</a:t>
            </a:r>
          </a:p>
        </p:txBody>
      </p:sp>
      <p:sp>
        <p:nvSpPr>
          <p:cNvPr id="47" name="t0"/>
          <p:cNvSpPr/>
          <p:nvPr/>
        </p:nvSpPr>
        <p:spPr>
          <a:xfrm>
            <a:off x="594359"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Ask</a:t>
            </a:r>
          </a:p>
        </p:txBody>
      </p:sp>
      <p:sp>
        <p:nvSpPr>
          <p:cNvPr id="48" name="d0"/>
          <p:cNvSpPr/>
          <p:nvPr/>
        </p:nvSpPr>
        <p:spPr>
          <a:xfrm>
            <a:off x="594359"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Compare orders</a:t>
            </a:r>
          </a:p>
        </p:txBody>
      </p:sp>
      <p:sp>
        <p:nvSpPr>
          <p:cNvPr id="49" name="halo1"/>
          <p:cNvSpPr/>
          <p:nvPr/>
        </p:nvSpPr>
        <p:spPr>
          <a:xfrm>
            <a:off x="2740456" y="3282696"/>
            <a:ext cx="475488" cy="475488"/>
          </a:xfrm>
          <a:prstGeom prst="ellipse">
            <a:avLst/>
          </a:prstGeom>
          <a:solidFill>
            <a:srgbClr val="EAF2F1"/>
          </a:solidFill>
          <a:ln w="0">
            <a:noFill/>
          </a:ln>
        </p:spPr>
      </p:sp>
      <p:sp>
        <p:nvSpPr>
          <p:cNvPr id="50" name="dot1"/>
          <p:cNvSpPr/>
          <p:nvPr/>
        </p:nvSpPr>
        <p:spPr>
          <a:xfrm>
            <a:off x="2877616" y="3419856"/>
            <a:ext cx="201168" cy="201168"/>
          </a:xfrm>
          <a:prstGeom prst="ellipse">
            <a:avLst/>
          </a:prstGeom>
          <a:solidFill>
            <a:srgbClr val="006D77"/>
          </a:solidFill>
          <a:ln w="22225">
            <a:solidFill>
              <a:srgbClr val="006D77"/>
            </a:solidFill>
          </a:ln>
        </p:spPr>
      </p:sp>
      <p:sp>
        <p:nvSpPr>
          <p:cNvPr id="51" name="n1"/>
          <p:cNvSpPr/>
          <p:nvPr/>
        </p:nvSpPr>
        <p:spPr>
          <a:xfrm>
            <a:off x="1835200"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02</a:t>
            </a:r>
          </a:p>
        </p:txBody>
      </p:sp>
      <p:sp>
        <p:nvSpPr>
          <p:cNvPr id="52" name="t1"/>
          <p:cNvSpPr/>
          <p:nvPr/>
        </p:nvSpPr>
        <p:spPr>
          <a:xfrm>
            <a:off x="1835200"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Resolve scope</a:t>
            </a:r>
          </a:p>
        </p:txBody>
      </p:sp>
      <p:sp>
        <p:nvSpPr>
          <p:cNvPr id="53" name="d1"/>
          <p:cNvSpPr/>
          <p:nvPr/>
        </p:nvSpPr>
        <p:spPr>
          <a:xfrm>
            <a:off x="1835200"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Two periods</a:t>
            </a:r>
          </a:p>
        </p:txBody>
      </p:sp>
      <p:sp>
        <p:nvSpPr>
          <p:cNvPr id="54" name="halo2"/>
          <p:cNvSpPr/>
          <p:nvPr/>
        </p:nvSpPr>
        <p:spPr>
          <a:xfrm>
            <a:off x="3981297" y="3282696"/>
            <a:ext cx="475488" cy="475488"/>
          </a:xfrm>
          <a:prstGeom prst="ellipse">
            <a:avLst/>
          </a:prstGeom>
          <a:solidFill>
            <a:srgbClr val="EAF2F1"/>
          </a:solidFill>
          <a:ln w="0">
            <a:noFill/>
          </a:ln>
        </p:spPr>
      </p:sp>
      <p:sp>
        <p:nvSpPr>
          <p:cNvPr id="55" name="dot2"/>
          <p:cNvSpPr/>
          <p:nvPr/>
        </p:nvSpPr>
        <p:spPr>
          <a:xfrm>
            <a:off x="4118457" y="3419856"/>
            <a:ext cx="201168" cy="201168"/>
          </a:xfrm>
          <a:prstGeom prst="ellipse">
            <a:avLst/>
          </a:prstGeom>
          <a:solidFill>
            <a:srgbClr val="006D77"/>
          </a:solidFill>
          <a:ln w="22225">
            <a:solidFill>
              <a:srgbClr val="006D77"/>
            </a:solidFill>
          </a:ln>
        </p:spPr>
      </p:sp>
      <p:sp>
        <p:nvSpPr>
          <p:cNvPr id="56" name="n2"/>
          <p:cNvSpPr/>
          <p:nvPr/>
        </p:nvSpPr>
        <p:spPr>
          <a:xfrm>
            <a:off x="3076041"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03</a:t>
            </a:r>
          </a:p>
        </p:txBody>
      </p:sp>
      <p:sp>
        <p:nvSpPr>
          <p:cNvPr id="57" name="t2"/>
          <p:cNvSpPr/>
          <p:nvPr/>
        </p:nvSpPr>
        <p:spPr>
          <a:xfrm>
            <a:off x="3076041"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Get the facts</a:t>
            </a:r>
          </a:p>
        </p:txBody>
      </p:sp>
      <p:sp>
        <p:nvSpPr>
          <p:cNvPr id="58" name="d2"/>
          <p:cNvSpPr/>
          <p:nvPr/>
        </p:nvSpPr>
        <p:spPr>
          <a:xfrm>
            <a:off x="3076041"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Run comparison</a:t>
            </a:r>
          </a:p>
        </p:txBody>
      </p:sp>
      <p:sp>
        <p:nvSpPr>
          <p:cNvPr id="59" name="halo3"/>
          <p:cNvSpPr/>
          <p:nvPr/>
        </p:nvSpPr>
        <p:spPr>
          <a:xfrm>
            <a:off x="5222138" y="3282696"/>
            <a:ext cx="475488" cy="475488"/>
          </a:xfrm>
          <a:prstGeom prst="ellipse">
            <a:avLst/>
          </a:prstGeom>
          <a:solidFill>
            <a:srgbClr val="EAF2F1"/>
          </a:solidFill>
          <a:ln w="0">
            <a:noFill/>
          </a:ln>
        </p:spPr>
      </p:sp>
      <p:sp>
        <p:nvSpPr>
          <p:cNvPr id="60" name="dot3"/>
          <p:cNvSpPr/>
          <p:nvPr/>
        </p:nvSpPr>
        <p:spPr>
          <a:xfrm>
            <a:off x="5359298" y="3419856"/>
            <a:ext cx="201168" cy="201168"/>
          </a:xfrm>
          <a:prstGeom prst="ellipse">
            <a:avLst/>
          </a:prstGeom>
          <a:solidFill>
            <a:srgbClr val="006D77"/>
          </a:solidFill>
          <a:ln w="22225">
            <a:solidFill>
              <a:srgbClr val="006D77"/>
            </a:solidFill>
          </a:ln>
        </p:spPr>
      </p:sp>
      <p:sp>
        <p:nvSpPr>
          <p:cNvPr id="61" name="n3"/>
          <p:cNvSpPr/>
          <p:nvPr/>
        </p:nvSpPr>
        <p:spPr>
          <a:xfrm>
            <a:off x="4316882"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04</a:t>
            </a:r>
          </a:p>
        </p:txBody>
      </p:sp>
      <p:sp>
        <p:nvSpPr>
          <p:cNvPr id="62" name="t3"/>
          <p:cNvSpPr/>
          <p:nvPr/>
        </p:nvSpPr>
        <p:spPr>
          <a:xfrm>
            <a:off x="4316882"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Verify</a:t>
            </a:r>
          </a:p>
        </p:txBody>
      </p:sp>
      <p:sp>
        <p:nvSpPr>
          <p:cNvPr id="63" name="d3"/>
          <p:cNvSpPr/>
          <p:nvPr/>
        </p:nvSpPr>
        <p:spPr>
          <a:xfrm>
            <a:off x="4316882"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Check figures</a:t>
            </a:r>
          </a:p>
        </p:txBody>
      </p:sp>
      <p:sp>
        <p:nvSpPr>
          <p:cNvPr id="64" name="halo4"/>
          <p:cNvSpPr/>
          <p:nvPr/>
        </p:nvSpPr>
        <p:spPr>
          <a:xfrm>
            <a:off x="6462979" y="3282696"/>
            <a:ext cx="475488" cy="475488"/>
          </a:xfrm>
          <a:prstGeom prst="ellipse">
            <a:avLst/>
          </a:prstGeom>
          <a:solidFill>
            <a:srgbClr val="EAF2F1"/>
          </a:solidFill>
          <a:ln w="0">
            <a:noFill/>
          </a:ln>
        </p:spPr>
      </p:sp>
      <p:sp>
        <p:nvSpPr>
          <p:cNvPr id="65" name="dot4"/>
          <p:cNvSpPr/>
          <p:nvPr/>
        </p:nvSpPr>
        <p:spPr>
          <a:xfrm>
            <a:off x="6600139" y="3419856"/>
            <a:ext cx="201168" cy="201168"/>
          </a:xfrm>
          <a:prstGeom prst="ellipse">
            <a:avLst/>
          </a:prstGeom>
          <a:solidFill>
            <a:srgbClr val="006D77"/>
          </a:solidFill>
          <a:ln w="22225">
            <a:solidFill>
              <a:srgbClr val="006D77"/>
            </a:solidFill>
          </a:ln>
        </p:spPr>
      </p:sp>
      <p:sp>
        <p:nvSpPr>
          <p:cNvPr id="66" name="n4"/>
          <p:cNvSpPr/>
          <p:nvPr/>
        </p:nvSpPr>
        <p:spPr>
          <a:xfrm>
            <a:off x="5557723"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05</a:t>
            </a:r>
          </a:p>
        </p:txBody>
      </p:sp>
      <p:sp>
        <p:nvSpPr>
          <p:cNvPr id="67" name="t4"/>
          <p:cNvSpPr/>
          <p:nvPr/>
        </p:nvSpPr>
        <p:spPr>
          <a:xfrm>
            <a:off x="5557723" y="2441448"/>
            <a:ext cx="2286000" cy="310896"/>
          </a:xfrm>
          <a:prstGeom prst="rect">
            <a:avLst/>
          </a:prstGeom>
          <a:noFill/>
          <a:ln w="0">
            <a:noFill/>
          </a:ln>
        </p:spPr>
        <p:txBody>
          <a:bodyPr wrap="square" lIns="0" tIns="0" rIns="0" bIns="0" anchor="t">
            <a:noAutofit/>
          </a:bodyPr>
          <a:lstStyle/>
          <a:p>
            <a:pPr algn="ctr">
              <a:lnSpc>
                <a:spcPct val="112000"/>
              </a:lnSpc>
              <a:buNone/>
            </a:pPr>
            <a:r>
              <a:rPr lang="en-US" sz="1875" b="1">
                <a:solidFill>
                  <a:srgbClr val="006D77"/>
                </a:solidFill>
                <a:latin typeface="Arial"/>
                <a:ea typeface="Arial"/>
                <a:cs typeface="Arial"/>
              </a:rPr>
              <a:t>Explain</a:t>
            </a:r>
          </a:p>
        </p:txBody>
      </p:sp>
      <p:sp>
        <p:nvSpPr>
          <p:cNvPr id="68" name="d4"/>
          <p:cNvSpPr/>
          <p:nvPr/>
        </p:nvSpPr>
        <p:spPr>
          <a:xfrm>
            <a:off x="5557723"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+96 orders</a:t>
            </a:r>
          </a:p>
        </p:txBody>
      </p:sp>
      <p:sp>
        <p:nvSpPr>
          <p:cNvPr id="69" name="halo5"/>
          <p:cNvSpPr/>
          <p:nvPr/>
        </p:nvSpPr>
        <p:spPr>
          <a:xfrm>
            <a:off x="7703820" y="3282696"/>
            <a:ext cx="475488" cy="475488"/>
          </a:xfrm>
          <a:prstGeom prst="ellipse">
            <a:avLst/>
          </a:prstGeom>
          <a:solidFill>
            <a:srgbClr val="EAF2F1"/>
          </a:solidFill>
          <a:ln w="0">
            <a:noFill/>
          </a:ln>
        </p:spPr>
      </p:sp>
      <p:sp>
        <p:nvSpPr>
          <p:cNvPr id="70" name="dot5"/>
          <p:cNvSpPr/>
          <p:nvPr/>
        </p:nvSpPr>
        <p:spPr>
          <a:xfrm>
            <a:off x="7840980" y="3419856"/>
            <a:ext cx="201168" cy="201168"/>
          </a:xfrm>
          <a:prstGeom prst="ellipse">
            <a:avLst/>
          </a:prstGeom>
          <a:solidFill>
            <a:srgbClr val="006D77"/>
          </a:solidFill>
          <a:ln w="22225">
            <a:solidFill>
              <a:srgbClr val="006D77"/>
            </a:solidFill>
          </a:ln>
        </p:spPr>
      </p:sp>
      <p:sp>
        <p:nvSpPr>
          <p:cNvPr id="71" name="n5"/>
          <p:cNvSpPr/>
          <p:nvPr/>
        </p:nvSpPr>
        <p:spPr>
          <a:xfrm>
            <a:off x="6798564"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06</a:t>
            </a:r>
          </a:p>
        </p:txBody>
      </p:sp>
      <p:sp>
        <p:nvSpPr>
          <p:cNvPr id="72" name="t5"/>
          <p:cNvSpPr/>
          <p:nvPr/>
        </p:nvSpPr>
        <p:spPr>
          <a:xfrm>
            <a:off x="6798564"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Follow up</a:t>
            </a:r>
          </a:p>
        </p:txBody>
      </p:sp>
      <p:sp>
        <p:nvSpPr>
          <p:cNvPr id="73" name="d5"/>
          <p:cNvSpPr/>
          <p:nvPr/>
        </p:nvSpPr>
        <p:spPr>
          <a:xfrm>
            <a:off x="6798564"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May orders</a:t>
            </a:r>
          </a:p>
        </p:txBody>
      </p:sp>
      <p:sp>
        <p:nvSpPr>
          <p:cNvPr id="74" name="halo6"/>
          <p:cNvSpPr/>
          <p:nvPr/>
        </p:nvSpPr>
        <p:spPr>
          <a:xfrm>
            <a:off x="8944660" y="3282696"/>
            <a:ext cx="475488" cy="475488"/>
          </a:xfrm>
          <a:prstGeom prst="ellipse">
            <a:avLst/>
          </a:prstGeom>
          <a:solidFill>
            <a:srgbClr val="EAF2F1"/>
          </a:solidFill>
          <a:ln w="0">
            <a:noFill/>
          </a:ln>
        </p:spPr>
      </p:sp>
      <p:sp>
        <p:nvSpPr>
          <p:cNvPr id="75" name="dot6"/>
          <p:cNvSpPr/>
          <p:nvPr/>
        </p:nvSpPr>
        <p:spPr>
          <a:xfrm>
            <a:off x="9081820" y="3419856"/>
            <a:ext cx="201168" cy="201168"/>
          </a:xfrm>
          <a:prstGeom prst="ellipse">
            <a:avLst/>
          </a:prstGeom>
          <a:solidFill>
            <a:srgbClr val="006D77"/>
          </a:solidFill>
          <a:ln w="22225">
            <a:solidFill>
              <a:srgbClr val="006D77"/>
            </a:solidFill>
          </a:ln>
        </p:spPr>
      </p:sp>
      <p:sp>
        <p:nvSpPr>
          <p:cNvPr id="76" name="n6"/>
          <p:cNvSpPr/>
          <p:nvPr/>
        </p:nvSpPr>
        <p:spPr>
          <a:xfrm>
            <a:off x="8039404"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07</a:t>
            </a:r>
          </a:p>
        </p:txBody>
      </p:sp>
      <p:sp>
        <p:nvSpPr>
          <p:cNvPr id="77" name="t6"/>
          <p:cNvSpPr/>
          <p:nvPr/>
        </p:nvSpPr>
        <p:spPr>
          <a:xfrm>
            <a:off x="8039404"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Open view</a:t>
            </a:r>
          </a:p>
        </p:txBody>
      </p:sp>
      <p:sp>
        <p:nvSpPr>
          <p:cNvPr id="78" name="d6"/>
          <p:cNvSpPr/>
          <p:nvPr/>
        </p:nvSpPr>
        <p:spPr>
          <a:xfrm>
            <a:off x="8039404"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Matching page</a:t>
            </a:r>
          </a:p>
        </p:txBody>
      </p:sp>
      <p:sp>
        <p:nvSpPr>
          <p:cNvPr id="79" name="halo7"/>
          <p:cNvSpPr/>
          <p:nvPr/>
        </p:nvSpPr>
        <p:spPr>
          <a:xfrm>
            <a:off x="10185501" y="3282696"/>
            <a:ext cx="475488" cy="475488"/>
          </a:xfrm>
          <a:prstGeom prst="ellipse">
            <a:avLst/>
          </a:prstGeom>
          <a:solidFill>
            <a:srgbClr val="EAF2F1"/>
          </a:solidFill>
          <a:ln w="0">
            <a:noFill/>
          </a:ln>
        </p:spPr>
      </p:sp>
      <p:sp>
        <p:nvSpPr>
          <p:cNvPr id="80" name="dot7"/>
          <p:cNvSpPr/>
          <p:nvPr/>
        </p:nvSpPr>
        <p:spPr>
          <a:xfrm>
            <a:off x="10322661" y="3419856"/>
            <a:ext cx="201168" cy="201168"/>
          </a:xfrm>
          <a:prstGeom prst="ellipse">
            <a:avLst/>
          </a:prstGeom>
          <a:solidFill>
            <a:srgbClr val="006D77"/>
          </a:solidFill>
          <a:ln w="22225">
            <a:solidFill>
              <a:srgbClr val="006D77"/>
            </a:solidFill>
          </a:ln>
        </p:spPr>
      </p:sp>
      <p:sp>
        <p:nvSpPr>
          <p:cNvPr id="81" name="n7"/>
          <p:cNvSpPr/>
          <p:nvPr/>
        </p:nvSpPr>
        <p:spPr>
          <a:xfrm>
            <a:off x="9280245"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08</a:t>
            </a:r>
          </a:p>
        </p:txBody>
      </p:sp>
      <p:sp>
        <p:nvSpPr>
          <p:cNvPr id="82" name="t7"/>
          <p:cNvSpPr/>
          <p:nvPr/>
        </p:nvSpPr>
        <p:spPr>
          <a:xfrm>
            <a:off x="9280245"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Confirm</a:t>
            </a:r>
          </a:p>
        </p:txBody>
      </p:sp>
      <p:sp>
        <p:nvSpPr>
          <p:cNvPr id="83" name="d7"/>
          <p:cNvSpPr/>
          <p:nvPr/>
        </p:nvSpPr>
        <p:spPr>
          <a:xfrm>
            <a:off x="9280245"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 answer</a:t>
            </a:r>
          </a:p>
        </p:txBody>
      </p:sp>
      <p:sp>
        <p:nvSpPr>
          <p:cNvPr id="84" name="data-strip"/>
          <p:cNvSpPr/>
          <p:nvPr/>
        </p:nvSpPr>
        <p:spPr>
          <a:xfrm>
            <a:off x="640080" y="5257800"/>
            <a:ext cx="10972800" cy="502920"/>
          </a:xfrm>
          <a:prstGeom prst="rect">
            <a:avLst/>
          </a:prstGeom>
          <a:solidFill>
            <a:srgbClr val="EAF2F1"/>
          </a:solidFill>
          <a:ln w="19050">
            <a:solidFill>
              <a:srgbClr val="006D77"/>
            </a:solidFill>
          </a:ln>
        </p:spPr>
      </p:sp>
      <p:sp>
        <p:nvSpPr>
          <p:cNvPr id="85" name="data-text"/>
          <p:cNvSpPr/>
          <p:nvPr/>
        </p:nvSpPr>
        <p:spPr>
          <a:xfrm>
            <a:off x="822960" y="5340096"/>
            <a:ext cx="1060704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Verified data: April 1,951 · May 2,047 · 96 more orders · 4.92% · April’s 1,951 read back from the ERPNext page</a:t>
            </a:r>
          </a:p>
        </p:txBody>
      </p:sp>
      <p:sp>
        <p:nvSpPr>
          <p:cNvPr id="86" name="w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line turns dashed after step 5: those steps need the joined runtime, which remains proposed.</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23</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23</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19.</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23</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23</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21 / 23</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23 / 23</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6517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98094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42900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375818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a:t>
            </a:r>
          </a:p>
        </p:txBody>
      </p:sp>
      <p:sp>
        <p:nvSpPr>
          <p:cNvPr id="21" name="lead-Sapien"/>
          <p:cNvSpPr/>
          <p:nvPr/>
        </p:nvSpPr>
        <p:spPr>
          <a:xfrm>
            <a:off x="868680" y="420624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53542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611880"/>
          </a:xfrm>
          <a:prstGeom prst="rect">
            <a:avLst/>
          </a:prstGeom>
          <a:solidFill>
            <a:srgbClr val="EAF2F1"/>
          </a:solidFill>
          <a:ln w="15240">
            <a:solidFill>
              <a:srgbClr val="006D77"/>
            </a:solidFill>
          </a:ln>
        </p:spPr>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Held-o"/>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22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Our own window.__vacp prototype, 23 of 23 checks against SQL; joining it to the agent is pending.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VACP: how context is kept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Follow-ups in the in-app chat</a:t>
            </a:r>
          </a:p>
        </p:txBody>
      </p:sp>
      <p:sp>
        <p:nvSpPr>
          <p:cNvPr id="14" name="col0"/>
          <p:cNvSpPr/>
          <p:nvPr/>
        </p:nvSpPr>
        <p:spPr>
          <a:xfrm>
            <a:off x="640080" y="1783080"/>
            <a:ext cx="3474720" cy="3931920"/>
          </a:xfrm>
          <a:prstGeom prst="rect">
            <a:avLst/>
          </a:prstGeom>
          <a:solidFill>
            <a:srgbClr val="FFFFFF"/>
          </a:solidFill>
          <a:ln w="19050">
            <a:solidFill>
              <a:srgbClr val="006D77"/>
            </a:solidFill>
          </a:ln>
        </p:spPr>
      </p:sp>
      <p:sp>
        <p:nvSpPr>
          <p:cNvPr id="15" name="col0-h"/>
          <p:cNvSpPr/>
          <p:nvPr/>
        </p:nvSpPr>
        <p:spPr>
          <a:xfrm>
            <a:off x="82295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Today</a:t>
            </a:r>
          </a:p>
        </p:txBody>
      </p:sp>
      <p:sp>
        <p:nvSpPr>
          <p:cNvPr id="16" name="col0-g"/>
          <p:cNvSpPr/>
          <p:nvPr/>
        </p:nvSpPr>
        <p:spPr>
          <a:xfrm>
            <a:off x="82295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in the VACP chat</a:t>
            </a:r>
          </a:p>
        </p:txBody>
      </p:sp>
      <p:sp>
        <p:nvSpPr>
          <p:cNvPr id="17" name="col0-m0"/>
          <p:cNvSpPr/>
          <p:nvPr/>
        </p:nvSpPr>
        <p:spPr>
          <a:xfrm>
            <a:off x="841247" y="2825496"/>
            <a:ext cx="91440" cy="91440"/>
          </a:xfrm>
          <a:prstGeom prst="rect">
            <a:avLst/>
          </a:prstGeom>
          <a:solidFill>
            <a:srgbClr val="006D77"/>
          </a:solidFill>
          <a:ln w="0">
            <a:noFill/>
          </a:ln>
        </p:spPr>
      </p:sp>
      <p:sp>
        <p:nvSpPr>
          <p:cNvPr id="18" name="col0-i0"/>
          <p:cNvSpPr/>
          <p:nvPr/>
        </p:nvSpPr>
        <p:spPr>
          <a:xfrm>
            <a:off x="1051560"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One chat thread for the whole Desk, kept across page changes</a:t>
            </a:r>
          </a:p>
        </p:txBody>
      </p:sp>
      <p:sp>
        <p:nvSpPr>
          <p:cNvPr id="19" name="col0-m1"/>
          <p:cNvSpPr/>
          <p:nvPr/>
        </p:nvSpPr>
        <p:spPr>
          <a:xfrm>
            <a:off x="841247" y="3429000"/>
            <a:ext cx="91440" cy="91440"/>
          </a:xfrm>
          <a:prstGeom prst="rect">
            <a:avLst/>
          </a:prstGeom>
          <a:solidFill>
            <a:srgbClr val="006D77"/>
          </a:solidFill>
          <a:ln w="0">
            <a:noFill/>
          </a:ln>
        </p:spPr>
      </p:sp>
      <p:sp>
        <p:nvSpPr>
          <p:cNvPr id="20" name="col0-i1"/>
          <p:cNvSpPr/>
          <p:nvPr/>
        </p:nvSpPr>
        <p:spPr>
          <a:xfrm>
            <a:off x="1051560"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Whole thread sent each turn; older results shortened</a:t>
            </a:r>
          </a:p>
        </p:txBody>
      </p:sp>
      <p:sp>
        <p:nvSpPr>
          <p:cNvPr id="21" name="col0-m2"/>
          <p:cNvSpPr/>
          <p:nvPr/>
        </p:nvSpPr>
        <p:spPr>
          <a:xfrm>
            <a:off x="841247" y="4032504"/>
            <a:ext cx="91440" cy="91440"/>
          </a:xfrm>
          <a:prstGeom prst="rect">
            <a:avLst/>
          </a:prstGeom>
          <a:solidFill>
            <a:srgbClr val="006D77"/>
          </a:solidFill>
          <a:ln w="0">
            <a:noFill/>
          </a:ln>
        </p:spPr>
      </p:sp>
      <p:sp>
        <p:nvSpPr>
          <p:cNvPr id="22" name="col0-i2"/>
          <p:cNvSpPr/>
          <p:nvPr/>
        </p:nvSpPr>
        <p:spPr>
          <a:xfrm>
            <a:off x="1051560"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Live screen state read on demand (vacp_state)</a:t>
            </a:r>
          </a:p>
        </p:txBody>
      </p:sp>
      <p:sp>
        <p:nvSpPr>
          <p:cNvPr id="23" name="col0-m3"/>
          <p:cNvSpPr/>
          <p:nvPr/>
        </p:nvSpPr>
        <p:spPr>
          <a:xfrm>
            <a:off x="841247" y="4636008"/>
            <a:ext cx="91440" cy="91440"/>
          </a:xfrm>
          <a:prstGeom prst="rect">
            <a:avLst/>
          </a:prstGeom>
          <a:solidFill>
            <a:srgbClr val="006D77"/>
          </a:solidFill>
          <a:ln w="0">
            <a:noFill/>
          </a:ln>
        </p:spPr>
      </p:sp>
      <p:sp>
        <p:nvSpPr>
          <p:cNvPr id="24" name="col0-i3"/>
          <p:cNvSpPr/>
          <p:nvPr/>
        </p:nvSpPr>
        <p:spPr>
          <a:xfrm>
            <a:off x="1051560"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Thread saved in the browser; survives a reload</a:t>
            </a:r>
          </a:p>
        </p:txBody>
      </p:sp>
      <p:sp>
        <p:nvSpPr>
          <p:cNvPr id="25" name="col0-m4"/>
          <p:cNvSpPr/>
          <p:nvPr/>
        </p:nvSpPr>
        <p:spPr>
          <a:xfrm>
            <a:off x="841247" y="5239512"/>
            <a:ext cx="91440" cy="91440"/>
          </a:xfrm>
          <a:prstGeom prst="rect">
            <a:avLst/>
          </a:prstGeom>
          <a:solidFill>
            <a:srgbClr val="006D77"/>
          </a:solidFill>
          <a:ln w="0">
            <a:noFill/>
          </a:ln>
        </p:spPr>
      </p:sp>
      <p:sp>
        <p:nvSpPr>
          <p:cNvPr id="26" name="col0-i4"/>
          <p:cNvSpPr/>
          <p:nvPr/>
        </p:nvSpPr>
        <p:spPr>
          <a:xfrm>
            <a:off x="1051560" y="5157216"/>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Current page attached to each message (our hook)</a:t>
            </a:r>
          </a:p>
        </p:txBody>
      </p:sp>
      <p:sp>
        <p:nvSpPr>
          <p:cNvPr id="27" name="col1"/>
          <p:cNvSpPr/>
          <p:nvPr/>
        </p:nvSpPr>
        <p:spPr>
          <a:xfrm>
            <a:off x="4389120" y="1783080"/>
            <a:ext cx="3474720" cy="3931920"/>
          </a:xfrm>
          <a:prstGeom prst="rect">
            <a:avLst/>
          </a:prstGeom>
          <a:solidFill>
            <a:srgbClr val="FFFFFF"/>
          </a:solidFill>
          <a:ln w="19050">
            <a:solidFill>
              <a:srgbClr val="006D77"/>
            </a:solidFill>
          </a:ln>
        </p:spPr>
      </p:sp>
      <p:sp>
        <p:nvSpPr>
          <p:cNvPr id="28" name="col1-h"/>
          <p:cNvSpPr/>
          <p:nvPr/>
        </p:nvSpPr>
        <p:spPr>
          <a:xfrm>
            <a:off x="4572000"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02A43"/>
                </a:solidFill>
                <a:latin typeface="Arial"/>
                <a:ea typeface="Arial"/>
                <a:cs typeface="Arial"/>
              </a:rPr>
              <a:t>Gaps found</a:t>
            </a:r>
          </a:p>
        </p:txBody>
      </p:sp>
      <p:sp>
        <p:nvSpPr>
          <p:cNvPr id="29" name="col1-g"/>
          <p:cNvSpPr/>
          <p:nvPr/>
        </p:nvSpPr>
        <p:spPr>
          <a:xfrm>
            <a:off x="4572000"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anecdotal</a:t>
            </a:r>
          </a:p>
        </p:txBody>
      </p:sp>
      <p:sp>
        <p:nvSpPr>
          <p:cNvPr id="30" name="col1-m0"/>
          <p:cNvSpPr/>
          <p:nvPr/>
        </p:nvSpPr>
        <p:spPr>
          <a:xfrm>
            <a:off x="4590288" y="2825496"/>
            <a:ext cx="91440" cy="91440"/>
          </a:xfrm>
          <a:prstGeom prst="rect">
            <a:avLst/>
          </a:prstGeom>
          <a:solidFill>
            <a:srgbClr val="006D77"/>
          </a:solidFill>
          <a:ln w="0">
            <a:noFill/>
          </a:ln>
        </p:spPr>
      </p:sp>
      <p:sp>
        <p:nvSpPr>
          <p:cNvPr id="31" name="col1-i0"/>
          <p:cNvSpPr/>
          <p:nvPr/>
        </p:nvSpPr>
        <p:spPr>
          <a:xfrm>
            <a:off x="4800600"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Shortened results lose rows and the action list</a:t>
            </a:r>
          </a:p>
        </p:txBody>
      </p:sp>
      <p:sp>
        <p:nvSpPr>
          <p:cNvPr id="32" name="col1-m1"/>
          <p:cNvSpPr/>
          <p:nvPr/>
        </p:nvSpPr>
        <p:spPr>
          <a:xfrm>
            <a:off x="4590288" y="3429000"/>
            <a:ext cx="91440" cy="91440"/>
          </a:xfrm>
          <a:prstGeom prst="rect">
            <a:avLst/>
          </a:prstGeom>
          <a:solidFill>
            <a:srgbClr val="006D77"/>
          </a:solidFill>
          <a:ln w="0">
            <a:noFill/>
          </a:ln>
        </p:spPr>
      </p:sp>
      <p:sp>
        <p:nvSpPr>
          <p:cNvPr id="33" name="col1-i1"/>
          <p:cNvSpPr/>
          <p:nvPr/>
        </p:nvSpPr>
        <p:spPr>
          <a:xfrm>
            <a:off x="4800600"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Re-read the action list in 6 of 11 runs</a:t>
            </a:r>
          </a:p>
        </p:txBody>
      </p:sp>
      <p:sp>
        <p:nvSpPr>
          <p:cNvPr id="34" name="col1-m2"/>
          <p:cNvSpPr/>
          <p:nvPr/>
        </p:nvSpPr>
        <p:spPr>
          <a:xfrm>
            <a:off x="4590288" y="4032504"/>
            <a:ext cx="91440" cy="91440"/>
          </a:xfrm>
          <a:prstGeom prst="rect">
            <a:avLst/>
          </a:prstGeom>
          <a:solidFill>
            <a:srgbClr val="006D77"/>
          </a:solidFill>
          <a:ln w="0">
            <a:noFill/>
          </a:ln>
        </p:spPr>
      </p:sp>
      <p:sp>
        <p:nvSpPr>
          <p:cNvPr id="35" name="col1-i2"/>
          <p:cNvSpPr/>
          <p:nvPr/>
        </p:nvSpPr>
        <p:spPr>
          <a:xfrm>
            <a:off x="4800600"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Model is not told when the user edits the screen</a:t>
            </a:r>
          </a:p>
        </p:txBody>
      </p:sp>
      <p:sp>
        <p:nvSpPr>
          <p:cNvPr id="36" name="col1-m3"/>
          <p:cNvSpPr/>
          <p:nvPr/>
        </p:nvSpPr>
        <p:spPr>
          <a:xfrm>
            <a:off x="4590288" y="4636008"/>
            <a:ext cx="91440" cy="91440"/>
          </a:xfrm>
          <a:prstGeom prst="rect">
            <a:avLst/>
          </a:prstGeom>
          <a:solidFill>
            <a:srgbClr val="006D77"/>
          </a:solidFill>
          <a:ln w="0">
            <a:noFill/>
          </a:ln>
        </p:spPr>
      </p:sp>
      <p:sp>
        <p:nvSpPr>
          <p:cNvPr id="37" name="col1-i3"/>
          <p:cNvSpPr/>
          <p:nvPr/>
        </p:nvSpPr>
        <p:spPr>
          <a:xfrm>
            <a:off x="4800600"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filters ignored: wrong-scope risk</a:t>
            </a:r>
          </a:p>
        </p:txBody>
      </p:sp>
      <p:sp>
        <p:nvSpPr>
          <p:cNvPr id="38" name="col1-m4"/>
          <p:cNvSpPr/>
          <p:nvPr/>
        </p:nvSpPr>
        <p:spPr>
          <a:xfrm>
            <a:off x="4590288" y="5239512"/>
            <a:ext cx="91440" cy="91440"/>
          </a:xfrm>
          <a:prstGeom prst="rect">
            <a:avLst/>
          </a:prstGeom>
          <a:solidFill>
            <a:srgbClr val="006D77"/>
          </a:solidFill>
          <a:ln w="0">
            <a:noFill/>
          </a:ln>
        </p:spPr>
      </p:sp>
      <p:sp>
        <p:nvSpPr>
          <p:cNvPr id="39" name="col1-i4"/>
          <p:cNvSpPr/>
          <p:nvPr/>
        </p:nvSpPr>
        <p:spPr>
          <a:xfrm>
            <a:off x="4800600" y="5157216"/>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Simple follow-ups worked in 3 of 3 probes</a:t>
            </a:r>
          </a:p>
        </p:txBody>
      </p:sp>
      <p:sp>
        <p:nvSpPr>
          <p:cNvPr id="40" name="col2"/>
          <p:cNvSpPr/>
          <p:nvPr/>
        </p:nvSpPr>
        <p:spPr>
          <a:xfrm>
            <a:off x="8138159" y="1783080"/>
            <a:ext cx="3474720" cy="3931920"/>
          </a:xfrm>
          <a:prstGeom prst="rect">
            <a:avLst/>
          </a:prstGeom>
          <a:solidFill>
            <a:srgbClr val="EAF2F1"/>
          </a:solidFill>
          <a:ln w="19050">
            <a:solidFill>
              <a:srgbClr val="006D77"/>
            </a:solidFill>
            <a:prstDash val="dash"/>
          </a:ln>
        </p:spPr>
      </p:sp>
      <p:sp>
        <p:nvSpPr>
          <p:cNvPr id="41" name="col2-h"/>
          <p:cNvSpPr/>
          <p:nvPr/>
        </p:nvSpPr>
        <p:spPr>
          <a:xfrm>
            <a:off x="832103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Next</a:t>
            </a:r>
          </a:p>
        </p:txBody>
      </p:sp>
      <p:sp>
        <p:nvSpPr>
          <p:cNvPr id="42" name="col2-g"/>
          <p:cNvSpPr/>
          <p:nvPr/>
        </p:nvSpPr>
        <p:spPr>
          <a:xfrm>
            <a:off x="832103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Not built yet</a:t>
            </a:r>
          </a:p>
        </p:txBody>
      </p:sp>
      <p:sp>
        <p:nvSpPr>
          <p:cNvPr id="43" name="col2-m0"/>
          <p:cNvSpPr/>
          <p:nvPr/>
        </p:nvSpPr>
        <p:spPr>
          <a:xfrm>
            <a:off x="8339327" y="2825496"/>
            <a:ext cx="91440" cy="91440"/>
          </a:xfrm>
          <a:prstGeom prst="rect">
            <a:avLst/>
          </a:prstGeom>
          <a:solidFill>
            <a:srgbClr val="006D77"/>
          </a:solidFill>
          <a:ln w="0">
            <a:noFill/>
          </a:ln>
        </p:spPr>
      </p:sp>
      <p:sp>
        <p:nvSpPr>
          <p:cNvPr id="44" name="col2-i0"/>
          <p:cNvSpPr/>
          <p:nvPr/>
        </p:nvSpPr>
        <p:spPr>
          <a:xfrm>
            <a:off x="8549639"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Context block and digests of older results</a:t>
            </a:r>
          </a:p>
        </p:txBody>
      </p:sp>
      <p:sp>
        <p:nvSpPr>
          <p:cNvPr id="45" name="col2-m1"/>
          <p:cNvSpPr/>
          <p:nvPr/>
        </p:nvSpPr>
        <p:spPr>
          <a:xfrm>
            <a:off x="8339327" y="3429000"/>
            <a:ext cx="91440" cy="91440"/>
          </a:xfrm>
          <a:prstGeom prst="rect">
            <a:avLst/>
          </a:prstGeom>
          <a:solidFill>
            <a:srgbClr val="006D77"/>
          </a:solidFill>
          <a:ln w="0">
            <a:noFill/>
          </a:ln>
        </p:spPr>
      </p:sp>
      <p:sp>
        <p:nvSpPr>
          <p:cNvPr id="46" name="col2-i1"/>
          <p:cNvSpPr/>
          <p:nvPr/>
        </p:nvSpPr>
        <p:spPr>
          <a:xfrm>
            <a:off x="8549639"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parameters become errors</a:t>
            </a:r>
          </a:p>
        </p:txBody>
      </p:sp>
      <p:sp>
        <p:nvSpPr>
          <p:cNvPr id="47" name="col2-m2"/>
          <p:cNvSpPr/>
          <p:nvPr/>
        </p:nvSpPr>
        <p:spPr>
          <a:xfrm>
            <a:off x="8339327" y="4032504"/>
            <a:ext cx="91440" cy="91440"/>
          </a:xfrm>
          <a:prstGeom prst="rect">
            <a:avLst/>
          </a:prstGeom>
          <a:solidFill>
            <a:srgbClr val="006D77"/>
          </a:solidFill>
          <a:ln w="0">
            <a:noFill/>
          </a:ln>
        </p:spPr>
      </p:sp>
      <p:sp>
        <p:nvSpPr>
          <p:cNvPr id="48" name="col2-i2"/>
          <p:cNvSpPr/>
          <p:nvPr/>
        </p:nvSpPr>
        <p:spPr>
          <a:xfrm>
            <a:off x="8549639"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Back and remove-one-filter actions</a:t>
            </a:r>
          </a:p>
        </p:txBody>
      </p:sp>
      <p:sp>
        <p:nvSpPr>
          <p:cNvPr id="49" name="col2-m3"/>
          <p:cNvSpPr/>
          <p:nvPr/>
        </p:nvSpPr>
        <p:spPr>
          <a:xfrm>
            <a:off x="8339327" y="4636008"/>
            <a:ext cx="91440" cy="91440"/>
          </a:xfrm>
          <a:prstGeom prst="rect">
            <a:avLst/>
          </a:prstGeom>
          <a:solidFill>
            <a:srgbClr val="006D77"/>
          </a:solidFill>
          <a:ln w="0">
            <a:noFill/>
          </a:ln>
        </p:spPr>
      </p:sp>
      <p:sp>
        <p:nvSpPr>
          <p:cNvPr id="50" name="col2-i3"/>
          <p:cNvSpPr/>
          <p:nvPr/>
        </p:nvSpPr>
        <p:spPr>
          <a:xfrm>
            <a:off x="8549639"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Test on 28 multi-turn conversations</a:t>
            </a:r>
          </a:p>
        </p:txBody>
      </p:sp>
      <p:sp>
        <p:nvSpPr>
          <p:cNvPr id="51" name="ctx-note"/>
          <p:cNvSpPr/>
          <p:nvPr/>
        </p:nvSpPr>
        <p:spPr>
          <a:xfrm>
            <a:off x="640080" y="594360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about 38 model calls, one run each. The page hook is our own design, not a VACP feature.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Innovations accomplished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inn0"/>
          <p:cNvSpPr/>
          <p:nvPr/>
        </p:nvSpPr>
        <p:spPr>
          <a:xfrm>
            <a:off x="640080" y="1325880"/>
            <a:ext cx="5394960" cy="1371600"/>
          </a:xfrm>
          <a:prstGeom prst="rect">
            <a:avLst/>
          </a:prstGeom>
          <a:solidFill>
            <a:srgbClr val="FFFFFF"/>
          </a:solidFill>
          <a:ln w="19050">
            <a:solidFill>
              <a:srgbClr val="006D77"/>
            </a:solidFill>
          </a:ln>
        </p:spPr>
      </p:sp>
      <p:sp>
        <p:nvSpPr>
          <p:cNvPr id="14" name="inn0-n"/>
          <p:cNvSpPr/>
          <p:nvPr/>
        </p:nvSpPr>
        <p:spPr>
          <a:xfrm>
            <a:off x="804671"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01</a:t>
            </a:r>
          </a:p>
        </p:txBody>
      </p:sp>
      <p:sp>
        <p:nvSpPr>
          <p:cNvPr id="15" name="inn0-t"/>
          <p:cNvSpPr/>
          <p:nvPr/>
        </p:nvSpPr>
        <p:spPr>
          <a:xfrm>
            <a:off x="132588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Code builds the calls</a:t>
            </a:r>
          </a:p>
        </p:txBody>
      </p:sp>
      <p:sp>
        <p:nvSpPr>
          <p:cNvPr id="16" name="inn0-b"/>
          <p:cNvSpPr/>
          <p:nvPr/>
        </p:nvSpPr>
        <p:spPr>
          <a:xfrm>
            <a:off x="132588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The model reads the request into fields; our code makes the tool calls.</a:t>
            </a:r>
          </a:p>
        </p:txBody>
      </p:sp>
      <p:sp>
        <p:nvSpPr>
          <p:cNvPr id="17" name="inn0-g"/>
          <p:cNvSpPr/>
          <p:nvPr/>
        </p:nvSpPr>
        <p:spPr>
          <a:xfrm>
            <a:off x="132588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77.0% of dev steps fully correct</a:t>
            </a:r>
          </a:p>
        </p:txBody>
      </p:sp>
      <p:sp>
        <p:nvSpPr>
          <p:cNvPr id="18" name="inn1"/>
          <p:cNvSpPr/>
          <p:nvPr/>
        </p:nvSpPr>
        <p:spPr>
          <a:xfrm>
            <a:off x="6217920" y="1325880"/>
            <a:ext cx="5394960" cy="1371600"/>
          </a:xfrm>
          <a:prstGeom prst="rect">
            <a:avLst/>
          </a:prstGeom>
          <a:solidFill>
            <a:srgbClr val="FFFFFF"/>
          </a:solidFill>
          <a:ln w="19050">
            <a:solidFill>
              <a:srgbClr val="006D77"/>
            </a:solidFill>
          </a:ln>
        </p:spPr>
      </p:sp>
      <p:sp>
        <p:nvSpPr>
          <p:cNvPr id="19" name="inn1-n"/>
          <p:cNvSpPr/>
          <p:nvPr/>
        </p:nvSpPr>
        <p:spPr>
          <a:xfrm>
            <a:off x="6382512"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02</a:t>
            </a:r>
          </a:p>
        </p:txBody>
      </p:sp>
      <p:sp>
        <p:nvSpPr>
          <p:cNvPr id="20" name="inn1-t"/>
          <p:cNvSpPr/>
          <p:nvPr/>
        </p:nvSpPr>
        <p:spPr>
          <a:xfrm>
            <a:off x="690372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Checks before every call</a:t>
            </a:r>
          </a:p>
        </p:txBody>
      </p:sp>
      <p:sp>
        <p:nvSpPr>
          <p:cNvPr id="21" name="inn1-b"/>
          <p:cNvSpPr/>
          <p:nvPr/>
        </p:nvSpPr>
        <p:spPr>
          <a:xfrm>
            <a:off x="690372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Invented ids and invalid combinations are rejected before anything runs.</a:t>
            </a:r>
          </a:p>
        </p:txBody>
      </p:sp>
      <p:sp>
        <p:nvSpPr>
          <p:cNvPr id="22" name="inn1-g"/>
          <p:cNvSpPr/>
          <p:nvPr/>
        </p:nvSpPr>
        <p:spPr>
          <a:xfrm>
            <a:off x="690372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16 unit tests pass</a:t>
            </a:r>
          </a:p>
        </p:txBody>
      </p:sp>
      <p:sp>
        <p:nvSpPr>
          <p:cNvPr id="23" name="inn2"/>
          <p:cNvSpPr/>
          <p:nvPr/>
        </p:nvSpPr>
        <p:spPr>
          <a:xfrm>
            <a:off x="640080" y="2788920"/>
            <a:ext cx="5394960" cy="1371600"/>
          </a:xfrm>
          <a:prstGeom prst="rect">
            <a:avLst/>
          </a:prstGeom>
          <a:solidFill>
            <a:srgbClr val="FFFFFF"/>
          </a:solidFill>
          <a:ln w="19050">
            <a:solidFill>
              <a:srgbClr val="006D77"/>
            </a:solidFill>
          </a:ln>
        </p:spPr>
      </p:sp>
      <p:sp>
        <p:nvSpPr>
          <p:cNvPr id="24" name="inn2-n"/>
          <p:cNvSpPr/>
          <p:nvPr/>
        </p:nvSpPr>
        <p:spPr>
          <a:xfrm>
            <a:off x="804671"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03</a:t>
            </a:r>
          </a:p>
        </p:txBody>
      </p:sp>
      <p:sp>
        <p:nvSpPr>
          <p:cNvPr id="25" name="inn2-t"/>
          <p:cNvSpPr/>
          <p:nvPr/>
        </p:nvSpPr>
        <p:spPr>
          <a:xfrm>
            <a:off x="132588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Answers checked in code</a:t>
            </a:r>
          </a:p>
        </p:txBody>
      </p:sp>
      <p:sp>
        <p:nvSpPr>
          <p:cNvPr id="26" name="inn2-b"/>
          <p:cNvSpPr/>
          <p:nvPr/>
        </p:nvSpPr>
        <p:spPr>
          <a:xfrm>
            <a:off x="132588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Every number in an answer is traced back to a tool result.</a:t>
            </a:r>
          </a:p>
        </p:txBody>
      </p:sp>
      <p:sp>
        <p:nvSpPr>
          <p:cNvPr id="27" name="inn2-g"/>
          <p:cNvSpPr/>
          <p:nvPr/>
        </p:nvSpPr>
        <p:spPr>
          <a:xfrm>
            <a:off x="132588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100% of dev answers traced</a:t>
            </a:r>
          </a:p>
        </p:txBody>
      </p:sp>
      <p:sp>
        <p:nvSpPr>
          <p:cNvPr id="28" name="inn3"/>
          <p:cNvSpPr/>
          <p:nvPr/>
        </p:nvSpPr>
        <p:spPr>
          <a:xfrm>
            <a:off x="6217920" y="2788920"/>
            <a:ext cx="5394960" cy="1371600"/>
          </a:xfrm>
          <a:prstGeom prst="rect">
            <a:avLst/>
          </a:prstGeom>
          <a:solidFill>
            <a:srgbClr val="FFFFFF"/>
          </a:solidFill>
          <a:ln w="19050">
            <a:solidFill>
              <a:srgbClr val="006D77"/>
            </a:solidFill>
          </a:ln>
        </p:spPr>
      </p:sp>
      <p:sp>
        <p:nvSpPr>
          <p:cNvPr id="29" name="inn3-n"/>
          <p:cNvSpPr/>
          <p:nvPr/>
        </p:nvSpPr>
        <p:spPr>
          <a:xfrm>
            <a:off x="6382512"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04</a:t>
            </a:r>
          </a:p>
        </p:txBody>
      </p:sp>
      <p:sp>
        <p:nvSpPr>
          <p:cNvPr id="30" name="inn3-t"/>
          <p:cNvSpPr/>
          <p:nvPr/>
        </p:nvSpPr>
        <p:spPr>
          <a:xfrm>
            <a:off x="690372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Finds the right page</a:t>
            </a:r>
          </a:p>
        </p:txBody>
      </p:sp>
      <p:sp>
        <p:nvSpPr>
          <p:cNvPr id="31" name="inn3-b"/>
          <p:cNvSpPr/>
          <p:nvPr/>
        </p:nvSpPr>
        <p:spPr>
          <a:xfrm>
            <a:off x="690372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Searches 293 pages; a page that does not exist cannot be opened.</a:t>
            </a:r>
          </a:p>
        </p:txBody>
      </p:sp>
      <p:sp>
        <p:nvSpPr>
          <p:cNvPr id="32" name="inn3-g"/>
          <p:cNvSpPr/>
          <p:nvPr/>
        </p:nvSpPr>
        <p:spPr>
          <a:xfrm>
            <a:off x="690372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Right page in top 5: 77.9%</a:t>
            </a:r>
          </a:p>
        </p:txBody>
      </p:sp>
      <p:sp>
        <p:nvSpPr>
          <p:cNvPr id="33" name="inn4"/>
          <p:cNvSpPr/>
          <p:nvPr/>
        </p:nvSpPr>
        <p:spPr>
          <a:xfrm>
            <a:off x="640080" y="4251960"/>
            <a:ext cx="5394960" cy="1371600"/>
          </a:xfrm>
          <a:prstGeom prst="rect">
            <a:avLst/>
          </a:prstGeom>
          <a:solidFill>
            <a:srgbClr val="FFFFFF"/>
          </a:solidFill>
          <a:ln w="19050">
            <a:solidFill>
              <a:srgbClr val="006D77"/>
            </a:solidFill>
          </a:ln>
        </p:spPr>
      </p:sp>
      <p:sp>
        <p:nvSpPr>
          <p:cNvPr id="34" name="inn4-n"/>
          <p:cNvSpPr/>
          <p:nvPr/>
        </p:nvSpPr>
        <p:spPr>
          <a:xfrm>
            <a:off x="804671"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05</a:t>
            </a:r>
          </a:p>
        </p:txBody>
      </p:sp>
      <p:sp>
        <p:nvSpPr>
          <p:cNvPr id="35" name="inn4-t"/>
          <p:cNvSpPr/>
          <p:nvPr/>
        </p:nvSpPr>
        <p:spPr>
          <a:xfrm>
            <a:off x="132588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Works inside ERPNext</a:t>
            </a:r>
          </a:p>
        </p:txBody>
      </p:sp>
      <p:sp>
        <p:nvSpPr>
          <p:cNvPr id="36" name="inn4-b"/>
          <p:cNvSpPr/>
          <p:nvPr/>
        </p:nvSpPr>
        <p:spPr>
          <a:xfrm>
            <a:off x="132588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 small bridge reads and sets the real page, with no rebuild.</a:t>
            </a:r>
          </a:p>
        </p:txBody>
      </p:sp>
      <p:sp>
        <p:nvSpPr>
          <p:cNvPr id="37" name="inn4-g"/>
          <p:cNvSpPr/>
          <p:nvPr/>
        </p:nvSpPr>
        <p:spPr>
          <a:xfrm>
            <a:off x="132588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23 of 23 checks passed</a:t>
            </a:r>
          </a:p>
        </p:txBody>
      </p:sp>
      <p:sp>
        <p:nvSpPr>
          <p:cNvPr id="38" name="inn5"/>
          <p:cNvSpPr/>
          <p:nvPr/>
        </p:nvSpPr>
        <p:spPr>
          <a:xfrm>
            <a:off x="6217920" y="4251960"/>
            <a:ext cx="5394960" cy="1371600"/>
          </a:xfrm>
          <a:prstGeom prst="rect">
            <a:avLst/>
          </a:prstGeom>
          <a:solidFill>
            <a:srgbClr val="FFFFFF"/>
          </a:solidFill>
          <a:ln w="19050">
            <a:solidFill>
              <a:srgbClr val="006D77"/>
            </a:solidFill>
          </a:ln>
        </p:spPr>
      </p:sp>
      <p:sp>
        <p:nvSpPr>
          <p:cNvPr id="39" name="inn5-n"/>
          <p:cNvSpPr/>
          <p:nvPr/>
        </p:nvSpPr>
        <p:spPr>
          <a:xfrm>
            <a:off x="6382512"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06</a:t>
            </a:r>
          </a:p>
        </p:txBody>
      </p:sp>
      <p:sp>
        <p:nvSpPr>
          <p:cNvPr id="40" name="inn5-t"/>
          <p:cNvSpPr/>
          <p:nvPr/>
        </p:nvSpPr>
        <p:spPr>
          <a:xfrm>
            <a:off x="690372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Scored against an answer key</a:t>
            </a:r>
          </a:p>
        </p:txBody>
      </p:sp>
      <p:sp>
        <p:nvSpPr>
          <p:cNvPr id="41" name="inn5-b"/>
          <p:cNvSpPr/>
          <p:nvPr/>
        </p:nvSpPr>
        <p:spPr>
          <a:xfrm>
            <a:off x="690372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Each step is compared with independently computed values.</a:t>
            </a:r>
          </a:p>
        </p:txBody>
      </p:sp>
      <p:sp>
        <p:nvSpPr>
          <p:cNvPr id="42" name="inn5-g"/>
          <p:cNvSpPr/>
          <p:nvPr/>
        </p:nvSpPr>
        <p:spPr>
          <a:xfrm>
            <a:off x="690372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31 chains, 87 steps</a:t>
            </a:r>
          </a:p>
        </p:txBody>
      </p:sp>
      <p:sp>
        <p:nvSpPr>
          <p:cNvPr id="43" name="inn-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Adapted from the cited research. Development-set results only; held-out set not run.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Literature survey: existing alternatives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tile0"/>
          <p:cNvSpPr/>
          <p:nvPr/>
        </p:nvSpPr>
        <p:spPr>
          <a:xfrm>
            <a:off x="640080" y="1188720"/>
            <a:ext cx="2651760" cy="932688"/>
          </a:xfrm>
          <a:prstGeom prst="rect">
            <a:avLst/>
          </a:prstGeom>
          <a:solidFill>
            <a:srgbClr val="F1F6F6"/>
          </a:solidFill>
          <a:ln w="19050">
            <a:solidFill>
              <a:srgbClr val="F1F6F6"/>
            </a:solidFill>
          </a:ln>
        </p:spPr>
      </p:sp>
      <p:sp>
        <p:nvSpPr>
          <p:cNvPr id="14" name="tile0-n"/>
          <p:cNvSpPr/>
          <p:nvPr/>
        </p:nvSpPr>
        <p:spPr>
          <a:xfrm>
            <a:off x="768096"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9–19%</a:t>
            </a:r>
          </a:p>
        </p:txBody>
      </p:sp>
      <p:sp>
        <p:nvSpPr>
          <p:cNvPr id="15" name="tile0-t"/>
          <p:cNvSpPr/>
          <p:nvPr/>
        </p:nvSpPr>
        <p:spPr>
          <a:xfrm>
            <a:off x="768096"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enterprise workflows done by clicking agents</a:t>
            </a:r>
          </a:p>
        </p:txBody>
      </p:sp>
      <p:sp>
        <p:nvSpPr>
          <p:cNvPr id="16" name="tile1"/>
          <p:cNvSpPr/>
          <p:nvPr/>
        </p:nvSpPr>
        <p:spPr>
          <a:xfrm>
            <a:off x="3419856" y="1188720"/>
            <a:ext cx="2651760" cy="932688"/>
          </a:xfrm>
          <a:prstGeom prst="rect">
            <a:avLst/>
          </a:prstGeom>
          <a:solidFill>
            <a:srgbClr val="F1F6F6"/>
          </a:solidFill>
          <a:ln w="19050">
            <a:solidFill>
              <a:srgbClr val="F1F6F6"/>
            </a:solidFill>
          </a:ln>
        </p:spPr>
      </p:sp>
      <p:sp>
        <p:nvSpPr>
          <p:cNvPr id="17" name="tile1-n"/>
          <p:cNvSpPr/>
          <p:nvPr/>
        </p:nvSpPr>
        <p:spPr>
          <a:xfrm>
            <a:off x="3547872"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61%</a:t>
            </a:r>
          </a:p>
        </p:txBody>
      </p:sp>
      <p:sp>
        <p:nvSpPr>
          <p:cNvPr id="18" name="tile1-t"/>
          <p:cNvSpPr/>
          <p:nvPr/>
        </p:nvSpPr>
        <p:spPr>
          <a:xfrm>
            <a:off x="3547872"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complex tasks done by new users (UI-CUBE)</a:t>
            </a:r>
          </a:p>
        </p:txBody>
      </p:sp>
      <p:sp>
        <p:nvSpPr>
          <p:cNvPr id="19" name="tile2"/>
          <p:cNvSpPr/>
          <p:nvPr/>
        </p:nvSpPr>
        <p:spPr>
          <a:xfrm>
            <a:off x="6199632" y="1188720"/>
            <a:ext cx="2651760" cy="932688"/>
          </a:xfrm>
          <a:prstGeom prst="rect">
            <a:avLst/>
          </a:prstGeom>
          <a:solidFill>
            <a:srgbClr val="F1F6F6"/>
          </a:solidFill>
          <a:ln w="19050">
            <a:solidFill>
              <a:srgbClr val="F1F6F6"/>
            </a:solidFill>
          </a:ln>
        </p:spPr>
      </p:sp>
      <p:sp>
        <p:nvSpPr>
          <p:cNvPr id="20" name="tile2-n"/>
          <p:cNvSpPr/>
          <p:nvPr/>
        </p:nvSpPr>
        <p:spPr>
          <a:xfrm>
            <a:off x="6327648"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14.8% → 29.2%</a:t>
            </a:r>
          </a:p>
        </p:txBody>
      </p:sp>
      <p:sp>
        <p:nvSpPr>
          <p:cNvPr id="21" name="tile2-t"/>
          <p:cNvSpPr/>
          <p:nvPr/>
        </p:nvSpPr>
        <p:spPr>
          <a:xfrm>
            <a:off x="6327648"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WebArena: browsing vs API agent</a:t>
            </a:r>
          </a:p>
        </p:txBody>
      </p:sp>
      <p:sp>
        <p:nvSpPr>
          <p:cNvPr id="22" name="tile3"/>
          <p:cNvSpPr/>
          <p:nvPr/>
        </p:nvSpPr>
        <p:spPr>
          <a:xfrm>
            <a:off x="8979408" y="1188720"/>
            <a:ext cx="2651760" cy="932688"/>
          </a:xfrm>
          <a:prstGeom prst="rect">
            <a:avLst/>
          </a:prstGeom>
          <a:solidFill>
            <a:srgbClr val="F1F6F6"/>
          </a:solidFill>
          <a:ln w="19050">
            <a:solidFill>
              <a:srgbClr val="F1F6F6"/>
            </a:solidFill>
          </a:ln>
        </p:spPr>
      </p:sp>
      <p:sp>
        <p:nvSpPr>
          <p:cNvPr id="23" name="tile3-n"/>
          <p:cNvSpPr/>
          <p:nvPr/>
        </p:nvSpPr>
        <p:spPr>
          <a:xfrm>
            <a:off x="9107424"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91.1–100%</a:t>
            </a:r>
          </a:p>
        </p:txBody>
      </p:sp>
      <p:sp>
        <p:nvSpPr>
          <p:cNvPr id="24" name="tile3-t"/>
          <p:cNvSpPr/>
          <p:nvPr/>
        </p:nvSpPr>
        <p:spPr>
          <a:xfrm>
            <a:off x="9107424"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VACP-only agents; UI+DOM 28.9–51.1%</a:t>
            </a:r>
          </a:p>
        </p:txBody>
      </p:sp>
      <p:sp>
        <p:nvSpPr>
          <p:cNvPr id="25" name="cmp-label"/>
          <p:cNvSpPr/>
          <p:nvPr/>
        </p:nvSpPr>
        <p:spPr>
          <a:xfrm>
            <a:off x="640080" y="2157984"/>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HOW EXISTING APPROACHES COMPARE</a:t>
            </a:r>
          </a:p>
        </p:txBody>
      </p:sp>
      <p:graphicFrame>
        <p:nvGraphicFramePr>
          <p:cNvPr id="26" name="Table 25"/>
          <p:cNvGraphicFramePr>
            <a:graphicFrameLocks noGrp="1"/>
          </p:cNvGraphicFramePr>
          <p:nvPr/>
        </p:nvGraphicFramePr>
        <p:xfrm>
          <a:off x="640080" y="2432304"/>
          <a:ext cx="10972800" cy="2560320"/>
        </p:xfrm>
        <a:graphic>
          <a:graphicData uri="http://schemas.openxmlformats.org/drawingml/2006/table">
            <a:tbl>
              <a:tblPr/>
              <a:tblGrid>
                <a:gridCol w="2743200"/>
                <a:gridCol w="1371600"/>
                <a:gridCol w="1371600"/>
                <a:gridCol w="1371600"/>
                <a:gridCol w="1371600"/>
                <a:gridCol w="1371600"/>
                <a:gridCol w="1371600"/>
              </a:tblGrid>
              <a:tr h="640080">
                <a:tc>
                  <a:txBody>
                    <a:bodyPr wrap="square"/>
                    <a:lstStyle/>
                    <a:p>
                      <a:pPr>
                        <a:lnSpc>
                          <a:spcPct val="108000"/>
                        </a:lnSpc>
                      </a:pPr>
                      <a:r>
                        <a:rPr sz="1500" b="1">
                          <a:solidFill>
                            <a:srgbClr val="FFFFFF"/>
                          </a:solidFill>
                          <a:latin typeface="Arial"/>
                        </a:rPr>
                        <a:t>Approach</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Operates the app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No per-app setup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Knows measures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Checks the result</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Traces figures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Keeps context</a:t>
                      </a:r>
                    </a:p>
                  </a:txBody>
                  <a:tcPr marL="133502" marR="133502" marT="64008" marB="54864" anchor="ctr">
                    <a:solidFill>
                      <a:srgbClr val="0F4C5C"/>
                    </a:solidFill>
                  </a:tcPr>
                </a:tc>
              </a:tr>
              <a:tr h="384048">
                <a:tc>
                  <a:txBody>
                    <a:bodyPr wrap="square"/>
                    <a:lstStyle/>
                    <a:p>
                      <a:pPr>
                        <a:lnSpc>
                          <a:spcPct val="108000"/>
                        </a:lnSpc>
                      </a:pPr>
                      <a:r>
                        <a:rPr sz="1500" b="1">
                          <a:solidFill>
                            <a:srgbClr val="17324A"/>
                          </a:solidFill>
                          <a:latin typeface="Arial"/>
                        </a:rPr>
                        <a:t>Chat-BI, text-to-SQL</a:t>
                      </a:r>
                    </a:p>
                  </a:txBody>
                  <a:tcPr marL="133502" marR="133502" marT="64008" marB="54864" anchor="ctr">
                    <a:solidFill>
                      <a:srgbClr val="F1F6F6"/>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Screen-clicking agents</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API and tool agents</a:t>
                      </a:r>
                    </a:p>
                  </a:txBody>
                  <a:tcPr marL="133502" marR="133502" marT="64008" marB="54864" anchor="ctr">
                    <a:solidFill>
                      <a:srgbClr val="F1F6F6"/>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App-state protocol (VACP)</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r h="384048">
                <a:tc>
                  <a:txBody>
                    <a:bodyPr wrap="square"/>
                    <a:lstStyle/>
                    <a:p>
                      <a:pPr>
                        <a:lnSpc>
                          <a:spcPct val="108000"/>
                        </a:lnSpc>
                      </a:pPr>
                      <a:r>
                        <a:rPr sz="1500" b="1">
                          <a:solidFill>
                            <a:srgbClr val="FFFFFF"/>
                          </a:solidFill>
                          <a:latin typeface="Arial"/>
                        </a:rPr>
                        <a:t>Ours (API agent + VACP)</a:t>
                      </a:r>
                    </a:p>
                  </a:txBody>
                  <a:tcPr marL="133502" marR="133502" marT="64008" marB="54864" anchor="ctr">
                    <a:solidFill>
                      <a:srgbClr val="E39B2D"/>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bl>
          </a:graphicData>
        </a:graphic>
      </p:graphicFrame>
      <p:sp>
        <p:nvSpPr>
          <p:cNvPr id="27" name="take-label"/>
          <p:cNvSpPr/>
          <p:nvPr/>
        </p:nvSpPr>
        <p:spPr>
          <a:xfrm>
            <a:off x="640080" y="5029200"/>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WHAT THE SURVEY TELLS US</a:t>
            </a:r>
          </a:p>
        </p:txBody>
      </p:sp>
      <p:sp>
        <p:nvSpPr>
          <p:cNvPr id="28" name="take0"/>
          <p:cNvSpPr/>
          <p:nvPr/>
        </p:nvSpPr>
        <p:spPr>
          <a:xfrm>
            <a:off x="640080" y="5330952"/>
            <a:ext cx="3538728" cy="640080"/>
          </a:xfrm>
          <a:prstGeom prst="rect">
            <a:avLst/>
          </a:prstGeom>
          <a:solidFill>
            <a:srgbClr val="FFFFFF"/>
          </a:solidFill>
          <a:ln w="19050">
            <a:solidFill>
              <a:srgbClr val="006D77"/>
            </a:solidFill>
          </a:ln>
        </p:spPr>
      </p:sp>
      <p:sp>
        <p:nvSpPr>
          <p:cNvPr id="29" name="take0-t"/>
          <p:cNvSpPr/>
          <p:nvPr/>
        </p:nvSpPr>
        <p:spPr>
          <a:xfrm>
            <a:off x="768096"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1  Call the app, not the screen</a:t>
            </a:r>
          </a:p>
        </p:txBody>
      </p:sp>
      <p:sp>
        <p:nvSpPr>
          <p:cNvPr id="30" name="take0-b"/>
          <p:cNvSpPr/>
          <p:nvPr/>
        </p:nvSpPr>
        <p:spPr>
          <a:xfrm>
            <a:off x="768096"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Hybrid 38.9% vs browsing 14.8%</a:t>
            </a:r>
          </a:p>
        </p:txBody>
      </p:sp>
      <p:sp>
        <p:nvSpPr>
          <p:cNvPr id="31" name="take1"/>
          <p:cNvSpPr/>
          <p:nvPr/>
        </p:nvSpPr>
        <p:spPr>
          <a:xfrm>
            <a:off x="4361688" y="5330952"/>
            <a:ext cx="3538728" cy="640080"/>
          </a:xfrm>
          <a:prstGeom prst="rect">
            <a:avLst/>
          </a:prstGeom>
          <a:solidFill>
            <a:srgbClr val="FFFFFF"/>
          </a:solidFill>
          <a:ln w="19050">
            <a:solidFill>
              <a:srgbClr val="006D77"/>
            </a:solidFill>
          </a:ln>
        </p:spPr>
      </p:sp>
      <p:sp>
        <p:nvSpPr>
          <p:cNvPr id="32" name="take1-t"/>
          <p:cNvSpPr/>
          <p:nvPr/>
        </p:nvSpPr>
        <p:spPr>
          <a:xfrm>
            <a:off x="4489704"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2  Check in code</a:t>
            </a:r>
          </a:p>
        </p:txBody>
      </p:sp>
      <p:sp>
        <p:nvSpPr>
          <p:cNvPr id="33" name="take1-b"/>
          <p:cNvSpPr/>
          <p:nvPr/>
        </p:nvSpPr>
        <p:spPr>
          <a:xfrm>
            <a:off x="4489704"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Ledger and gates: +3.4–7.6 pts</a:t>
            </a:r>
          </a:p>
        </p:txBody>
      </p:sp>
      <p:sp>
        <p:nvSpPr>
          <p:cNvPr id="34" name="take2"/>
          <p:cNvSpPr/>
          <p:nvPr/>
        </p:nvSpPr>
        <p:spPr>
          <a:xfrm>
            <a:off x="8083296" y="5330952"/>
            <a:ext cx="3538728" cy="640080"/>
          </a:xfrm>
          <a:prstGeom prst="rect">
            <a:avLst/>
          </a:prstGeom>
          <a:solidFill>
            <a:srgbClr val="FFFFFF"/>
          </a:solidFill>
          <a:ln w="19050">
            <a:solidFill>
              <a:srgbClr val="006D77"/>
            </a:solidFill>
          </a:ln>
        </p:spPr>
      </p:sp>
      <p:sp>
        <p:nvSpPr>
          <p:cNvPr id="35" name="take2-t"/>
          <p:cNvSpPr/>
          <p:nvPr/>
        </p:nvSpPr>
        <p:spPr>
          <a:xfrm>
            <a:off x="8211312"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3  Small model reads, code acts</a:t>
            </a:r>
          </a:p>
        </p:txBody>
      </p:sp>
      <p:sp>
        <p:nvSpPr>
          <p:cNvPr id="36" name="take2-b"/>
          <p:cNvSpPr/>
          <p:nvPr/>
        </p:nvSpPr>
        <p:spPr>
          <a:xfrm>
            <a:off x="8211312"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Gated 7B 0.562 vs 32B 0.300</a:t>
            </a:r>
          </a:p>
        </p:txBody>
      </p:sp>
      <p:sp>
        <p:nvSpPr>
          <p:cNvPr id="37" name="sv-note"/>
          <p:cNvSpPr/>
          <p:nvPr/>
        </p:nvSpPr>
        <p:spPr>
          <a:xfrm>
            <a:off x="640080" y="6016752"/>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not our measurements; ratings are our reading of the cited work (91 papers reviewed).</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