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9" r:id="rId20"/>
    <p:sldId id="259" r:id="rId5"/>
    <p:sldId id="260" r:id="rId6"/>
    <p:sldId id="261" r:id="rId7"/>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18</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18</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18</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18</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18</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team targets for the final prototype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Complete unseen</a:t>
                      </a:r>
                    </a:p>
                    <a:p>
                      <a:pPr>
                        <a:lnSpc>
                          <a:spcPct val="108000"/>
                        </a:lnSpc>
                        <a:buNone/>
                      </a:pPr>
                      <a:r>
                        <a:rPr sz="1725" b="0">
                          <a:solidFill>
                            <a:srgbClr val="17324A"/>
                          </a:solidFill>
                          <a:latin typeface="Arial"/>
                          <a:ea typeface="Arial"/>
                          <a:cs typeface="Arial"/>
                        </a:rPr>
                        <a:t>business tasks accurately</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WWI tasks satisfy</a:t>
                      </a:r>
                    </a:p>
                    <a:p>
                      <a:pPr>
                        <a:lnSpc>
                          <a:spcPct val="108000"/>
                        </a:lnSpc>
                        <a:buNone/>
                      </a:pPr>
                      <a:r>
                        <a:rPr sz="1725" b="0">
                          <a:solidFill>
                            <a:srgbClr val="17324A"/>
                          </a:solidFill>
                          <a:latin typeface="Arial"/>
                          <a:ea typeface="Arial"/>
                          <a:cs typeface="Arial"/>
                        </a:rPr>
                        <a:t>all required outcomes.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Provide faithful</a:t>
                      </a:r>
                    </a:p>
                    <a:p>
                      <a:pPr>
                        <a:lnSpc>
                          <a:spcPct val="108000"/>
                        </a:lnSpc>
                        <a:buNone/>
                      </a:pPr>
                      <a:r>
                        <a:rPr sz="1725" b="0">
                          <a:solidFill>
                            <a:srgbClr val="17324A"/>
                          </a:solidFill>
                          <a:latin typeface="Arial"/>
                          <a:ea typeface="Arial"/>
                          <a:cs typeface="Arial"/>
                        </a:rPr>
                        <a:t>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Numerical claims in accepted answers match</a:t>
                      </a:r>
                    </a:p>
                    <a:p>
                      <a:pPr>
                        <a:lnSpc>
                          <a:spcPct val="108000"/>
                        </a:lnSpc>
                        <a:buNone/>
                      </a:pPr>
                      <a:r>
                        <a:rPr sz="1725" b="0">
                          <a:solidFill>
                            <a:srgbClr val="17324A"/>
                          </a:solidFill>
                          <a:latin typeface="Arial"/>
                          <a:ea typeface="Arial"/>
                          <a:cs typeface="Arial"/>
                        </a:rPr>
                        <a:t>the correct value, unit, scope and source.</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Preserve context and</a:t>
                      </a:r>
                    </a:p>
                    <a:p>
                      <a:pPr>
                        <a:lnSpc>
                          <a:spcPct val="108000"/>
                        </a:lnSpc>
                        <a:buNone/>
                      </a:pPr>
                      <a:r>
                        <a:rPr sz="1725" b="0">
                          <a:solidFill>
                            <a:srgbClr val="17324A"/>
                          </a:solidFill>
                          <a:latin typeface="Arial"/>
                          <a:ea typeface="Arial"/>
                          <a:cs typeface="Arial"/>
                        </a:rPr>
                        <a:t>reach the intended view</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Completed follow-up, reload and navigation</a:t>
                      </a:r>
                    </a:p>
                    <a:p>
                      <a:pPr>
                        <a:lnSpc>
                          <a:spcPct val="108000"/>
                        </a:lnSpc>
                        <a:buNone/>
                      </a:pPr>
                      <a:r>
                        <a:rPr sz="1725" b="0">
                          <a:solidFill>
                            <a:srgbClr val="17324A"/>
                          </a:solidFill>
                          <a:latin typeface="Arial"/>
                          <a:ea typeface="Arial"/>
                          <a:cs typeface="Arial"/>
                        </a:rPr>
                        <a:t>cases retain scope and visible destination.</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Avoid false claims</a:t>
                      </a:r>
                    </a:p>
                    <a:p>
                      <a:pPr>
                        <a:lnSpc>
                          <a:spcPct val="108000"/>
                        </a:lnSpc>
                        <a:buNone/>
                      </a:pPr>
                      <a:r>
                        <a:rPr sz="1725" b="0">
                          <a:solidFill>
                            <a:srgbClr val="17324A"/>
                          </a:solidFill>
                          <a:latin typeface="Arial"/>
                          <a:ea typeface="Arial"/>
                          <a:cs typeface="Arial"/>
                        </a:rPr>
                        <a:t>of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and deliberately failed</a:t>
                      </a:r>
                    </a:p>
                    <a:p>
                      <a:pPr>
                        <a:lnSpc>
                          <a:spcPct val="108000"/>
                        </a:lnSpc>
                        <a:buNone/>
                      </a:pPr>
                      <a:r>
                        <a:rPr sz="1725" b="0">
                          <a:solidFill>
                            <a:srgbClr val="17324A"/>
                          </a:solidFill>
                          <a:latin typeface="Arial"/>
                          <a:ea typeface="Arial"/>
                          <a:cs typeface="Arial"/>
                        </a:rPr>
                        <a:t>cases never count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006CB0C6-CD7F-4527-B74C-1503F54AE52C}"/>
              </a:ext>
            </a:extLst>
          </p:cNvPr>
          <p:cNvCxnSpPr>
            <a:stCxn id="12" idx="3"/>
            <a:endCxn id="21" idx="1"/>
          </p:cNvCxnSpPr>
          <p:nvPr/>
        </p:nvCxnSpPr>
        <p:spPr>
          <a:xfrm>
            <a:off x="8115300" y="1885950"/>
            <a:ext cx="838200" cy="0"/>
          </a:xfrm>
          <a:prstGeom prst="straightConnector1">
            <a:avLst/>
          </a:prstGeom>
          <a:ln w="19050">
            <a:solidFill>
              <a:srgbClr val="A4630B"/>
            </a:solidFill>
            <a:prstDash val="solid"/>
            <a:headEnd type="triangle" w="med" len="med"/>
            <a:tailEnd type="triangle" w="med" len="med"/>
          </a:ln>
        </p:spPr>
      </p:cxnSp>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18</a:t>
            </a:r>
          </a:p>
        </p:txBody>
      </p:sp>
      <p:sp>
        <p:nvSpPr>
          <p:cNvPr id="7" name="symbol-user-111">
            <a:extLst>
              <a:ext uri="{FF2B5EF4-FFF2-40B4-BE49-F238E27FC236}">
                <a16:creationId xmlns:a16="http://schemas.microsoft.com/office/drawing/2014/main" id="{BC33F05D-6545-4590-B385-38724E408D90}"/>
              </a:ext>
            </a:extLst>
          </p:cNvPr>
          <p:cNvSpPr>
            <a:spLocks noGrp="1"/>
          </p:cNvSpPr>
          <p:nvPr/>
        </p:nvSpPr>
        <p:spPr>
          <a:xfrm>
            <a:off x="935165" y="1590675"/>
            <a:ext cx="148971" cy="148971"/>
          </a:xfrm>
          <a:prstGeom prst="ellipse">
            <a:avLst/>
          </a:prstGeom>
          <a:solidFill>
            <a:srgbClr val="FFFFFF"/>
          </a:solidFill>
          <a:ln w="19050">
            <a:solidFill>
              <a:srgbClr val="102A43"/>
            </a:solidFill>
          </a:ln>
        </p:spPr>
      </p:sp>
      <p:sp>
        <p:nvSpPr>
          <p:cNvPr id="8" name="symbol-user-112">
            <a:extLst>
              <a:ext uri="{FF2B5EF4-FFF2-40B4-BE49-F238E27FC236}">
                <a16:creationId xmlns:a16="http://schemas.microsoft.com/office/drawing/2014/main" id="{57358920-2770-40C6-8D1B-FF15C61B8BFD}"/>
              </a:ext>
            </a:extLst>
          </p:cNvPr>
          <p:cNvSpPr>
            <a:spLocks noGrp="1"/>
          </p:cNvSpPr>
          <p:nvPr/>
        </p:nvSpPr>
        <p:spPr>
          <a:xfrm>
            <a:off x="865060" y="1783461"/>
            <a:ext cx="289179" cy="210312"/>
          </a:xfrm>
          <a:prstGeom prst="roundRect">
            <a:avLst>
              <a:gd name="adj" fmla="val 36232"/>
            </a:avLst>
          </a:prstGeom>
          <a:solidFill>
            <a:srgbClr val="FFFFFF"/>
          </a:solidFill>
          <a:ln w="19050">
            <a:solidFill>
              <a:srgbClr val="102A43"/>
            </a:solidFill>
          </a:ln>
        </p:spPr>
      </p:sp>
      <p:sp>
        <p:nvSpPr>
          <p:cNvPr id="9" name="text-113">
            <a:extLst>
              <a:ext uri="{FF2B5EF4-FFF2-40B4-BE49-F238E27FC236}">
                <a16:creationId xmlns:a16="http://schemas.microsoft.com/office/drawing/2014/main" id="{62890F57-5881-421E-B520-218EE507FC12}"/>
              </a:ext>
            </a:extLst>
          </p:cNvPr>
          <p:cNvSpPr>
            <a:spLocks noGrp="1"/>
          </p:cNvSpPr>
          <p:nvPr/>
        </p:nvSpPr>
        <p:spPr>
          <a:xfrm>
            <a:off x="1381125" y="1524000"/>
            <a:ext cx="2333625" cy="32385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Business request</a:t>
            </a:r>
          </a:p>
        </p:txBody>
      </p:sp>
      <p:sp>
        <p:nvSpPr>
          <p:cNvPr id="10" name="text-114">
            <a:extLst>
              <a:ext uri="{FF2B5EF4-FFF2-40B4-BE49-F238E27FC236}">
                <a16:creationId xmlns:a16="http://schemas.microsoft.com/office/drawing/2014/main" id="{A41FE8AD-20FE-451F-8BDD-AB1C60CA32D4}"/>
              </a:ext>
            </a:extLst>
          </p:cNvPr>
          <p:cNvSpPr>
            <a:spLocks noGrp="1"/>
          </p:cNvSpPr>
          <p:nvPr/>
        </p:nvSpPr>
        <p:spPr>
          <a:xfrm>
            <a:off x="1381125" y="1895475"/>
            <a:ext cx="2333625" cy="29527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Question and intent</a:t>
            </a:r>
          </a:p>
        </p:txBody>
      </p:sp>
      <p:cxnSp>
        <p:nvCxnSpPr>
          <p:cNvPr id="11" name="link-115">
            <a:extLst>
              <a:ext uri="{FF2B5EF4-FFF2-40B4-BE49-F238E27FC236}">
                <a16:creationId xmlns:a16="http://schemas.microsoft.com/office/drawing/2014/main" id="{A9CC4048-B140-4562-A55F-961282403B6E}"/>
              </a:ext>
            </a:extLst>
          </p:cNvPr>
          <p:cNvCxnSpPr/>
          <p:nvPr/>
        </p:nvCxnSpPr>
        <p:spPr>
          <a:xfrm>
            <a:off x="3438525" y="1838325"/>
            <a:ext cx="504825" cy="0"/>
          </a:xfrm>
          <a:prstGeom prst="straightConnector1">
            <a:avLst/>
          </a:prstGeom>
          <a:ln w="19050">
            <a:solidFill>
              <a:srgbClr val="006D77"/>
            </a:solidFill>
            <a:prstDash val="solid"/>
            <a:tailEnd type="triangle" w="med" len="med"/>
          </a:ln>
        </p:spPr>
      </p:cxnSp>
      <p:sp>
        <p:nvSpPr>
          <p:cNvPr id="12" name="shape-116">
            <a:extLst>
              <a:ext uri="{FF2B5EF4-FFF2-40B4-BE49-F238E27FC236}">
                <a16:creationId xmlns:a16="http://schemas.microsoft.com/office/drawing/2014/main" id="{858F0871-E8AE-4FBE-A239-FEDC72FDE033}"/>
              </a:ext>
            </a:extLst>
          </p:cNvPr>
          <p:cNvSpPr>
            <a:spLocks noGrp="1"/>
          </p:cNvSpPr>
          <p:nvPr/>
        </p:nvSpPr>
        <p:spPr>
          <a:xfrm>
            <a:off x="3943350" y="1333500"/>
            <a:ext cx="4171950" cy="1104900"/>
          </a:xfrm>
          <a:prstGeom prst="rect">
            <a:avLst/>
          </a:prstGeom>
          <a:solidFill>
            <a:srgbClr val="EAF2F1"/>
          </a:solidFill>
          <a:ln w="19050">
            <a:solidFill>
              <a:srgbClr val="006D77"/>
            </a:solidFill>
          </a:ln>
        </p:spPr>
      </p:sp>
      <p:sp>
        <p:nvSpPr>
          <p:cNvPr id="13" name="symbol-agent-117">
            <a:extLst>
              <a:ext uri="{FF2B5EF4-FFF2-40B4-BE49-F238E27FC236}">
                <a16:creationId xmlns:a16="http://schemas.microsoft.com/office/drawing/2014/main" id="{70AB8CA2-1989-4B53-B52F-B243BC27A4BA}"/>
              </a:ext>
            </a:extLst>
          </p:cNvPr>
          <p:cNvSpPr>
            <a:spLocks noGrp="1"/>
          </p:cNvSpPr>
          <p:nvPr/>
        </p:nvSpPr>
        <p:spPr>
          <a:xfrm>
            <a:off x="4200525" y="1752600"/>
            <a:ext cx="352425" cy="266700"/>
          </a:xfrm>
          <a:prstGeom prst="roundRect">
            <a:avLst>
              <a:gd name="adj" fmla="val 28571"/>
            </a:avLst>
          </a:prstGeom>
          <a:solidFill>
            <a:srgbClr val="FFFFFF"/>
          </a:solidFill>
          <a:ln w="19050">
            <a:solidFill>
              <a:srgbClr val="006D77"/>
            </a:solidFill>
          </a:ln>
        </p:spPr>
      </p:sp>
      <p:cxnSp>
        <p:nvCxnSpPr>
          <p:cNvPr id="14" name="link-118">
            <a:extLst>
              <a:ext uri="{FF2B5EF4-FFF2-40B4-BE49-F238E27FC236}">
                <a16:creationId xmlns:a16="http://schemas.microsoft.com/office/drawing/2014/main" id="{39503EA1-A4A7-4CCB-AE88-6DCDBC54D87D}"/>
              </a:ext>
            </a:extLst>
          </p:cNvPr>
          <p:cNvCxnSpPr/>
          <p:nvPr/>
        </p:nvCxnSpPr>
        <p:spPr>
          <a:xfrm>
            <a:off x="4376738" y="1676400"/>
            <a:ext cx="0" cy="76200"/>
          </a:xfrm>
          <a:prstGeom prst="straightConnector1">
            <a:avLst/>
          </a:prstGeom>
          <a:ln w="19050">
            <a:solidFill>
              <a:srgbClr val="006D77"/>
            </a:solidFill>
            <a:prstDash val="solid"/>
          </a:ln>
        </p:spPr>
      </p:cxnSp>
      <p:sp>
        <p:nvSpPr>
          <p:cNvPr id="15" name="symbol-agent-119">
            <a:extLst>
              <a:ext uri="{FF2B5EF4-FFF2-40B4-BE49-F238E27FC236}">
                <a16:creationId xmlns:a16="http://schemas.microsoft.com/office/drawing/2014/main" id="{B48F3471-2B5D-4ECC-BE63-9372650D4562}"/>
              </a:ext>
            </a:extLst>
          </p:cNvPr>
          <p:cNvSpPr>
            <a:spLocks noGrp="1"/>
          </p:cNvSpPr>
          <p:nvPr/>
        </p:nvSpPr>
        <p:spPr>
          <a:xfrm>
            <a:off x="4348163" y="1638300"/>
            <a:ext cx="57150" cy="57150"/>
          </a:xfrm>
          <a:prstGeom prst="ellipse">
            <a:avLst/>
          </a:prstGeom>
          <a:solidFill>
            <a:srgbClr val="006D77"/>
          </a:solidFill>
          <a:ln w="19050">
            <a:solidFill>
              <a:srgbClr val="006D77"/>
            </a:solidFill>
          </a:ln>
        </p:spPr>
      </p:sp>
      <p:sp>
        <p:nvSpPr>
          <p:cNvPr id="16" name="symbol-agent-120">
            <a:extLst>
              <a:ext uri="{FF2B5EF4-FFF2-40B4-BE49-F238E27FC236}">
                <a16:creationId xmlns:a16="http://schemas.microsoft.com/office/drawing/2014/main" id="{8B8D853B-A87D-42CB-A959-01291745FB25}"/>
              </a:ext>
            </a:extLst>
          </p:cNvPr>
          <p:cNvSpPr>
            <a:spLocks noGrp="1"/>
          </p:cNvSpPr>
          <p:nvPr/>
        </p:nvSpPr>
        <p:spPr>
          <a:xfrm>
            <a:off x="4286250" y="1866900"/>
            <a:ext cx="47625" cy="47625"/>
          </a:xfrm>
          <a:prstGeom prst="ellipse">
            <a:avLst/>
          </a:prstGeom>
          <a:solidFill>
            <a:srgbClr val="006D77"/>
          </a:solidFill>
          <a:ln w="19050">
            <a:solidFill>
              <a:srgbClr val="006D77"/>
            </a:solidFill>
          </a:ln>
        </p:spPr>
      </p:sp>
      <p:sp>
        <p:nvSpPr>
          <p:cNvPr id="17" name="symbol-agent-121">
            <a:extLst>
              <a:ext uri="{FF2B5EF4-FFF2-40B4-BE49-F238E27FC236}">
                <a16:creationId xmlns:a16="http://schemas.microsoft.com/office/drawing/2014/main" id="{F43704C6-188E-4481-983D-463CD5F5AA36}"/>
              </a:ext>
            </a:extLst>
          </p:cNvPr>
          <p:cNvSpPr>
            <a:spLocks noGrp="1"/>
          </p:cNvSpPr>
          <p:nvPr/>
        </p:nvSpPr>
        <p:spPr>
          <a:xfrm>
            <a:off x="4419600" y="1866900"/>
            <a:ext cx="47625" cy="47625"/>
          </a:xfrm>
          <a:prstGeom prst="ellipse">
            <a:avLst/>
          </a:prstGeom>
          <a:solidFill>
            <a:srgbClr val="006D77"/>
          </a:solidFill>
          <a:ln w="19050">
            <a:solidFill>
              <a:srgbClr val="006D77"/>
            </a:solidFill>
          </a:ln>
        </p:spPr>
      </p:sp>
      <p:cxnSp>
        <p:nvCxnSpPr>
          <p:cNvPr id="18" name="link-122">
            <a:extLst>
              <a:ext uri="{FF2B5EF4-FFF2-40B4-BE49-F238E27FC236}">
                <a16:creationId xmlns:a16="http://schemas.microsoft.com/office/drawing/2014/main" id="{1E9A33EF-E749-4243-9238-F3104D91DA2E}"/>
              </a:ext>
            </a:extLst>
          </p:cNvPr>
          <p:cNvCxnSpPr/>
          <p:nvPr/>
        </p:nvCxnSpPr>
        <p:spPr>
          <a:xfrm>
            <a:off x="4314825" y="1981200"/>
            <a:ext cx="123825" cy="0"/>
          </a:xfrm>
          <a:prstGeom prst="straightConnector1">
            <a:avLst/>
          </a:prstGeom>
          <a:ln w="19050">
            <a:solidFill>
              <a:srgbClr val="006D77"/>
            </a:solidFill>
            <a:prstDash val="solid"/>
          </a:ln>
        </p:spPr>
      </p:cxnSp>
      <p:sp>
        <p:nvSpPr>
          <p:cNvPr id="19" name="text-123">
            <a:extLst>
              <a:ext uri="{FF2B5EF4-FFF2-40B4-BE49-F238E27FC236}">
                <a16:creationId xmlns:a16="http://schemas.microsoft.com/office/drawing/2014/main" id="{11665955-3F6C-4634-A27C-9A80EB0E8AB1}"/>
              </a:ext>
            </a:extLst>
          </p:cNvPr>
          <p:cNvSpPr>
            <a:spLocks noGrp="1"/>
          </p:cNvSpPr>
          <p:nvPr/>
        </p:nvSpPr>
        <p:spPr>
          <a:xfrm>
            <a:off x="4762500" y="1504950"/>
            <a:ext cx="3124200" cy="390525"/>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Shared agent core</a:t>
            </a:r>
          </a:p>
        </p:txBody>
      </p:sp>
      <p:sp>
        <p:nvSpPr>
          <p:cNvPr id="20" name="text-124">
            <a:extLst>
              <a:ext uri="{FF2B5EF4-FFF2-40B4-BE49-F238E27FC236}">
                <a16:creationId xmlns:a16="http://schemas.microsoft.com/office/drawing/2014/main" id="{2B95311C-F75D-4C2D-9FA6-C7C270CF718D}"/>
              </a:ext>
            </a:extLst>
          </p:cNvPr>
          <p:cNvSpPr>
            <a:spLocks noGrp="1"/>
          </p:cNvSpPr>
          <p:nvPr/>
        </p:nvSpPr>
        <p:spPr>
          <a:xfrm>
            <a:off x="4762500" y="1971675"/>
            <a:ext cx="3124200" cy="352425"/>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Local or cloud model</a:t>
            </a:r>
          </a:p>
        </p:txBody>
      </p:sp>
      <p:sp>
        <p:nvSpPr>
          <p:cNvPr id="21" name="shape-125">
            <a:extLst>
              <a:ext uri="{FF2B5EF4-FFF2-40B4-BE49-F238E27FC236}">
                <a16:creationId xmlns:a16="http://schemas.microsoft.com/office/drawing/2014/main" id="{2BDA58A8-3FCE-42FE-92C0-557F2889A852}"/>
              </a:ext>
            </a:extLst>
          </p:cNvPr>
          <p:cNvSpPr>
            <a:spLocks noGrp="1"/>
          </p:cNvSpPr>
          <p:nvPr/>
        </p:nvSpPr>
        <p:spPr>
          <a:xfrm>
            <a:off x="8953500" y="1333500"/>
            <a:ext cx="2628900" cy="1104900"/>
          </a:xfrm>
          <a:prstGeom prst="rect">
            <a:avLst/>
          </a:prstGeom>
          <a:solidFill>
            <a:srgbClr val="FFF1D8"/>
          </a:solidFill>
          <a:ln w="16193">
            <a:solidFill>
              <a:srgbClr val="A4630B"/>
            </a:solidFill>
          </a:ln>
        </p:spPr>
      </p:sp>
      <p:sp>
        <p:nvSpPr>
          <p:cNvPr id="22" name="symbol-ledger-126">
            <a:extLst>
              <a:ext uri="{FF2B5EF4-FFF2-40B4-BE49-F238E27FC236}">
                <a16:creationId xmlns:a16="http://schemas.microsoft.com/office/drawing/2014/main" id="{201BDDCF-1DE8-400F-A219-33F4075C8B8E}"/>
              </a:ext>
            </a:extLst>
          </p:cNvPr>
          <p:cNvSpPr>
            <a:spLocks noGrp="1"/>
          </p:cNvSpPr>
          <p:nvPr/>
        </p:nvSpPr>
        <p:spPr>
          <a:xfrm>
            <a:off x="9163050" y="1647825"/>
            <a:ext cx="320040" cy="400050"/>
          </a:xfrm>
          <a:prstGeom prst="can">
            <a:avLst/>
          </a:prstGeom>
          <a:solidFill>
            <a:srgbClr val="FFFFFF"/>
          </a:solidFill>
          <a:ln w="19050">
            <a:solidFill>
              <a:srgbClr val="A4630B"/>
            </a:solidFill>
          </a:ln>
        </p:spPr>
      </p:sp>
      <p:cxnSp>
        <p:nvCxnSpPr>
          <p:cNvPr id="23" name="link-127">
            <a:extLst>
              <a:ext uri="{FF2B5EF4-FFF2-40B4-BE49-F238E27FC236}">
                <a16:creationId xmlns:a16="http://schemas.microsoft.com/office/drawing/2014/main" id="{4A51CC99-75FD-46BF-A3AE-033438EE88D5}"/>
              </a:ext>
            </a:extLst>
          </p:cNvPr>
          <p:cNvCxnSpPr/>
          <p:nvPr/>
        </p:nvCxnSpPr>
        <p:spPr>
          <a:xfrm>
            <a:off x="9258300" y="1885950"/>
            <a:ext cx="160020" cy="0"/>
          </a:xfrm>
          <a:prstGeom prst="straightConnector1">
            <a:avLst/>
          </a:prstGeom>
          <a:ln w="19050">
            <a:solidFill>
              <a:srgbClr val="A4630B"/>
            </a:solidFill>
            <a:prstDash val="solid"/>
          </a:ln>
        </p:spPr>
      </p:cxnSp>
      <p:sp>
        <p:nvSpPr>
          <p:cNvPr id="24" name="text-128">
            <a:extLst>
              <a:ext uri="{FF2B5EF4-FFF2-40B4-BE49-F238E27FC236}">
                <a16:creationId xmlns:a16="http://schemas.microsoft.com/office/drawing/2014/main" id="{FCF0DCFF-AE6B-4260-B620-DC415C685727}"/>
              </a:ext>
            </a:extLst>
          </p:cNvPr>
          <p:cNvSpPr>
            <a:spLocks noGrp="1"/>
          </p:cNvSpPr>
          <p:nvPr/>
        </p:nvSpPr>
        <p:spPr>
          <a:xfrm>
            <a:off x="9620250" y="1485900"/>
            <a:ext cx="1809750" cy="34290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Session ledger</a:t>
            </a:r>
          </a:p>
        </p:txBody>
      </p:sp>
      <p:sp>
        <p:nvSpPr>
          <p:cNvPr id="25" name="text-129">
            <a:extLst>
              <a:ext uri="{FF2B5EF4-FFF2-40B4-BE49-F238E27FC236}">
                <a16:creationId xmlns:a16="http://schemas.microsoft.com/office/drawing/2014/main" id="{5877CB71-532B-4936-85C6-B4DF26501EC0}"/>
              </a:ext>
            </a:extLst>
          </p:cNvPr>
          <p:cNvSpPr>
            <a:spLocks noGrp="1"/>
          </p:cNvSpPr>
          <p:nvPr/>
        </p:nvSpPr>
        <p:spPr>
          <a:xfrm>
            <a:off x="9620250" y="1866900"/>
            <a:ext cx="1809750" cy="5048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Task scope and</a:t>
            </a:r>
          </a:p>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verified facts</a:t>
            </a:r>
          </a:p>
        </p:txBody>
      </p:sp>
      <p:cxnSp>
        <p:nvCxnSpPr>
          <p:cNvPr id="27" name="link-130">
            <a:extLst>
              <a:ext uri="{FF2B5EF4-FFF2-40B4-BE49-F238E27FC236}">
                <a16:creationId xmlns:a16="http://schemas.microsoft.com/office/drawing/2014/main" id="{CF61CBE7-6AB9-4930-9E20-DF9B3B052446}"/>
              </a:ext>
            </a:extLst>
          </p:cNvPr>
          <p:cNvCxnSpPr/>
          <p:nvPr/>
        </p:nvCxnSpPr>
        <p:spPr>
          <a:xfrm>
            <a:off x="4667250" y="2438400"/>
            <a:ext cx="0" cy="257175"/>
          </a:xfrm>
          <a:prstGeom prst="straightConnector1">
            <a:avLst/>
          </a:prstGeom>
          <a:ln w="19050">
            <a:solidFill>
              <a:srgbClr val="006D77"/>
            </a:solidFill>
            <a:prstDash val="solid"/>
          </a:ln>
        </p:spPr>
      </p:cxnSp>
      <p:cxnSp>
        <p:nvCxnSpPr>
          <p:cNvPr id="28" name="link-131">
            <a:extLst>
              <a:ext uri="{FF2B5EF4-FFF2-40B4-BE49-F238E27FC236}">
                <a16:creationId xmlns:a16="http://schemas.microsoft.com/office/drawing/2014/main" id="{1C411538-E76C-4533-A242-E84212ED7325}"/>
              </a:ext>
            </a:extLst>
          </p:cNvPr>
          <p:cNvCxnSpPr/>
          <p:nvPr/>
        </p:nvCxnSpPr>
        <p:spPr>
          <a:xfrm flipH="1">
            <a:off x="2990850" y="2695575"/>
            <a:ext cx="1676400" cy="0"/>
          </a:xfrm>
          <a:prstGeom prst="straightConnector1">
            <a:avLst/>
          </a:prstGeom>
          <a:ln w="19050">
            <a:solidFill>
              <a:srgbClr val="006D77"/>
            </a:solidFill>
            <a:prstDash val="solid"/>
          </a:ln>
        </p:spPr>
      </p:cxnSp>
      <p:cxnSp>
        <p:nvCxnSpPr>
          <p:cNvPr id="29" name="link-132">
            <a:extLst>
              <a:ext uri="{FF2B5EF4-FFF2-40B4-BE49-F238E27FC236}">
                <a16:creationId xmlns:a16="http://schemas.microsoft.com/office/drawing/2014/main" id="{C4CCE7FC-5160-4F0B-88E3-39010B8A430D}"/>
              </a:ext>
            </a:extLst>
          </p:cNvPr>
          <p:cNvCxnSpPr/>
          <p:nvPr/>
        </p:nvCxnSpPr>
        <p:spPr>
          <a:xfrm>
            <a:off x="2990850" y="2695575"/>
            <a:ext cx="0" cy="285750"/>
          </a:xfrm>
          <a:prstGeom prst="straightConnector1">
            <a:avLst/>
          </a:prstGeom>
          <a:ln w="19050">
            <a:solidFill>
              <a:srgbClr val="006D77"/>
            </a:solidFill>
            <a:prstDash val="solid"/>
            <a:tailEnd type="triangle" w="med" len="med"/>
          </a:ln>
        </p:spPr>
      </p:cxnSp>
      <p:cxnSp>
        <p:nvCxnSpPr>
          <p:cNvPr id="30" name="link-133">
            <a:extLst>
              <a:ext uri="{FF2B5EF4-FFF2-40B4-BE49-F238E27FC236}">
                <a16:creationId xmlns:a16="http://schemas.microsoft.com/office/drawing/2014/main" id="{0934B3E8-43EF-402D-B3D3-CE2342219D24}"/>
              </a:ext>
            </a:extLst>
          </p:cNvPr>
          <p:cNvCxnSpPr/>
          <p:nvPr/>
        </p:nvCxnSpPr>
        <p:spPr>
          <a:xfrm>
            <a:off x="7429500" y="2438400"/>
            <a:ext cx="0" cy="257175"/>
          </a:xfrm>
          <a:prstGeom prst="straightConnector1">
            <a:avLst/>
          </a:prstGeom>
          <a:ln w="19050">
            <a:solidFill>
              <a:srgbClr val="315E87"/>
            </a:solidFill>
            <a:prstDash val="solid"/>
          </a:ln>
        </p:spPr>
      </p:cxnSp>
      <p:cxnSp>
        <p:nvCxnSpPr>
          <p:cNvPr id="31" name="link-134">
            <a:extLst>
              <a:ext uri="{FF2B5EF4-FFF2-40B4-BE49-F238E27FC236}">
                <a16:creationId xmlns:a16="http://schemas.microsoft.com/office/drawing/2014/main" id="{41BF75B0-ED79-46D4-91EE-2A63BCE7D909}"/>
              </a:ext>
            </a:extLst>
          </p:cNvPr>
          <p:cNvCxnSpPr/>
          <p:nvPr/>
        </p:nvCxnSpPr>
        <p:spPr>
          <a:xfrm>
            <a:off x="7429500" y="2695575"/>
            <a:ext cx="1771650" cy="0"/>
          </a:xfrm>
          <a:prstGeom prst="straightConnector1">
            <a:avLst/>
          </a:prstGeom>
          <a:ln w="19050">
            <a:solidFill>
              <a:srgbClr val="315E87"/>
            </a:solidFill>
            <a:prstDash val="solid"/>
          </a:ln>
        </p:spPr>
      </p:cxnSp>
      <p:cxnSp>
        <p:nvCxnSpPr>
          <p:cNvPr id="32" name="link-135">
            <a:extLst>
              <a:ext uri="{FF2B5EF4-FFF2-40B4-BE49-F238E27FC236}">
                <a16:creationId xmlns:a16="http://schemas.microsoft.com/office/drawing/2014/main" id="{C10FD240-E549-44DE-B9E4-7CD0CDCCF6B1}"/>
              </a:ext>
            </a:extLst>
          </p:cNvPr>
          <p:cNvCxnSpPr/>
          <p:nvPr/>
        </p:nvCxnSpPr>
        <p:spPr>
          <a:xfrm>
            <a:off x="9201150" y="2695575"/>
            <a:ext cx="0" cy="285750"/>
          </a:xfrm>
          <a:prstGeom prst="straightConnector1">
            <a:avLst/>
          </a:prstGeom>
          <a:ln w="19050">
            <a:solidFill>
              <a:srgbClr val="315E87"/>
            </a:solidFill>
            <a:prstDash val="solid"/>
            <a:tailEnd type="triangle" w="med" len="med"/>
          </a:ln>
        </p:spPr>
      </p:cxnSp>
      <p:sp>
        <p:nvSpPr>
          <p:cNvPr id="33" name="shape-136">
            <a:extLst>
              <a:ext uri="{FF2B5EF4-FFF2-40B4-BE49-F238E27FC236}">
                <a16:creationId xmlns:a16="http://schemas.microsoft.com/office/drawing/2014/main" id="{AD545492-B412-47BE-8054-C427689B22B0}"/>
              </a:ext>
            </a:extLst>
          </p:cNvPr>
          <p:cNvSpPr>
            <a:spLocks noGrp="1"/>
          </p:cNvSpPr>
          <p:nvPr/>
        </p:nvSpPr>
        <p:spPr>
          <a:xfrm>
            <a:off x="609600" y="2981325"/>
            <a:ext cx="4762500" cy="1466850"/>
          </a:xfrm>
          <a:prstGeom prst="rect">
            <a:avLst/>
          </a:prstGeom>
          <a:solidFill>
            <a:srgbClr val="EAF2F1"/>
          </a:solidFill>
          <a:ln w="16193">
            <a:solidFill>
              <a:srgbClr val="006D77"/>
            </a:solidFill>
          </a:ln>
        </p:spPr>
      </p:sp>
      <p:sp>
        <p:nvSpPr>
          <p:cNvPr id="34" name="symbol-api-137">
            <a:extLst>
              <a:ext uri="{FF2B5EF4-FFF2-40B4-BE49-F238E27FC236}">
                <a16:creationId xmlns:a16="http://schemas.microsoft.com/office/drawing/2014/main" id="{33BA3B26-175E-486D-8FD4-FBB8477908F2}"/>
              </a:ext>
            </a:extLst>
          </p:cNvPr>
          <p:cNvSpPr>
            <a:spLocks noGrp="1"/>
          </p:cNvSpPr>
          <p:nvPr/>
        </p:nvSpPr>
        <p:spPr>
          <a:xfrm>
            <a:off x="819150" y="3200400"/>
            <a:ext cx="438150" cy="438150"/>
          </a:xfrm>
          <a:prstGeom prst="hexagon">
            <a:avLst/>
          </a:prstGeom>
          <a:solidFill>
            <a:srgbClr val="FFFFFF"/>
          </a:solidFill>
          <a:ln w="19050">
            <a:solidFill>
              <a:srgbClr val="006D77"/>
            </a:solidFill>
          </a:ln>
        </p:spPr>
      </p:sp>
      <p:sp>
        <p:nvSpPr>
          <p:cNvPr id="35" name="text-138">
            <a:extLst>
              <a:ext uri="{FF2B5EF4-FFF2-40B4-BE49-F238E27FC236}">
                <a16:creationId xmlns:a16="http://schemas.microsoft.com/office/drawing/2014/main" id="{2D2C332B-1462-415D-845C-079AF7582291}"/>
              </a:ext>
            </a:extLst>
          </p:cNvPr>
          <p:cNvSpPr>
            <a:spLocks noGrp="1"/>
          </p:cNvSpPr>
          <p:nvPr/>
        </p:nvSpPr>
        <p:spPr>
          <a:xfrm>
            <a:off x="866775" y="3295650"/>
            <a:ext cx="34290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36" name="text-139">
            <a:extLst>
              <a:ext uri="{FF2B5EF4-FFF2-40B4-BE49-F238E27FC236}">
                <a16:creationId xmlns:a16="http://schemas.microsoft.com/office/drawing/2014/main" id="{E3D30FF0-58D1-4C92-9EAD-040DCD979625}"/>
              </a:ext>
            </a:extLst>
          </p:cNvPr>
          <p:cNvSpPr>
            <a:spLocks noGrp="1"/>
          </p:cNvSpPr>
          <p:nvPr/>
        </p:nvSpPr>
        <p:spPr>
          <a:xfrm>
            <a:off x="1428750" y="3152775"/>
            <a:ext cx="3743325" cy="3619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Business API execution</a:t>
            </a:r>
          </a:p>
        </p:txBody>
      </p:sp>
      <p:sp>
        <p:nvSpPr>
          <p:cNvPr id="37" name="text-140">
            <a:extLst>
              <a:ext uri="{FF2B5EF4-FFF2-40B4-BE49-F238E27FC236}">
                <a16:creationId xmlns:a16="http://schemas.microsoft.com/office/drawing/2014/main" id="{7B674199-AF13-484E-A894-2F9F81D5FE8F}"/>
              </a:ext>
            </a:extLst>
          </p:cNvPr>
          <p:cNvSpPr>
            <a:spLocks noGrp="1"/>
          </p:cNvSpPr>
          <p:nvPr/>
        </p:nvSpPr>
        <p:spPr>
          <a:xfrm>
            <a:off x="1428750" y="3638550"/>
            <a:ext cx="3743325" cy="657225"/>
          </a:xfrm>
          <a:prstGeom prst="rect">
            <a:avLst/>
          </a:prstGeom>
          <a:noFill/>
          <a:ln w="0">
            <a:noFill/>
          </a:ln>
        </p:spPr>
        <p:txBody>
          <a:bodyPr wrap="square" lIns="0" tIns="0" rIns="0" bIns="0" anchor="t">
            <a:noAutofit/>
          </a:bodyPr>
          <a:lstStyle>
            <a:defPPr algn="l">
              <a:defRPr sz="1650" b="0">
                <a:solidFill>
                  <a:srgbClr val="17324A"/>
                </a:solidFill>
                <a:latin typeface="Arial"/>
                <a:ea typeface="Arial"/>
                <a:cs typeface="Arial"/>
              </a:defRPr>
            </a:defPPr>
          </a:lstStyle>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Governed target resolution</a:t>
            </a:r>
          </a:p>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Analysis and supporting records</a:t>
            </a:r>
          </a:p>
        </p:txBody>
      </p:sp>
      <p:sp>
        <p:nvSpPr>
          <p:cNvPr id="38" name="shape-141">
            <a:extLst>
              <a:ext uri="{FF2B5EF4-FFF2-40B4-BE49-F238E27FC236}">
                <a16:creationId xmlns:a16="http://schemas.microsoft.com/office/drawing/2014/main" id="{E003CEBA-4280-4CCF-AB76-C666A2A72A3D}"/>
              </a:ext>
            </a:extLst>
          </p:cNvPr>
          <p:cNvSpPr>
            <a:spLocks noGrp="1"/>
          </p:cNvSpPr>
          <p:nvPr/>
        </p:nvSpPr>
        <p:spPr>
          <a:xfrm>
            <a:off x="6819900" y="2981325"/>
            <a:ext cx="4762500" cy="1466850"/>
          </a:xfrm>
          <a:prstGeom prst="rect">
            <a:avLst/>
          </a:prstGeom>
          <a:solidFill>
            <a:srgbClr val="EDF2F8"/>
          </a:solidFill>
          <a:ln w="16193">
            <a:solidFill>
              <a:srgbClr val="315E87"/>
            </a:solidFill>
          </a:ln>
        </p:spPr>
      </p:sp>
      <p:sp>
        <p:nvSpPr>
          <p:cNvPr id="39" name="symbol-browser-142">
            <a:extLst>
              <a:ext uri="{FF2B5EF4-FFF2-40B4-BE49-F238E27FC236}">
                <a16:creationId xmlns:a16="http://schemas.microsoft.com/office/drawing/2014/main" id="{1463D01C-D8CA-420C-ABF3-0E7DD4F3FDC2}"/>
              </a:ext>
            </a:extLst>
          </p:cNvPr>
          <p:cNvSpPr>
            <a:spLocks noGrp="1"/>
          </p:cNvSpPr>
          <p:nvPr/>
        </p:nvSpPr>
        <p:spPr>
          <a:xfrm>
            <a:off x="7029450" y="3238500"/>
            <a:ext cx="438150" cy="324231"/>
          </a:xfrm>
          <a:prstGeom prst="roundRect">
            <a:avLst>
              <a:gd name="adj" fmla="val 23502"/>
            </a:avLst>
          </a:prstGeom>
          <a:solidFill>
            <a:srgbClr val="FFFFFF"/>
          </a:solidFill>
          <a:ln w="19050">
            <a:solidFill>
              <a:srgbClr val="315E87"/>
            </a:solidFill>
          </a:ln>
        </p:spPr>
      </p:sp>
      <p:cxnSp>
        <p:nvCxnSpPr>
          <p:cNvPr id="40" name="link-143">
            <a:extLst>
              <a:ext uri="{FF2B5EF4-FFF2-40B4-BE49-F238E27FC236}">
                <a16:creationId xmlns:a16="http://schemas.microsoft.com/office/drawing/2014/main" id="{4C1F9C46-3258-4789-9B84-EDC53FF9EE40}"/>
              </a:ext>
            </a:extLst>
          </p:cNvPr>
          <p:cNvCxnSpPr/>
          <p:nvPr/>
        </p:nvCxnSpPr>
        <p:spPr>
          <a:xfrm>
            <a:off x="7029450" y="3371850"/>
            <a:ext cx="438150" cy="0"/>
          </a:xfrm>
          <a:prstGeom prst="straightConnector1">
            <a:avLst/>
          </a:prstGeom>
          <a:ln w="19050">
            <a:solidFill>
              <a:srgbClr val="315E87"/>
            </a:solidFill>
            <a:prstDash val="solid"/>
          </a:ln>
        </p:spPr>
      </p:cxnSp>
      <p:sp>
        <p:nvSpPr>
          <p:cNvPr id="41" name="symbol-browser-144">
            <a:extLst>
              <a:ext uri="{FF2B5EF4-FFF2-40B4-BE49-F238E27FC236}">
                <a16:creationId xmlns:a16="http://schemas.microsoft.com/office/drawing/2014/main" id="{5A9FFE99-AE5F-4C25-BCC7-BF7CBF532844}"/>
              </a:ext>
            </a:extLst>
          </p:cNvPr>
          <p:cNvSpPr>
            <a:spLocks noGrp="1"/>
          </p:cNvSpPr>
          <p:nvPr/>
        </p:nvSpPr>
        <p:spPr>
          <a:xfrm>
            <a:off x="7105650" y="3286125"/>
            <a:ext cx="28575" cy="28575"/>
          </a:xfrm>
          <a:prstGeom prst="ellipse">
            <a:avLst/>
          </a:prstGeom>
          <a:solidFill>
            <a:srgbClr val="315E87"/>
          </a:solidFill>
          <a:ln w="19050">
            <a:solidFill>
              <a:srgbClr val="315E87"/>
            </a:solidFill>
          </a:ln>
        </p:spPr>
      </p:sp>
      <p:sp>
        <p:nvSpPr>
          <p:cNvPr id="42" name="symbol-browser-145">
            <a:extLst>
              <a:ext uri="{FF2B5EF4-FFF2-40B4-BE49-F238E27FC236}">
                <a16:creationId xmlns:a16="http://schemas.microsoft.com/office/drawing/2014/main" id="{17BFE2F1-8D77-43F1-BFE2-C16B3DB9A0D8}"/>
              </a:ext>
            </a:extLst>
          </p:cNvPr>
          <p:cNvSpPr>
            <a:spLocks noGrp="1"/>
          </p:cNvSpPr>
          <p:nvPr/>
        </p:nvSpPr>
        <p:spPr>
          <a:xfrm>
            <a:off x="7181850" y="3286125"/>
            <a:ext cx="28575" cy="28575"/>
          </a:xfrm>
          <a:prstGeom prst="ellipse">
            <a:avLst/>
          </a:prstGeom>
          <a:solidFill>
            <a:srgbClr val="315E87"/>
          </a:solidFill>
          <a:ln w="19050">
            <a:solidFill>
              <a:srgbClr val="315E87"/>
            </a:solidFill>
          </a:ln>
        </p:spPr>
      </p:sp>
      <p:sp>
        <p:nvSpPr>
          <p:cNvPr id="43" name="symbol-browser-146">
            <a:extLst>
              <a:ext uri="{FF2B5EF4-FFF2-40B4-BE49-F238E27FC236}">
                <a16:creationId xmlns:a16="http://schemas.microsoft.com/office/drawing/2014/main" id="{7732DBBC-AE6F-4A18-8C45-29D64CF05AF1}"/>
              </a:ext>
            </a:extLst>
          </p:cNvPr>
          <p:cNvSpPr>
            <a:spLocks noGrp="1"/>
          </p:cNvSpPr>
          <p:nvPr/>
        </p:nvSpPr>
        <p:spPr>
          <a:xfrm>
            <a:off x="7258050" y="3286125"/>
            <a:ext cx="28575" cy="28575"/>
          </a:xfrm>
          <a:prstGeom prst="ellipse">
            <a:avLst/>
          </a:prstGeom>
          <a:solidFill>
            <a:srgbClr val="315E87"/>
          </a:solidFill>
          <a:ln w="19050">
            <a:solidFill>
              <a:srgbClr val="315E87"/>
            </a:solidFill>
          </a:ln>
        </p:spPr>
      </p:sp>
      <p:cxnSp>
        <p:nvCxnSpPr>
          <p:cNvPr id="44" name="link-147">
            <a:extLst>
              <a:ext uri="{FF2B5EF4-FFF2-40B4-BE49-F238E27FC236}">
                <a16:creationId xmlns:a16="http://schemas.microsoft.com/office/drawing/2014/main" id="{2E5B0661-A125-4D3B-86DA-1854698B0202}"/>
              </a:ext>
            </a:extLst>
          </p:cNvPr>
          <p:cNvCxnSpPr/>
          <p:nvPr/>
        </p:nvCxnSpPr>
        <p:spPr>
          <a:xfrm>
            <a:off x="7115175" y="3476625"/>
            <a:ext cx="266700" cy="0"/>
          </a:xfrm>
          <a:prstGeom prst="straightConnector1">
            <a:avLst/>
          </a:prstGeom>
          <a:ln w="19050">
            <a:solidFill>
              <a:srgbClr val="315E87"/>
            </a:solidFill>
            <a:prstDash val="solid"/>
          </a:ln>
        </p:spPr>
      </p:cxnSp>
      <p:sp>
        <p:nvSpPr>
          <p:cNvPr id="45" name="text-148">
            <a:extLst>
              <a:ext uri="{FF2B5EF4-FFF2-40B4-BE49-F238E27FC236}">
                <a16:creationId xmlns:a16="http://schemas.microsoft.com/office/drawing/2014/main" id="{B3E58AFF-A436-451D-B047-38D9F6527EA8}"/>
              </a:ext>
            </a:extLst>
          </p:cNvPr>
          <p:cNvSpPr>
            <a:spLocks noGrp="1"/>
          </p:cNvSpPr>
          <p:nvPr/>
        </p:nvSpPr>
        <p:spPr>
          <a:xfrm>
            <a:off x="7639050" y="3152775"/>
            <a:ext cx="3743325" cy="3619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Application context bridge</a:t>
            </a:r>
          </a:p>
        </p:txBody>
      </p:sp>
      <p:sp>
        <p:nvSpPr>
          <p:cNvPr id="46" name="text-149">
            <a:extLst>
              <a:ext uri="{FF2B5EF4-FFF2-40B4-BE49-F238E27FC236}">
                <a16:creationId xmlns:a16="http://schemas.microsoft.com/office/drawing/2014/main" id="{2BF93D3F-788C-4D4D-91F0-23DDA41AA808}"/>
              </a:ext>
            </a:extLst>
          </p:cNvPr>
          <p:cNvSpPr>
            <a:spLocks noGrp="1"/>
          </p:cNvSpPr>
          <p:nvPr/>
        </p:nvSpPr>
        <p:spPr>
          <a:xfrm>
            <a:off x="7639050" y="3638550"/>
            <a:ext cx="3743325" cy="657225"/>
          </a:xfrm>
          <a:prstGeom prst="rect">
            <a:avLst/>
          </a:prstGeom>
          <a:noFill/>
          <a:ln w="0">
            <a:noFill/>
          </a:ln>
        </p:spPr>
        <p:txBody>
          <a:bodyPr wrap="square" lIns="0" tIns="0" rIns="0" bIns="0" anchor="t">
            <a:noAutofit/>
          </a:bodyPr>
          <a:lstStyle>
            <a:defPPr algn="l">
              <a:defRPr sz="1650" b="0">
                <a:solidFill>
                  <a:srgbClr val="17324A"/>
                </a:solidFill>
                <a:latin typeface="Arial"/>
                <a:ea typeface="Arial"/>
                <a:cs typeface="Arial"/>
              </a:defRPr>
            </a:defPPr>
          </a:lstStyle>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Read view state and selections</a:t>
            </a:r>
          </a:p>
          <a:p>
            <a:pPr algn="l">
              <a:lnSpc>
                <a:spcPct val="112000"/>
              </a:lnSpc>
              <a:buNone/>
              <a:defRPr sz="1650" b="0">
                <a:solidFill>
                  <a:srgbClr val="17324A"/>
                </a:solidFill>
                <a:latin typeface="Arial"/>
                <a:ea typeface="Arial"/>
                <a:cs typeface="Arial"/>
              </a:defRPr>
            </a:pPr>
            <a:r>
              <a:rPr sz="1650" b="0">
                <a:solidFill>
                  <a:srgbClr val="17324A"/>
                </a:solidFill>
                <a:latin typeface="Arial"/>
                <a:ea typeface="Arial"/>
                <a:cs typeface="Arial"/>
              </a:rPr>
              <a:t>Apply supported app actions</a:t>
            </a:r>
          </a:p>
        </p:txBody>
      </p:sp>
      <p:sp>
        <p:nvSpPr>
          <p:cNvPr id="47" name="shape-150">
            <a:extLst>
              <a:ext uri="{FF2B5EF4-FFF2-40B4-BE49-F238E27FC236}">
                <a16:creationId xmlns:a16="http://schemas.microsoft.com/office/drawing/2014/main" id="{AE5CBD58-16F5-474C-B8CC-77BD68B8A009}"/>
              </a:ext>
            </a:extLst>
          </p:cNvPr>
          <p:cNvSpPr>
            <a:spLocks noGrp="1"/>
          </p:cNvSpPr>
          <p:nvPr/>
        </p:nvSpPr>
        <p:spPr>
          <a:xfrm>
            <a:off x="609600" y="4924425"/>
            <a:ext cx="2857500" cy="1028700"/>
          </a:xfrm>
          <a:prstGeom prst="rect">
            <a:avLst/>
          </a:prstGeom>
          <a:solidFill>
            <a:srgbClr val="FFFFFF"/>
          </a:solidFill>
          <a:ln w="15240">
            <a:solidFill>
              <a:srgbClr val="006D77"/>
            </a:solidFill>
          </a:ln>
        </p:spPr>
      </p:sp>
      <p:sp>
        <p:nvSpPr>
          <p:cNvPr id="48" name="symbol-database-151">
            <a:extLst>
              <a:ext uri="{FF2B5EF4-FFF2-40B4-BE49-F238E27FC236}">
                <a16:creationId xmlns:a16="http://schemas.microsoft.com/office/drawing/2014/main" id="{92C48B08-7156-4215-957D-3F74DDBDA02F}"/>
              </a:ext>
            </a:extLst>
          </p:cNvPr>
          <p:cNvSpPr>
            <a:spLocks noGrp="1"/>
          </p:cNvSpPr>
          <p:nvPr/>
        </p:nvSpPr>
        <p:spPr>
          <a:xfrm>
            <a:off x="838200" y="5172075"/>
            <a:ext cx="350520" cy="438150"/>
          </a:xfrm>
          <a:prstGeom prst="can">
            <a:avLst/>
          </a:prstGeom>
          <a:solidFill>
            <a:srgbClr val="FFFFFF"/>
          </a:solidFill>
          <a:ln w="19050">
            <a:solidFill>
              <a:srgbClr val="006D77"/>
            </a:solidFill>
          </a:ln>
        </p:spPr>
      </p:sp>
      <p:sp>
        <p:nvSpPr>
          <p:cNvPr id="49" name="text-152">
            <a:extLst>
              <a:ext uri="{FF2B5EF4-FFF2-40B4-BE49-F238E27FC236}">
                <a16:creationId xmlns:a16="http://schemas.microsoft.com/office/drawing/2014/main" id="{4DDB62CA-C03A-4EA9-9700-9D672981C09A}"/>
              </a:ext>
            </a:extLst>
          </p:cNvPr>
          <p:cNvSpPr>
            <a:spLocks noGrp="1"/>
          </p:cNvSpPr>
          <p:nvPr/>
        </p:nvSpPr>
        <p:spPr>
          <a:xfrm>
            <a:off x="1400175" y="5095875"/>
            <a:ext cx="1914525" cy="3238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rPr>
              <a:t>WWI database</a:t>
            </a:r>
          </a:p>
        </p:txBody>
      </p:sp>
      <p:sp>
        <p:nvSpPr>
          <p:cNvPr id="50" name="text-153">
            <a:extLst>
              <a:ext uri="{FF2B5EF4-FFF2-40B4-BE49-F238E27FC236}">
                <a16:creationId xmlns:a16="http://schemas.microsoft.com/office/drawing/2014/main" id="{97C2DC67-8F9E-409B-9B19-3307A1A05A0D}"/>
              </a:ext>
            </a:extLst>
          </p:cNvPr>
          <p:cNvSpPr>
            <a:spLocks noGrp="1"/>
          </p:cNvSpPr>
          <p:nvPr/>
        </p:nvSpPr>
        <p:spPr>
          <a:xfrm>
            <a:off x="1400175" y="5495925"/>
            <a:ext cx="1914525" cy="28575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Canonical read API</a:t>
            </a:r>
          </a:p>
        </p:txBody>
      </p:sp>
      <p:sp>
        <p:nvSpPr>
          <p:cNvPr id="51" name="shape-154">
            <a:extLst>
              <a:ext uri="{FF2B5EF4-FFF2-40B4-BE49-F238E27FC236}">
                <a16:creationId xmlns:a16="http://schemas.microsoft.com/office/drawing/2014/main" id="{85B200F4-97EB-4C1E-A797-CAAE9F1C524F}"/>
              </a:ext>
            </a:extLst>
          </p:cNvPr>
          <p:cNvSpPr>
            <a:spLocks noGrp="1"/>
          </p:cNvSpPr>
          <p:nvPr/>
        </p:nvSpPr>
        <p:spPr>
          <a:xfrm>
            <a:off x="8686800" y="4924425"/>
            <a:ext cx="2895600" cy="1028700"/>
          </a:xfrm>
          <a:prstGeom prst="rect">
            <a:avLst/>
          </a:prstGeom>
          <a:solidFill>
            <a:srgbClr val="FFFFFF"/>
          </a:solidFill>
          <a:ln w="15240">
            <a:solidFill>
              <a:srgbClr val="315E87"/>
            </a:solidFill>
          </a:ln>
        </p:spPr>
      </p:sp>
      <p:sp>
        <p:nvSpPr>
          <p:cNvPr id="52" name="symbol-browser-155">
            <a:extLst>
              <a:ext uri="{FF2B5EF4-FFF2-40B4-BE49-F238E27FC236}">
                <a16:creationId xmlns:a16="http://schemas.microsoft.com/office/drawing/2014/main" id="{C4561362-28C3-4AFE-8496-18BDE5C1EB48}"/>
              </a:ext>
            </a:extLst>
          </p:cNvPr>
          <p:cNvSpPr>
            <a:spLocks noGrp="1"/>
          </p:cNvSpPr>
          <p:nvPr/>
        </p:nvSpPr>
        <p:spPr>
          <a:xfrm>
            <a:off x="8858250" y="5219700"/>
            <a:ext cx="438150" cy="324231"/>
          </a:xfrm>
          <a:prstGeom prst="roundRect">
            <a:avLst>
              <a:gd name="adj" fmla="val 23502"/>
            </a:avLst>
          </a:prstGeom>
          <a:solidFill>
            <a:srgbClr val="FFFFFF"/>
          </a:solidFill>
          <a:ln w="19050">
            <a:solidFill>
              <a:srgbClr val="315E87"/>
            </a:solidFill>
          </a:ln>
        </p:spPr>
      </p:sp>
      <p:cxnSp>
        <p:nvCxnSpPr>
          <p:cNvPr id="53" name="link-156">
            <a:extLst>
              <a:ext uri="{FF2B5EF4-FFF2-40B4-BE49-F238E27FC236}">
                <a16:creationId xmlns:a16="http://schemas.microsoft.com/office/drawing/2014/main" id="{9D3E56A9-A045-47AB-98D4-7BB7CDE1E22F}"/>
              </a:ext>
            </a:extLst>
          </p:cNvPr>
          <p:cNvCxnSpPr/>
          <p:nvPr/>
        </p:nvCxnSpPr>
        <p:spPr>
          <a:xfrm>
            <a:off x="8858250" y="5353050"/>
            <a:ext cx="438150" cy="0"/>
          </a:xfrm>
          <a:prstGeom prst="straightConnector1">
            <a:avLst/>
          </a:prstGeom>
          <a:ln w="19050">
            <a:solidFill>
              <a:srgbClr val="315E87"/>
            </a:solidFill>
            <a:prstDash val="solid"/>
          </a:ln>
        </p:spPr>
      </p:cxnSp>
      <p:sp>
        <p:nvSpPr>
          <p:cNvPr id="54" name="symbol-browser-157">
            <a:extLst>
              <a:ext uri="{FF2B5EF4-FFF2-40B4-BE49-F238E27FC236}">
                <a16:creationId xmlns:a16="http://schemas.microsoft.com/office/drawing/2014/main" id="{369C90C0-7FDC-4E1B-924D-DA4892D227DD}"/>
              </a:ext>
            </a:extLst>
          </p:cNvPr>
          <p:cNvSpPr>
            <a:spLocks noGrp="1"/>
          </p:cNvSpPr>
          <p:nvPr/>
        </p:nvSpPr>
        <p:spPr>
          <a:xfrm>
            <a:off x="8934450" y="5267325"/>
            <a:ext cx="28575" cy="28575"/>
          </a:xfrm>
          <a:prstGeom prst="ellipse">
            <a:avLst/>
          </a:prstGeom>
          <a:solidFill>
            <a:srgbClr val="315E87"/>
          </a:solidFill>
          <a:ln w="19050">
            <a:solidFill>
              <a:srgbClr val="315E87"/>
            </a:solidFill>
          </a:ln>
        </p:spPr>
      </p:sp>
      <p:sp>
        <p:nvSpPr>
          <p:cNvPr id="55" name="symbol-browser-158">
            <a:extLst>
              <a:ext uri="{FF2B5EF4-FFF2-40B4-BE49-F238E27FC236}">
                <a16:creationId xmlns:a16="http://schemas.microsoft.com/office/drawing/2014/main" id="{0FD2B565-92DF-4095-802B-4043D6C94057}"/>
              </a:ext>
            </a:extLst>
          </p:cNvPr>
          <p:cNvSpPr>
            <a:spLocks noGrp="1"/>
          </p:cNvSpPr>
          <p:nvPr/>
        </p:nvSpPr>
        <p:spPr>
          <a:xfrm>
            <a:off x="9010650" y="5267325"/>
            <a:ext cx="28575" cy="28575"/>
          </a:xfrm>
          <a:prstGeom prst="ellipse">
            <a:avLst/>
          </a:prstGeom>
          <a:solidFill>
            <a:srgbClr val="315E87"/>
          </a:solidFill>
          <a:ln w="19050">
            <a:solidFill>
              <a:srgbClr val="315E87"/>
            </a:solidFill>
          </a:ln>
        </p:spPr>
      </p:sp>
      <p:sp>
        <p:nvSpPr>
          <p:cNvPr id="56" name="symbol-browser-159">
            <a:extLst>
              <a:ext uri="{FF2B5EF4-FFF2-40B4-BE49-F238E27FC236}">
                <a16:creationId xmlns:a16="http://schemas.microsoft.com/office/drawing/2014/main" id="{7D9EC953-941B-482A-8608-B0472680BED8}"/>
              </a:ext>
            </a:extLst>
          </p:cNvPr>
          <p:cNvSpPr>
            <a:spLocks noGrp="1"/>
          </p:cNvSpPr>
          <p:nvPr/>
        </p:nvSpPr>
        <p:spPr>
          <a:xfrm>
            <a:off x="9086850" y="5267325"/>
            <a:ext cx="28575" cy="28575"/>
          </a:xfrm>
          <a:prstGeom prst="ellipse">
            <a:avLst/>
          </a:prstGeom>
          <a:solidFill>
            <a:srgbClr val="315E87"/>
          </a:solidFill>
          <a:ln w="19050">
            <a:solidFill>
              <a:srgbClr val="315E87"/>
            </a:solidFill>
          </a:ln>
        </p:spPr>
      </p:sp>
      <p:cxnSp>
        <p:nvCxnSpPr>
          <p:cNvPr id="57" name="link-160">
            <a:extLst>
              <a:ext uri="{FF2B5EF4-FFF2-40B4-BE49-F238E27FC236}">
                <a16:creationId xmlns:a16="http://schemas.microsoft.com/office/drawing/2014/main" id="{07A445C6-5DBB-4383-B82F-229EC61BC295}"/>
              </a:ext>
            </a:extLst>
          </p:cNvPr>
          <p:cNvCxnSpPr/>
          <p:nvPr/>
        </p:nvCxnSpPr>
        <p:spPr>
          <a:xfrm>
            <a:off x="8943975" y="5457825"/>
            <a:ext cx="266700" cy="0"/>
          </a:xfrm>
          <a:prstGeom prst="straightConnector1">
            <a:avLst/>
          </a:prstGeom>
          <a:ln w="19050">
            <a:solidFill>
              <a:srgbClr val="315E87"/>
            </a:solidFill>
            <a:prstDash val="solid"/>
          </a:ln>
        </p:spPr>
      </p:cxnSp>
      <p:sp>
        <p:nvSpPr>
          <p:cNvPr id="58" name="text-161">
            <a:extLst>
              <a:ext uri="{FF2B5EF4-FFF2-40B4-BE49-F238E27FC236}">
                <a16:creationId xmlns:a16="http://schemas.microsoft.com/office/drawing/2014/main" id="{F8829DAC-5E24-469D-B11C-748466F4C4F2}"/>
              </a:ext>
            </a:extLst>
          </p:cNvPr>
          <p:cNvSpPr>
            <a:spLocks noGrp="1"/>
          </p:cNvSpPr>
          <p:nvPr/>
        </p:nvSpPr>
        <p:spPr>
          <a:xfrm>
            <a:off x="9439275" y="5095875"/>
            <a:ext cx="2000250" cy="3238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rPr>
              <a:t>ERP workspace</a:t>
            </a:r>
          </a:p>
        </p:txBody>
      </p:sp>
      <p:sp>
        <p:nvSpPr>
          <p:cNvPr id="59" name="text-162">
            <a:extLst>
              <a:ext uri="{FF2B5EF4-FFF2-40B4-BE49-F238E27FC236}">
                <a16:creationId xmlns:a16="http://schemas.microsoft.com/office/drawing/2014/main" id="{F9229941-6599-4BD1-81BE-E21353E051D0}"/>
              </a:ext>
            </a:extLst>
          </p:cNvPr>
          <p:cNvSpPr>
            <a:spLocks noGrp="1"/>
          </p:cNvSpPr>
          <p:nvPr/>
        </p:nvSpPr>
        <p:spPr>
          <a:xfrm>
            <a:off x="9439275" y="5495925"/>
            <a:ext cx="2000250" cy="28575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Observed view / filters</a:t>
            </a:r>
          </a:p>
        </p:txBody>
      </p:sp>
      <p:sp>
        <p:nvSpPr>
          <p:cNvPr id="60" name="shape-163">
            <a:extLst>
              <a:ext uri="{FF2B5EF4-FFF2-40B4-BE49-F238E27FC236}">
                <a16:creationId xmlns:a16="http://schemas.microsoft.com/office/drawing/2014/main" id="{1EA1529B-304F-40C3-928D-F5F0999B3E04}"/>
              </a:ext>
            </a:extLst>
          </p:cNvPr>
          <p:cNvSpPr>
            <a:spLocks noGrp="1"/>
          </p:cNvSpPr>
          <p:nvPr/>
        </p:nvSpPr>
        <p:spPr>
          <a:xfrm>
            <a:off x="4019550" y="4924425"/>
            <a:ext cx="4152900" cy="1028700"/>
          </a:xfrm>
          <a:prstGeom prst="rect">
            <a:avLst/>
          </a:prstGeom>
          <a:solidFill>
            <a:srgbClr val="FFF1D8"/>
          </a:solidFill>
          <a:ln w="16193">
            <a:solidFill>
              <a:srgbClr val="A4630B"/>
            </a:solidFill>
          </a:ln>
        </p:spPr>
      </p:sp>
      <p:sp>
        <p:nvSpPr>
          <p:cNvPr id="61" name="symbol-check-164">
            <a:extLst>
              <a:ext uri="{FF2B5EF4-FFF2-40B4-BE49-F238E27FC236}">
                <a16:creationId xmlns:a16="http://schemas.microsoft.com/office/drawing/2014/main" id="{649A2EAA-68C8-4839-886E-EF476E6505CD}"/>
              </a:ext>
            </a:extLst>
          </p:cNvPr>
          <p:cNvSpPr>
            <a:spLocks noGrp="1"/>
          </p:cNvSpPr>
          <p:nvPr/>
        </p:nvSpPr>
        <p:spPr>
          <a:xfrm>
            <a:off x="4200525" y="5162550"/>
            <a:ext cx="447675" cy="447675"/>
          </a:xfrm>
          <a:prstGeom prst="hexagon">
            <a:avLst/>
          </a:prstGeom>
          <a:solidFill>
            <a:srgbClr val="FFFFFF"/>
          </a:solidFill>
          <a:ln w="19050">
            <a:solidFill>
              <a:srgbClr val="A4630B"/>
            </a:solidFill>
          </a:ln>
        </p:spPr>
      </p:sp>
      <p:cxnSp>
        <p:nvCxnSpPr>
          <p:cNvPr id="62" name="link-165">
            <a:extLst>
              <a:ext uri="{FF2B5EF4-FFF2-40B4-BE49-F238E27FC236}">
                <a16:creationId xmlns:a16="http://schemas.microsoft.com/office/drawing/2014/main" id="{E6F7D098-638D-4049-8D21-CEDF7CB578EF}"/>
              </a:ext>
            </a:extLst>
          </p:cNvPr>
          <p:cNvCxnSpPr/>
          <p:nvPr/>
        </p:nvCxnSpPr>
        <p:spPr>
          <a:xfrm>
            <a:off x="4312444" y="5386388"/>
            <a:ext cx="80581" cy="80581"/>
          </a:xfrm>
          <a:prstGeom prst="straightConnector1">
            <a:avLst/>
          </a:prstGeom>
          <a:ln w="19050">
            <a:solidFill>
              <a:srgbClr val="A4630B"/>
            </a:solidFill>
            <a:prstDash val="solid"/>
          </a:ln>
        </p:spPr>
      </p:cxnSp>
      <p:cxnSp>
        <p:nvCxnSpPr>
          <p:cNvPr id="63" name="link-166">
            <a:extLst>
              <a:ext uri="{FF2B5EF4-FFF2-40B4-BE49-F238E27FC236}">
                <a16:creationId xmlns:a16="http://schemas.microsoft.com/office/drawing/2014/main" id="{728A5A0E-2640-4ADD-8519-76AF41328B3A}"/>
              </a:ext>
            </a:extLst>
          </p:cNvPr>
          <p:cNvCxnSpPr/>
          <p:nvPr/>
        </p:nvCxnSpPr>
        <p:spPr>
          <a:xfrm flipV="1">
            <a:off x="4393025" y="5287899"/>
            <a:ext cx="147733" cy="179070"/>
          </a:xfrm>
          <a:prstGeom prst="straightConnector1">
            <a:avLst/>
          </a:prstGeom>
          <a:ln w="19050">
            <a:solidFill>
              <a:srgbClr val="A4630B"/>
            </a:solidFill>
            <a:prstDash val="solid"/>
          </a:ln>
        </p:spPr>
      </p:cxnSp>
      <p:sp>
        <p:nvSpPr>
          <p:cNvPr id="64" name="text-167">
            <a:extLst>
              <a:ext uri="{FF2B5EF4-FFF2-40B4-BE49-F238E27FC236}">
                <a16:creationId xmlns:a16="http://schemas.microsoft.com/office/drawing/2014/main" id="{ED5D8E28-8A65-4241-AAB6-436AD0E8109B}"/>
              </a:ext>
            </a:extLst>
          </p:cNvPr>
          <p:cNvSpPr>
            <a:spLocks noGrp="1"/>
          </p:cNvSpPr>
          <p:nvPr/>
        </p:nvSpPr>
        <p:spPr>
          <a:xfrm>
            <a:off x="4810125" y="5067300"/>
            <a:ext cx="3209925" cy="342900"/>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Completion verifier</a:t>
            </a:r>
          </a:p>
        </p:txBody>
      </p:sp>
      <p:sp>
        <p:nvSpPr>
          <p:cNvPr id="65" name="text-168">
            <a:extLst>
              <a:ext uri="{FF2B5EF4-FFF2-40B4-BE49-F238E27FC236}">
                <a16:creationId xmlns:a16="http://schemas.microsoft.com/office/drawing/2014/main" id="{016F8AD9-B699-4CAB-AF7B-CFEBF572EE63}"/>
              </a:ext>
            </a:extLst>
          </p:cNvPr>
          <p:cNvSpPr>
            <a:spLocks noGrp="1"/>
          </p:cNvSpPr>
          <p:nvPr/>
        </p:nvSpPr>
        <p:spPr>
          <a:xfrm>
            <a:off x="4810125" y="5372100"/>
            <a:ext cx="3209925" cy="4667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Scope, units and coverage</a:t>
            </a:r>
          </a:p>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Observed action outcomes</a:t>
            </a:r>
          </a:p>
        </p:txBody>
      </p:sp>
      <p:cxnSp>
        <p:nvCxnSpPr>
          <p:cNvPr id="66" name="link-169">
            <a:extLst>
              <a:ext uri="{FF2B5EF4-FFF2-40B4-BE49-F238E27FC236}">
                <a16:creationId xmlns:a16="http://schemas.microsoft.com/office/drawing/2014/main" id="{313ED163-F690-42C5-9188-877FC273EE5E}"/>
              </a:ext>
            </a:extLst>
          </p:cNvPr>
          <p:cNvCxnSpPr/>
          <p:nvPr/>
        </p:nvCxnSpPr>
        <p:spPr>
          <a:xfrm>
            <a:off x="2038350" y="4448175"/>
            <a:ext cx="0" cy="476250"/>
          </a:xfrm>
          <a:prstGeom prst="straightConnector1">
            <a:avLst/>
          </a:prstGeom>
          <a:ln w="19050">
            <a:solidFill>
              <a:srgbClr val="006D77"/>
            </a:solidFill>
            <a:prstDash val="solid"/>
            <a:tailEnd type="triangle" w="med" len="med"/>
          </a:ln>
        </p:spPr>
      </p:cxnSp>
      <p:cxnSp>
        <p:nvCxnSpPr>
          <p:cNvPr id="67" name="link-170">
            <a:extLst>
              <a:ext uri="{FF2B5EF4-FFF2-40B4-BE49-F238E27FC236}">
                <a16:creationId xmlns:a16="http://schemas.microsoft.com/office/drawing/2014/main" id="{C7A7E490-906C-44D8-950D-9BE0BD351C9D}"/>
              </a:ext>
            </a:extLst>
          </p:cNvPr>
          <p:cNvCxnSpPr/>
          <p:nvPr/>
        </p:nvCxnSpPr>
        <p:spPr>
          <a:xfrm flipV="1">
            <a:off x="1943100" y="4448175"/>
            <a:ext cx="0" cy="476250"/>
          </a:xfrm>
          <a:prstGeom prst="straightConnector1">
            <a:avLst/>
          </a:prstGeom>
          <a:ln w="19050">
            <a:solidFill>
              <a:srgbClr val="006D77"/>
            </a:solidFill>
            <a:prstDash val="solid"/>
            <a:tailEnd type="triangle" w="med" len="med"/>
          </a:ln>
        </p:spPr>
      </p:cxnSp>
      <p:cxnSp>
        <p:nvCxnSpPr>
          <p:cNvPr id="68" name="link-171">
            <a:extLst>
              <a:ext uri="{FF2B5EF4-FFF2-40B4-BE49-F238E27FC236}">
                <a16:creationId xmlns:a16="http://schemas.microsoft.com/office/drawing/2014/main" id="{CD75D062-27EB-4E10-80D1-49BF06993BBD}"/>
              </a:ext>
            </a:extLst>
          </p:cNvPr>
          <p:cNvCxnSpPr/>
          <p:nvPr/>
        </p:nvCxnSpPr>
        <p:spPr>
          <a:xfrm>
            <a:off x="10287000" y="4448175"/>
            <a:ext cx="0" cy="476250"/>
          </a:xfrm>
          <a:prstGeom prst="straightConnector1">
            <a:avLst/>
          </a:prstGeom>
          <a:ln w="19050">
            <a:solidFill>
              <a:srgbClr val="315E87"/>
            </a:solidFill>
            <a:prstDash val="solid"/>
            <a:tailEnd type="triangle" w="med" len="med"/>
          </a:ln>
        </p:spPr>
      </p:cxnSp>
      <p:cxnSp>
        <p:nvCxnSpPr>
          <p:cNvPr id="69" name="link-172">
            <a:extLst>
              <a:ext uri="{FF2B5EF4-FFF2-40B4-BE49-F238E27FC236}">
                <a16:creationId xmlns:a16="http://schemas.microsoft.com/office/drawing/2014/main" id="{E547BEEC-9130-47B1-9179-2651AC6B2E98}"/>
              </a:ext>
            </a:extLst>
          </p:cNvPr>
          <p:cNvCxnSpPr/>
          <p:nvPr/>
        </p:nvCxnSpPr>
        <p:spPr>
          <a:xfrm flipV="1">
            <a:off x="10172700" y="4448175"/>
            <a:ext cx="0" cy="476250"/>
          </a:xfrm>
          <a:prstGeom prst="straightConnector1">
            <a:avLst/>
          </a:prstGeom>
          <a:ln w="19050">
            <a:solidFill>
              <a:srgbClr val="315E87"/>
            </a:solidFill>
            <a:prstDash val="solid"/>
            <a:tailEnd type="triangle" w="med" len="med"/>
          </a:ln>
        </p:spPr>
      </p:cxnSp>
      <p:cxnSp>
        <p:nvCxnSpPr>
          <p:cNvPr id="70" name="link-173">
            <a:extLst>
              <a:ext uri="{FF2B5EF4-FFF2-40B4-BE49-F238E27FC236}">
                <a16:creationId xmlns:a16="http://schemas.microsoft.com/office/drawing/2014/main" id="{8EAA3954-E548-4A6D-A557-CFDC9BFCBB92}"/>
              </a:ext>
            </a:extLst>
          </p:cNvPr>
          <p:cNvCxnSpPr/>
          <p:nvPr/>
        </p:nvCxnSpPr>
        <p:spPr>
          <a:xfrm>
            <a:off x="4667250" y="4448175"/>
            <a:ext cx="0" cy="476250"/>
          </a:xfrm>
          <a:prstGeom prst="straightConnector1">
            <a:avLst/>
          </a:prstGeom>
          <a:ln w="19050">
            <a:solidFill>
              <a:srgbClr val="A4630B"/>
            </a:solidFill>
            <a:prstDash val="solid"/>
            <a:tailEnd type="triangle" w="med" len="med"/>
          </a:ln>
        </p:spPr>
      </p:cxnSp>
      <p:sp>
        <p:nvSpPr>
          <p:cNvPr id="71" name="text-174">
            <a:extLst>
              <a:ext uri="{FF2B5EF4-FFF2-40B4-BE49-F238E27FC236}">
                <a16:creationId xmlns:a16="http://schemas.microsoft.com/office/drawing/2014/main" id="{0E0A988E-AA4A-45A8-95E5-20623767266F}"/>
              </a:ext>
            </a:extLst>
          </p:cNvPr>
          <p:cNvSpPr>
            <a:spLocks noGrp="1"/>
          </p:cNvSpPr>
          <p:nvPr/>
        </p:nvSpPr>
        <p:spPr>
          <a:xfrm>
            <a:off x="4867275" y="4581525"/>
            <a:ext cx="1143000" cy="276225"/>
          </a:xfrm>
          <a:prstGeom prst="rect">
            <a:avLst/>
          </a:prstGeom>
          <a:noFill/>
          <a:ln w="0">
            <a:noFill/>
          </a:ln>
        </p:spPr>
        <p:txBody>
          <a:bodyPr wrap="square" lIns="0" tIns="0" rIns="0" bIns="0" anchor="t">
            <a:noAutofit/>
          </a:bodyPr>
          <a:lstStyle>
            <a:defPPr algn="l">
              <a:defRPr sz="1500" b="0">
                <a:solidFill>
                  <a:srgbClr val="A4630B"/>
                </a:solidFill>
                <a:latin typeface="Arial"/>
                <a:ea typeface="Arial"/>
                <a:cs typeface="Arial"/>
              </a:defRPr>
            </a:defPPr>
          </a:lstStyle>
          <a:p>
            <a:pPr algn="l">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Results</a:t>
            </a:r>
          </a:p>
        </p:txBody>
      </p:sp>
      <p:cxnSp>
        <p:nvCxnSpPr>
          <p:cNvPr id="72" name="link-175">
            <a:extLst>
              <a:ext uri="{FF2B5EF4-FFF2-40B4-BE49-F238E27FC236}">
                <a16:creationId xmlns:a16="http://schemas.microsoft.com/office/drawing/2014/main" id="{94A2FC85-EF82-44DF-9D7E-131C138B8F9A}"/>
              </a:ext>
            </a:extLst>
          </p:cNvPr>
          <p:cNvCxnSpPr/>
          <p:nvPr/>
        </p:nvCxnSpPr>
        <p:spPr>
          <a:xfrm flipH="1">
            <a:off x="8172450" y="5438775"/>
            <a:ext cx="514350" cy="0"/>
          </a:xfrm>
          <a:prstGeom prst="straightConnector1">
            <a:avLst/>
          </a:prstGeom>
          <a:ln w="19050">
            <a:solidFill>
              <a:srgbClr val="A4630B"/>
            </a:solidFill>
            <a:prstDash val="solid"/>
            <a:tailEnd type="triangle" w="med" len="med"/>
          </a:ln>
        </p:spPr>
      </p:cxnSp>
      <p:cxnSp>
        <p:nvCxnSpPr>
          <p:cNvPr id="73" name="link-176">
            <a:extLst>
              <a:ext uri="{FF2B5EF4-FFF2-40B4-BE49-F238E27FC236}">
                <a16:creationId xmlns:a16="http://schemas.microsoft.com/office/drawing/2014/main" id="{0CC58CBD-FD35-44B2-B2AF-F63C41FC7A20}"/>
              </a:ext>
            </a:extLst>
          </p:cNvPr>
          <p:cNvCxnSpPr/>
          <p:nvPr/>
        </p:nvCxnSpPr>
        <p:spPr>
          <a:xfrm flipV="1">
            <a:off x="6096000" y="2438400"/>
            <a:ext cx="0" cy="2486025"/>
          </a:xfrm>
          <a:prstGeom prst="straightConnector1">
            <a:avLst/>
          </a:prstGeom>
          <a:ln w="19050">
            <a:solidFill>
              <a:srgbClr val="A4630B"/>
            </a:solidFill>
            <a:prstDash val="dash"/>
            <a:tailEnd type="triangle" w="med" len="med"/>
          </a:ln>
        </p:spPr>
      </p:cxnSp>
      <p:sp>
        <p:nvSpPr>
          <p:cNvPr id="74" name="shape-177">
            <a:extLst>
              <a:ext uri="{FF2B5EF4-FFF2-40B4-BE49-F238E27FC236}">
                <a16:creationId xmlns:a16="http://schemas.microsoft.com/office/drawing/2014/main" id="{4DA6753C-1CFA-4DB5-B383-AE68C9A627DE}"/>
              </a:ext>
            </a:extLst>
          </p:cNvPr>
          <p:cNvSpPr>
            <a:spLocks noGrp="1"/>
          </p:cNvSpPr>
          <p:nvPr/>
        </p:nvSpPr>
        <p:spPr>
          <a:xfrm>
            <a:off x="5457825" y="3686175"/>
            <a:ext cx="1276350" cy="552450"/>
          </a:xfrm>
          <a:prstGeom prst="rect">
            <a:avLst/>
          </a:prstGeom>
          <a:solidFill>
            <a:srgbClr val="FFFFFF"/>
          </a:solidFill>
          <a:ln w="0">
            <a:noFill/>
          </a:ln>
        </p:spPr>
      </p:sp>
      <p:sp>
        <p:nvSpPr>
          <p:cNvPr id="75" name="text-178">
            <a:extLst>
              <a:ext uri="{FF2B5EF4-FFF2-40B4-BE49-F238E27FC236}">
                <a16:creationId xmlns:a16="http://schemas.microsoft.com/office/drawing/2014/main" id="{56C74F5C-7B50-4783-9D32-E1D6501C3BCF}"/>
              </a:ext>
            </a:extLst>
          </p:cNvPr>
          <p:cNvSpPr>
            <a:spLocks noGrp="1"/>
          </p:cNvSpPr>
          <p:nvPr/>
        </p:nvSpPr>
        <p:spPr>
          <a:xfrm>
            <a:off x="5505450" y="3724275"/>
            <a:ext cx="1181100" cy="504825"/>
          </a:xfrm>
          <a:prstGeom prst="rect">
            <a:avLst/>
          </a:prstGeom>
          <a:noFill/>
          <a:ln w="0">
            <a:noFill/>
          </a:ln>
        </p:spPr>
        <p:txBody>
          <a:bodyPr wrap="square" lIns="0" tIns="0" rIns="0" bIns="0" anchor="t">
            <a:noAutofit/>
          </a:bodyPr>
          <a:lstStyle>
            <a:defPPr algn="ctr">
              <a:defRPr sz="1500" b="0">
                <a:solidFill>
                  <a:srgbClr val="A4630B"/>
                </a:solidFill>
                <a:latin typeface="Arial"/>
                <a:ea typeface="Arial"/>
                <a:cs typeface="Arial"/>
              </a:defRPr>
            </a:defPPr>
          </a:lstStyle>
          <a:p>
            <a:pPr algn="ctr">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Verify before</a:t>
            </a:r>
          </a:p>
          <a:p>
            <a:pPr algn="ctr">
              <a:lnSpc>
                <a:spcPct val="112000"/>
              </a:lnSpc>
              <a:buNone/>
              <a:defRPr sz="1500" b="0">
                <a:solidFill>
                  <a:srgbClr val="A4630B"/>
                </a:solidFill>
                <a:latin typeface="Arial"/>
                <a:ea typeface="Arial"/>
                <a:cs typeface="Arial"/>
              </a:defRPr>
            </a:pPr>
            <a:r>
              <a:rPr sz="1500" b="0">
                <a:solidFill>
                  <a:srgbClr val="A4630B"/>
                </a:solidFill>
                <a:latin typeface="Arial"/>
                <a:ea typeface="Arial"/>
                <a:cs typeface="Arial"/>
              </a:rPr>
              <a:t>completion</a:t>
            </a:r>
          </a:p>
        </p:txBody>
      </p:sp>
      <p:sp>
        <p:nvSpPr>
          <p:cNvPr id="76" name="text-179">
            <a:extLst>
              <a:ext uri="{FF2B5EF4-FFF2-40B4-BE49-F238E27FC236}">
                <a16:creationId xmlns:a16="http://schemas.microsoft.com/office/drawing/2014/main" id="{D79711A8-F82B-4DF8-B16D-633586E9075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unified runtime. API agent and ERPNext bridge are verified separately; joining them is pending.</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E8CBCE22-91DF-43E7-B6C3-584A4374FC93}"/>
              </a:ext>
            </a:extLst>
          </p:cNvPr>
          <p:cNvCxnSpPr>
            <a:stCxn id="32" idx="3"/>
            <a:endCxn id="34" idx="1"/>
          </p:cNvCxnSpPr>
          <p:nvPr/>
        </p:nvCxnSpPr>
        <p:spPr>
          <a:xfrm>
            <a:off x="9705975" y="5767388"/>
            <a:ext cx="266700" cy="0"/>
          </a:xfrm>
          <a:prstGeom prst="straightConnector1">
            <a:avLst/>
          </a:prstGeom>
          <a:ln w="19050">
            <a:solidFill>
              <a:srgbClr val="315E87"/>
            </a:solidFill>
            <a:prstDash val="solid"/>
            <a:tailEnd type="triangle" w="med" len="med"/>
          </a:ln>
        </p:spPr>
      </p:cxnSp>
      <p:cxnSp>
        <p:nvCxnSpPr>
          <p:cNvPr id="36" name="Straight Arrow Connector 35">
            <a:extLst>
              <a:ext uri="{FF2B5EF4-FFF2-40B4-BE49-F238E27FC236}">
                <a16:creationId xmlns:a16="http://schemas.microsoft.com/office/drawing/2014/main" id="{EAD5943C-EAC0-4232-82D5-9FA9C88E7B0B}"/>
              </a:ext>
            </a:extLst>
          </p:cNvPr>
          <p:cNvCxnSpPr>
            <a:stCxn id="30" idx="3"/>
            <a:endCxn id="32" idx="1"/>
          </p:cNvCxnSpPr>
          <p:nvPr/>
        </p:nvCxnSpPr>
        <p:spPr>
          <a:xfrm>
            <a:off x="7839075" y="5767388"/>
            <a:ext cx="257175" cy="0"/>
          </a:xfrm>
          <a:prstGeom prst="straightConnector1">
            <a:avLst/>
          </a:prstGeom>
          <a:ln w="19050">
            <a:solidFill>
              <a:srgbClr val="315E87"/>
            </a:solidFill>
            <a:prstDash val="solid"/>
            <a:tailEnd type="triangle" w="med" len="med"/>
          </a:ln>
        </p:spPr>
      </p:cxnSp>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18</a:t>
            </a:r>
          </a:p>
        </p:txBody>
      </p:sp>
      <p:sp>
        <p:nvSpPr>
          <p:cNvPr id="7" name="text-183">
            <a:extLst>
              <a:ext uri="{FF2B5EF4-FFF2-40B4-BE49-F238E27FC236}">
                <a16:creationId xmlns:a16="http://schemas.microsoft.com/office/drawing/2014/main" id="{A0231EF7-6179-417D-92AA-EB6D0F2A4516}"/>
              </a:ext>
            </a:extLst>
          </p:cNvPr>
          <p:cNvSpPr>
            <a:spLocks noGrp="1"/>
          </p:cNvSpPr>
          <p:nvPr/>
        </p:nvSpPr>
        <p:spPr>
          <a:xfrm>
            <a:off x="609600" y="1381125"/>
            <a:ext cx="10972800" cy="552450"/>
          </a:xfrm>
          <a:prstGeom prst="rect">
            <a:avLst/>
          </a:prstGeom>
          <a:noFill/>
          <a:ln w="0">
            <a:noFill/>
          </a:ln>
        </p:spPr>
        <p:txBody>
          <a:bodyPr wrap="square" lIns="0" tIns="0" rIns="0" bIns="0" anchor="t">
            <a:noAutofit/>
          </a:bodyPr>
          <a:lstStyle>
            <a:defPPr algn="l">
              <a:defRPr sz="2700" b="1">
                <a:solidFill>
                  <a:srgbClr val="006D77"/>
                </a:solidFill>
                <a:latin typeface="Arial"/>
                <a:ea typeface="Arial"/>
                <a:cs typeface="Arial"/>
              </a:defRPr>
            </a:defPPr>
          </a:lstStyle>
          <a:p>
            <a:pPr algn="l">
              <a:lnSpc>
                <a:spcPct val="112000"/>
              </a:lnSpc>
              <a:buNone/>
              <a:defRPr sz="2700" b="1">
                <a:solidFill>
                  <a:srgbClr val="006D77"/>
                </a:solidFill>
                <a:latin typeface="Arial"/>
                <a:ea typeface="Arial"/>
                <a:cs typeface="Arial"/>
              </a:defRPr>
            </a:pPr>
            <a:r>
              <a:rPr sz="2700" b="1">
                <a:solidFill>
                  <a:srgbClr val="006D77"/>
                </a:solidFill>
                <a:latin typeface="Arial"/>
                <a:ea typeface="Arial"/>
                <a:cs typeface="Arial"/>
              </a:rPr>
              <a:t>“Compare total orders in April and May 2016.”</a:t>
            </a:r>
          </a:p>
        </p:txBody>
      </p:sp>
      <p:sp>
        <p:nvSpPr>
          <p:cNvPr id="8" name="text-184">
            <a:extLst>
              <a:ext uri="{FF2B5EF4-FFF2-40B4-BE49-F238E27FC236}">
                <a16:creationId xmlns:a16="http://schemas.microsoft.com/office/drawing/2014/main" id="{1AF28A4C-0A1C-4703-82E4-2B4654DE008E}"/>
              </a:ext>
            </a:extLst>
          </p:cNvPr>
          <p:cNvSpPr>
            <a:spLocks noGrp="1"/>
          </p:cNvSpPr>
          <p:nvPr/>
        </p:nvSpPr>
        <p:spPr>
          <a:xfrm>
            <a:off x="609600" y="22002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9" name="text-185">
            <a:extLst>
              <a:ext uri="{FF2B5EF4-FFF2-40B4-BE49-F238E27FC236}">
                <a16:creationId xmlns:a16="http://schemas.microsoft.com/office/drawing/2014/main" id="{46174C17-21BF-4E53-8D1C-C25E6511426A}"/>
              </a:ext>
            </a:extLst>
          </p:cNvPr>
          <p:cNvSpPr>
            <a:spLocks noGrp="1"/>
          </p:cNvSpPr>
          <p:nvPr/>
        </p:nvSpPr>
        <p:spPr>
          <a:xfrm>
            <a:off x="1438275" y="22002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Resolve the requested scope</a:t>
            </a:r>
          </a:p>
        </p:txBody>
      </p:sp>
      <p:sp>
        <p:nvSpPr>
          <p:cNvPr id="10" name="text-186">
            <a:extLst>
              <a:ext uri="{FF2B5EF4-FFF2-40B4-BE49-F238E27FC236}">
                <a16:creationId xmlns:a16="http://schemas.microsoft.com/office/drawing/2014/main" id="{BBB1E0C6-2CAD-48BF-B298-4137A7E181E8}"/>
              </a:ext>
            </a:extLst>
          </p:cNvPr>
          <p:cNvSpPr>
            <a:spLocks noGrp="1"/>
          </p:cNvSpPr>
          <p:nvPr/>
        </p:nvSpPr>
        <p:spPr>
          <a:xfrm>
            <a:off x="1438275" y="25527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Total orders, two periods, the same year</a:t>
            </a:r>
          </a:p>
        </p:txBody>
      </p:sp>
      <p:sp>
        <p:nvSpPr>
          <p:cNvPr id="11" name="text-187">
            <a:extLst>
              <a:ext uri="{FF2B5EF4-FFF2-40B4-BE49-F238E27FC236}">
                <a16:creationId xmlns:a16="http://schemas.microsoft.com/office/drawing/2014/main" id="{92957B3C-7C03-4D15-80FF-17F935915A68}"/>
              </a:ext>
            </a:extLst>
          </p:cNvPr>
          <p:cNvSpPr>
            <a:spLocks noGrp="1"/>
          </p:cNvSpPr>
          <p:nvPr/>
        </p:nvSpPr>
        <p:spPr>
          <a:xfrm>
            <a:off x="609600" y="29241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2" name="text-188">
            <a:extLst>
              <a:ext uri="{FF2B5EF4-FFF2-40B4-BE49-F238E27FC236}">
                <a16:creationId xmlns:a16="http://schemas.microsoft.com/office/drawing/2014/main" id="{7AF37933-1F05-4834-BDB3-EBD4773E7407}"/>
              </a:ext>
            </a:extLst>
          </p:cNvPr>
          <p:cNvSpPr>
            <a:spLocks noGrp="1"/>
          </p:cNvSpPr>
          <p:nvPr/>
        </p:nvSpPr>
        <p:spPr>
          <a:xfrm>
            <a:off x="1438275" y="29241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Obtain the business facts</a:t>
            </a:r>
          </a:p>
        </p:txBody>
      </p:sp>
      <p:sp>
        <p:nvSpPr>
          <p:cNvPr id="13" name="text-189">
            <a:extLst>
              <a:ext uri="{FF2B5EF4-FFF2-40B4-BE49-F238E27FC236}">
                <a16:creationId xmlns:a16="http://schemas.microsoft.com/office/drawing/2014/main" id="{EABE11C5-72A4-4A23-8A53-C3865E73E090}"/>
              </a:ext>
            </a:extLst>
          </p:cNvPr>
          <p:cNvSpPr>
            <a:spLocks noGrp="1"/>
          </p:cNvSpPr>
          <p:nvPr/>
        </p:nvSpPr>
        <p:spPr>
          <a:xfrm>
            <a:off x="1438275" y="32766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Run the supported comparison</a:t>
            </a:r>
          </a:p>
        </p:txBody>
      </p:sp>
      <p:sp>
        <p:nvSpPr>
          <p:cNvPr id="14" name="text-190">
            <a:extLst>
              <a:ext uri="{FF2B5EF4-FFF2-40B4-BE49-F238E27FC236}">
                <a16:creationId xmlns:a16="http://schemas.microsoft.com/office/drawing/2014/main" id="{4F28924C-3F66-454C-9BB8-915D9CADD022}"/>
              </a:ext>
            </a:extLst>
          </p:cNvPr>
          <p:cNvSpPr>
            <a:spLocks noGrp="1"/>
          </p:cNvSpPr>
          <p:nvPr/>
        </p:nvSpPr>
        <p:spPr>
          <a:xfrm>
            <a:off x="609600" y="36480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15" name="text-191">
            <a:extLst>
              <a:ext uri="{FF2B5EF4-FFF2-40B4-BE49-F238E27FC236}">
                <a16:creationId xmlns:a16="http://schemas.microsoft.com/office/drawing/2014/main" id="{B91E458B-006A-422B-B7D1-3F94DBE4E7A0}"/>
              </a:ext>
            </a:extLst>
          </p:cNvPr>
          <p:cNvSpPr>
            <a:spLocks noGrp="1"/>
          </p:cNvSpPr>
          <p:nvPr/>
        </p:nvSpPr>
        <p:spPr>
          <a:xfrm>
            <a:off x="1438275" y="36480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Verify the evidence</a:t>
            </a:r>
          </a:p>
        </p:txBody>
      </p:sp>
      <p:sp>
        <p:nvSpPr>
          <p:cNvPr id="16" name="text-192">
            <a:extLst>
              <a:ext uri="{FF2B5EF4-FFF2-40B4-BE49-F238E27FC236}">
                <a16:creationId xmlns:a16="http://schemas.microsoft.com/office/drawing/2014/main" id="{32F37BCF-3894-4115-B4E3-5F04411670D5}"/>
              </a:ext>
            </a:extLst>
          </p:cNvPr>
          <p:cNvSpPr>
            <a:spLocks noGrp="1"/>
          </p:cNvSpPr>
          <p:nvPr/>
        </p:nvSpPr>
        <p:spPr>
          <a:xfrm>
            <a:off x="1438275" y="40005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Check dates, coverage, units and arithmetic</a:t>
            </a:r>
          </a:p>
        </p:txBody>
      </p:sp>
      <p:sp>
        <p:nvSpPr>
          <p:cNvPr id="17" name="text-193">
            <a:extLst>
              <a:ext uri="{FF2B5EF4-FFF2-40B4-BE49-F238E27FC236}">
                <a16:creationId xmlns:a16="http://schemas.microsoft.com/office/drawing/2014/main" id="{FFACEDCD-D608-4CC3-A95E-A58E61B3F165}"/>
              </a:ext>
            </a:extLst>
          </p:cNvPr>
          <p:cNvSpPr>
            <a:spLocks noGrp="1"/>
          </p:cNvSpPr>
          <p:nvPr/>
        </p:nvSpPr>
        <p:spPr>
          <a:xfrm>
            <a:off x="609600" y="4371975"/>
            <a:ext cx="609600" cy="3619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04</a:t>
            </a:r>
          </a:p>
        </p:txBody>
      </p:sp>
      <p:sp>
        <p:nvSpPr>
          <p:cNvPr id="18" name="text-194">
            <a:extLst>
              <a:ext uri="{FF2B5EF4-FFF2-40B4-BE49-F238E27FC236}">
                <a16:creationId xmlns:a16="http://schemas.microsoft.com/office/drawing/2014/main" id="{EA8051DA-EA5A-48BB-BC69-775B662D7BB5}"/>
              </a:ext>
            </a:extLst>
          </p:cNvPr>
          <p:cNvSpPr>
            <a:spLocks noGrp="1"/>
          </p:cNvSpPr>
          <p:nvPr/>
        </p:nvSpPr>
        <p:spPr>
          <a:xfrm>
            <a:off x="1438275" y="4371975"/>
            <a:ext cx="5591175" cy="352425"/>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Explain the result</a:t>
            </a:r>
          </a:p>
        </p:txBody>
      </p:sp>
      <p:sp>
        <p:nvSpPr>
          <p:cNvPr id="19" name="text-195">
            <a:extLst>
              <a:ext uri="{FF2B5EF4-FFF2-40B4-BE49-F238E27FC236}">
                <a16:creationId xmlns:a16="http://schemas.microsoft.com/office/drawing/2014/main" id="{D358E61F-BDE1-4E1A-8CC3-6A029E20889E}"/>
              </a:ext>
            </a:extLst>
          </p:cNvPr>
          <p:cNvSpPr>
            <a:spLocks noGrp="1"/>
          </p:cNvSpPr>
          <p:nvPr/>
        </p:nvSpPr>
        <p:spPr>
          <a:xfrm>
            <a:off x="1438275" y="4724400"/>
            <a:ext cx="5591175" cy="3238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Return the comparison with source records</a:t>
            </a:r>
          </a:p>
        </p:txBody>
      </p:sp>
      <p:sp>
        <p:nvSpPr>
          <p:cNvPr id="20" name="text-196">
            <a:extLst>
              <a:ext uri="{FF2B5EF4-FFF2-40B4-BE49-F238E27FC236}">
                <a16:creationId xmlns:a16="http://schemas.microsoft.com/office/drawing/2014/main" id="{747110CF-0354-4B0F-927D-C29111CAE9DD}"/>
              </a:ext>
            </a:extLst>
          </p:cNvPr>
          <p:cNvSpPr>
            <a:spLocks noGrp="1"/>
          </p:cNvSpPr>
          <p:nvPr/>
        </p:nvSpPr>
        <p:spPr>
          <a:xfrm>
            <a:off x="7905750" y="2152650"/>
            <a:ext cx="3676650" cy="333375"/>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Verified data example</a:t>
            </a:r>
          </a:p>
        </p:txBody>
      </p:sp>
      <p:sp>
        <p:nvSpPr>
          <p:cNvPr id="21" name="text-197">
            <a:extLst>
              <a:ext uri="{FF2B5EF4-FFF2-40B4-BE49-F238E27FC236}">
                <a16:creationId xmlns:a16="http://schemas.microsoft.com/office/drawing/2014/main" id="{EBB86C7D-9B2C-4A33-8E1C-9A2C47845F22}"/>
              </a:ext>
            </a:extLst>
          </p:cNvPr>
          <p:cNvSpPr>
            <a:spLocks noGrp="1"/>
          </p:cNvSpPr>
          <p:nvPr/>
        </p:nvSpPr>
        <p:spPr>
          <a:xfrm>
            <a:off x="7905750" y="2647950"/>
            <a:ext cx="1619250"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April</a:t>
            </a:r>
          </a:p>
        </p:txBody>
      </p:sp>
      <p:sp>
        <p:nvSpPr>
          <p:cNvPr id="22" name="text-198">
            <a:extLst>
              <a:ext uri="{FF2B5EF4-FFF2-40B4-BE49-F238E27FC236}">
                <a16:creationId xmlns:a16="http://schemas.microsoft.com/office/drawing/2014/main" id="{A01E17B8-B069-4515-B4E6-F6798587897F}"/>
              </a:ext>
            </a:extLst>
          </p:cNvPr>
          <p:cNvSpPr>
            <a:spLocks noGrp="1"/>
          </p:cNvSpPr>
          <p:nvPr/>
        </p:nvSpPr>
        <p:spPr>
          <a:xfrm>
            <a:off x="9915525" y="2647950"/>
            <a:ext cx="1666875" cy="3048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May</a:t>
            </a:r>
          </a:p>
        </p:txBody>
      </p:sp>
      <p:sp>
        <p:nvSpPr>
          <p:cNvPr id="23" name="text-199">
            <a:extLst>
              <a:ext uri="{FF2B5EF4-FFF2-40B4-BE49-F238E27FC236}">
                <a16:creationId xmlns:a16="http://schemas.microsoft.com/office/drawing/2014/main" id="{3B2C672D-4B0A-441C-B320-EC64BF738673}"/>
              </a:ext>
            </a:extLst>
          </p:cNvPr>
          <p:cNvSpPr>
            <a:spLocks noGrp="1"/>
          </p:cNvSpPr>
          <p:nvPr/>
        </p:nvSpPr>
        <p:spPr>
          <a:xfrm>
            <a:off x="7877175" y="3048000"/>
            <a:ext cx="1733550" cy="619125"/>
          </a:xfrm>
          <a:prstGeom prst="rect">
            <a:avLst/>
          </a:prstGeom>
          <a:noFill/>
          <a:ln w="0">
            <a:noFill/>
          </a:ln>
        </p:spPr>
        <p:txBody>
          <a:bodyPr wrap="square" lIns="0" tIns="0" rIns="0" bIns="0" anchor="t">
            <a:noAutofit/>
          </a:bodyPr>
          <a:lstStyle>
            <a:defPPr algn="l">
              <a:defRPr sz="3900" b="1">
                <a:solidFill>
                  <a:srgbClr val="17324A"/>
                </a:solidFill>
                <a:latin typeface="Arial"/>
                <a:ea typeface="Arial"/>
                <a:cs typeface="Arial"/>
              </a:defRPr>
            </a:defPPr>
          </a:lstStyle>
          <a:p>
            <a:pPr algn="l">
              <a:lnSpc>
                <a:spcPct val="112000"/>
              </a:lnSpc>
              <a:buNone/>
              <a:defRPr sz="3900" b="1">
                <a:solidFill>
                  <a:srgbClr val="17324A"/>
                </a:solidFill>
                <a:latin typeface="Arial"/>
                <a:ea typeface="Arial"/>
                <a:cs typeface="Arial"/>
              </a:defRPr>
            </a:pPr>
            <a:r>
              <a:rPr sz="3900" b="1">
                <a:solidFill>
                  <a:srgbClr val="17324A"/>
                </a:solidFill>
                <a:latin typeface="Arial"/>
                <a:ea typeface="Arial"/>
                <a:cs typeface="Arial"/>
              </a:rPr>
              <a:t>1,951</a:t>
            </a:r>
          </a:p>
        </p:txBody>
      </p:sp>
      <p:sp>
        <p:nvSpPr>
          <p:cNvPr id="24" name="text-200">
            <a:extLst>
              <a:ext uri="{FF2B5EF4-FFF2-40B4-BE49-F238E27FC236}">
                <a16:creationId xmlns:a16="http://schemas.microsoft.com/office/drawing/2014/main" id="{A5CB7662-AEF3-45C4-8D12-466B0AAE8C05}"/>
              </a:ext>
            </a:extLst>
          </p:cNvPr>
          <p:cNvSpPr>
            <a:spLocks noGrp="1"/>
          </p:cNvSpPr>
          <p:nvPr/>
        </p:nvSpPr>
        <p:spPr>
          <a:xfrm>
            <a:off x="9877425" y="3048000"/>
            <a:ext cx="1704975" cy="619125"/>
          </a:xfrm>
          <a:prstGeom prst="rect">
            <a:avLst/>
          </a:prstGeom>
          <a:noFill/>
          <a:ln w="0">
            <a:noFill/>
          </a:ln>
        </p:spPr>
        <p:txBody>
          <a:bodyPr wrap="square" lIns="0" tIns="0" rIns="0" bIns="0" anchor="t">
            <a:noAutofit/>
          </a:bodyPr>
          <a:lstStyle>
            <a:defPPr algn="l">
              <a:defRPr sz="3900" b="1">
                <a:solidFill>
                  <a:srgbClr val="006D77"/>
                </a:solidFill>
                <a:latin typeface="Arial"/>
                <a:ea typeface="Arial"/>
                <a:cs typeface="Arial"/>
              </a:defRPr>
            </a:defPPr>
          </a:lstStyle>
          <a:p>
            <a:pPr algn="l">
              <a:lnSpc>
                <a:spcPct val="112000"/>
              </a:lnSpc>
              <a:buNone/>
              <a:defRPr sz="3900" b="1">
                <a:solidFill>
                  <a:srgbClr val="006D77"/>
                </a:solidFill>
                <a:latin typeface="Arial"/>
                <a:ea typeface="Arial"/>
                <a:cs typeface="Arial"/>
              </a:defRPr>
            </a:pPr>
            <a:r>
              <a:rPr sz="3900" b="1">
                <a:solidFill>
                  <a:srgbClr val="006D77"/>
                </a:solidFill>
                <a:latin typeface="Arial"/>
                <a:ea typeface="Arial"/>
                <a:cs typeface="Arial"/>
              </a:rPr>
              <a:t>2,047</a:t>
            </a:r>
          </a:p>
        </p:txBody>
      </p:sp>
      <p:sp>
        <p:nvSpPr>
          <p:cNvPr id="25" name="shape-201">
            <a:extLst>
              <a:ext uri="{FF2B5EF4-FFF2-40B4-BE49-F238E27FC236}">
                <a16:creationId xmlns:a16="http://schemas.microsoft.com/office/drawing/2014/main" id="{B55C4EC8-102D-4B95-AFB7-C7BB36AB94CB}"/>
              </a:ext>
            </a:extLst>
          </p:cNvPr>
          <p:cNvSpPr>
            <a:spLocks noGrp="1"/>
          </p:cNvSpPr>
          <p:nvPr/>
        </p:nvSpPr>
        <p:spPr>
          <a:xfrm>
            <a:off x="7905750" y="3848100"/>
            <a:ext cx="3676650" cy="14288"/>
          </a:xfrm>
          <a:prstGeom prst="rect">
            <a:avLst/>
          </a:prstGeom>
          <a:solidFill>
            <a:srgbClr val="CDD7D9"/>
          </a:solidFill>
          <a:ln w="0">
            <a:noFill/>
          </a:ln>
        </p:spPr>
      </p:sp>
      <p:sp>
        <p:nvSpPr>
          <p:cNvPr id="26" name="text-202">
            <a:extLst>
              <a:ext uri="{FF2B5EF4-FFF2-40B4-BE49-F238E27FC236}">
                <a16:creationId xmlns:a16="http://schemas.microsoft.com/office/drawing/2014/main" id="{2BE72091-00CC-4A12-8368-165540255BF6}"/>
              </a:ext>
            </a:extLst>
          </p:cNvPr>
          <p:cNvSpPr>
            <a:spLocks noGrp="1"/>
          </p:cNvSpPr>
          <p:nvPr/>
        </p:nvSpPr>
        <p:spPr>
          <a:xfrm>
            <a:off x="7905750" y="4086225"/>
            <a:ext cx="3676650" cy="40005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96 more orders</a:t>
            </a:r>
          </a:p>
        </p:txBody>
      </p:sp>
      <p:sp>
        <p:nvSpPr>
          <p:cNvPr id="27" name="text-203">
            <a:extLst>
              <a:ext uri="{FF2B5EF4-FFF2-40B4-BE49-F238E27FC236}">
                <a16:creationId xmlns:a16="http://schemas.microsoft.com/office/drawing/2014/main" id="{7C44DBE1-C64D-4CC4-978E-D9E88968228E}"/>
              </a:ext>
            </a:extLst>
          </p:cNvPr>
          <p:cNvSpPr>
            <a:spLocks noGrp="1"/>
          </p:cNvSpPr>
          <p:nvPr/>
        </p:nvSpPr>
        <p:spPr>
          <a:xfrm>
            <a:off x="7905750" y="4552950"/>
            <a:ext cx="3676650" cy="361950"/>
          </a:xfrm>
          <a:prstGeom prst="rect">
            <a:avLst/>
          </a:prstGeom>
          <a:noFill/>
          <a:ln w="0">
            <a:noFill/>
          </a:ln>
        </p:spPr>
        <p:txBody>
          <a:bodyPr wrap="square" lIns="0" tIns="0" rIns="0" bIns="0" anchor="t">
            <a:noAutofit/>
          </a:bodyPr>
          <a:lstStyle>
            <a:defPPr algn="l">
              <a:defRPr sz="2025" b="0">
                <a:solidFill>
                  <a:srgbClr val="4D6270"/>
                </a:solidFill>
                <a:latin typeface="Arial"/>
                <a:ea typeface="Arial"/>
                <a:cs typeface="Arial"/>
              </a:defRPr>
            </a:defPPr>
          </a:lstStyle>
          <a:p>
            <a:pPr algn="l">
              <a:lnSpc>
                <a:spcPct val="112000"/>
              </a:lnSpc>
              <a:buNone/>
              <a:defRPr sz="2025" b="0">
                <a:solidFill>
                  <a:srgbClr val="4D6270"/>
                </a:solidFill>
                <a:latin typeface="Arial"/>
                <a:ea typeface="Arial"/>
                <a:cs typeface="Arial"/>
              </a:defRPr>
            </a:pPr>
            <a:r>
              <a:rPr sz="2025" b="0">
                <a:solidFill>
                  <a:srgbClr val="4D6270"/>
                </a:solidFill>
                <a:latin typeface="Arial"/>
                <a:ea typeface="Arial"/>
                <a:cs typeface="Arial"/>
              </a:rPr>
              <a:t>4.92% increase</a:t>
            </a:r>
          </a:p>
        </p:txBody>
      </p:sp>
      <p:sp>
        <p:nvSpPr>
          <p:cNvPr id="28" name="shape-204">
            <a:extLst>
              <a:ext uri="{FF2B5EF4-FFF2-40B4-BE49-F238E27FC236}">
                <a16:creationId xmlns:a16="http://schemas.microsoft.com/office/drawing/2014/main" id="{33302FAA-3B38-4F06-B9BD-6E7D83F0E27E}"/>
              </a:ext>
            </a:extLst>
          </p:cNvPr>
          <p:cNvSpPr>
            <a:spLocks noGrp="1"/>
          </p:cNvSpPr>
          <p:nvPr/>
        </p:nvSpPr>
        <p:spPr>
          <a:xfrm>
            <a:off x="609600" y="5305425"/>
            <a:ext cx="10972800" cy="14288"/>
          </a:xfrm>
          <a:prstGeom prst="rect">
            <a:avLst/>
          </a:prstGeom>
          <a:solidFill>
            <a:srgbClr val="006D77"/>
          </a:solidFill>
          <a:ln w="0">
            <a:noFill/>
          </a:ln>
        </p:spPr>
      </p:sp>
      <p:sp>
        <p:nvSpPr>
          <p:cNvPr id="29" name="text-205">
            <a:extLst>
              <a:ext uri="{FF2B5EF4-FFF2-40B4-BE49-F238E27FC236}">
                <a16:creationId xmlns:a16="http://schemas.microsoft.com/office/drawing/2014/main" id="{26A3CA39-3E43-48DC-8C2D-3F9FD648FA56}"/>
              </a:ext>
            </a:extLst>
          </p:cNvPr>
          <p:cNvSpPr>
            <a:spLocks noGrp="1"/>
          </p:cNvSpPr>
          <p:nvPr/>
        </p:nvSpPr>
        <p:spPr>
          <a:xfrm>
            <a:off x="609600" y="5591175"/>
            <a:ext cx="4914900" cy="438150"/>
          </a:xfrm>
          <a:prstGeom prst="rect">
            <a:avLst/>
          </a:prstGeom>
          <a:noFill/>
          <a:ln w="0">
            <a:noFill/>
          </a:ln>
        </p:spPr>
        <p:txBody>
          <a:bodyPr wrap="square" lIns="0" tIns="0" rIns="0" bIns="0" anchor="t">
            <a:noAutofit/>
          </a:bodyPr>
          <a:lstStyle>
            <a:defPPr algn="l">
              <a:defRPr sz="2250" b="1">
                <a:solidFill>
                  <a:srgbClr val="17324A"/>
                </a:solidFill>
                <a:latin typeface="Arial"/>
                <a:ea typeface="Arial"/>
                <a:cs typeface="Arial"/>
              </a:defRPr>
            </a:defPPr>
          </a:lstStyle>
          <a:p>
            <a:pPr algn="l">
              <a:lnSpc>
                <a:spcPct val="112000"/>
              </a:lnSpc>
              <a:buNone/>
              <a:defRPr sz="2250" b="1">
                <a:solidFill>
                  <a:srgbClr val="17324A"/>
                </a:solidFill>
                <a:latin typeface="Arial"/>
                <a:ea typeface="Arial"/>
                <a:cs typeface="Arial"/>
              </a:defRPr>
            </a:pPr>
            <a:r>
              <a:rPr sz="2250" b="1">
                <a:solidFill>
                  <a:srgbClr val="17324A"/>
                </a:solidFill>
                <a:latin typeface="Arial"/>
                <a:ea typeface="Arial"/>
                <a:cs typeface="Arial"/>
              </a:rPr>
              <a:t>“Show me May’s orders.”</a:t>
            </a:r>
          </a:p>
        </p:txBody>
      </p:sp>
      <p:sp>
        <p:nvSpPr>
          <p:cNvPr id="30" name="shape-206">
            <a:extLst>
              <a:ext uri="{FF2B5EF4-FFF2-40B4-BE49-F238E27FC236}">
                <a16:creationId xmlns:a16="http://schemas.microsoft.com/office/drawing/2014/main" id="{F40E70B6-C4C4-4DE7-AD36-3E7E03EC78DC}"/>
              </a:ext>
            </a:extLst>
          </p:cNvPr>
          <p:cNvSpPr>
            <a:spLocks noGrp="1"/>
          </p:cNvSpPr>
          <p:nvPr/>
        </p:nvSpPr>
        <p:spPr>
          <a:xfrm>
            <a:off x="6229350" y="5505450"/>
            <a:ext cx="1609725" cy="523875"/>
          </a:xfrm>
          <a:prstGeom prst="rect">
            <a:avLst/>
          </a:prstGeom>
          <a:solidFill>
            <a:srgbClr val="FFFFFF"/>
          </a:solidFill>
          <a:ln w="15240">
            <a:solidFill>
              <a:srgbClr val="006D77"/>
            </a:solidFill>
          </a:ln>
        </p:spPr>
      </p:sp>
      <p:sp>
        <p:nvSpPr>
          <p:cNvPr id="31" name="text-207">
            <a:extLst>
              <a:ext uri="{FF2B5EF4-FFF2-40B4-BE49-F238E27FC236}">
                <a16:creationId xmlns:a16="http://schemas.microsoft.com/office/drawing/2014/main" id="{F83D363C-DA9E-44EC-ABC4-0F26058AB4B5}"/>
              </a:ext>
            </a:extLst>
          </p:cNvPr>
          <p:cNvSpPr>
            <a:spLocks noGrp="1"/>
          </p:cNvSpPr>
          <p:nvPr/>
        </p:nvSpPr>
        <p:spPr>
          <a:xfrm>
            <a:off x="63817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Open view</a:t>
            </a:r>
          </a:p>
        </p:txBody>
      </p:sp>
      <p:sp>
        <p:nvSpPr>
          <p:cNvPr id="32" name="shape-208">
            <a:extLst>
              <a:ext uri="{FF2B5EF4-FFF2-40B4-BE49-F238E27FC236}">
                <a16:creationId xmlns:a16="http://schemas.microsoft.com/office/drawing/2014/main" id="{678A4208-D856-420F-8052-5EB8B55AB5FA}"/>
              </a:ext>
            </a:extLst>
          </p:cNvPr>
          <p:cNvSpPr>
            <a:spLocks noGrp="1"/>
          </p:cNvSpPr>
          <p:nvPr/>
        </p:nvSpPr>
        <p:spPr>
          <a:xfrm>
            <a:off x="8096250" y="5505450"/>
            <a:ext cx="1609725" cy="523875"/>
          </a:xfrm>
          <a:prstGeom prst="rect">
            <a:avLst/>
          </a:prstGeom>
          <a:solidFill>
            <a:srgbClr val="FFFFFF"/>
          </a:solidFill>
          <a:ln w="15240">
            <a:solidFill>
              <a:srgbClr val="006D77"/>
            </a:solidFill>
          </a:ln>
        </p:spPr>
      </p:sp>
      <p:sp>
        <p:nvSpPr>
          <p:cNvPr id="33" name="text-209">
            <a:extLst>
              <a:ext uri="{FF2B5EF4-FFF2-40B4-BE49-F238E27FC236}">
                <a16:creationId xmlns:a16="http://schemas.microsoft.com/office/drawing/2014/main" id="{3A8C8382-2A32-46C2-82E2-C596C1FEF584}"/>
              </a:ext>
            </a:extLst>
          </p:cNvPr>
          <p:cNvSpPr>
            <a:spLocks noGrp="1"/>
          </p:cNvSpPr>
          <p:nvPr/>
        </p:nvSpPr>
        <p:spPr>
          <a:xfrm>
            <a:off x="8248650"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Observe</a:t>
            </a:r>
          </a:p>
        </p:txBody>
      </p:sp>
      <p:sp>
        <p:nvSpPr>
          <p:cNvPr id="34" name="shape-210">
            <a:extLst>
              <a:ext uri="{FF2B5EF4-FFF2-40B4-BE49-F238E27FC236}">
                <a16:creationId xmlns:a16="http://schemas.microsoft.com/office/drawing/2014/main" id="{3BFE6690-E296-414C-A4BC-EBAB15CA8BDE}"/>
              </a:ext>
            </a:extLst>
          </p:cNvPr>
          <p:cNvSpPr>
            <a:spLocks noGrp="1"/>
          </p:cNvSpPr>
          <p:nvPr/>
        </p:nvSpPr>
        <p:spPr>
          <a:xfrm>
            <a:off x="9972675" y="5505450"/>
            <a:ext cx="1609725" cy="523875"/>
          </a:xfrm>
          <a:prstGeom prst="rect">
            <a:avLst/>
          </a:prstGeom>
          <a:solidFill>
            <a:srgbClr val="FFFFFF"/>
          </a:solidFill>
          <a:ln w="15240">
            <a:solidFill>
              <a:srgbClr val="006D77"/>
            </a:solidFill>
          </a:ln>
        </p:spPr>
      </p:sp>
      <p:sp>
        <p:nvSpPr>
          <p:cNvPr id="35" name="text-211">
            <a:extLst>
              <a:ext uri="{FF2B5EF4-FFF2-40B4-BE49-F238E27FC236}">
                <a16:creationId xmlns:a16="http://schemas.microsoft.com/office/drawing/2014/main" id="{4BBE9719-6443-43EC-AACE-BC42FFA4197D}"/>
              </a:ext>
            </a:extLst>
          </p:cNvPr>
          <p:cNvSpPr>
            <a:spLocks noGrp="1"/>
          </p:cNvSpPr>
          <p:nvPr/>
        </p:nvSpPr>
        <p:spPr>
          <a:xfrm>
            <a:off x="10125075" y="5650039"/>
            <a:ext cx="1304925" cy="272796"/>
          </a:xfrm>
          <a:prstGeom prst="rect">
            <a:avLst/>
          </a:prstGeom>
          <a:noFill/>
          <a:ln w="0">
            <a:noFill/>
          </a:ln>
        </p:spPr>
        <p:txBody>
          <a:bodyPr wrap="square" lIns="0" tIns="0" rIns="0" bIns="0" anchor="t">
            <a:noAutofit/>
          </a:bodyPr>
          <a:lstStyle>
            <a:defPPr algn="ctr">
              <a:defRPr sz="1650" b="1">
                <a:solidFill>
                  <a:srgbClr val="102A43"/>
                </a:solidFill>
                <a:latin typeface="Arial"/>
                <a:ea typeface="Arial"/>
                <a:cs typeface="Arial"/>
              </a:defRPr>
            </a:defPPr>
          </a:lstStyle>
          <a:p>
            <a:pPr algn="ctr">
              <a:lnSpc>
                <a:spcPct val="112000"/>
              </a:lnSpc>
              <a:buNone/>
              <a:defRPr sz="1650" b="1">
                <a:solidFill>
                  <a:srgbClr val="102A43"/>
                </a:solidFill>
                <a:latin typeface="Arial"/>
                <a:ea typeface="Arial"/>
                <a:cs typeface="Arial"/>
              </a:defRPr>
            </a:pPr>
            <a:r>
              <a:rPr sz="1650" b="1">
                <a:solidFill>
                  <a:srgbClr val="102A43"/>
                </a:solidFill>
                <a:latin typeface="Arial"/>
                <a:ea typeface="Arial"/>
                <a:cs typeface="Arial"/>
              </a:rPr>
              <a:t>Confirm</a:t>
            </a:r>
          </a:p>
        </p:txBody>
      </p:sp>
      <p:sp>
        <p:nvSpPr>
          <p:cNvPr id="38" name="text-212">
            <a:extLst>
              <a:ext uri="{FF2B5EF4-FFF2-40B4-BE49-F238E27FC236}">
                <a16:creationId xmlns:a16="http://schemas.microsoft.com/office/drawing/2014/main" id="{C29C955B-D990-47FA-9942-F8F1A86C200E}"/>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Counts are verified data controls. The integrated assistant workflow remains proposed.</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readback"/>
          <p:cNvSpPr/>
          <p:nvPr/>
        </p:nvSpPr>
        <p:spPr>
          <a:xfrm>
            <a:off x="7863840" y="4919472"/>
            <a:ext cx="374903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April's 1,951 read back from ERPNext</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18</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18</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14.</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18</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18</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18</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18</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Hypothesis: declared in-app actions fill the gap better than blind clicking.</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Our hypothesis 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A same-code rerun of the model-emits variant is pending.</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9659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95144"/>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953512"/>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3282696"/>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941064"/>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4270248"/>
            <a:ext cx="6400800" cy="5029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 invalid calls refused</a:t>
            </a:r>
          </a:p>
        </p:txBody>
      </p:sp>
      <p:sp>
        <p:nvSpPr>
          <p:cNvPr id="21" name="card-todo"/>
          <p:cNvSpPr/>
          <p:nvPr/>
        </p:nvSpPr>
        <p:spPr>
          <a:xfrm>
            <a:off x="7772400" y="1371600"/>
            <a:ext cx="3840480" cy="3611880"/>
          </a:xfrm>
          <a:prstGeom prst="rect">
            <a:avLst/>
          </a:prstGeom>
          <a:solidFill>
            <a:srgbClr val="EAF2F1"/>
          </a:solidFill>
          <a:ln w="15240">
            <a:solidFill>
              <a:srgbClr val="006D77"/>
            </a:solidFill>
          </a:ln>
        </p:spPr>
      </p:sp>
      <p:sp>
        <p:nvSpPr>
          <p:cNvPr id="22"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3" name="todo-Held-o"/>
          <p:cNvSpPr/>
          <p:nvPr/>
        </p:nvSpPr>
        <p:spPr>
          <a:xfrm>
            <a:off x="8001000" y="20116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4" name="todo-Joined"/>
          <p:cNvSpPr/>
          <p:nvPr/>
        </p:nvSpPr>
        <p:spPr>
          <a:xfrm>
            <a:off x="8001000" y="2578608"/>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5" name="todo-Durabl"/>
          <p:cNvSpPr/>
          <p:nvPr/>
        </p:nvSpPr>
        <p:spPr>
          <a:xfrm>
            <a:off x="8001000" y="3145536"/>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6" name="todo-Assist"/>
          <p:cNvSpPr/>
          <p:nvPr/>
        </p:nvSpPr>
        <p:spPr>
          <a:xfrm>
            <a:off x="8001000" y="3712464"/>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27" name="todo-WebAre"/>
          <p:cNvSpPr/>
          <p:nvPr/>
        </p:nvSpPr>
        <p:spPr>
          <a:xfrm>
            <a:off x="8001000" y="4279392"/>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28"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29"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18</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