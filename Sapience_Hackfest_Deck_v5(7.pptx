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78" r:id="rId29"/>
    <p:sldId id="269" r:id="rId20"/>
    <p:sldId id="259" r:id="rId5"/>
    <p:sldId id="260" r:id="rId6"/>
    <p:sldId id="277" r:id="rId28"/>
    <p:sldId id="261" r:id="rId7"/>
    <p:sldId id="274" r:id="rId25"/>
    <p:sldId id="275" r:id="rId26"/>
    <p:sldId id="276" r:id="rId27"/>
    <p:sldId id="262" r:id="rId8"/>
    <p:sldId id="263" r:id="rId9"/>
    <p:sldId id="264" r:id="rId10"/>
    <p:sldId id="265" r:id="rId11"/>
    <p:sldId id="266" r:id="rId12"/>
    <p:sldId id="270" r:id="rId21"/>
    <p:sldId id="271" r:id="rId22"/>
    <p:sldId id="272" r:id="rId23"/>
    <p:sldId id="267" r:id="rId13"/>
    <p:sldId id="273" r:id="rId24"/>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tasks</c:v>
                </c:pt>
              </c:strCache>
            </c:strRef>
          </c:tx>
          <c:spPr>
            <a:solidFill>
              <a:srgbClr val="CDD7D9"/>
            </a:solidFill>
          </c:spPr>
          <c:invertIfNegative val="0"/>
          <c:dPt>
            <c:idx val="1"/>
            <c:spPr>
              <a:solidFill>
                <a:srgbClr val="006D77"/>
              </a:solidFill>
            </c:spPr>
          </c:dPt>
          <c:dPt>
            <c:idx val="0"/>
            <c:spPr>
              <a:solidFill>
                <a:srgbClr val="17324A"/>
              </a:solidFill>
            </c:spPr>
          </c:dPt>
          <c:dPt>
            <c:idx val="2"/>
            <c:spPr>
              <a:solidFill>
                <a:srgbClr val="4D6270"/>
              </a:solidFill>
            </c:spPr>
          </c:dPt>
          <c:dPt>
            <c:idx val="3"/>
            <c:spPr>
              <a:solidFill>
                <a:srgbClr val="4D6270"/>
              </a:solidFill>
            </c:spPr>
          </c:dPt>
          <c:cat>
            <c:strRef>
              <c:f>Sheet1!$A$2:$A$5</c:f>
              <c:strCache>
                <c:ptCount val="4"/>
                <c:pt idx="0">
                  <c:v>Correct</c:v>
                </c:pt>
                <c:pt idx="1">
                  <c:v>No endpoint exists</c:v>
                </c:pt>
                <c:pt idx="2">
                  <c:v>API-usage error</c:v>
                </c:pt>
                <c:pt idx="3">
                  <c:v>Task misunderstood</c:v>
                </c:pt>
              </c:strCache>
            </c:strRef>
          </c:cat>
          <c:val>
            <c:numRef>
              <c:f>Sheet1!$B$2:$B$5</c:f>
              <c:numCache>
                <c:formatCode>General</c:formatCode>
                <c:ptCount val="4"/>
                <c:pt idx="0">
                  <c:v>33</c:v>
                </c:pt>
                <c:pt idx="1">
                  <c:v>50</c:v>
                </c:pt>
                <c:pt idx="2">
                  <c:v>11</c:v>
                </c:pt>
                <c:pt idx="3">
                  <c:v>6</c:v>
                </c:pt>
              </c:numCache>
            </c:numRef>
          </c:val>
        </c:ser>
        <c:dLbls>
          <c:numFmt formatCode="0&quot;%&quot;"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65.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Success</c:v>
                </c:pt>
              </c:strCache>
            </c:strRef>
          </c:tx>
          <c:spPr>
            <a:solidFill>
              <a:srgbClr val="CDD7D9"/>
            </a:solidFill>
          </c:spPr>
          <c:invertIfNegative val="0"/>
          <c:dPt>
            <c:idx val="0"/>
            <c:spPr>
              <a:solidFill>
                <a:srgbClr val="4D6270"/>
              </a:solidFill>
            </c:spPr>
          </c:dPt>
          <c:dPt>
            <c:idx val="1"/>
            <c:spPr>
              <a:solidFill>
                <a:srgbClr val="17324A"/>
              </a:solidFill>
            </c:spPr>
          </c:dPt>
          <c:dPt>
            <c:idx val="2"/>
            <c:spPr>
              <a:solidFill>
                <a:srgbClr val="006D77"/>
              </a:solidFill>
            </c:spPr>
          </c:dPt>
          <c:cat>
            <c:strRef>
              <c:f>Sheet1!$A$2:$A$4</c:f>
              <c:strCache>
                <c:ptCount val="3"/>
                <c:pt idx="0">
                  <c:v>Browsing only</c:v>
                </c:pt>
                <c:pt idx="1">
                  <c:v>API only</c:v>
                </c:pt>
                <c:pt idx="2">
                  <c:v>API + browsing</c:v>
                </c:pt>
              </c:strCache>
            </c:strRef>
          </c:cat>
          <c:val>
            <c:numRef>
              <c:f>Sheet1!$B$2:$B$4</c:f>
              <c:numCache>
                <c:formatCode>General</c:formatCode>
                <c:ptCount val="3"/>
                <c:pt idx="0">
                  <c:v>14.8</c:v>
                </c:pt>
                <c:pt idx="1">
                  <c:v>29.2</c:v>
                </c:pt>
                <c:pt idx="2">
                  <c:v>38.9</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52.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Chain success</c:v>
                </c:pt>
              </c:strCache>
            </c:strRef>
          </c:tx>
          <c:spPr>
            <a:solidFill>
              <a:srgbClr val="17324A"/>
            </a:solidFill>
          </c:spPr>
          <c:invertIfNegative val="0"/>
          <c:cat>
            <c:strRef>
              <c:f>Sheet1!$A$2:$A$4</c:f>
              <c:strCache>
                <c:ptCount val="3"/>
                <c:pt idx="0">
                  <c:v>R1-32B emits calls</c:v>
                </c:pt>
                <c:pt idx="1">
                  <c:v>R1-32B slots, older code</c:v>
                </c:pt>
                <c:pt idx="2">
                  <c:v>R1-32B slots, current code</c:v>
                </c:pt>
              </c:strCache>
            </c:strRef>
          </c:cat>
          <c:val>
            <c:numRef>
              <c:f>Sheet1!$B$2:$B$4</c:f>
              <c:numCache>
                <c:formatCode>General</c:formatCode>
                <c:ptCount val="3"/>
                <c:pt idx="0">
                  <c:v>9.7</c:v>
                </c:pt>
                <c:pt idx="1">
                  <c:v>41.9</c:v>
                </c:pt>
                <c:pt idx="2">
                  <c:v>58.1</c:v>
                </c:pt>
              </c:numCache>
            </c:numRef>
          </c:val>
        </c:ser>
        <c:ser>
          <c:idx val="1"/>
          <c:order val="1"/>
          <c:tx>
            <c:strRef>
              <c:f>Sheet1!$C$1</c:f>
              <c:strCache>
                <c:ptCount val="1"/>
                <c:pt idx="0">
                  <c:v>Step pass</c:v>
                </c:pt>
              </c:strCache>
            </c:strRef>
          </c:tx>
          <c:spPr>
            <a:solidFill>
              <a:srgbClr val="006D77"/>
            </a:solidFill>
          </c:spPr>
          <c:invertIfNegative val="0"/>
          <c:cat>
            <c:strRef>
              <c:f>Sheet1!$A$2:$A$4</c:f>
              <c:strCache>
                <c:ptCount val="3"/>
                <c:pt idx="0">
                  <c:v>R1-32B emits calls</c:v>
                </c:pt>
                <c:pt idx="1">
                  <c:v>R1-32B slots, older code</c:v>
                </c:pt>
                <c:pt idx="2">
                  <c:v>R1-32B slots, current code</c:v>
                </c:pt>
              </c:strCache>
            </c:strRef>
          </c:cat>
          <c:val>
            <c:numRef>
              <c:f>Sheet1!$C$2:$C$4</c:f>
              <c:numCache>
                <c:formatCode>General</c:formatCode>
                <c:ptCount val="3"/>
                <c:pt idx="0">
                  <c:v>27.6</c:v>
                </c:pt>
                <c:pt idx="1">
                  <c:v>70.1</c:v>
                </c:pt>
                <c:pt idx="2">
                  <c:v>77.0</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name corrected by the human to Sapience. Identity and member USNs come from the supplied reference deck. Exact recovered chosen challenge title: Problem Statement 5A, Context-Aware Application Agent. The full official challenge paragraph is unavailable, so subsequent problem wording is the team formulation. Domain wording includes Dynamic Pricing. The current read-only prototype does not implement pricing. Date uses 11 October 2026 in the supplied local environment.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team formulation of Problem Statement 5A, not an exact quotation of an unrecovered official paragraph. Current scope is read-only business analysis, supporting records and observed navigation. The research motivates semantic context, retained observed facts, governed analytics and deterministic checks. It does not establish a generic failure percentage or measured advantage for this prototype. The example explains continuity without replacing the problem definition.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[7] Gundeep Singh et al. Beyond Text-to-SQL: An Agentic LLM System for Governed Enterprise Analytics APIs. arXiv:2605.21027v2,2026.</a:t>
            </a:r>
          </a:p>
          <a:p>
            <a:r>
              <a:t>https://arxiv.org/html/2605.21027v2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Interaction approaches overlap and are not an exhaustive classification. Browser agents may use tools or history, and API agents may retain context. Application-native interfaces are programmatic interfaces too. VACP is a Visual Analytics Context Protocol, not a separate reasoning model. Each research system is an example, not a cross-benchmark comparison.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user-facing assistant uses two complementary interfaces, governed business execution and semantic application context/actions. They share a task, session and evidence rather than acting as two independent reasoning products. Current business API and UI-context slices exist. Unified hosted reasoning, server-owned evidence, durable runtime state and acknowledged navigation remain integration work.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bound: by final prototype evaluation. These are proposed team acceptance targets, not achieved results or official numerical rubric thresholds. The 15/18 target comes from the previous team deck and the frozen 18 held-out WWI tasks. Preserve the 12 development/18 held-out split without opening held-out answer contents. Define extra follow-up, reload and negative cases before evaluation. Conditional correctness for completed cases must be accompanied by coverage, abstentions and failures so refusal of difficult cases cannot masquerade as success. Objectives state intended outcomes only.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agent is the only reasoning core. Its two complementary interfaces share a session ledger. Business API execution uses governed capabilities and target resolution before analysis or records retrieval, then submits business results to the completion gate. The application bridge reads semantic app state and applies registered actions. The workspace must return a fresh observed view and filters before UI outcome evidence reaches the same gate. The gate checks scope, units, coverage and outcomes and returns verified evidence or repair feedback to the same agent. An accepted action alone is not completion. The ledger contains task state and verified facts and is separate from the business database. Current physical data is read-only WWI; an ERPNext/Frappe deployment adapter remains planned. Tool catalog/contract discovery and bounded execution are responsibilities within the core/executor rather than extra reasoning agents. Architecture adapts the complementary-interface concept and observe/action/observe principle from the cited research, without claiming the reference runtimes are installed or joined. Neutral module names are intentional.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canonical HTTP data controls: April 2016 order count 1951, May 2047, difference 96. 96/1951*100 = 4.92055356%, displayed 4.92%. These are verified data queries, not a completed autonomous-agent run. The proposed follow-up retains May 2016 scope, obtains supporting records, applies a supported route and observes the actual resulting view before confirming. Dates use inclusive-start/exclusive-end periods. No historical-stock, shortage causality, territory grouping or business-write behavior is claimed.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UI state, conversation anchors and execution evidence are different state types. The intended backend-neutral SessionRepository retains committed task anchors and verified results with MariaDB intended for the existing ERP deployment. Restoring conversation state does not certify a fresh render. A new document instance requires current observations, revision checks and revalidated evidence. Current UI context publication and bounded stale-response guards exist; durable server recovery remains planned. Developer Brain is project memory, not runtime session persistence.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title follows the human-requested standard phrasing, while expected-advantage wording preserves the absence of comparative results. Semantic state and retained facts draw on VACP and LedgerAgent. Governed composition draws on Tool Illusion and Beyond Text-to-SQL. Deterministic checks and bounded harness controls draw on Reason Less Verify More and Mingbird. Beyond Browsing motivates complementary interfaces within one task loop. These sources motivate design and do not transfer paper scores to this prototype. Future ablations should use the same model and budgets while disabling context or checks separately. Citation numerals use raised native 15-point text.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local package wwi-data-v1-2026-10-08 uses DuckDB and 21 raw source tables. Counts are local package facts, not universal counts across all sample releases: 73595 sales orders, 231412 order lines, 663 customers, 227 stock items and 13 suppliers. Order/invoice/purchase-order dates span January 2013 through May 2016. The sample represents a simulated wholesale business. Current physical schema remains WWI. ERPNext/Frappe provides the recognized ERP workflow/DocType reference. Native mapping, deployment compatibility, document IDs/status/UOMs, imported data and permission parity require validation. The diagram shows business relationships rather than exact physical DocTypes. University logo: unchanged user-provided asset.</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evaluation remains planned. Original WebArena has 812 tasks in its own self-hosted websites and checks achieved answers/site states rather than a prescribed click path. Tasks cannot run unchanged on the WWI app. Declare eligible subset, benchmark version, budgets, resets and observation/action permissions. Added API or semantic context access creates an adapted protocol, separately reported. Do not promise to run all 812 tasks. The recovered WWI split is 12 development and 18 frozen held-out tasks, whose contents were not opened for this deck. Additional follow-up, reload and negative cases need preregistered denominators. Record task/context/evidence/destination success plus steps, latency, recovery and false completion. Unit tests are not task accuracy. WebArena is ICLR 2024. University logo: unchanged user-provided asset.</a:t>
            </a:r>
          </a:p>
          <a:p>
            <a:endParaRPr/>
          </a:p>
          <a:p>
            <a:r>
              <a:t>Sources</a:t>
            </a: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Faithful shortened research titles remain visible for readability. Hyperlinks point to primary publications and full bibliographic records follow. These papers motivate design mechanisms without establishing this project's comparative performance.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Codex and delegated research/review workers assisted with research synthesis, implementation analysis and presentation authoring. Technical diagrams, text and tables are editable slide objects. No generated product screenshot or fabricated evaluation result appears. The original user-supplied KLE university logo is embedded unchanged on every slide. Source papers, official data/platform docs and verified local project facts support claims. Evaluation results remain pending.</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a:p>
            <a:endParaRP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EBC9824-D72F-43B6-B957-3AB1A5B4E45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1B4723B-0866-4CE9-9F07-531E86842D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52C92B0-265D-46AA-AA53-FFC608CF29B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F4BBE-0DC5-4B3F-BFF4-A91D5CADCE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86EC51C-6F49-4C6D-A61C-B9F19DB3057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4AB2903-FE5A-4267-A8F7-EDCB0D8414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C0BD66-D01B-4E0F-915E-12D8111C394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B8992D9-7BA8-4E79-8EAB-6B81CBEA3A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744365-9941-4FD7-A92D-B041A0F93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AD8C3E1-9291-43B3-969E-6A0AE665E3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aclanthology.org/2024.acl-long.371/" TargetMode="External"/><Relationship Id="rId4" Type="http://schemas.openxmlformats.org/officeDocument/2006/relationships/hyperlink" Target="https://arxiv.org/abs/2410.16464v3" TargetMode="External"/><Relationship Id="rId5" Type="http://schemas.openxmlformats.org/officeDocument/2006/relationships/hyperlink" Target="https://arxiv.org/abs/2603.29322" TargetMode="External"/><Relationship Id="rId6" Type="http://schemas.openxmlformats.org/officeDocument/2006/relationships/hyperlink" Target="https://arxiv.org/html/2606.20529v1" TargetMode="External"/><Relationship Id="rId7" Type="http://schemas.openxmlformats.org/officeDocument/2006/relationships/hyperlink" Target="https://arxiv.org/html/2607.07405v1" TargetMode="External"/><Relationship Id="rId8" Type="http://schemas.openxmlformats.org/officeDocument/2006/relationships/hyperlink" Target="https://arxiv.org/html/2604.03465v2" TargetMode="External"/><Relationship Id="rId9" Type="http://schemas.openxmlformats.org/officeDocument/2006/relationships/hyperlink" Target="https://arxiv.org/html/2605.21027v2" TargetMode="External"/><Relationship Id="rId10" Type="http://schemas.openxmlformats.org/officeDocument/2006/relationships/hyperlink" Target="https://arxiv.org/abs/2610.02001" TargetMode="External"/><Relationship Id="rId1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learn.microsoft.com/en-us/sql/samples/wide-world-importers-what-is" TargetMode="External"/><Relationship Id="rId4" Type="http://schemas.openxmlformats.org/officeDocument/2006/relationships/hyperlink" Target="https://github.com/frappe/erpnext" TargetMode="External"/><Relationship Id="rId5" Type="http://schemas.openxmlformats.org/officeDocument/2006/relationships/hyperlink" Target="https://docs.frappe.io/framework/user/en/api/rest" TargetMode="External"/><Relationship Id="rId6" Type="http://schemas.openxmlformats.org/officeDocument/2006/relationships/hyperlink" Target="https://arxiv.org/abs/2307.13854v4" TargetMode="External"/><Relationship Id="rId7"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openreview.net/forum?id=94tlGxmqkN" TargetMode="External"/><Relationship Id="rId4" Type="http://schemas.openxmlformats.org/officeDocument/2006/relationships/hyperlink" Target="https://arxiv.org/abs/2510.01524" TargetMode="External"/><Relationship Id="rId5" Type="http://schemas.openxmlformats.org/officeDocument/2006/relationships/hyperlink" Target="https://arxiv.org/abs/2605.14290" TargetMode="External"/><Relationship Id="rId6" Type="http://schemas.openxmlformats.org/officeDocument/2006/relationships/hyperlink" Target="https://arxiv.org/abs/2608.23628"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3">
            <a:extLst>
              <a:ext uri="{FF2B5EF4-FFF2-40B4-BE49-F238E27FC236}">
                <a16:creationId xmlns:a16="http://schemas.microsoft.com/office/drawing/2014/main" id="{47053C11-A87C-4C2E-ABEE-082C72960772}"/>
              </a:ext>
            </a:extLst>
          </p:cNvPr>
          <p:cNvSpPr>
            <a:spLocks noGrp="1"/>
          </p:cNvSpPr>
          <p:nvPr/>
        </p:nvSpPr>
        <p:spPr>
          <a:xfrm>
            <a:off x="0" y="6381750"/>
            <a:ext cx="12192000" cy="476250"/>
          </a:xfrm>
          <a:prstGeom prst="rect">
            <a:avLst/>
          </a:prstGeom>
          <a:solidFill>
            <a:srgbClr val="102A43"/>
          </a:solidFill>
          <a:ln w="0">
            <a:noFill/>
          </a:ln>
        </p:spPr>
      </p:sp>
      <p:sp>
        <p:nvSpPr>
          <p:cNvPr id="5" name="brand-1">
            <a:extLst>
              <a:ext uri="{FF2B5EF4-FFF2-40B4-BE49-F238E27FC236}">
                <a16:creationId xmlns:a16="http://schemas.microsoft.com/office/drawing/2014/main" id="{39C6E964-A1D8-4F41-9157-A71DACB02C51}"/>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
            <a:extLst>
              <a:ext uri="{FF2B5EF4-FFF2-40B4-BE49-F238E27FC236}">
                <a16:creationId xmlns:a16="http://schemas.microsoft.com/office/drawing/2014/main" id="{A124C220-13AD-4228-88E9-2D219EC63A27}"/>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01 / 23</a:t>
            </a:r>
          </a:p>
        </p:txBody>
      </p:sp>
      <p:sp>
        <p:nvSpPr>
          <p:cNvPr id="7" name="text-4">
            <a:extLst>
              <a:ext uri="{FF2B5EF4-FFF2-40B4-BE49-F238E27FC236}">
                <a16:creationId xmlns:a16="http://schemas.microsoft.com/office/drawing/2014/main" id="{59D0604C-CC46-4789-B502-7336E68D2721}"/>
              </a:ext>
            </a:extLst>
          </p:cNvPr>
          <p:cNvSpPr>
            <a:spLocks noGrp="1"/>
          </p:cNvSpPr>
          <p:nvPr/>
        </p:nvSpPr>
        <p:spPr>
          <a:xfrm>
            <a:off x="609580" y="1545877"/>
            <a:ext cx="10972800" cy="314325"/>
          </a:xfrm>
          <a:prstGeom prst="rect">
            <a:avLst/>
          </a:prstGeom>
          <a:noFill/>
          <a:ln w="0">
            <a:noFill/>
          </a:ln>
        </p:spPr>
        <p:txBody>
          <a:bodyPr wrap="square" lIns="0" tIns="0" rIns="0" bIns="0" anchor="t">
            <a:noAutofit/>
          </a:bodyPr>
          <a:lstStyle>
            <a:defPPr algn="ctr">
              <a:defRPr sz="1800" b="1">
                <a:solidFill>
                  <a:srgbClr val="006D77"/>
                </a:solidFill>
                <a:latin typeface="Arial"/>
                <a:ea typeface="Arial"/>
                <a:cs typeface="Arial"/>
              </a:defRPr>
            </a:defPPr>
          </a:lstStyle>
          <a:p>
            <a:pPr algn="ctr">
              <a:lnSpc>
                <a:spcPct val="112000"/>
              </a:lnSpc>
              <a:buNone/>
              <a:defRPr sz="1800" b="1">
                <a:solidFill>
                  <a:srgbClr val="006D77"/>
                </a:solidFill>
                <a:latin typeface="Arial"/>
                <a:ea typeface="Arial"/>
                <a:cs typeface="Arial"/>
              </a:defRPr>
            </a:pPr>
            <a:r>
              <a:rPr sz="1800" b="1" dirty="0">
                <a:solidFill>
                  <a:srgbClr val="006D77"/>
                </a:solidFill>
                <a:latin typeface="Arial"/>
                <a:ea typeface="Arial"/>
                <a:cs typeface="Arial"/>
              </a:rPr>
              <a:t>PROBLEM STATEMENT </a:t>
            </a:r>
          </a:p>
        </p:txBody>
      </p:sp>
      <p:sp>
        <p:nvSpPr>
          <p:cNvPr id="8" name="text-5">
            <a:extLst>
              <a:ext uri="{FF2B5EF4-FFF2-40B4-BE49-F238E27FC236}">
                <a16:creationId xmlns:a16="http://schemas.microsoft.com/office/drawing/2014/main" id="{40617D9F-EE17-42E9-AD2F-66FB12DA6860}"/>
              </a:ext>
            </a:extLst>
          </p:cNvPr>
          <p:cNvSpPr>
            <a:spLocks noGrp="1"/>
          </p:cNvSpPr>
          <p:nvPr/>
        </p:nvSpPr>
        <p:spPr>
          <a:xfrm>
            <a:off x="609600" y="1885950"/>
            <a:ext cx="10972800" cy="685800"/>
          </a:xfrm>
          <a:prstGeom prst="rect">
            <a:avLst/>
          </a:prstGeom>
          <a:noFill/>
          <a:ln w="0">
            <a:noFill/>
          </a:ln>
        </p:spPr>
        <p:txBody>
          <a:bodyPr wrap="square" lIns="0" tIns="0" rIns="0" bIns="0" anchor="t">
            <a:noAutofit/>
          </a:bodyPr>
          <a:lstStyle>
            <a:defPPr algn="ctr">
              <a:defRPr sz="3975" b="1">
                <a:solidFill>
                  <a:srgbClr val="102A43"/>
                </a:solidFill>
                <a:latin typeface="Arial"/>
                <a:ea typeface="Arial"/>
                <a:cs typeface="Arial"/>
              </a:defRPr>
            </a:defPPr>
          </a:lstStyle>
          <a:p>
            <a:pPr algn="ctr">
              <a:lnSpc>
                <a:spcPct val="112000"/>
              </a:lnSpc>
              <a:buNone/>
              <a:defRPr sz="3975" b="1">
                <a:solidFill>
                  <a:srgbClr val="102A43"/>
                </a:solidFill>
                <a:latin typeface="Arial"/>
                <a:ea typeface="Arial"/>
                <a:cs typeface="Arial"/>
              </a:defRPr>
            </a:pPr>
            <a:r>
              <a:rPr sz="3975" b="1" dirty="0">
                <a:solidFill>
                  <a:srgbClr val="102A43"/>
                </a:solidFill>
                <a:latin typeface="Arial"/>
                <a:ea typeface="Arial"/>
                <a:cs typeface="Arial"/>
              </a:rPr>
              <a:t>Context-Aware Application Agent</a:t>
            </a:r>
          </a:p>
        </p:txBody>
      </p:sp>
      <p:sp>
        <p:nvSpPr>
          <p:cNvPr id="9" name="text-6">
            <a:extLst>
              <a:ext uri="{FF2B5EF4-FFF2-40B4-BE49-F238E27FC236}">
                <a16:creationId xmlns:a16="http://schemas.microsoft.com/office/drawing/2014/main" id="{FA526C0F-20F5-4CD4-A182-5E3049DF269C}"/>
              </a:ext>
            </a:extLst>
          </p:cNvPr>
          <p:cNvSpPr>
            <a:spLocks noGrp="1"/>
          </p:cNvSpPr>
          <p:nvPr/>
        </p:nvSpPr>
        <p:spPr>
          <a:xfrm>
            <a:off x="609600" y="2724150"/>
            <a:ext cx="10972800" cy="276225"/>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DOMAIN 5</a:t>
            </a:r>
          </a:p>
        </p:txBody>
      </p:sp>
      <p:sp>
        <p:nvSpPr>
          <p:cNvPr id="10" name="text-7">
            <a:extLst>
              <a:ext uri="{FF2B5EF4-FFF2-40B4-BE49-F238E27FC236}">
                <a16:creationId xmlns:a16="http://schemas.microsoft.com/office/drawing/2014/main" id="{74B12386-56A7-4F89-8C2F-DA7BC159473F}"/>
              </a:ext>
            </a:extLst>
          </p:cNvPr>
          <p:cNvSpPr>
            <a:spLocks noGrp="1"/>
          </p:cNvSpPr>
          <p:nvPr/>
        </p:nvSpPr>
        <p:spPr>
          <a:xfrm>
            <a:off x="609600" y="3086100"/>
            <a:ext cx="10972800" cy="428625"/>
          </a:xfrm>
          <a:prstGeom prst="rect">
            <a:avLst/>
          </a:prstGeom>
          <a:noFill/>
          <a:ln w="0">
            <a:noFill/>
          </a:ln>
        </p:spPr>
        <p:txBody>
          <a:bodyPr wrap="square" lIns="0" tIns="0" rIns="0" bIns="0" anchor="t">
            <a:noAutofit/>
          </a:bodyPr>
          <a:lstStyle>
            <a:defPPr algn="ctr">
              <a:defRPr sz="2025" b="0">
                <a:solidFill>
                  <a:srgbClr val="17324A"/>
                </a:solidFill>
                <a:latin typeface="Arial"/>
                <a:ea typeface="Arial"/>
                <a:cs typeface="Arial"/>
              </a:defRPr>
            </a:defPPr>
          </a:lstStyle>
          <a:p>
            <a:pPr algn="ctr">
              <a:lnSpc>
                <a:spcPct val="112000"/>
              </a:lnSpc>
              <a:buNone/>
              <a:defRPr sz="2025" b="0">
                <a:solidFill>
                  <a:srgbClr val="17324A"/>
                </a:solidFill>
                <a:latin typeface="Arial"/>
                <a:ea typeface="Arial"/>
                <a:cs typeface="Arial"/>
              </a:defRPr>
            </a:pPr>
            <a:r>
              <a:rPr sz="2025" b="0" dirty="0">
                <a:solidFill>
                  <a:srgbClr val="17324A"/>
                </a:solidFill>
                <a:latin typeface="Arial"/>
                <a:ea typeface="Arial"/>
                <a:cs typeface="Arial"/>
              </a:rPr>
              <a:t>Enterprise Applications, Agentic AI &amp; Dynamic Pricing</a:t>
            </a:r>
          </a:p>
        </p:txBody>
      </p:sp>
      <p:sp>
        <p:nvSpPr>
          <p:cNvPr id="11" name="text-8">
            <a:extLst>
              <a:ext uri="{FF2B5EF4-FFF2-40B4-BE49-F238E27FC236}">
                <a16:creationId xmlns:a16="http://schemas.microsoft.com/office/drawing/2014/main" id="{F3B37E58-8126-4E9C-A0CF-7312CDF73374}"/>
              </a:ext>
            </a:extLst>
          </p:cNvPr>
          <p:cNvSpPr>
            <a:spLocks noGrp="1"/>
          </p:cNvSpPr>
          <p:nvPr/>
        </p:nvSpPr>
        <p:spPr>
          <a:xfrm>
            <a:off x="2286000" y="3686175"/>
            <a:ext cx="7620000" cy="352425"/>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Team Sapience</a:t>
            </a:r>
          </a:p>
        </p:txBody>
      </p:sp>
      <p:graphicFrame>
        <p:nvGraphicFramePr>
          <p:cNvPr id="12" name="Table 11">
            <a:extLst>
              <a:ext uri="{FF2B5EF4-FFF2-40B4-BE49-F238E27FC236}">
                <a16:creationId xmlns:a16="http://schemas.microsoft.com/office/drawing/2014/main" id="{566A4E49-9A7F-486B-86E6-3F5F1ABAEEA7}"/>
              </a:ext>
            </a:extLst>
          </p:cNvPr>
          <p:cNvGraphicFramePr/>
          <p:nvPr/>
        </p:nvGraphicFramePr>
        <p:xfrm>
          <a:off x="2286000" y="4124325"/>
          <a:ext cx="7620000" cy="1891603"/>
        </p:xfrm>
        <a:graphic>
          <a:graphicData uri="http://schemas.openxmlformats.org/drawingml/2006/table">
            <a:tbl>
              <a:tblPr/>
              <a:tblGrid>
                <a:gridCol w="4191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61950">
                <a:tc>
                  <a:txBody>
                    <a:bodyPr/>
                    <a:lstStyle/>
                    <a:p>
                      <a:pPr>
                        <a:lnSpc>
                          <a:spcPct val="108000"/>
                        </a:lnSpc>
                        <a:buNone/>
                      </a:pPr>
                      <a:r>
                        <a:rPr sz="1725" b="1">
                          <a:solidFill>
                            <a:srgbClr val="FFFFFF"/>
                          </a:solidFill>
                          <a:latin typeface="Arial"/>
                          <a:ea typeface="Arial"/>
                          <a:cs typeface="Arial"/>
                        </a:rPr>
                        <a:t>Team member</a:t>
                      </a:r>
                    </a:p>
                  </a:txBody>
                  <a:tcPr marL="133350" marR="133350" marT="57150" marB="57150"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USN</a:t>
                      </a:r>
                    </a:p>
                  </a:txBody>
                  <a:tcPr marL="133350" marR="133350" marT="57150" marB="57150"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378619">
                <a:tc>
                  <a:txBody>
                    <a:bodyPr/>
                    <a:lstStyle/>
                    <a:p>
                      <a:pPr>
                        <a:lnSpc>
                          <a:spcPct val="108000"/>
                        </a:lnSpc>
                        <a:buNone/>
                      </a:pPr>
                      <a:r>
                        <a:rPr sz="1725">
                          <a:solidFill>
                            <a:srgbClr val="17324A"/>
                          </a:solidFill>
                          <a:latin typeface="Arial"/>
                          <a:ea typeface="Arial"/>
                          <a:cs typeface="Arial"/>
                        </a:rPr>
                        <a:t>Karthik NHM</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01FE24BCI072</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1"/>
                  </a:ext>
                </a:extLst>
              </a:tr>
              <a:tr h="378619">
                <a:tc>
                  <a:txBody>
                    <a:bodyPr/>
                    <a:lstStyle/>
                    <a:p>
                      <a:pPr>
                        <a:lnSpc>
                          <a:spcPct val="108000"/>
                        </a:lnSpc>
                        <a:buNone/>
                      </a:pPr>
                      <a:r>
                        <a:rPr sz="1725">
                          <a:solidFill>
                            <a:srgbClr val="17324A"/>
                          </a:solidFill>
                          <a:latin typeface="Arial"/>
                          <a:ea typeface="Arial"/>
                          <a:cs typeface="Arial"/>
                        </a:rPr>
                        <a:t>Rakshita Kulkarni</a:t>
                      </a:r>
                    </a:p>
                  </a:txBody>
                  <a:tcPr marL="133350" marR="133350" marT="57150" marB="57150" anchor="ctr">
                    <a:lnL w="0">
                      <a:solidFill>
                        <a:srgbClr val="FFFFFF"/>
                      </a:solidFill>
                    </a:lnL>
                    <a:solidFill>
                      <a:srgbClr val="FFFFFF"/>
                    </a:solidFill>
                  </a:tcPr>
                </a:tc>
                <a:tc>
                  <a:txBody>
                    <a:bodyPr/>
                    <a:lstStyle/>
                    <a:p>
                      <a:pPr>
                        <a:lnSpc>
                          <a:spcPct val="108000"/>
                        </a:lnSpc>
                        <a:buNone/>
                      </a:pPr>
                      <a:r>
                        <a:rPr sz="1725">
                          <a:solidFill>
                            <a:srgbClr val="17324A"/>
                          </a:solidFill>
                          <a:latin typeface="Arial"/>
                          <a:ea typeface="Arial"/>
                          <a:cs typeface="Arial"/>
                        </a:rPr>
                        <a:t>01FE23BCS155</a:t>
                      </a:r>
                    </a:p>
                  </a:txBody>
                  <a:tcPr marL="133350" marR="133350" marT="57150" marB="57150" anchor="ctr">
                    <a:lnR w="0">
                      <a:solidFill>
                        <a:srgbClr val="FFFFFF"/>
                      </a:solidFill>
                    </a:lnR>
                    <a:solidFill>
                      <a:srgbClr val="FFFFFF"/>
                    </a:solidFill>
                  </a:tcPr>
                </a:tc>
                <a:extLst>
                  <a:ext uri="{0D108BD9-81ED-4DB2-BD59-A6C34878D82A}">
                    <a16:rowId xmlns:a16="http://schemas.microsoft.com/office/drawing/2014/main" val="10002"/>
                  </a:ext>
                </a:extLst>
              </a:tr>
              <a:tr h="378619">
                <a:tc>
                  <a:txBody>
                    <a:bodyPr/>
                    <a:lstStyle/>
                    <a:p>
                      <a:pPr>
                        <a:lnSpc>
                          <a:spcPct val="108000"/>
                        </a:lnSpc>
                        <a:buNone/>
                      </a:pPr>
                      <a:r>
                        <a:rPr sz="1725">
                          <a:solidFill>
                            <a:srgbClr val="17324A"/>
                          </a:solidFill>
                          <a:latin typeface="Arial"/>
                          <a:ea typeface="Arial"/>
                          <a:cs typeface="Arial"/>
                        </a:rPr>
                        <a:t>Vikas U B</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01FE23BCI094</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3"/>
                  </a:ext>
                </a:extLst>
              </a:tr>
              <a:tr h="378619">
                <a:tc>
                  <a:txBody>
                    <a:bodyPr/>
                    <a:lstStyle/>
                    <a:p>
                      <a:pPr>
                        <a:lnSpc>
                          <a:spcPct val="108000"/>
                        </a:lnSpc>
                        <a:buNone/>
                      </a:pPr>
                      <a:r>
                        <a:rPr sz="1725">
                          <a:solidFill>
                            <a:srgbClr val="17324A"/>
                          </a:solidFill>
                          <a:latin typeface="Arial"/>
                          <a:ea typeface="Arial"/>
                          <a:cs typeface="Arial"/>
                        </a:rPr>
                        <a:t>Yashas A B</a:t>
                      </a:r>
                    </a:p>
                  </a:txBody>
                  <a:tcPr marL="133350" marR="133350" marT="57150" marB="57150" anchor="ctr">
                    <a:lnL w="0">
                      <a:solidFill>
                        <a:srgbClr val="FFFFFF"/>
                      </a:solidFill>
                    </a:lnL>
                    <a:lnB w="7620">
                      <a:solidFill>
                        <a:srgbClr val="CDD7D9"/>
                      </a:solidFill>
                    </a:lnB>
                    <a:solidFill>
                      <a:srgbClr val="FFFFFF"/>
                    </a:solidFill>
                  </a:tcPr>
                </a:tc>
                <a:tc>
                  <a:txBody>
                    <a:bodyPr/>
                    <a:lstStyle/>
                    <a:p>
                      <a:pPr>
                        <a:lnSpc>
                          <a:spcPct val="108000"/>
                        </a:lnSpc>
                        <a:buNone/>
                      </a:pPr>
                      <a:r>
                        <a:rPr sz="1725">
                          <a:solidFill>
                            <a:srgbClr val="17324A"/>
                          </a:solidFill>
                          <a:latin typeface="Arial"/>
                          <a:ea typeface="Arial"/>
                          <a:cs typeface="Arial"/>
                        </a:rPr>
                        <a:t>01FE23BCS026</a:t>
                      </a:r>
                    </a:p>
                  </a:txBody>
                  <a:tcPr marL="133350" marR="133350" marT="57150" marB="57150"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13" name="text-9">
            <a:extLst>
              <a:ext uri="{FF2B5EF4-FFF2-40B4-BE49-F238E27FC236}">
                <a16:creationId xmlns:a16="http://schemas.microsoft.com/office/drawing/2014/main" id="{66BBC336-DFF2-4BE2-801B-085513B3665B}"/>
              </a:ext>
            </a:extLst>
          </p:cNvPr>
          <p:cNvSpPr>
            <a:spLocks noGrp="1"/>
          </p:cNvSpPr>
          <p:nvPr/>
        </p:nvSpPr>
        <p:spPr>
          <a:xfrm>
            <a:off x="8924925" y="6048375"/>
            <a:ext cx="2657475" cy="276225"/>
          </a:xfrm>
          <a:prstGeom prst="rect">
            <a:avLst/>
          </a:prstGeom>
          <a:noFill/>
          <a:ln w="0">
            <a:noFill/>
          </a:ln>
        </p:spPr>
        <p:txBody>
          <a:bodyPr wrap="square" lIns="0" tIns="0" rIns="0" bIns="0" anchor="t">
            <a:noAutofit/>
          </a:bodyPr>
          <a:lstStyle>
            <a:defPPr algn="r">
              <a:defRPr sz="1650" b="0">
                <a:solidFill>
                  <a:srgbClr val="4D6270"/>
                </a:solidFill>
                <a:latin typeface="Arial"/>
                <a:ea typeface="Arial"/>
                <a:cs typeface="Arial"/>
              </a:defRPr>
            </a:defPPr>
          </a:lstStyle>
          <a:p>
            <a:pPr algn="r">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11 October 2026</a:t>
            </a:r>
          </a:p>
        </p:txBody>
      </p:sp>
      <p:pic>
        <p:nvPicPr>
          <p:cNvPr id="14" name="Picture 13">
            <a:extLst>
              <a:ext uri="{FF2B5EF4-FFF2-40B4-BE49-F238E27FC236}">
                <a16:creationId xmlns:a16="http://schemas.microsoft.com/office/drawing/2014/main" id="{9948515A-3D5B-4831-82B3-9BFB06030BFF}"/>
              </a:ext>
            </a:extLst>
          </p:cNvPr>
          <p:cNvPicPr>
            <a:picLocks noChangeAspect="1"/>
          </p:cNvPicPr>
          <p:nvPr/>
        </p:nvPicPr>
        <p:blipFill>
          <a:blip r:embed="rId3"/>
          <a:stretch/>
        </p:blipFill>
        <p:spPr>
          <a:xfrm>
            <a:off x="9731497" y="217409"/>
            <a:ext cx="2362160" cy="442436"/>
          </a:xfrm>
          <a:prstGeom prst="rect">
            <a:avLst/>
          </a:prstGeom>
        </p:spPr>
      </p:pic>
      <p:pic>
        <p:nvPicPr>
          <p:cNvPr id="17" name="KLE Tech Hackfest 2026 banner" descr="KLE Tech Hackfest 2026 banner">
            <a:extLst>
              <a:ext uri="{FF2B5EF4-FFF2-40B4-BE49-F238E27FC236}">
                <a16:creationId xmlns:a16="http://schemas.microsoft.com/office/drawing/2014/main" id="{12AE078D-8CFB-F856-E8DA-7E977127B29E}"/>
              </a:ext>
            </a:extLst>
          </p:cNvPr>
          <p:cNvPicPr>
            <a:picLocks noChangeAspect="1"/>
          </p:cNvPicPr>
          <p:nvPr/>
        </p:nvPicPr>
        <p:blipFill>
          <a:blip r:embed="rId4"/>
          <a:stretch>
            <a:fillRect/>
          </a:stretch>
        </p:blipFill>
        <p:spPr>
          <a:xfrm>
            <a:off x="3755923" y="274319"/>
            <a:ext cx="4699819" cy="1068359"/>
          </a:xfrm>
          <a:prstGeom prst="rect">
            <a:avLst/>
          </a:prstGeom>
        </p:spPr>
      </p:pic>
    </p:spTree>
    <p:extLst>
      <p:ext uri="{BB962C8B-B14F-4D97-AF65-F5344CB8AC3E}">
        <p14:creationId xmlns:p14="http://schemas.microsoft.com/office/powerpoint/2010/main" val="66903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10">
            <a:extLst>
              <a:ext uri="{FF2B5EF4-FFF2-40B4-BE49-F238E27FC236}">
                <a16:creationId xmlns:a16="http://schemas.microsoft.com/office/drawing/2014/main" id="{88F1B631-9AA8-4D89-BDD7-DE2B65075934}"/>
              </a:ext>
            </a:extLst>
          </p:cNvPr>
          <p:cNvSpPr>
            <a:spLocks noGrp="1"/>
          </p:cNvSpPr>
          <p:nvPr/>
        </p:nvSpPr>
        <p:spPr>
          <a:xfrm>
            <a:off x="0" y="0"/>
            <a:ext cx="12192000" cy="1066800"/>
          </a:xfrm>
          <a:prstGeom prst="rect">
            <a:avLst/>
          </a:prstGeom>
          <a:solidFill>
            <a:srgbClr val="F2F6F7"/>
          </a:solidFill>
          <a:ln w="0">
            <a:noFill/>
          </a:ln>
        </p:spPr>
      </p:sp>
      <p:sp>
        <p:nvSpPr>
          <p:cNvPr id="2" name="shape-11">
            <a:extLst>
              <a:ext uri="{FF2B5EF4-FFF2-40B4-BE49-F238E27FC236}">
                <a16:creationId xmlns:a16="http://schemas.microsoft.com/office/drawing/2014/main" id="{107ECC67-1F54-43D4-BB07-DE62659073CD}"/>
              </a:ext>
            </a:extLst>
          </p:cNvPr>
          <p:cNvSpPr>
            <a:spLocks noGrp="1"/>
          </p:cNvSpPr>
          <p:nvPr/>
        </p:nvSpPr>
        <p:spPr>
          <a:xfrm>
            <a:off x="0" y="1038225"/>
            <a:ext cx="12192000" cy="28575"/>
          </a:xfrm>
          <a:prstGeom prst="rect">
            <a:avLst/>
          </a:prstGeom>
          <a:solidFill>
            <a:srgbClr val="006D77"/>
          </a:solidFill>
          <a:ln w="0">
            <a:noFill/>
          </a:ln>
        </p:spPr>
      </p:sp>
      <p:sp>
        <p:nvSpPr>
          <p:cNvPr id="3" name="slide-2-title">
            <a:extLst>
              <a:ext uri="{FF2B5EF4-FFF2-40B4-BE49-F238E27FC236}">
                <a16:creationId xmlns:a16="http://schemas.microsoft.com/office/drawing/2014/main" id="{A1701935-E4CA-436C-B370-FC26BD72C521}"/>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are we trying to solve?</a:t>
            </a:r>
          </a:p>
        </p:txBody>
      </p:sp>
      <p:sp>
        <p:nvSpPr>
          <p:cNvPr id="4" name="shape-12">
            <a:extLst>
              <a:ext uri="{FF2B5EF4-FFF2-40B4-BE49-F238E27FC236}">
                <a16:creationId xmlns:a16="http://schemas.microsoft.com/office/drawing/2014/main" id="{FB7266FB-1875-4AEE-B1E8-25D2DFCCC3AD}"/>
              </a:ext>
            </a:extLst>
          </p:cNvPr>
          <p:cNvSpPr>
            <a:spLocks noGrp="1"/>
          </p:cNvSpPr>
          <p:nvPr/>
        </p:nvSpPr>
        <p:spPr>
          <a:xfrm>
            <a:off x="0" y="6381750"/>
            <a:ext cx="12192000" cy="476250"/>
          </a:xfrm>
          <a:prstGeom prst="rect">
            <a:avLst/>
          </a:prstGeom>
          <a:solidFill>
            <a:srgbClr val="102A43"/>
          </a:solidFill>
          <a:ln w="0">
            <a:noFill/>
          </a:ln>
        </p:spPr>
      </p:sp>
      <p:sp>
        <p:nvSpPr>
          <p:cNvPr id="5" name="brand-2">
            <a:extLst>
              <a:ext uri="{FF2B5EF4-FFF2-40B4-BE49-F238E27FC236}">
                <a16:creationId xmlns:a16="http://schemas.microsoft.com/office/drawing/2014/main" id="{E1AB2A0E-9B2B-4EDE-86DE-4CD386F46E44}"/>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2">
            <a:extLst>
              <a:ext uri="{FF2B5EF4-FFF2-40B4-BE49-F238E27FC236}">
                <a16:creationId xmlns:a16="http://schemas.microsoft.com/office/drawing/2014/main" id="{BF5907F3-11B9-489D-B31F-00D5155A7E9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02 / 23</a:t>
            </a:r>
          </a:p>
        </p:txBody>
      </p:sp>
      <p:sp>
        <p:nvSpPr>
          <p:cNvPr id="7" name="text-13">
            <a:extLst>
              <a:ext uri="{FF2B5EF4-FFF2-40B4-BE49-F238E27FC236}">
                <a16:creationId xmlns:a16="http://schemas.microsoft.com/office/drawing/2014/main" id="{5A98A6B9-9BD5-4A85-BC91-C228517B2442}"/>
              </a:ext>
            </a:extLst>
          </p:cNvPr>
          <p:cNvSpPr>
            <a:spLocks noGrp="1"/>
          </p:cNvSpPr>
          <p:nvPr/>
        </p:nvSpPr>
        <p:spPr>
          <a:xfrm>
            <a:off x="609600" y="1381125"/>
            <a:ext cx="10972800" cy="428625"/>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Reliable execution of context-dependent business requests</a:t>
            </a:r>
          </a:p>
        </p:txBody>
      </p:sp>
      <p:sp>
        <p:nvSpPr>
          <p:cNvPr id="8" name="text-14">
            <a:extLst>
              <a:ext uri="{FF2B5EF4-FFF2-40B4-BE49-F238E27FC236}">
                <a16:creationId xmlns:a16="http://schemas.microsoft.com/office/drawing/2014/main" id="{41952DCF-633D-412C-A7F2-A15443FF05E3}"/>
              </a:ext>
            </a:extLst>
          </p:cNvPr>
          <p:cNvSpPr>
            <a:spLocks noGrp="1"/>
          </p:cNvSpPr>
          <p:nvPr/>
        </p:nvSpPr>
        <p:spPr>
          <a:xfrm>
            <a:off x="609600" y="1943100"/>
            <a:ext cx="10972800" cy="752475"/>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Enterprise users must translate a business question into the correct view, filters and records.</a:t>
            </a:r>
          </a:p>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An application agent must preserve that context, obtain the correct facts and confirm the outcome.</a:t>
            </a:r>
          </a:p>
        </p:txBody>
      </p:sp>
      <p:sp>
        <p:nvSpPr>
          <p:cNvPr id="9" name="text-15">
            <a:extLst>
              <a:ext uri="{FF2B5EF4-FFF2-40B4-BE49-F238E27FC236}">
                <a16:creationId xmlns:a16="http://schemas.microsoft.com/office/drawing/2014/main" id="{F203F1FA-48FD-4D96-9321-8BD059EDE13D}"/>
              </a:ext>
            </a:extLst>
          </p:cNvPr>
          <p:cNvSpPr>
            <a:spLocks noGrp="1"/>
          </p:cNvSpPr>
          <p:nvPr/>
        </p:nvSpPr>
        <p:spPr>
          <a:xfrm>
            <a:off x="609600" y="29813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10" name="text-16">
            <a:extLst>
              <a:ext uri="{FF2B5EF4-FFF2-40B4-BE49-F238E27FC236}">
                <a16:creationId xmlns:a16="http://schemas.microsoft.com/office/drawing/2014/main" id="{C50ADAB3-ADF5-438C-9EDC-100A7AF7E68D}"/>
              </a:ext>
            </a:extLst>
          </p:cNvPr>
          <p:cNvSpPr>
            <a:spLocks noGrp="1"/>
          </p:cNvSpPr>
          <p:nvPr/>
        </p:nvSpPr>
        <p:spPr>
          <a:xfrm>
            <a:off x="1304925" y="29813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Context continuity</a:t>
            </a:r>
          </a:p>
        </p:txBody>
      </p:sp>
      <p:sp>
        <p:nvSpPr>
          <p:cNvPr id="11" name="citation-17">
            <a:extLst>
              <a:ext uri="{FF2B5EF4-FFF2-40B4-BE49-F238E27FC236}">
                <a16:creationId xmlns:a16="http://schemas.microsoft.com/office/drawing/2014/main" id="{538F7335-AC77-4E66-B34D-5B5EA307AACC}"/>
              </a:ext>
            </a:extLst>
          </p:cNvPr>
          <p:cNvSpPr>
            <a:spLocks noGrp="1"/>
          </p:cNvSpPr>
          <p:nvPr/>
        </p:nvSpPr>
        <p:spPr>
          <a:xfrm>
            <a:off x="3609880" y="29146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2" name="text-18">
            <a:extLst>
              <a:ext uri="{FF2B5EF4-FFF2-40B4-BE49-F238E27FC236}">
                <a16:creationId xmlns:a16="http://schemas.microsoft.com/office/drawing/2014/main" id="{B099CDAA-204C-4CA0-BB1B-12A23154DA52}"/>
              </a:ext>
            </a:extLst>
          </p:cNvPr>
          <p:cNvSpPr>
            <a:spLocks noGrp="1"/>
          </p:cNvSpPr>
          <p:nvPr/>
        </p:nvSpPr>
        <p:spPr>
          <a:xfrm>
            <a:off x="5067300" y="29813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requests depend on the active view, selected records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and earlier results.</a:t>
            </a:r>
          </a:p>
        </p:txBody>
      </p:sp>
      <p:sp>
        <p:nvSpPr>
          <p:cNvPr id="13" name="shape-19">
            <a:extLst>
              <a:ext uri="{FF2B5EF4-FFF2-40B4-BE49-F238E27FC236}">
                <a16:creationId xmlns:a16="http://schemas.microsoft.com/office/drawing/2014/main" id="{147ABA59-7893-4244-ACAB-57D9F9005223}"/>
              </a:ext>
            </a:extLst>
          </p:cNvPr>
          <p:cNvSpPr>
            <a:spLocks noGrp="1"/>
          </p:cNvSpPr>
          <p:nvPr/>
        </p:nvSpPr>
        <p:spPr>
          <a:xfrm>
            <a:off x="609600" y="3695700"/>
            <a:ext cx="10972800" cy="14288"/>
          </a:xfrm>
          <a:prstGeom prst="rect">
            <a:avLst/>
          </a:prstGeom>
          <a:solidFill>
            <a:srgbClr val="CDD7D9"/>
          </a:solidFill>
          <a:ln w="0">
            <a:noFill/>
          </a:ln>
        </p:spPr>
      </p:sp>
      <p:sp>
        <p:nvSpPr>
          <p:cNvPr id="14" name="text-20">
            <a:extLst>
              <a:ext uri="{FF2B5EF4-FFF2-40B4-BE49-F238E27FC236}">
                <a16:creationId xmlns:a16="http://schemas.microsoft.com/office/drawing/2014/main" id="{6E75B91C-11B6-4A5C-9D3E-C5578F3B6A5A}"/>
              </a:ext>
            </a:extLst>
          </p:cNvPr>
          <p:cNvSpPr>
            <a:spLocks noGrp="1"/>
          </p:cNvSpPr>
          <p:nvPr/>
        </p:nvSpPr>
        <p:spPr>
          <a:xfrm>
            <a:off x="609600" y="383857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5" name="text-21">
            <a:extLst>
              <a:ext uri="{FF2B5EF4-FFF2-40B4-BE49-F238E27FC236}">
                <a16:creationId xmlns:a16="http://schemas.microsoft.com/office/drawing/2014/main" id="{CC852DFF-986C-4846-A516-FBFB89F47267}"/>
              </a:ext>
            </a:extLst>
          </p:cNvPr>
          <p:cNvSpPr>
            <a:spLocks noGrp="1"/>
          </p:cNvSpPr>
          <p:nvPr/>
        </p:nvSpPr>
        <p:spPr>
          <a:xfrm>
            <a:off x="1304925" y="383857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Business correctness</a:t>
            </a:r>
          </a:p>
        </p:txBody>
      </p:sp>
      <p:sp>
        <p:nvSpPr>
          <p:cNvPr id="16" name="citation-22">
            <a:extLst>
              <a:ext uri="{FF2B5EF4-FFF2-40B4-BE49-F238E27FC236}">
                <a16:creationId xmlns:a16="http://schemas.microsoft.com/office/drawing/2014/main" id="{3F2CEB92-E337-4238-A5E3-92EC816FA8C6}"/>
              </a:ext>
            </a:extLst>
          </p:cNvPr>
          <p:cNvSpPr>
            <a:spLocks noGrp="1"/>
          </p:cNvSpPr>
          <p:nvPr/>
        </p:nvSpPr>
        <p:spPr>
          <a:xfrm>
            <a:off x="4025646" y="37719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5,7</a:t>
            </a:r>
          </a:p>
        </p:txBody>
      </p:sp>
      <p:sp>
        <p:nvSpPr>
          <p:cNvPr id="17" name="text-23">
            <a:extLst>
              <a:ext uri="{FF2B5EF4-FFF2-40B4-BE49-F238E27FC236}">
                <a16:creationId xmlns:a16="http://schemas.microsoft.com/office/drawing/2014/main" id="{607804E2-6703-4E4B-8A9E-B9D05388BB16}"/>
              </a:ext>
            </a:extLst>
          </p:cNvPr>
          <p:cNvSpPr>
            <a:spLocks noGrp="1"/>
          </p:cNvSpPr>
          <p:nvPr/>
        </p:nvSpPr>
        <p:spPr>
          <a:xfrm>
            <a:off x="5067300" y="383857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 valid operation can still use the wrong measure, period, unit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or level of detail.</a:t>
            </a:r>
          </a:p>
        </p:txBody>
      </p:sp>
      <p:sp>
        <p:nvSpPr>
          <p:cNvPr id="18" name="shape-24">
            <a:extLst>
              <a:ext uri="{FF2B5EF4-FFF2-40B4-BE49-F238E27FC236}">
                <a16:creationId xmlns:a16="http://schemas.microsoft.com/office/drawing/2014/main" id="{C2331442-3DC7-457B-9B3B-022571BD6347}"/>
              </a:ext>
            </a:extLst>
          </p:cNvPr>
          <p:cNvSpPr>
            <a:spLocks noGrp="1"/>
          </p:cNvSpPr>
          <p:nvPr/>
        </p:nvSpPr>
        <p:spPr>
          <a:xfrm>
            <a:off x="609600" y="4552950"/>
            <a:ext cx="10972800" cy="14288"/>
          </a:xfrm>
          <a:prstGeom prst="rect">
            <a:avLst/>
          </a:prstGeom>
          <a:solidFill>
            <a:srgbClr val="CDD7D9"/>
          </a:solidFill>
          <a:ln w="0">
            <a:noFill/>
          </a:ln>
        </p:spPr>
      </p:sp>
      <p:sp>
        <p:nvSpPr>
          <p:cNvPr id="19" name="text-25">
            <a:extLst>
              <a:ext uri="{FF2B5EF4-FFF2-40B4-BE49-F238E27FC236}">
                <a16:creationId xmlns:a16="http://schemas.microsoft.com/office/drawing/2014/main" id="{2551B87F-1AA2-44E4-8B1E-32DC3CE4A838}"/>
              </a:ext>
            </a:extLst>
          </p:cNvPr>
          <p:cNvSpPr>
            <a:spLocks noGrp="1"/>
          </p:cNvSpPr>
          <p:nvPr/>
        </p:nvSpPr>
        <p:spPr>
          <a:xfrm>
            <a:off x="609600" y="46958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20" name="text-26">
            <a:extLst>
              <a:ext uri="{FF2B5EF4-FFF2-40B4-BE49-F238E27FC236}">
                <a16:creationId xmlns:a16="http://schemas.microsoft.com/office/drawing/2014/main" id="{CDB9708B-827E-4720-A0AA-1FB5EA6DB285}"/>
              </a:ext>
            </a:extLst>
          </p:cNvPr>
          <p:cNvSpPr>
            <a:spLocks noGrp="1"/>
          </p:cNvSpPr>
          <p:nvPr/>
        </p:nvSpPr>
        <p:spPr>
          <a:xfrm>
            <a:off x="1304925" y="46958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Verifiable completion</a:t>
            </a:r>
          </a:p>
        </p:txBody>
      </p:sp>
      <p:sp>
        <p:nvSpPr>
          <p:cNvPr id="21" name="citation-27">
            <a:extLst>
              <a:ext uri="{FF2B5EF4-FFF2-40B4-BE49-F238E27FC236}">
                <a16:creationId xmlns:a16="http://schemas.microsoft.com/office/drawing/2014/main" id="{EBF9568D-7F33-417A-9D40-2C13C1AC04D0}"/>
              </a:ext>
            </a:extLst>
          </p:cNvPr>
          <p:cNvSpPr>
            <a:spLocks noGrp="1"/>
          </p:cNvSpPr>
          <p:nvPr/>
        </p:nvSpPr>
        <p:spPr>
          <a:xfrm>
            <a:off x="3939254" y="46291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3,5</a:t>
            </a:r>
          </a:p>
        </p:txBody>
      </p:sp>
      <p:sp>
        <p:nvSpPr>
          <p:cNvPr id="22" name="text-28">
            <a:extLst>
              <a:ext uri="{FF2B5EF4-FFF2-40B4-BE49-F238E27FC236}">
                <a16:creationId xmlns:a16="http://schemas.microsoft.com/office/drawing/2014/main" id="{ADED6879-EA36-4893-B9D9-CDDFC1286202}"/>
              </a:ext>
            </a:extLst>
          </p:cNvPr>
          <p:cNvSpPr>
            <a:spLocks noGrp="1"/>
          </p:cNvSpPr>
          <p:nvPr/>
        </p:nvSpPr>
        <p:spPr>
          <a:xfrm>
            <a:off x="5067300" y="46958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The reported answer and the observed application state must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both satisfy the request.</a:t>
            </a:r>
          </a:p>
        </p:txBody>
      </p:sp>
      <p:sp>
        <p:nvSpPr>
          <p:cNvPr id="23" name="shape-29">
            <a:extLst>
              <a:ext uri="{FF2B5EF4-FFF2-40B4-BE49-F238E27FC236}">
                <a16:creationId xmlns:a16="http://schemas.microsoft.com/office/drawing/2014/main" id="{C410F44D-8CDE-4D4C-A036-25040AF0C18E}"/>
              </a:ext>
            </a:extLst>
          </p:cNvPr>
          <p:cNvSpPr>
            <a:spLocks noGrp="1"/>
          </p:cNvSpPr>
          <p:nvPr/>
        </p:nvSpPr>
        <p:spPr>
          <a:xfrm>
            <a:off x="609600" y="5600700"/>
            <a:ext cx="10972800" cy="14288"/>
          </a:xfrm>
          <a:prstGeom prst="rect">
            <a:avLst/>
          </a:prstGeom>
          <a:solidFill>
            <a:srgbClr val="006D77"/>
          </a:solidFill>
          <a:ln w="0">
            <a:noFill/>
          </a:ln>
        </p:spPr>
      </p:sp>
      <p:sp>
        <p:nvSpPr>
          <p:cNvPr id="24" name="text-30">
            <a:extLst>
              <a:ext uri="{FF2B5EF4-FFF2-40B4-BE49-F238E27FC236}">
                <a16:creationId xmlns:a16="http://schemas.microsoft.com/office/drawing/2014/main" id="{AF6B30F7-E295-4A75-ADA1-66BC3621C1C9}"/>
              </a:ext>
            </a:extLst>
          </p:cNvPr>
          <p:cNvSpPr>
            <a:spLocks noGrp="1"/>
          </p:cNvSpPr>
          <p:nvPr/>
        </p:nvSpPr>
        <p:spPr>
          <a:xfrm>
            <a:off x="609600" y="5810250"/>
            <a:ext cx="10972800" cy="400050"/>
          </a:xfrm>
          <a:prstGeom prst="rect">
            <a:avLst/>
          </a:prstGeom>
          <a:noFill/>
          <a:ln w="0">
            <a:noFill/>
          </a:ln>
        </p:spPr>
        <p:txBody>
          <a:bodyPr wrap="square" lIns="0" tIns="0" rIns="0" bIns="0" anchor="t">
            <a:noAutofit/>
          </a:bodyPr>
          <a:lstStyle>
            <a:defPPr algn="l">
              <a:defRPr sz="1800" b="0">
                <a:solidFill>
                  <a:srgbClr val="4D6270"/>
                </a:solidFill>
                <a:latin typeface="Arial"/>
                <a:ea typeface="Arial"/>
                <a:cs typeface="Arial"/>
              </a:defRPr>
            </a:defPPr>
          </a:lstStyle>
          <a:p>
            <a:pPr algn="l">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Example: “Compare April and May 2016 orders.” Then, “Show me May’s orders.”</a:t>
            </a:r>
          </a:p>
        </p:txBody>
      </p:sp>
      <p:pic>
        <p:nvPicPr>
          <p:cNvPr id="25" name="Picture 24">
            <a:extLst>
              <a:ext uri="{FF2B5EF4-FFF2-40B4-BE49-F238E27FC236}">
                <a16:creationId xmlns:a16="http://schemas.microsoft.com/office/drawing/2014/main" id="{A87400AC-A622-4ED4-96C7-81B21A0BD531}"/>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2470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5" name="Straight Arrow Connector 54">
            <a:extLst>
              <a:ext uri="{FF2B5EF4-FFF2-40B4-BE49-F238E27FC236}">
                <a16:creationId xmlns:a16="http://schemas.microsoft.com/office/drawing/2014/main" id="{0F0E44CC-D960-4FD7-A153-A2C70CF13716}"/>
              </a:ext>
            </a:extLst>
          </p:cNvPr>
          <p:cNvCxnSpPr>
            <a:stCxn id="50" idx="2"/>
            <a:endCxn id="52" idx="0"/>
          </p:cNvCxnSpPr>
          <p:nvPr/>
        </p:nvCxnSpPr>
        <p:spPr>
          <a:xfrm>
            <a:off x="9906000" y="3486150"/>
            <a:ext cx="0" cy="276225"/>
          </a:xfrm>
          <a:prstGeom prst="straightConnector1">
            <a:avLst/>
          </a:prstGeom>
          <a:ln w="19050">
            <a:solidFill>
              <a:srgbClr val="A4630B"/>
            </a:solidFill>
            <a:prstDash val="solid"/>
            <a:tailEnd type="triangle" w="med" len="med"/>
          </a:ln>
        </p:spPr>
      </p:cxnSp>
      <p:cxnSp>
        <p:nvCxnSpPr>
          <p:cNvPr id="54" name="Straight Arrow Connector 53">
            <a:extLst>
              <a:ext uri="{FF2B5EF4-FFF2-40B4-BE49-F238E27FC236}">
                <a16:creationId xmlns:a16="http://schemas.microsoft.com/office/drawing/2014/main" id="{6F977EDC-25A0-4B95-B1C9-9BAF72FF05EE}"/>
              </a:ext>
            </a:extLst>
          </p:cNvPr>
          <p:cNvCxnSpPr>
            <a:stCxn id="48" idx="2"/>
            <a:endCxn id="50" idx="0"/>
          </p:cNvCxnSpPr>
          <p:nvPr/>
        </p:nvCxnSpPr>
        <p:spPr>
          <a:xfrm>
            <a:off x="9906000" y="2647950"/>
            <a:ext cx="0" cy="276225"/>
          </a:xfrm>
          <a:prstGeom prst="straightConnector1">
            <a:avLst/>
          </a:prstGeom>
          <a:ln w="19050">
            <a:solidFill>
              <a:srgbClr val="A4630B"/>
            </a:solidFill>
            <a:prstDash val="solid"/>
            <a:tailEnd type="triangle" w="med" len="med"/>
          </a:ln>
        </p:spPr>
      </p:cxnSp>
      <p:cxnSp>
        <p:nvCxnSpPr>
          <p:cNvPr id="36" name="Straight Arrow Connector 35">
            <a:extLst>
              <a:ext uri="{FF2B5EF4-FFF2-40B4-BE49-F238E27FC236}">
                <a16:creationId xmlns:a16="http://schemas.microsoft.com/office/drawing/2014/main" id="{84C30996-D72D-48E8-906C-23397477EC17}"/>
              </a:ext>
            </a:extLst>
          </p:cNvPr>
          <p:cNvCxnSpPr>
            <a:stCxn id="31" idx="2"/>
            <a:endCxn id="33" idx="0"/>
          </p:cNvCxnSpPr>
          <p:nvPr/>
        </p:nvCxnSpPr>
        <p:spPr>
          <a:xfrm>
            <a:off x="6096000" y="3486150"/>
            <a:ext cx="0" cy="276225"/>
          </a:xfrm>
          <a:prstGeom prst="straightConnector1">
            <a:avLst/>
          </a:prstGeom>
          <a:ln w="19050">
            <a:solidFill>
              <a:srgbClr val="006D77"/>
            </a:solidFill>
            <a:prstDash val="solid"/>
            <a:tailEnd type="triangle" w="med" len="med"/>
          </a:ln>
        </p:spPr>
      </p:cxnSp>
      <p:cxnSp>
        <p:nvCxnSpPr>
          <p:cNvPr id="35" name="Straight Arrow Connector 34">
            <a:extLst>
              <a:ext uri="{FF2B5EF4-FFF2-40B4-BE49-F238E27FC236}">
                <a16:creationId xmlns:a16="http://schemas.microsoft.com/office/drawing/2014/main" id="{71FCEF3E-B493-46FA-82EA-F1ADA5D0EC1E}"/>
              </a:ext>
            </a:extLst>
          </p:cNvPr>
          <p:cNvCxnSpPr>
            <a:stCxn id="29" idx="2"/>
            <a:endCxn id="31" idx="0"/>
          </p:cNvCxnSpPr>
          <p:nvPr/>
        </p:nvCxnSpPr>
        <p:spPr>
          <a:xfrm>
            <a:off x="6096000" y="2647950"/>
            <a:ext cx="0" cy="276225"/>
          </a:xfrm>
          <a:prstGeom prst="straightConnector1">
            <a:avLst/>
          </a:prstGeom>
          <a:ln w="19050">
            <a:solidFill>
              <a:srgbClr val="006D77"/>
            </a:solidFill>
            <a:prstDash val="solid"/>
            <a:tailEnd type="triangle" w="med" len="med"/>
          </a:ln>
        </p:spPr>
      </p:cxnSp>
      <p:cxnSp>
        <p:nvCxnSpPr>
          <p:cNvPr id="21" name="Straight Arrow Connector 20">
            <a:extLst>
              <a:ext uri="{FF2B5EF4-FFF2-40B4-BE49-F238E27FC236}">
                <a16:creationId xmlns:a16="http://schemas.microsoft.com/office/drawing/2014/main" id="{7DDC4F9E-D605-4E88-82D6-36B262296C64}"/>
              </a:ext>
            </a:extLst>
          </p:cNvPr>
          <p:cNvCxnSpPr>
            <a:stCxn id="16" idx="2"/>
            <a:endCxn id="18" idx="0"/>
          </p:cNvCxnSpPr>
          <p:nvPr/>
        </p:nvCxnSpPr>
        <p:spPr>
          <a:xfrm>
            <a:off x="2286000" y="3486150"/>
            <a:ext cx="0" cy="276225"/>
          </a:xfrm>
          <a:prstGeom prst="straightConnector1">
            <a:avLst/>
          </a:prstGeom>
          <a:ln w="19050">
            <a:solidFill>
              <a:srgbClr val="315E87"/>
            </a:solidFill>
            <a:prstDash val="solid"/>
            <a:tailEnd type="triangle" w="med" len="med"/>
          </a:ln>
        </p:spPr>
      </p:cxnSp>
      <p:cxnSp>
        <p:nvCxnSpPr>
          <p:cNvPr id="20" name="Straight Arrow Connector 19">
            <a:extLst>
              <a:ext uri="{FF2B5EF4-FFF2-40B4-BE49-F238E27FC236}">
                <a16:creationId xmlns:a16="http://schemas.microsoft.com/office/drawing/2014/main" id="{5058C4CA-0034-475C-93AE-2C485260A730}"/>
              </a:ext>
            </a:extLst>
          </p:cNvPr>
          <p:cNvCxnSpPr>
            <a:stCxn id="14" idx="2"/>
            <a:endCxn id="16" idx="0"/>
          </p:cNvCxnSpPr>
          <p:nvPr/>
        </p:nvCxnSpPr>
        <p:spPr>
          <a:xfrm>
            <a:off x="2286000" y="2647950"/>
            <a:ext cx="0" cy="276225"/>
          </a:xfrm>
          <a:prstGeom prst="straightConnector1">
            <a:avLst/>
          </a:prstGeom>
          <a:ln w="19050">
            <a:solidFill>
              <a:srgbClr val="315E87"/>
            </a:solidFill>
            <a:prstDash val="solid"/>
            <a:tailEnd type="triangle" w="med" len="med"/>
          </a:ln>
        </p:spPr>
      </p:cxnSp>
      <p:sp>
        <p:nvSpPr>
          <p:cNvPr id="61" name="shape-31">
            <a:extLst>
              <a:ext uri="{FF2B5EF4-FFF2-40B4-BE49-F238E27FC236}">
                <a16:creationId xmlns:a16="http://schemas.microsoft.com/office/drawing/2014/main" id="{1C665F72-FAA1-4E0E-A8BF-5AC0AF62C873}"/>
              </a:ext>
            </a:extLst>
          </p:cNvPr>
          <p:cNvSpPr>
            <a:spLocks noGrp="1"/>
          </p:cNvSpPr>
          <p:nvPr/>
        </p:nvSpPr>
        <p:spPr>
          <a:xfrm>
            <a:off x="0" y="0"/>
            <a:ext cx="12192000" cy="1066800"/>
          </a:xfrm>
          <a:prstGeom prst="rect">
            <a:avLst/>
          </a:prstGeom>
          <a:solidFill>
            <a:srgbClr val="F2F6F7"/>
          </a:solidFill>
          <a:ln w="0">
            <a:noFill/>
          </a:ln>
        </p:spPr>
      </p:sp>
      <p:sp>
        <p:nvSpPr>
          <p:cNvPr id="2" name="shape-32">
            <a:extLst>
              <a:ext uri="{FF2B5EF4-FFF2-40B4-BE49-F238E27FC236}">
                <a16:creationId xmlns:a16="http://schemas.microsoft.com/office/drawing/2014/main" id="{6F1E3031-DEBB-4E29-ABC6-892A87B32BBE}"/>
              </a:ext>
            </a:extLst>
          </p:cNvPr>
          <p:cNvSpPr>
            <a:spLocks noGrp="1"/>
          </p:cNvSpPr>
          <p:nvPr/>
        </p:nvSpPr>
        <p:spPr>
          <a:xfrm>
            <a:off x="0" y="1038225"/>
            <a:ext cx="12192000" cy="28575"/>
          </a:xfrm>
          <a:prstGeom prst="rect">
            <a:avLst/>
          </a:prstGeom>
          <a:solidFill>
            <a:srgbClr val="006D77"/>
          </a:solidFill>
          <a:ln w="0">
            <a:noFill/>
          </a:ln>
        </p:spPr>
      </p:sp>
      <p:sp>
        <p:nvSpPr>
          <p:cNvPr id="3" name="slide-3-title">
            <a:extLst>
              <a:ext uri="{FF2B5EF4-FFF2-40B4-BE49-F238E27FC236}">
                <a16:creationId xmlns:a16="http://schemas.microsoft.com/office/drawing/2014/main" id="{D74DA7C5-86C3-4446-8EC7-AE75E9D6036A}"/>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Existing approaches</a:t>
            </a:r>
          </a:p>
        </p:txBody>
      </p:sp>
      <p:sp>
        <p:nvSpPr>
          <p:cNvPr id="4" name="shape-33">
            <a:extLst>
              <a:ext uri="{FF2B5EF4-FFF2-40B4-BE49-F238E27FC236}">
                <a16:creationId xmlns:a16="http://schemas.microsoft.com/office/drawing/2014/main" id="{B4E110E1-5477-4937-933D-B08030705FB5}"/>
              </a:ext>
            </a:extLst>
          </p:cNvPr>
          <p:cNvSpPr>
            <a:spLocks noGrp="1"/>
          </p:cNvSpPr>
          <p:nvPr/>
        </p:nvSpPr>
        <p:spPr>
          <a:xfrm>
            <a:off x="0" y="6381750"/>
            <a:ext cx="12192000" cy="476250"/>
          </a:xfrm>
          <a:prstGeom prst="rect">
            <a:avLst/>
          </a:prstGeom>
          <a:solidFill>
            <a:srgbClr val="102A43"/>
          </a:solidFill>
          <a:ln w="0">
            <a:noFill/>
          </a:ln>
        </p:spPr>
      </p:sp>
      <p:sp>
        <p:nvSpPr>
          <p:cNvPr id="5" name="brand-3">
            <a:extLst>
              <a:ext uri="{FF2B5EF4-FFF2-40B4-BE49-F238E27FC236}">
                <a16:creationId xmlns:a16="http://schemas.microsoft.com/office/drawing/2014/main" id="{B7A5E620-7622-49EC-9D24-300A7ED44D26}"/>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3">
            <a:extLst>
              <a:ext uri="{FF2B5EF4-FFF2-40B4-BE49-F238E27FC236}">
                <a16:creationId xmlns:a16="http://schemas.microsoft.com/office/drawing/2014/main" id="{26A18F7B-E528-4D76-BA42-EA775CB6F38E}"/>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03 / 23</a:t>
            </a:r>
          </a:p>
        </p:txBody>
      </p:sp>
      <p:sp>
        <p:nvSpPr>
          <p:cNvPr id="7" name="symbol-browser-34">
            <a:extLst>
              <a:ext uri="{FF2B5EF4-FFF2-40B4-BE49-F238E27FC236}">
                <a16:creationId xmlns:a16="http://schemas.microsoft.com/office/drawing/2014/main" id="{A0055A4E-C580-4868-9F6B-80437F9EDD81}"/>
              </a:ext>
            </a:extLst>
          </p:cNvPr>
          <p:cNvSpPr>
            <a:spLocks noGrp="1"/>
          </p:cNvSpPr>
          <p:nvPr/>
        </p:nvSpPr>
        <p:spPr>
          <a:xfrm>
            <a:off x="609600" y="1428750"/>
            <a:ext cx="419100" cy="310134"/>
          </a:xfrm>
          <a:prstGeom prst="roundRect">
            <a:avLst>
              <a:gd name="adj" fmla="val 24570"/>
            </a:avLst>
          </a:prstGeom>
          <a:solidFill>
            <a:srgbClr val="FFFFFF"/>
          </a:solidFill>
          <a:ln w="19050">
            <a:solidFill>
              <a:srgbClr val="315E87"/>
            </a:solidFill>
          </a:ln>
        </p:spPr>
      </p:sp>
      <p:cxnSp>
        <p:nvCxnSpPr>
          <p:cNvPr id="8" name="link-35">
            <a:extLst>
              <a:ext uri="{FF2B5EF4-FFF2-40B4-BE49-F238E27FC236}">
                <a16:creationId xmlns:a16="http://schemas.microsoft.com/office/drawing/2014/main" id="{8640CE40-7DE2-43F7-A756-F96817887114}"/>
              </a:ext>
            </a:extLst>
          </p:cNvPr>
          <p:cNvCxnSpPr/>
          <p:nvPr/>
        </p:nvCxnSpPr>
        <p:spPr>
          <a:xfrm>
            <a:off x="609600" y="1562100"/>
            <a:ext cx="419100" cy="0"/>
          </a:xfrm>
          <a:prstGeom prst="straightConnector1">
            <a:avLst/>
          </a:prstGeom>
          <a:ln w="19050">
            <a:solidFill>
              <a:srgbClr val="315E87"/>
            </a:solidFill>
            <a:prstDash val="solid"/>
          </a:ln>
        </p:spPr>
      </p:cxnSp>
      <p:sp>
        <p:nvSpPr>
          <p:cNvPr id="9" name="symbol-browser-36">
            <a:extLst>
              <a:ext uri="{FF2B5EF4-FFF2-40B4-BE49-F238E27FC236}">
                <a16:creationId xmlns:a16="http://schemas.microsoft.com/office/drawing/2014/main" id="{77B54B14-357E-4A60-9747-6DA3D7B06768}"/>
              </a:ext>
            </a:extLst>
          </p:cNvPr>
          <p:cNvSpPr>
            <a:spLocks noGrp="1"/>
          </p:cNvSpPr>
          <p:nvPr/>
        </p:nvSpPr>
        <p:spPr>
          <a:xfrm>
            <a:off x="685800" y="1476375"/>
            <a:ext cx="28575" cy="28575"/>
          </a:xfrm>
          <a:prstGeom prst="ellipse">
            <a:avLst/>
          </a:prstGeom>
          <a:solidFill>
            <a:srgbClr val="315E87"/>
          </a:solidFill>
          <a:ln w="19050">
            <a:solidFill>
              <a:srgbClr val="315E87"/>
            </a:solidFill>
          </a:ln>
        </p:spPr>
      </p:sp>
      <p:sp>
        <p:nvSpPr>
          <p:cNvPr id="10" name="symbol-browser-37">
            <a:extLst>
              <a:ext uri="{FF2B5EF4-FFF2-40B4-BE49-F238E27FC236}">
                <a16:creationId xmlns:a16="http://schemas.microsoft.com/office/drawing/2014/main" id="{4BF01020-BBFD-481C-AFFA-3B9CF1CE65B3}"/>
              </a:ext>
            </a:extLst>
          </p:cNvPr>
          <p:cNvSpPr>
            <a:spLocks noGrp="1"/>
          </p:cNvSpPr>
          <p:nvPr/>
        </p:nvSpPr>
        <p:spPr>
          <a:xfrm>
            <a:off x="762000" y="1476375"/>
            <a:ext cx="28575" cy="28575"/>
          </a:xfrm>
          <a:prstGeom prst="ellipse">
            <a:avLst/>
          </a:prstGeom>
          <a:solidFill>
            <a:srgbClr val="315E87"/>
          </a:solidFill>
          <a:ln w="19050">
            <a:solidFill>
              <a:srgbClr val="315E87"/>
            </a:solidFill>
          </a:ln>
        </p:spPr>
      </p:sp>
      <p:sp>
        <p:nvSpPr>
          <p:cNvPr id="11" name="symbol-browser-38">
            <a:extLst>
              <a:ext uri="{FF2B5EF4-FFF2-40B4-BE49-F238E27FC236}">
                <a16:creationId xmlns:a16="http://schemas.microsoft.com/office/drawing/2014/main" id="{C5DA47FC-31FC-42CC-8118-C01ECCF648DB}"/>
              </a:ext>
            </a:extLst>
          </p:cNvPr>
          <p:cNvSpPr>
            <a:spLocks noGrp="1"/>
          </p:cNvSpPr>
          <p:nvPr/>
        </p:nvSpPr>
        <p:spPr>
          <a:xfrm>
            <a:off x="838200" y="1476375"/>
            <a:ext cx="28575" cy="28575"/>
          </a:xfrm>
          <a:prstGeom prst="ellipse">
            <a:avLst/>
          </a:prstGeom>
          <a:solidFill>
            <a:srgbClr val="315E87"/>
          </a:solidFill>
          <a:ln w="19050">
            <a:solidFill>
              <a:srgbClr val="315E87"/>
            </a:solidFill>
          </a:ln>
        </p:spPr>
      </p:sp>
      <p:cxnSp>
        <p:nvCxnSpPr>
          <p:cNvPr id="12" name="link-39">
            <a:extLst>
              <a:ext uri="{FF2B5EF4-FFF2-40B4-BE49-F238E27FC236}">
                <a16:creationId xmlns:a16="http://schemas.microsoft.com/office/drawing/2014/main" id="{1ADC0D67-583E-4336-9A97-0DC024BD9334}"/>
              </a:ext>
            </a:extLst>
          </p:cNvPr>
          <p:cNvCxnSpPr/>
          <p:nvPr/>
        </p:nvCxnSpPr>
        <p:spPr>
          <a:xfrm>
            <a:off x="695325" y="1666875"/>
            <a:ext cx="247650" cy="0"/>
          </a:xfrm>
          <a:prstGeom prst="straightConnector1">
            <a:avLst/>
          </a:prstGeom>
          <a:ln w="19050">
            <a:solidFill>
              <a:srgbClr val="315E87"/>
            </a:solidFill>
            <a:prstDash val="solid"/>
          </a:ln>
        </p:spPr>
      </p:cxnSp>
      <p:sp>
        <p:nvSpPr>
          <p:cNvPr id="13" name="text-40">
            <a:extLst>
              <a:ext uri="{FF2B5EF4-FFF2-40B4-BE49-F238E27FC236}">
                <a16:creationId xmlns:a16="http://schemas.microsoft.com/office/drawing/2014/main" id="{9B38D24F-9F99-499C-9FD3-DE6CAC388B49}"/>
              </a:ext>
            </a:extLst>
          </p:cNvPr>
          <p:cNvSpPr>
            <a:spLocks noGrp="1"/>
          </p:cNvSpPr>
          <p:nvPr/>
        </p:nvSpPr>
        <p:spPr>
          <a:xfrm>
            <a:off x="1190625" y="1438275"/>
            <a:ext cx="2771775" cy="371475"/>
          </a:xfrm>
          <a:prstGeom prst="rect">
            <a:avLst/>
          </a:prstGeom>
          <a:noFill/>
          <a:ln w="0">
            <a:noFill/>
          </a:ln>
        </p:spPr>
        <p:txBody>
          <a:bodyPr wrap="square" lIns="0" tIns="0" rIns="0" bIns="0" anchor="t">
            <a:noAutofit/>
          </a:bodyPr>
          <a:lstStyle>
            <a:defPPr algn="l">
              <a:defRPr sz="2175" b="1">
                <a:solidFill>
                  <a:srgbClr val="315E87"/>
                </a:solidFill>
                <a:latin typeface="Arial"/>
                <a:ea typeface="Arial"/>
                <a:cs typeface="Arial"/>
              </a:defRPr>
            </a:defPPr>
          </a:lstStyle>
          <a:p>
            <a:pPr algn="l">
              <a:lnSpc>
                <a:spcPct val="112000"/>
              </a:lnSpc>
              <a:buNone/>
              <a:defRPr sz="2175" b="1">
                <a:solidFill>
                  <a:srgbClr val="315E87"/>
                </a:solidFill>
                <a:latin typeface="Arial"/>
                <a:ea typeface="Arial"/>
                <a:cs typeface="Arial"/>
              </a:defRPr>
            </a:pPr>
            <a:r>
              <a:rPr sz="2175" b="1">
                <a:solidFill>
                  <a:srgbClr val="315E87"/>
                </a:solidFill>
                <a:latin typeface="Arial"/>
                <a:ea typeface="Arial"/>
                <a:cs typeface="Arial"/>
              </a:rPr>
              <a:t>GUI / browser</a:t>
            </a:r>
          </a:p>
        </p:txBody>
      </p:sp>
      <p:sp>
        <p:nvSpPr>
          <p:cNvPr id="14" name="shape-41">
            <a:extLst>
              <a:ext uri="{FF2B5EF4-FFF2-40B4-BE49-F238E27FC236}">
                <a16:creationId xmlns:a16="http://schemas.microsoft.com/office/drawing/2014/main" id="{4321E54B-ADB8-4A18-ACD5-A8122F95C4F7}"/>
              </a:ext>
            </a:extLst>
          </p:cNvPr>
          <p:cNvSpPr>
            <a:spLocks noGrp="1"/>
          </p:cNvSpPr>
          <p:nvPr/>
        </p:nvSpPr>
        <p:spPr>
          <a:xfrm>
            <a:off x="609600" y="2085975"/>
            <a:ext cx="3352800" cy="561975"/>
          </a:xfrm>
          <a:prstGeom prst="rect">
            <a:avLst/>
          </a:prstGeom>
          <a:solidFill>
            <a:srgbClr val="FFFFFF"/>
          </a:solidFill>
          <a:ln w="15240">
            <a:solidFill>
              <a:srgbClr val="315E87"/>
            </a:solidFill>
          </a:ln>
        </p:spPr>
      </p:sp>
      <p:sp>
        <p:nvSpPr>
          <p:cNvPr id="15" name="text-42">
            <a:extLst>
              <a:ext uri="{FF2B5EF4-FFF2-40B4-BE49-F238E27FC236}">
                <a16:creationId xmlns:a16="http://schemas.microsoft.com/office/drawing/2014/main" id="{24E624A0-4960-4CA5-B1C7-53DBD25BA350}"/>
              </a:ext>
            </a:extLst>
          </p:cNvPr>
          <p:cNvSpPr>
            <a:spLocks noGrp="1"/>
          </p:cNvSpPr>
          <p:nvPr/>
        </p:nvSpPr>
        <p:spPr>
          <a:xfrm>
            <a:off x="76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Page observation</a:t>
            </a:r>
          </a:p>
        </p:txBody>
      </p:sp>
      <p:sp>
        <p:nvSpPr>
          <p:cNvPr id="16" name="shape-43">
            <a:extLst>
              <a:ext uri="{FF2B5EF4-FFF2-40B4-BE49-F238E27FC236}">
                <a16:creationId xmlns:a16="http://schemas.microsoft.com/office/drawing/2014/main" id="{1E933656-2548-42A7-B640-86A5CC542E5A}"/>
              </a:ext>
            </a:extLst>
          </p:cNvPr>
          <p:cNvSpPr>
            <a:spLocks noGrp="1"/>
          </p:cNvSpPr>
          <p:nvPr/>
        </p:nvSpPr>
        <p:spPr>
          <a:xfrm>
            <a:off x="609600" y="2924175"/>
            <a:ext cx="3352800" cy="561975"/>
          </a:xfrm>
          <a:prstGeom prst="rect">
            <a:avLst/>
          </a:prstGeom>
          <a:solidFill>
            <a:srgbClr val="FFFFFF"/>
          </a:solidFill>
          <a:ln w="15240">
            <a:solidFill>
              <a:srgbClr val="315E87"/>
            </a:solidFill>
          </a:ln>
        </p:spPr>
      </p:sp>
      <p:sp>
        <p:nvSpPr>
          <p:cNvPr id="17" name="text-44">
            <a:extLst>
              <a:ext uri="{FF2B5EF4-FFF2-40B4-BE49-F238E27FC236}">
                <a16:creationId xmlns:a16="http://schemas.microsoft.com/office/drawing/2014/main" id="{32515234-9418-4C25-8A18-9EABE3A18CD4}"/>
              </a:ext>
            </a:extLst>
          </p:cNvPr>
          <p:cNvSpPr>
            <a:spLocks noGrp="1"/>
          </p:cNvSpPr>
          <p:nvPr/>
        </p:nvSpPr>
        <p:spPr>
          <a:xfrm>
            <a:off x="76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Click, type or scroll</a:t>
            </a:r>
          </a:p>
        </p:txBody>
      </p:sp>
      <p:sp>
        <p:nvSpPr>
          <p:cNvPr id="18" name="shape-45">
            <a:extLst>
              <a:ext uri="{FF2B5EF4-FFF2-40B4-BE49-F238E27FC236}">
                <a16:creationId xmlns:a16="http://schemas.microsoft.com/office/drawing/2014/main" id="{088160C0-B642-4FB5-B312-F50720D2B050}"/>
              </a:ext>
            </a:extLst>
          </p:cNvPr>
          <p:cNvSpPr>
            <a:spLocks noGrp="1"/>
          </p:cNvSpPr>
          <p:nvPr/>
        </p:nvSpPr>
        <p:spPr>
          <a:xfrm>
            <a:off x="609600" y="3762375"/>
            <a:ext cx="3352800" cy="561975"/>
          </a:xfrm>
          <a:prstGeom prst="rect">
            <a:avLst/>
          </a:prstGeom>
          <a:solidFill>
            <a:srgbClr val="FFFFFF"/>
          </a:solidFill>
          <a:ln w="15240">
            <a:solidFill>
              <a:srgbClr val="315E87"/>
            </a:solidFill>
          </a:ln>
        </p:spPr>
      </p:sp>
      <p:sp>
        <p:nvSpPr>
          <p:cNvPr id="19" name="text-46">
            <a:extLst>
              <a:ext uri="{FF2B5EF4-FFF2-40B4-BE49-F238E27FC236}">
                <a16:creationId xmlns:a16="http://schemas.microsoft.com/office/drawing/2014/main" id="{2F6D3BE8-27B6-4020-B138-7211DEBA5C4A}"/>
              </a:ext>
            </a:extLst>
          </p:cNvPr>
          <p:cNvSpPr>
            <a:spLocks noGrp="1"/>
          </p:cNvSpPr>
          <p:nvPr/>
        </p:nvSpPr>
        <p:spPr>
          <a:xfrm>
            <a:off x="76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Updated page</a:t>
            </a:r>
          </a:p>
        </p:txBody>
      </p:sp>
      <p:sp>
        <p:nvSpPr>
          <p:cNvPr id="22" name="text-47">
            <a:extLst>
              <a:ext uri="{FF2B5EF4-FFF2-40B4-BE49-F238E27FC236}">
                <a16:creationId xmlns:a16="http://schemas.microsoft.com/office/drawing/2014/main" id="{CEE4EF01-D87E-4668-B68B-108E044ADF85}"/>
              </a:ext>
            </a:extLst>
          </p:cNvPr>
          <p:cNvSpPr>
            <a:spLocks noGrp="1"/>
          </p:cNvSpPr>
          <p:nvPr/>
        </p:nvSpPr>
        <p:spPr>
          <a:xfrm>
            <a:off x="60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Operates visible page controls.</a:t>
            </a:r>
          </a:p>
        </p:txBody>
      </p:sp>
      <p:sp>
        <p:nvSpPr>
          <p:cNvPr id="23" name="text-48">
            <a:extLst>
              <a:ext uri="{FF2B5EF4-FFF2-40B4-BE49-F238E27FC236}">
                <a16:creationId xmlns:a16="http://schemas.microsoft.com/office/drawing/2014/main" id="{CB164CBF-804F-4F7D-A46E-28F54464748C}"/>
              </a:ext>
            </a:extLst>
          </p:cNvPr>
          <p:cNvSpPr>
            <a:spLocks noGrp="1"/>
          </p:cNvSpPr>
          <p:nvPr/>
        </p:nvSpPr>
        <p:spPr>
          <a:xfrm>
            <a:off x="609600" y="5400675"/>
            <a:ext cx="3352800" cy="361950"/>
          </a:xfrm>
          <a:prstGeom prst="rect">
            <a:avLst/>
          </a:prstGeom>
          <a:noFill/>
          <a:ln w="0">
            <a:noFill/>
          </a:ln>
        </p:spPr>
        <p:txBody>
          <a:bodyPr wrap="square" lIns="0" tIns="0" rIns="0" bIns="0" anchor="t">
            <a:noAutofit/>
          </a:bodyPr>
          <a:lstStyle>
            <a:defPPr algn="l">
              <a:defRPr sz="1875" b="1">
                <a:solidFill>
                  <a:srgbClr val="315E87"/>
                </a:solidFill>
                <a:latin typeface="Arial"/>
                <a:ea typeface="Arial"/>
                <a:cs typeface="Arial"/>
              </a:defRPr>
            </a:defPPr>
          </a:lstStyle>
          <a:p>
            <a:pPr algn="l">
              <a:lnSpc>
                <a:spcPct val="112000"/>
              </a:lnSpc>
              <a:buNone/>
              <a:defRPr sz="1875" b="1">
                <a:solidFill>
                  <a:srgbClr val="315E87"/>
                </a:solidFill>
                <a:latin typeface="Arial"/>
                <a:ea typeface="Arial"/>
                <a:cs typeface="Arial"/>
              </a:defRPr>
            </a:pPr>
            <a:r>
              <a:rPr sz="1875" b="1">
                <a:solidFill>
                  <a:srgbClr val="315E87"/>
                </a:solidFill>
                <a:latin typeface="Arial"/>
                <a:ea typeface="Arial"/>
                <a:cs typeface="Arial"/>
              </a:rPr>
              <a:t>WebVoyager</a:t>
            </a:r>
          </a:p>
        </p:txBody>
      </p:sp>
      <p:sp>
        <p:nvSpPr>
          <p:cNvPr id="24" name="citation-49">
            <a:extLst>
              <a:ext uri="{FF2B5EF4-FFF2-40B4-BE49-F238E27FC236}">
                <a16:creationId xmlns:a16="http://schemas.microsoft.com/office/drawing/2014/main" id="{B763EA7F-0CFE-44BD-A42B-53571685739F}"/>
              </a:ext>
            </a:extLst>
          </p:cNvPr>
          <p:cNvSpPr>
            <a:spLocks noGrp="1"/>
          </p:cNvSpPr>
          <p:nvPr/>
        </p:nvSpPr>
        <p:spPr>
          <a:xfrm>
            <a:off x="2077593" y="5334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a:t>
            </a:r>
          </a:p>
        </p:txBody>
      </p:sp>
      <p:sp>
        <p:nvSpPr>
          <p:cNvPr id="25" name="text-50">
            <a:extLst>
              <a:ext uri="{FF2B5EF4-FFF2-40B4-BE49-F238E27FC236}">
                <a16:creationId xmlns:a16="http://schemas.microsoft.com/office/drawing/2014/main" id="{26263F28-E9B2-42C0-BFFE-61B23A4E1A34}"/>
              </a:ext>
            </a:extLst>
          </p:cNvPr>
          <p:cNvSpPr>
            <a:spLocks noGrp="1"/>
          </p:cNvSpPr>
          <p:nvPr/>
        </p:nvSpPr>
        <p:spPr>
          <a:xfrm>
            <a:off x="60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accurate UI grounding</a:t>
            </a:r>
          </a:p>
        </p:txBody>
      </p:sp>
      <p:sp>
        <p:nvSpPr>
          <p:cNvPr id="26" name="symbol-api-51">
            <a:extLst>
              <a:ext uri="{FF2B5EF4-FFF2-40B4-BE49-F238E27FC236}">
                <a16:creationId xmlns:a16="http://schemas.microsoft.com/office/drawing/2014/main" id="{D2C95453-645B-4047-9366-D4E44523DEB2}"/>
              </a:ext>
            </a:extLst>
          </p:cNvPr>
          <p:cNvSpPr>
            <a:spLocks noGrp="1"/>
          </p:cNvSpPr>
          <p:nvPr/>
        </p:nvSpPr>
        <p:spPr>
          <a:xfrm>
            <a:off x="4419600" y="1390650"/>
            <a:ext cx="419100" cy="419100"/>
          </a:xfrm>
          <a:prstGeom prst="hexagon">
            <a:avLst/>
          </a:prstGeom>
          <a:solidFill>
            <a:srgbClr val="FFFFFF"/>
          </a:solidFill>
          <a:ln w="19050">
            <a:solidFill>
              <a:srgbClr val="006D77"/>
            </a:solidFill>
          </a:ln>
        </p:spPr>
      </p:sp>
      <p:sp>
        <p:nvSpPr>
          <p:cNvPr id="27" name="text-52">
            <a:extLst>
              <a:ext uri="{FF2B5EF4-FFF2-40B4-BE49-F238E27FC236}">
                <a16:creationId xmlns:a16="http://schemas.microsoft.com/office/drawing/2014/main" id="{43004BAC-8365-4283-94E0-FA5CB0BBEE71}"/>
              </a:ext>
            </a:extLst>
          </p:cNvPr>
          <p:cNvSpPr>
            <a:spLocks noGrp="1"/>
          </p:cNvSpPr>
          <p:nvPr/>
        </p:nvSpPr>
        <p:spPr>
          <a:xfrm>
            <a:off x="4467225" y="1485900"/>
            <a:ext cx="32385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28" name="text-53">
            <a:extLst>
              <a:ext uri="{FF2B5EF4-FFF2-40B4-BE49-F238E27FC236}">
                <a16:creationId xmlns:a16="http://schemas.microsoft.com/office/drawing/2014/main" id="{635741C7-5DC2-4F42-9FC3-1BEE414DE3D8}"/>
              </a:ext>
            </a:extLst>
          </p:cNvPr>
          <p:cNvSpPr>
            <a:spLocks noGrp="1"/>
          </p:cNvSpPr>
          <p:nvPr/>
        </p:nvSpPr>
        <p:spPr>
          <a:xfrm>
            <a:off x="5000625" y="1438275"/>
            <a:ext cx="2771775" cy="371475"/>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API / tool</a:t>
            </a:r>
          </a:p>
        </p:txBody>
      </p:sp>
      <p:sp>
        <p:nvSpPr>
          <p:cNvPr id="29" name="shape-54">
            <a:extLst>
              <a:ext uri="{FF2B5EF4-FFF2-40B4-BE49-F238E27FC236}">
                <a16:creationId xmlns:a16="http://schemas.microsoft.com/office/drawing/2014/main" id="{CF8CFED1-5108-4D53-9E8A-72B578C18577}"/>
              </a:ext>
            </a:extLst>
          </p:cNvPr>
          <p:cNvSpPr>
            <a:spLocks noGrp="1"/>
          </p:cNvSpPr>
          <p:nvPr/>
        </p:nvSpPr>
        <p:spPr>
          <a:xfrm>
            <a:off x="4419600" y="2085975"/>
            <a:ext cx="3352800" cy="561975"/>
          </a:xfrm>
          <a:prstGeom prst="rect">
            <a:avLst/>
          </a:prstGeom>
          <a:solidFill>
            <a:srgbClr val="FFFFFF"/>
          </a:solidFill>
          <a:ln w="15240">
            <a:solidFill>
              <a:srgbClr val="006D77"/>
            </a:solidFill>
          </a:ln>
        </p:spPr>
      </p:sp>
      <p:sp>
        <p:nvSpPr>
          <p:cNvPr id="30" name="text-55">
            <a:extLst>
              <a:ext uri="{FF2B5EF4-FFF2-40B4-BE49-F238E27FC236}">
                <a16:creationId xmlns:a16="http://schemas.microsoft.com/office/drawing/2014/main" id="{AF9C1349-2306-49DF-90E3-5122646AA811}"/>
              </a:ext>
            </a:extLst>
          </p:cNvPr>
          <p:cNvSpPr>
            <a:spLocks noGrp="1"/>
          </p:cNvSpPr>
          <p:nvPr/>
        </p:nvSpPr>
        <p:spPr>
          <a:xfrm>
            <a:off x="457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API capabilities</a:t>
            </a:r>
          </a:p>
        </p:txBody>
      </p:sp>
      <p:sp>
        <p:nvSpPr>
          <p:cNvPr id="31" name="shape-56">
            <a:extLst>
              <a:ext uri="{FF2B5EF4-FFF2-40B4-BE49-F238E27FC236}">
                <a16:creationId xmlns:a16="http://schemas.microsoft.com/office/drawing/2014/main" id="{399DCD71-B0AD-4655-B556-50E55034BEB8}"/>
              </a:ext>
            </a:extLst>
          </p:cNvPr>
          <p:cNvSpPr>
            <a:spLocks noGrp="1"/>
          </p:cNvSpPr>
          <p:nvPr/>
        </p:nvSpPr>
        <p:spPr>
          <a:xfrm>
            <a:off x="4419600" y="2924175"/>
            <a:ext cx="3352800" cy="561975"/>
          </a:xfrm>
          <a:prstGeom prst="rect">
            <a:avLst/>
          </a:prstGeom>
          <a:solidFill>
            <a:srgbClr val="FFFFFF"/>
          </a:solidFill>
          <a:ln w="15240">
            <a:solidFill>
              <a:srgbClr val="006D77"/>
            </a:solidFill>
          </a:ln>
        </p:spPr>
      </p:sp>
      <p:sp>
        <p:nvSpPr>
          <p:cNvPr id="32" name="text-57">
            <a:extLst>
              <a:ext uri="{FF2B5EF4-FFF2-40B4-BE49-F238E27FC236}">
                <a16:creationId xmlns:a16="http://schemas.microsoft.com/office/drawing/2014/main" id="{DC83F5C6-D8AA-4CC0-85C8-4D4B05AEDE0E}"/>
              </a:ext>
            </a:extLst>
          </p:cNvPr>
          <p:cNvSpPr>
            <a:spLocks noGrp="1"/>
          </p:cNvSpPr>
          <p:nvPr/>
        </p:nvSpPr>
        <p:spPr>
          <a:xfrm>
            <a:off x="457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Structured operation</a:t>
            </a:r>
          </a:p>
        </p:txBody>
      </p:sp>
      <p:sp>
        <p:nvSpPr>
          <p:cNvPr id="33" name="shape-58">
            <a:extLst>
              <a:ext uri="{FF2B5EF4-FFF2-40B4-BE49-F238E27FC236}">
                <a16:creationId xmlns:a16="http://schemas.microsoft.com/office/drawing/2014/main" id="{5D33B808-CA1B-4425-8002-715D697BCED9}"/>
              </a:ext>
            </a:extLst>
          </p:cNvPr>
          <p:cNvSpPr>
            <a:spLocks noGrp="1"/>
          </p:cNvSpPr>
          <p:nvPr/>
        </p:nvSpPr>
        <p:spPr>
          <a:xfrm>
            <a:off x="4419600" y="3762375"/>
            <a:ext cx="3352800" cy="561975"/>
          </a:xfrm>
          <a:prstGeom prst="rect">
            <a:avLst/>
          </a:prstGeom>
          <a:solidFill>
            <a:srgbClr val="FFFFFF"/>
          </a:solidFill>
          <a:ln w="15240">
            <a:solidFill>
              <a:srgbClr val="006D77"/>
            </a:solidFill>
          </a:ln>
        </p:spPr>
      </p:sp>
      <p:sp>
        <p:nvSpPr>
          <p:cNvPr id="34" name="text-59">
            <a:extLst>
              <a:ext uri="{FF2B5EF4-FFF2-40B4-BE49-F238E27FC236}">
                <a16:creationId xmlns:a16="http://schemas.microsoft.com/office/drawing/2014/main" id="{BC62447C-BAD3-430E-8CF2-6F43EA92CE97}"/>
              </a:ext>
            </a:extLst>
          </p:cNvPr>
          <p:cNvSpPr>
            <a:spLocks noGrp="1"/>
          </p:cNvSpPr>
          <p:nvPr/>
        </p:nvSpPr>
        <p:spPr>
          <a:xfrm>
            <a:off x="457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Service result</a:t>
            </a:r>
          </a:p>
        </p:txBody>
      </p:sp>
      <p:sp>
        <p:nvSpPr>
          <p:cNvPr id="37" name="text-60">
            <a:extLst>
              <a:ext uri="{FF2B5EF4-FFF2-40B4-BE49-F238E27FC236}">
                <a16:creationId xmlns:a16="http://schemas.microsoft.com/office/drawing/2014/main" id="{35CA780C-0238-4120-8209-479901D0AA96}"/>
              </a:ext>
            </a:extLst>
          </p:cNvPr>
          <p:cNvSpPr>
            <a:spLocks noGrp="1"/>
          </p:cNvSpPr>
          <p:nvPr/>
        </p:nvSpPr>
        <p:spPr>
          <a:xfrm>
            <a:off x="441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Invokes defined service operations.</a:t>
            </a:r>
          </a:p>
        </p:txBody>
      </p:sp>
      <p:sp>
        <p:nvSpPr>
          <p:cNvPr id="38" name="text-61">
            <a:extLst>
              <a:ext uri="{FF2B5EF4-FFF2-40B4-BE49-F238E27FC236}">
                <a16:creationId xmlns:a16="http://schemas.microsoft.com/office/drawing/2014/main" id="{1CBE79A3-9252-4FAA-8F33-9FDE205A9A62}"/>
              </a:ext>
            </a:extLst>
          </p:cNvPr>
          <p:cNvSpPr>
            <a:spLocks noGrp="1"/>
          </p:cNvSpPr>
          <p:nvPr/>
        </p:nvSpPr>
        <p:spPr>
          <a:xfrm>
            <a:off x="4419600" y="5400675"/>
            <a:ext cx="3352800" cy="361950"/>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Beyond Browsing</a:t>
            </a:r>
          </a:p>
        </p:txBody>
      </p:sp>
      <p:sp>
        <p:nvSpPr>
          <p:cNvPr id="39" name="citation-62">
            <a:extLst>
              <a:ext uri="{FF2B5EF4-FFF2-40B4-BE49-F238E27FC236}">
                <a16:creationId xmlns:a16="http://schemas.microsoft.com/office/drawing/2014/main" id="{7EAA6D63-006C-45B9-A127-48477E6639C4}"/>
              </a:ext>
            </a:extLst>
          </p:cNvPr>
          <p:cNvSpPr>
            <a:spLocks noGrp="1"/>
          </p:cNvSpPr>
          <p:nvPr/>
        </p:nvSpPr>
        <p:spPr>
          <a:xfrm>
            <a:off x="6491383" y="5334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a:t>
            </a:r>
          </a:p>
        </p:txBody>
      </p:sp>
      <p:sp>
        <p:nvSpPr>
          <p:cNvPr id="40" name="text-63">
            <a:extLst>
              <a:ext uri="{FF2B5EF4-FFF2-40B4-BE49-F238E27FC236}">
                <a16:creationId xmlns:a16="http://schemas.microsoft.com/office/drawing/2014/main" id="{5ED0C71C-9AF8-4966-87B7-41AD8EBA98BD}"/>
              </a:ext>
            </a:extLst>
          </p:cNvPr>
          <p:cNvSpPr>
            <a:spLocks noGrp="1"/>
          </p:cNvSpPr>
          <p:nvPr/>
        </p:nvSpPr>
        <p:spPr>
          <a:xfrm>
            <a:off x="441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Depends on API coverage</a:t>
            </a:r>
          </a:p>
        </p:txBody>
      </p:sp>
      <p:sp>
        <p:nvSpPr>
          <p:cNvPr id="41" name="symbol-browser-64">
            <a:extLst>
              <a:ext uri="{FF2B5EF4-FFF2-40B4-BE49-F238E27FC236}">
                <a16:creationId xmlns:a16="http://schemas.microsoft.com/office/drawing/2014/main" id="{B71E8088-C522-47F8-84D9-F50D550ADBF6}"/>
              </a:ext>
            </a:extLst>
          </p:cNvPr>
          <p:cNvSpPr>
            <a:spLocks noGrp="1"/>
          </p:cNvSpPr>
          <p:nvPr/>
        </p:nvSpPr>
        <p:spPr>
          <a:xfrm>
            <a:off x="8229600" y="1428750"/>
            <a:ext cx="419100" cy="310134"/>
          </a:xfrm>
          <a:prstGeom prst="roundRect">
            <a:avLst>
              <a:gd name="adj" fmla="val 24570"/>
            </a:avLst>
          </a:prstGeom>
          <a:solidFill>
            <a:srgbClr val="FFFFFF"/>
          </a:solidFill>
          <a:ln w="19050">
            <a:solidFill>
              <a:srgbClr val="A4630B"/>
            </a:solidFill>
          </a:ln>
        </p:spPr>
      </p:sp>
      <p:cxnSp>
        <p:nvCxnSpPr>
          <p:cNvPr id="42" name="link-65">
            <a:extLst>
              <a:ext uri="{FF2B5EF4-FFF2-40B4-BE49-F238E27FC236}">
                <a16:creationId xmlns:a16="http://schemas.microsoft.com/office/drawing/2014/main" id="{CF1B3A78-12ED-4317-AC4A-93C6C1AB46B9}"/>
              </a:ext>
            </a:extLst>
          </p:cNvPr>
          <p:cNvCxnSpPr/>
          <p:nvPr/>
        </p:nvCxnSpPr>
        <p:spPr>
          <a:xfrm>
            <a:off x="8229600" y="1562100"/>
            <a:ext cx="419100" cy="0"/>
          </a:xfrm>
          <a:prstGeom prst="straightConnector1">
            <a:avLst/>
          </a:prstGeom>
          <a:ln w="19050">
            <a:solidFill>
              <a:srgbClr val="A4630B"/>
            </a:solidFill>
            <a:prstDash val="solid"/>
          </a:ln>
        </p:spPr>
      </p:cxnSp>
      <p:sp>
        <p:nvSpPr>
          <p:cNvPr id="43" name="symbol-browser-66">
            <a:extLst>
              <a:ext uri="{FF2B5EF4-FFF2-40B4-BE49-F238E27FC236}">
                <a16:creationId xmlns:a16="http://schemas.microsoft.com/office/drawing/2014/main" id="{108A7DEE-4408-493D-8A38-CA4C7C1178E4}"/>
              </a:ext>
            </a:extLst>
          </p:cNvPr>
          <p:cNvSpPr>
            <a:spLocks noGrp="1"/>
          </p:cNvSpPr>
          <p:nvPr/>
        </p:nvSpPr>
        <p:spPr>
          <a:xfrm>
            <a:off x="8305800" y="1476375"/>
            <a:ext cx="28575" cy="28575"/>
          </a:xfrm>
          <a:prstGeom prst="ellipse">
            <a:avLst/>
          </a:prstGeom>
          <a:solidFill>
            <a:srgbClr val="A4630B"/>
          </a:solidFill>
          <a:ln w="19050">
            <a:solidFill>
              <a:srgbClr val="A4630B"/>
            </a:solidFill>
          </a:ln>
        </p:spPr>
      </p:sp>
      <p:sp>
        <p:nvSpPr>
          <p:cNvPr id="44" name="symbol-browser-67">
            <a:extLst>
              <a:ext uri="{FF2B5EF4-FFF2-40B4-BE49-F238E27FC236}">
                <a16:creationId xmlns:a16="http://schemas.microsoft.com/office/drawing/2014/main" id="{AA5B64FE-E9D0-453D-B67D-84CF245B506A}"/>
              </a:ext>
            </a:extLst>
          </p:cNvPr>
          <p:cNvSpPr>
            <a:spLocks noGrp="1"/>
          </p:cNvSpPr>
          <p:nvPr/>
        </p:nvSpPr>
        <p:spPr>
          <a:xfrm>
            <a:off x="8382000" y="1476375"/>
            <a:ext cx="28575" cy="28575"/>
          </a:xfrm>
          <a:prstGeom prst="ellipse">
            <a:avLst/>
          </a:prstGeom>
          <a:solidFill>
            <a:srgbClr val="A4630B"/>
          </a:solidFill>
          <a:ln w="19050">
            <a:solidFill>
              <a:srgbClr val="A4630B"/>
            </a:solidFill>
          </a:ln>
        </p:spPr>
      </p:sp>
      <p:sp>
        <p:nvSpPr>
          <p:cNvPr id="45" name="symbol-browser-68">
            <a:extLst>
              <a:ext uri="{FF2B5EF4-FFF2-40B4-BE49-F238E27FC236}">
                <a16:creationId xmlns:a16="http://schemas.microsoft.com/office/drawing/2014/main" id="{9EBEE955-A311-41BD-9B50-9DC8E652E0BE}"/>
              </a:ext>
            </a:extLst>
          </p:cNvPr>
          <p:cNvSpPr>
            <a:spLocks noGrp="1"/>
          </p:cNvSpPr>
          <p:nvPr/>
        </p:nvSpPr>
        <p:spPr>
          <a:xfrm>
            <a:off x="8458200" y="1476375"/>
            <a:ext cx="28575" cy="28575"/>
          </a:xfrm>
          <a:prstGeom prst="ellipse">
            <a:avLst/>
          </a:prstGeom>
          <a:solidFill>
            <a:srgbClr val="A4630B"/>
          </a:solidFill>
          <a:ln w="19050">
            <a:solidFill>
              <a:srgbClr val="A4630B"/>
            </a:solidFill>
          </a:ln>
        </p:spPr>
      </p:sp>
      <p:cxnSp>
        <p:nvCxnSpPr>
          <p:cNvPr id="46" name="link-69">
            <a:extLst>
              <a:ext uri="{FF2B5EF4-FFF2-40B4-BE49-F238E27FC236}">
                <a16:creationId xmlns:a16="http://schemas.microsoft.com/office/drawing/2014/main" id="{2A0CF5E7-C865-4B74-81FC-2FCD8BF3F7AC}"/>
              </a:ext>
            </a:extLst>
          </p:cNvPr>
          <p:cNvCxnSpPr/>
          <p:nvPr/>
        </p:nvCxnSpPr>
        <p:spPr>
          <a:xfrm>
            <a:off x="8315325" y="1666875"/>
            <a:ext cx="247650" cy="0"/>
          </a:xfrm>
          <a:prstGeom prst="straightConnector1">
            <a:avLst/>
          </a:prstGeom>
          <a:ln w="19050">
            <a:solidFill>
              <a:srgbClr val="A4630B"/>
            </a:solidFill>
            <a:prstDash val="solid"/>
          </a:ln>
        </p:spPr>
      </p:cxnSp>
      <p:sp>
        <p:nvSpPr>
          <p:cNvPr id="47" name="text-70">
            <a:extLst>
              <a:ext uri="{FF2B5EF4-FFF2-40B4-BE49-F238E27FC236}">
                <a16:creationId xmlns:a16="http://schemas.microsoft.com/office/drawing/2014/main" id="{819CF1A4-31AF-4FD9-AF98-19EAE061B1DF}"/>
              </a:ext>
            </a:extLst>
          </p:cNvPr>
          <p:cNvSpPr>
            <a:spLocks noGrp="1"/>
          </p:cNvSpPr>
          <p:nvPr/>
        </p:nvSpPr>
        <p:spPr>
          <a:xfrm>
            <a:off x="8810625" y="1438275"/>
            <a:ext cx="2771775" cy="371475"/>
          </a:xfrm>
          <a:prstGeom prst="rect">
            <a:avLst/>
          </a:prstGeom>
          <a:noFill/>
          <a:ln w="0">
            <a:noFill/>
          </a:ln>
        </p:spPr>
        <p:txBody>
          <a:bodyPr wrap="square" lIns="0" tIns="0" rIns="0" bIns="0" anchor="t">
            <a:noAutofit/>
          </a:bodyPr>
          <a:lstStyle>
            <a:defPPr algn="l">
              <a:defRPr sz="2175" b="1">
                <a:solidFill>
                  <a:srgbClr val="A4630B"/>
                </a:solidFill>
                <a:latin typeface="Arial"/>
                <a:ea typeface="Arial"/>
                <a:cs typeface="Arial"/>
              </a:defRPr>
            </a:defPPr>
          </a:lstStyle>
          <a:p>
            <a:pPr algn="l">
              <a:lnSpc>
                <a:spcPct val="112000"/>
              </a:lnSpc>
              <a:buNone/>
              <a:defRPr sz="2175" b="1">
                <a:solidFill>
                  <a:srgbClr val="A4630B"/>
                </a:solidFill>
                <a:latin typeface="Arial"/>
                <a:ea typeface="Arial"/>
                <a:cs typeface="Arial"/>
              </a:defRPr>
            </a:pPr>
            <a:r>
              <a:rPr sz="2175" b="1">
                <a:solidFill>
                  <a:srgbClr val="A4630B"/>
                </a:solidFill>
                <a:latin typeface="Arial"/>
                <a:ea typeface="Arial"/>
                <a:cs typeface="Arial"/>
              </a:rPr>
              <a:t>Application-native</a:t>
            </a:r>
          </a:p>
        </p:txBody>
      </p:sp>
      <p:sp>
        <p:nvSpPr>
          <p:cNvPr id="48" name="shape-71">
            <a:extLst>
              <a:ext uri="{FF2B5EF4-FFF2-40B4-BE49-F238E27FC236}">
                <a16:creationId xmlns:a16="http://schemas.microsoft.com/office/drawing/2014/main" id="{EB6428AD-1D82-48A9-8A49-DD9AF8739953}"/>
              </a:ext>
            </a:extLst>
          </p:cNvPr>
          <p:cNvSpPr>
            <a:spLocks noGrp="1"/>
          </p:cNvSpPr>
          <p:nvPr/>
        </p:nvSpPr>
        <p:spPr>
          <a:xfrm>
            <a:off x="8229600" y="2085975"/>
            <a:ext cx="3352800" cy="561975"/>
          </a:xfrm>
          <a:prstGeom prst="rect">
            <a:avLst/>
          </a:prstGeom>
          <a:solidFill>
            <a:srgbClr val="FFFFFF"/>
          </a:solidFill>
          <a:ln w="15240">
            <a:solidFill>
              <a:srgbClr val="A4630B"/>
            </a:solidFill>
          </a:ln>
        </p:spPr>
      </p:sp>
      <p:sp>
        <p:nvSpPr>
          <p:cNvPr id="49" name="text-72">
            <a:extLst>
              <a:ext uri="{FF2B5EF4-FFF2-40B4-BE49-F238E27FC236}">
                <a16:creationId xmlns:a16="http://schemas.microsoft.com/office/drawing/2014/main" id="{5BDA9DAB-12B1-44BD-845B-58F3837CAE8C}"/>
              </a:ext>
            </a:extLst>
          </p:cNvPr>
          <p:cNvSpPr>
            <a:spLocks noGrp="1"/>
          </p:cNvSpPr>
          <p:nvPr/>
        </p:nvSpPr>
        <p:spPr>
          <a:xfrm>
            <a:off x="838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Semantic app state</a:t>
            </a:r>
          </a:p>
        </p:txBody>
      </p:sp>
      <p:sp>
        <p:nvSpPr>
          <p:cNvPr id="50" name="shape-73">
            <a:extLst>
              <a:ext uri="{FF2B5EF4-FFF2-40B4-BE49-F238E27FC236}">
                <a16:creationId xmlns:a16="http://schemas.microsoft.com/office/drawing/2014/main" id="{196950E4-C0F9-4033-B627-343D1F99BD37}"/>
              </a:ext>
            </a:extLst>
          </p:cNvPr>
          <p:cNvSpPr>
            <a:spLocks noGrp="1"/>
          </p:cNvSpPr>
          <p:nvPr/>
        </p:nvSpPr>
        <p:spPr>
          <a:xfrm>
            <a:off x="8229600" y="2924175"/>
            <a:ext cx="3352800" cy="561975"/>
          </a:xfrm>
          <a:prstGeom prst="rect">
            <a:avLst/>
          </a:prstGeom>
          <a:solidFill>
            <a:srgbClr val="FFFFFF"/>
          </a:solidFill>
          <a:ln w="15240">
            <a:solidFill>
              <a:srgbClr val="A4630B"/>
            </a:solidFill>
          </a:ln>
        </p:spPr>
      </p:sp>
      <p:sp>
        <p:nvSpPr>
          <p:cNvPr id="51" name="text-74">
            <a:extLst>
              <a:ext uri="{FF2B5EF4-FFF2-40B4-BE49-F238E27FC236}">
                <a16:creationId xmlns:a16="http://schemas.microsoft.com/office/drawing/2014/main" id="{CACF9D5F-6461-4D25-848E-D5678093E12B}"/>
              </a:ext>
            </a:extLst>
          </p:cNvPr>
          <p:cNvSpPr>
            <a:spLocks noGrp="1"/>
          </p:cNvSpPr>
          <p:nvPr/>
        </p:nvSpPr>
        <p:spPr>
          <a:xfrm>
            <a:off x="838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Supported interaction</a:t>
            </a:r>
          </a:p>
        </p:txBody>
      </p:sp>
      <p:sp>
        <p:nvSpPr>
          <p:cNvPr id="52" name="shape-75">
            <a:extLst>
              <a:ext uri="{FF2B5EF4-FFF2-40B4-BE49-F238E27FC236}">
                <a16:creationId xmlns:a16="http://schemas.microsoft.com/office/drawing/2014/main" id="{3B8C999C-EC48-4E29-BEA3-451390D7E126}"/>
              </a:ext>
            </a:extLst>
          </p:cNvPr>
          <p:cNvSpPr>
            <a:spLocks noGrp="1"/>
          </p:cNvSpPr>
          <p:nvPr/>
        </p:nvSpPr>
        <p:spPr>
          <a:xfrm>
            <a:off x="8229600" y="3762375"/>
            <a:ext cx="3352800" cy="561975"/>
          </a:xfrm>
          <a:prstGeom prst="rect">
            <a:avLst/>
          </a:prstGeom>
          <a:solidFill>
            <a:srgbClr val="FFFFFF"/>
          </a:solidFill>
          <a:ln w="15240">
            <a:solidFill>
              <a:srgbClr val="A4630B"/>
            </a:solidFill>
          </a:ln>
        </p:spPr>
      </p:sp>
      <p:sp>
        <p:nvSpPr>
          <p:cNvPr id="53" name="text-76">
            <a:extLst>
              <a:ext uri="{FF2B5EF4-FFF2-40B4-BE49-F238E27FC236}">
                <a16:creationId xmlns:a16="http://schemas.microsoft.com/office/drawing/2014/main" id="{D5116DE3-4F9D-4FE6-B85D-5661A102E90A}"/>
              </a:ext>
            </a:extLst>
          </p:cNvPr>
          <p:cNvSpPr>
            <a:spLocks noGrp="1"/>
          </p:cNvSpPr>
          <p:nvPr/>
        </p:nvSpPr>
        <p:spPr>
          <a:xfrm>
            <a:off x="838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Observed state</a:t>
            </a:r>
          </a:p>
        </p:txBody>
      </p:sp>
      <p:sp>
        <p:nvSpPr>
          <p:cNvPr id="56" name="text-77">
            <a:extLst>
              <a:ext uri="{FF2B5EF4-FFF2-40B4-BE49-F238E27FC236}">
                <a16:creationId xmlns:a16="http://schemas.microsoft.com/office/drawing/2014/main" id="{CD8BF5B0-B104-405E-9F93-D153E0581BA0}"/>
              </a:ext>
            </a:extLst>
          </p:cNvPr>
          <p:cNvSpPr>
            <a:spLocks noGrp="1"/>
          </p:cNvSpPr>
          <p:nvPr/>
        </p:nvSpPr>
        <p:spPr>
          <a:xfrm>
            <a:off x="822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Uses app meaning and registered actions.</a:t>
            </a:r>
          </a:p>
        </p:txBody>
      </p:sp>
      <p:sp>
        <p:nvSpPr>
          <p:cNvPr id="57" name="text-78">
            <a:extLst>
              <a:ext uri="{FF2B5EF4-FFF2-40B4-BE49-F238E27FC236}">
                <a16:creationId xmlns:a16="http://schemas.microsoft.com/office/drawing/2014/main" id="{C866A2A0-AEAA-4380-84F0-E115F0DCBF99}"/>
              </a:ext>
            </a:extLst>
          </p:cNvPr>
          <p:cNvSpPr>
            <a:spLocks noGrp="1"/>
          </p:cNvSpPr>
          <p:nvPr/>
        </p:nvSpPr>
        <p:spPr>
          <a:xfrm>
            <a:off x="8229600" y="5400675"/>
            <a:ext cx="3352800" cy="361950"/>
          </a:xfrm>
          <a:prstGeom prst="rect">
            <a:avLst/>
          </a:prstGeom>
          <a:noFill/>
          <a:ln w="0">
            <a:noFill/>
          </a:ln>
        </p:spPr>
        <p:txBody>
          <a:bodyPr wrap="square" lIns="0" tIns="0" rIns="0" bIns="0" anchor="t">
            <a:noAutofit/>
          </a:bodyPr>
          <a:lstStyle>
            <a:defPPr algn="l">
              <a:defRPr sz="1875" b="1">
                <a:solidFill>
                  <a:srgbClr val="A4630B"/>
                </a:solidFill>
                <a:latin typeface="Arial"/>
                <a:ea typeface="Arial"/>
                <a:cs typeface="Arial"/>
              </a:defRPr>
            </a:defPPr>
          </a:lstStyle>
          <a:p>
            <a:pPr algn="l">
              <a:lnSpc>
                <a:spcPct val="112000"/>
              </a:lnSpc>
              <a:buNone/>
              <a:defRPr sz="1875" b="1">
                <a:solidFill>
                  <a:srgbClr val="A4630B"/>
                </a:solidFill>
                <a:latin typeface="Arial"/>
                <a:ea typeface="Arial"/>
                <a:cs typeface="Arial"/>
              </a:defRPr>
            </a:pPr>
            <a:r>
              <a:rPr sz="1875" b="1">
                <a:solidFill>
                  <a:srgbClr val="A4630B"/>
                </a:solidFill>
                <a:latin typeface="Arial"/>
                <a:ea typeface="Arial"/>
                <a:cs typeface="Arial"/>
              </a:rPr>
              <a:t>VACP</a:t>
            </a:r>
          </a:p>
        </p:txBody>
      </p:sp>
      <p:sp>
        <p:nvSpPr>
          <p:cNvPr id="58" name="citation-79">
            <a:extLst>
              <a:ext uri="{FF2B5EF4-FFF2-40B4-BE49-F238E27FC236}">
                <a16:creationId xmlns:a16="http://schemas.microsoft.com/office/drawing/2014/main" id="{B9AAD56F-02C0-4805-9D28-292B784A87D3}"/>
              </a:ext>
            </a:extLst>
          </p:cNvPr>
          <p:cNvSpPr>
            <a:spLocks noGrp="1"/>
          </p:cNvSpPr>
          <p:nvPr/>
        </p:nvSpPr>
        <p:spPr>
          <a:xfrm>
            <a:off x="8921115" y="5334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3</a:t>
            </a:r>
          </a:p>
        </p:txBody>
      </p:sp>
      <p:sp>
        <p:nvSpPr>
          <p:cNvPr id="59" name="text-80">
            <a:extLst>
              <a:ext uri="{FF2B5EF4-FFF2-40B4-BE49-F238E27FC236}">
                <a16:creationId xmlns:a16="http://schemas.microsoft.com/office/drawing/2014/main" id="{A10BAEA6-E3DB-4C6D-926A-19050280F857}"/>
              </a:ext>
            </a:extLst>
          </p:cNvPr>
          <p:cNvSpPr>
            <a:spLocks noGrp="1"/>
          </p:cNvSpPr>
          <p:nvPr/>
        </p:nvSpPr>
        <p:spPr>
          <a:xfrm>
            <a:off x="822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host-app integration</a:t>
            </a:r>
          </a:p>
        </p:txBody>
      </p:sp>
      <p:pic>
        <p:nvPicPr>
          <p:cNvPr id="60" name="Picture 59">
            <a:extLst>
              <a:ext uri="{FF2B5EF4-FFF2-40B4-BE49-F238E27FC236}">
                <a16:creationId xmlns:a16="http://schemas.microsoft.com/office/drawing/2014/main" id="{C901E37E-FA67-4D1E-81FA-4090C727265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67352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C95417BB-B972-4347-B0A4-4F0DB3640205}"/>
              </a:ext>
            </a:extLst>
          </p:cNvPr>
          <p:cNvCxnSpPr>
            <a:stCxn id="12" idx="3"/>
            <a:endCxn id="15" idx="1"/>
          </p:cNvCxnSpPr>
          <p:nvPr/>
        </p:nvCxnSpPr>
        <p:spPr>
          <a:xfrm>
            <a:off x="7810500" y="4143375"/>
            <a:ext cx="1047750" cy="0"/>
          </a:xfrm>
          <a:prstGeom prst="straightConnector1">
            <a:avLst/>
          </a:prstGeom>
          <a:ln w="19050">
            <a:solidFill>
              <a:srgbClr val="006D77"/>
            </a:solidFill>
            <a:prstDash val="solid"/>
            <a:tailEnd type="triangle" w="med" len="med"/>
          </a:ln>
        </p:spPr>
      </p:cxnSp>
      <p:cxnSp>
        <p:nvCxnSpPr>
          <p:cNvPr id="24" name="Straight Arrow Connector 23">
            <a:extLst>
              <a:ext uri="{FF2B5EF4-FFF2-40B4-BE49-F238E27FC236}">
                <a16:creationId xmlns:a16="http://schemas.microsoft.com/office/drawing/2014/main" id="{96CDBD0B-CD71-4BD2-B278-B4CACC15E135}"/>
              </a:ext>
            </a:extLst>
          </p:cNvPr>
          <p:cNvCxnSpPr>
            <a:stCxn id="9" idx="3"/>
            <a:endCxn id="12" idx="1"/>
          </p:cNvCxnSpPr>
          <p:nvPr/>
        </p:nvCxnSpPr>
        <p:spPr>
          <a:xfrm>
            <a:off x="3333750" y="4143375"/>
            <a:ext cx="1047750" cy="0"/>
          </a:xfrm>
          <a:prstGeom prst="straightConnector1">
            <a:avLst/>
          </a:prstGeom>
          <a:ln w="19050">
            <a:solidFill>
              <a:srgbClr val="006D77"/>
            </a:solidFill>
            <a:prstDash val="solid"/>
            <a:tailEnd type="triangle" w="med" len="med"/>
          </a:ln>
        </p:spPr>
      </p:cxnSp>
      <p:sp>
        <p:nvSpPr>
          <p:cNvPr id="29" name="shape-81">
            <a:extLst>
              <a:ext uri="{FF2B5EF4-FFF2-40B4-BE49-F238E27FC236}">
                <a16:creationId xmlns:a16="http://schemas.microsoft.com/office/drawing/2014/main" id="{972CA1DA-4A37-42C8-BE61-A951AB5274F8}"/>
              </a:ext>
            </a:extLst>
          </p:cNvPr>
          <p:cNvSpPr>
            <a:spLocks noGrp="1"/>
          </p:cNvSpPr>
          <p:nvPr/>
        </p:nvSpPr>
        <p:spPr>
          <a:xfrm>
            <a:off x="0" y="0"/>
            <a:ext cx="12192000" cy="1066800"/>
          </a:xfrm>
          <a:prstGeom prst="rect">
            <a:avLst/>
          </a:prstGeom>
          <a:solidFill>
            <a:srgbClr val="F2F6F7"/>
          </a:solidFill>
          <a:ln w="0">
            <a:noFill/>
          </a:ln>
        </p:spPr>
      </p:sp>
      <p:sp>
        <p:nvSpPr>
          <p:cNvPr id="2" name="shape-82">
            <a:extLst>
              <a:ext uri="{FF2B5EF4-FFF2-40B4-BE49-F238E27FC236}">
                <a16:creationId xmlns:a16="http://schemas.microsoft.com/office/drawing/2014/main" id="{42208C22-90F7-4D84-AE80-AA87EA4C6A1B}"/>
              </a:ext>
            </a:extLst>
          </p:cNvPr>
          <p:cNvSpPr>
            <a:spLocks noGrp="1"/>
          </p:cNvSpPr>
          <p:nvPr/>
        </p:nvSpPr>
        <p:spPr>
          <a:xfrm>
            <a:off x="0" y="1038225"/>
            <a:ext cx="12192000" cy="28575"/>
          </a:xfrm>
          <a:prstGeom prst="rect">
            <a:avLst/>
          </a:prstGeom>
          <a:solidFill>
            <a:srgbClr val="006D77"/>
          </a:solidFill>
          <a:ln w="0">
            <a:noFill/>
          </a:ln>
        </p:spPr>
      </p:sp>
      <p:sp>
        <p:nvSpPr>
          <p:cNvPr id="3" name="slide-4-title">
            <a:extLst>
              <a:ext uri="{FF2B5EF4-FFF2-40B4-BE49-F238E27FC236}">
                <a16:creationId xmlns:a16="http://schemas.microsoft.com/office/drawing/2014/main" id="{A5BDBE2D-15CA-4645-B57C-443053530BD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Proposed solution</a:t>
            </a:r>
          </a:p>
        </p:txBody>
      </p:sp>
      <p:sp>
        <p:nvSpPr>
          <p:cNvPr id="4" name="shape-83">
            <a:extLst>
              <a:ext uri="{FF2B5EF4-FFF2-40B4-BE49-F238E27FC236}">
                <a16:creationId xmlns:a16="http://schemas.microsoft.com/office/drawing/2014/main" id="{B6BD74C4-6B1C-49D6-AFC6-279D768758C7}"/>
              </a:ext>
            </a:extLst>
          </p:cNvPr>
          <p:cNvSpPr>
            <a:spLocks noGrp="1"/>
          </p:cNvSpPr>
          <p:nvPr/>
        </p:nvSpPr>
        <p:spPr>
          <a:xfrm>
            <a:off x="0" y="6381750"/>
            <a:ext cx="12192000" cy="476250"/>
          </a:xfrm>
          <a:prstGeom prst="rect">
            <a:avLst/>
          </a:prstGeom>
          <a:solidFill>
            <a:srgbClr val="102A43"/>
          </a:solidFill>
          <a:ln w="0">
            <a:noFill/>
          </a:ln>
        </p:spPr>
      </p:sp>
      <p:sp>
        <p:nvSpPr>
          <p:cNvPr id="5" name="brand-4">
            <a:extLst>
              <a:ext uri="{FF2B5EF4-FFF2-40B4-BE49-F238E27FC236}">
                <a16:creationId xmlns:a16="http://schemas.microsoft.com/office/drawing/2014/main" id="{E68B45D3-2F38-4D40-AC0C-60C44736871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4">
            <a:extLst>
              <a:ext uri="{FF2B5EF4-FFF2-40B4-BE49-F238E27FC236}">
                <a16:creationId xmlns:a16="http://schemas.microsoft.com/office/drawing/2014/main" id="{F590E9A4-59F4-4DE9-9018-A7DC1B21A728}"/>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06 / 23</a:t>
            </a:r>
          </a:p>
        </p:txBody>
      </p:sp>
      <p:sp>
        <p:nvSpPr>
          <p:cNvPr id="7" name="text-84">
            <a:extLst>
              <a:ext uri="{FF2B5EF4-FFF2-40B4-BE49-F238E27FC236}">
                <a16:creationId xmlns:a16="http://schemas.microsoft.com/office/drawing/2014/main" id="{23663B0C-5525-4B9B-93BF-7B538C336EB5}"/>
              </a:ext>
            </a:extLst>
          </p:cNvPr>
          <p:cNvSpPr>
            <a:spLocks noGrp="1"/>
          </p:cNvSpPr>
          <p:nvPr/>
        </p:nvSpPr>
        <p:spPr>
          <a:xfrm>
            <a:off x="609600" y="1428750"/>
            <a:ext cx="10972800" cy="790575"/>
          </a:xfrm>
          <a:prstGeom prst="rect">
            <a:avLst/>
          </a:prstGeom>
          <a:noFill/>
          <a:ln w="0">
            <a:noFill/>
          </a:ln>
        </p:spPr>
        <p:txBody>
          <a:bodyPr wrap="square" lIns="0" tIns="0" rIns="0" bIns="0" anchor="t">
            <a:noAutofit/>
          </a:bodyPr>
          <a:lstStyle>
            <a:defPPr algn="l">
              <a:defRPr sz="2550" b="1">
                <a:solidFill>
                  <a:srgbClr val="006D77"/>
                </a:solidFill>
                <a:latin typeface="Arial"/>
                <a:ea typeface="Arial"/>
                <a:cs typeface="Arial"/>
              </a:defRPr>
            </a:defPPr>
          </a:lstStyle>
          <a:p>
            <a:pPr algn="l">
              <a:lnSpc>
                <a:spcPct val="112000"/>
              </a:lnSpc>
              <a:buNone/>
              <a:defRPr sz="2550" b="1">
                <a:solidFill>
                  <a:srgbClr val="006D77"/>
                </a:solidFill>
                <a:latin typeface="Arial"/>
                <a:ea typeface="Arial"/>
                <a:cs typeface="Arial"/>
              </a:defRPr>
            </a:pPr>
            <a:r>
              <a:rPr sz="2550" b="1">
                <a:solidFill>
                  <a:srgbClr val="006D77"/>
                </a:solidFill>
                <a:latin typeface="Arial"/>
                <a:ea typeface="Arial"/>
                <a:cs typeface="Arial"/>
              </a:rPr>
              <a:t>One assistant for business analysis and application interaction</a:t>
            </a:r>
          </a:p>
        </p:txBody>
      </p:sp>
      <p:sp>
        <p:nvSpPr>
          <p:cNvPr id="8" name="text-85">
            <a:extLst>
              <a:ext uri="{FF2B5EF4-FFF2-40B4-BE49-F238E27FC236}">
                <a16:creationId xmlns:a16="http://schemas.microsoft.com/office/drawing/2014/main" id="{A1618CF6-7D96-4EF5-9ADB-EEBB0E3A1643}"/>
              </a:ext>
            </a:extLst>
          </p:cNvPr>
          <p:cNvSpPr>
            <a:spLocks noGrp="1"/>
          </p:cNvSpPr>
          <p:nvPr/>
        </p:nvSpPr>
        <p:spPr>
          <a:xfrm>
            <a:off x="609600" y="2305050"/>
            <a:ext cx="10972800" cy="7715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The assistant uses business evidence and the current application context</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to answer a request and display the relevant records in the same workspace.</a:t>
            </a:r>
          </a:p>
        </p:txBody>
      </p:sp>
      <p:sp>
        <p:nvSpPr>
          <p:cNvPr id="9" name="shape-86">
            <a:extLst>
              <a:ext uri="{FF2B5EF4-FFF2-40B4-BE49-F238E27FC236}">
                <a16:creationId xmlns:a16="http://schemas.microsoft.com/office/drawing/2014/main" id="{79BDAAF7-B5F7-4702-9163-7494AC639BDB}"/>
              </a:ext>
            </a:extLst>
          </p:cNvPr>
          <p:cNvSpPr>
            <a:spLocks noGrp="1"/>
          </p:cNvSpPr>
          <p:nvPr/>
        </p:nvSpPr>
        <p:spPr>
          <a:xfrm>
            <a:off x="609600" y="3600450"/>
            <a:ext cx="2724150" cy="1085850"/>
          </a:xfrm>
          <a:prstGeom prst="rect">
            <a:avLst/>
          </a:prstGeom>
          <a:solidFill>
            <a:srgbClr val="FFFFFF"/>
          </a:solidFill>
          <a:ln w="15240">
            <a:solidFill>
              <a:srgbClr val="006D77"/>
            </a:solidFill>
          </a:ln>
        </p:spPr>
      </p:sp>
      <p:sp>
        <p:nvSpPr>
          <p:cNvPr id="10" name="text-87">
            <a:extLst>
              <a:ext uri="{FF2B5EF4-FFF2-40B4-BE49-F238E27FC236}">
                <a16:creationId xmlns:a16="http://schemas.microsoft.com/office/drawing/2014/main" id="{4B45EDA1-35C2-4F7A-B4C4-960DBCDCA24F}"/>
              </a:ext>
            </a:extLst>
          </p:cNvPr>
          <p:cNvSpPr>
            <a:spLocks noGrp="1"/>
          </p:cNvSpPr>
          <p:nvPr/>
        </p:nvSpPr>
        <p:spPr>
          <a:xfrm>
            <a:off x="762000" y="3715893"/>
            <a:ext cx="2419350" cy="326136"/>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Business request</a:t>
            </a:r>
          </a:p>
        </p:txBody>
      </p:sp>
      <p:sp>
        <p:nvSpPr>
          <p:cNvPr id="11" name="text-88">
            <a:extLst>
              <a:ext uri="{FF2B5EF4-FFF2-40B4-BE49-F238E27FC236}">
                <a16:creationId xmlns:a16="http://schemas.microsoft.com/office/drawing/2014/main" id="{A19C5FFD-AA4B-48A3-91C1-597398238791}"/>
              </a:ext>
            </a:extLst>
          </p:cNvPr>
          <p:cNvSpPr>
            <a:spLocks noGrp="1"/>
          </p:cNvSpPr>
          <p:nvPr/>
        </p:nvSpPr>
        <p:spPr>
          <a:xfrm>
            <a:off x="733425" y="4080129"/>
            <a:ext cx="2476500" cy="528828"/>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“Compare April and</a:t>
            </a:r>
          </a:p>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May.”</a:t>
            </a:r>
          </a:p>
        </p:txBody>
      </p:sp>
      <p:sp>
        <p:nvSpPr>
          <p:cNvPr id="12" name="shape-89">
            <a:extLst>
              <a:ext uri="{FF2B5EF4-FFF2-40B4-BE49-F238E27FC236}">
                <a16:creationId xmlns:a16="http://schemas.microsoft.com/office/drawing/2014/main" id="{8A9BECDB-3EB5-46AB-83B9-8A8292C14835}"/>
              </a:ext>
            </a:extLst>
          </p:cNvPr>
          <p:cNvSpPr>
            <a:spLocks noGrp="1"/>
          </p:cNvSpPr>
          <p:nvPr/>
        </p:nvSpPr>
        <p:spPr>
          <a:xfrm>
            <a:off x="4381500" y="3429000"/>
            <a:ext cx="3429000" cy="1428750"/>
          </a:xfrm>
          <a:prstGeom prst="rect">
            <a:avLst/>
          </a:prstGeom>
          <a:solidFill>
            <a:srgbClr val="EAF2F1"/>
          </a:solidFill>
          <a:ln w="15240">
            <a:solidFill>
              <a:srgbClr val="006D77"/>
            </a:solidFill>
          </a:ln>
        </p:spPr>
      </p:sp>
      <p:sp>
        <p:nvSpPr>
          <p:cNvPr id="13" name="text-90">
            <a:extLst>
              <a:ext uri="{FF2B5EF4-FFF2-40B4-BE49-F238E27FC236}">
                <a16:creationId xmlns:a16="http://schemas.microsoft.com/office/drawing/2014/main" id="{3ADEE209-B364-4475-9F12-25D5FDB75C63}"/>
              </a:ext>
            </a:extLst>
          </p:cNvPr>
          <p:cNvSpPr>
            <a:spLocks noGrp="1"/>
          </p:cNvSpPr>
          <p:nvPr/>
        </p:nvSpPr>
        <p:spPr>
          <a:xfrm>
            <a:off x="4533900" y="3667887"/>
            <a:ext cx="3124200" cy="656844"/>
          </a:xfrm>
          <a:prstGeom prst="rect">
            <a:avLst/>
          </a:prstGeom>
          <a:noFill/>
          <a:ln w="0">
            <a:noFill/>
          </a:ln>
        </p:spPr>
        <p:txBody>
          <a:bodyPr wrap="square" lIns="0" tIns="0" rIns="0" bIns="0" anchor="t">
            <a:noAutofit/>
          </a:bodyPr>
          <a:lstStyle>
            <a:defPPr algn="ctr">
              <a:defRPr sz="2175" b="1">
                <a:solidFill>
                  <a:srgbClr val="102A43"/>
                </a:solidFill>
                <a:latin typeface="Arial"/>
                <a:ea typeface="Arial"/>
                <a:cs typeface="Arial"/>
              </a:defRPr>
            </a:defPPr>
          </a:lstStyle>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Shared reasoning</a:t>
            </a:r>
          </a:p>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agent</a:t>
            </a:r>
          </a:p>
        </p:txBody>
      </p:sp>
      <p:sp>
        <p:nvSpPr>
          <p:cNvPr id="14" name="text-91">
            <a:extLst>
              <a:ext uri="{FF2B5EF4-FFF2-40B4-BE49-F238E27FC236}">
                <a16:creationId xmlns:a16="http://schemas.microsoft.com/office/drawing/2014/main" id="{2A35F806-BC54-4365-97EB-B715028CAB5C}"/>
              </a:ext>
            </a:extLst>
          </p:cNvPr>
          <p:cNvSpPr>
            <a:spLocks noGrp="1"/>
          </p:cNvSpPr>
          <p:nvPr/>
        </p:nvSpPr>
        <p:spPr>
          <a:xfrm>
            <a:off x="4505325" y="4362831"/>
            <a:ext cx="3181350" cy="294132"/>
          </a:xfrm>
          <a:prstGeom prst="rect">
            <a:avLst/>
          </a:prstGeom>
          <a:noFill/>
          <a:ln w="0">
            <a:noFill/>
          </a:ln>
        </p:spPr>
        <p:txBody>
          <a:bodyPr wrap="square" lIns="0" tIns="0" rIns="0" bIns="0" anchor="t">
            <a:noAutofit/>
          </a:bodyPr>
          <a:lstStyle>
            <a:defPPr algn="ctr">
              <a:defRPr sz="1800" b="0">
                <a:solidFill>
                  <a:srgbClr val="4D6270"/>
                </a:solidFill>
                <a:latin typeface="Arial"/>
                <a:ea typeface="Arial"/>
                <a:cs typeface="Arial"/>
              </a:defRPr>
            </a:defPPr>
          </a:lstStyle>
          <a:p>
            <a:pPr algn="ctr">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One task and session state</a:t>
            </a:r>
          </a:p>
        </p:txBody>
      </p:sp>
      <p:sp>
        <p:nvSpPr>
          <p:cNvPr id="15" name="shape-92">
            <a:extLst>
              <a:ext uri="{FF2B5EF4-FFF2-40B4-BE49-F238E27FC236}">
                <a16:creationId xmlns:a16="http://schemas.microsoft.com/office/drawing/2014/main" id="{E1C14183-2D50-4676-8006-6DA200DEADB2}"/>
              </a:ext>
            </a:extLst>
          </p:cNvPr>
          <p:cNvSpPr>
            <a:spLocks noGrp="1"/>
          </p:cNvSpPr>
          <p:nvPr/>
        </p:nvSpPr>
        <p:spPr>
          <a:xfrm>
            <a:off x="8858250" y="3600450"/>
            <a:ext cx="2724150" cy="1085850"/>
          </a:xfrm>
          <a:prstGeom prst="rect">
            <a:avLst/>
          </a:prstGeom>
          <a:solidFill>
            <a:srgbClr val="FFFFFF"/>
          </a:solidFill>
          <a:ln w="15240">
            <a:solidFill>
              <a:srgbClr val="006D77"/>
            </a:solidFill>
          </a:ln>
        </p:spPr>
      </p:sp>
      <p:sp>
        <p:nvSpPr>
          <p:cNvPr id="16" name="text-93">
            <a:extLst>
              <a:ext uri="{FF2B5EF4-FFF2-40B4-BE49-F238E27FC236}">
                <a16:creationId xmlns:a16="http://schemas.microsoft.com/office/drawing/2014/main" id="{12705B72-37E9-4016-867B-5F5BEE54E63F}"/>
              </a:ext>
            </a:extLst>
          </p:cNvPr>
          <p:cNvSpPr>
            <a:spLocks noGrp="1"/>
          </p:cNvSpPr>
          <p:nvPr/>
        </p:nvSpPr>
        <p:spPr>
          <a:xfrm>
            <a:off x="9010650" y="3694557"/>
            <a:ext cx="2419350" cy="614172"/>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Answer and</a:t>
            </a:r>
          </a:p>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records</a:t>
            </a:r>
          </a:p>
        </p:txBody>
      </p:sp>
      <p:sp>
        <p:nvSpPr>
          <p:cNvPr id="17" name="text-94">
            <a:extLst>
              <a:ext uri="{FF2B5EF4-FFF2-40B4-BE49-F238E27FC236}">
                <a16:creationId xmlns:a16="http://schemas.microsoft.com/office/drawing/2014/main" id="{F842E50F-505C-486C-B598-B1DBBC03DB46}"/>
              </a:ext>
            </a:extLst>
          </p:cNvPr>
          <p:cNvSpPr>
            <a:spLocks noGrp="1"/>
          </p:cNvSpPr>
          <p:nvPr/>
        </p:nvSpPr>
        <p:spPr>
          <a:xfrm>
            <a:off x="8982075" y="4346829"/>
            <a:ext cx="2476500" cy="283464"/>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Visible in the workspace</a:t>
            </a:r>
          </a:p>
        </p:txBody>
      </p:sp>
      <p:sp>
        <p:nvSpPr>
          <p:cNvPr id="18" name="symbol-agent-95">
            <a:extLst>
              <a:ext uri="{FF2B5EF4-FFF2-40B4-BE49-F238E27FC236}">
                <a16:creationId xmlns:a16="http://schemas.microsoft.com/office/drawing/2014/main" id="{C2BF138B-A64A-4BB5-BC39-450010ABA027}"/>
              </a:ext>
            </a:extLst>
          </p:cNvPr>
          <p:cNvSpPr>
            <a:spLocks noGrp="1"/>
          </p:cNvSpPr>
          <p:nvPr/>
        </p:nvSpPr>
        <p:spPr>
          <a:xfrm>
            <a:off x="5924550" y="3267075"/>
            <a:ext cx="323850" cy="238125"/>
          </a:xfrm>
          <a:prstGeom prst="roundRect">
            <a:avLst>
              <a:gd name="adj" fmla="val 32000"/>
            </a:avLst>
          </a:prstGeom>
          <a:solidFill>
            <a:srgbClr val="FFFFFF"/>
          </a:solidFill>
          <a:ln w="19050">
            <a:solidFill>
              <a:srgbClr val="006D77"/>
            </a:solidFill>
          </a:ln>
        </p:spPr>
      </p:sp>
      <p:cxnSp>
        <p:nvCxnSpPr>
          <p:cNvPr id="19" name="link-96">
            <a:extLst>
              <a:ext uri="{FF2B5EF4-FFF2-40B4-BE49-F238E27FC236}">
                <a16:creationId xmlns:a16="http://schemas.microsoft.com/office/drawing/2014/main" id="{0C16395C-31F3-4432-9E0D-05503501C00C}"/>
              </a:ext>
            </a:extLst>
          </p:cNvPr>
          <p:cNvCxnSpPr/>
          <p:nvPr/>
        </p:nvCxnSpPr>
        <p:spPr>
          <a:xfrm>
            <a:off x="6086475" y="3190875"/>
            <a:ext cx="0" cy="76200"/>
          </a:xfrm>
          <a:prstGeom prst="straightConnector1">
            <a:avLst/>
          </a:prstGeom>
          <a:ln w="19050">
            <a:solidFill>
              <a:srgbClr val="006D77"/>
            </a:solidFill>
            <a:prstDash val="solid"/>
          </a:ln>
        </p:spPr>
      </p:cxnSp>
      <p:sp>
        <p:nvSpPr>
          <p:cNvPr id="20" name="symbol-agent-97">
            <a:extLst>
              <a:ext uri="{FF2B5EF4-FFF2-40B4-BE49-F238E27FC236}">
                <a16:creationId xmlns:a16="http://schemas.microsoft.com/office/drawing/2014/main" id="{5482858C-C808-4646-A26F-44313D83C97C}"/>
              </a:ext>
            </a:extLst>
          </p:cNvPr>
          <p:cNvSpPr>
            <a:spLocks noGrp="1"/>
          </p:cNvSpPr>
          <p:nvPr/>
        </p:nvSpPr>
        <p:spPr>
          <a:xfrm>
            <a:off x="6057900" y="3152775"/>
            <a:ext cx="57150" cy="57150"/>
          </a:xfrm>
          <a:prstGeom prst="ellipse">
            <a:avLst/>
          </a:prstGeom>
          <a:solidFill>
            <a:srgbClr val="006D77"/>
          </a:solidFill>
          <a:ln w="19050">
            <a:solidFill>
              <a:srgbClr val="006D77"/>
            </a:solidFill>
          </a:ln>
        </p:spPr>
      </p:sp>
      <p:sp>
        <p:nvSpPr>
          <p:cNvPr id="21" name="symbol-agent-98">
            <a:extLst>
              <a:ext uri="{FF2B5EF4-FFF2-40B4-BE49-F238E27FC236}">
                <a16:creationId xmlns:a16="http://schemas.microsoft.com/office/drawing/2014/main" id="{D3BC4CF6-DC2D-4389-B487-6281428F40A6}"/>
              </a:ext>
            </a:extLst>
          </p:cNvPr>
          <p:cNvSpPr>
            <a:spLocks noGrp="1"/>
          </p:cNvSpPr>
          <p:nvPr/>
        </p:nvSpPr>
        <p:spPr>
          <a:xfrm>
            <a:off x="6010275" y="3381375"/>
            <a:ext cx="47625" cy="47625"/>
          </a:xfrm>
          <a:prstGeom prst="ellipse">
            <a:avLst/>
          </a:prstGeom>
          <a:solidFill>
            <a:srgbClr val="006D77"/>
          </a:solidFill>
          <a:ln w="19050">
            <a:solidFill>
              <a:srgbClr val="006D77"/>
            </a:solidFill>
          </a:ln>
        </p:spPr>
      </p:sp>
      <p:sp>
        <p:nvSpPr>
          <p:cNvPr id="22" name="symbol-agent-99">
            <a:extLst>
              <a:ext uri="{FF2B5EF4-FFF2-40B4-BE49-F238E27FC236}">
                <a16:creationId xmlns:a16="http://schemas.microsoft.com/office/drawing/2014/main" id="{FE16BEE2-4096-41C9-887D-32A22966E1FD}"/>
              </a:ext>
            </a:extLst>
          </p:cNvPr>
          <p:cNvSpPr>
            <a:spLocks noGrp="1"/>
          </p:cNvSpPr>
          <p:nvPr/>
        </p:nvSpPr>
        <p:spPr>
          <a:xfrm>
            <a:off x="6115050" y="3381375"/>
            <a:ext cx="47625" cy="47625"/>
          </a:xfrm>
          <a:prstGeom prst="ellipse">
            <a:avLst/>
          </a:prstGeom>
          <a:solidFill>
            <a:srgbClr val="006D77"/>
          </a:solidFill>
          <a:ln w="19050">
            <a:solidFill>
              <a:srgbClr val="006D77"/>
            </a:solidFill>
          </a:ln>
        </p:spPr>
      </p:sp>
      <p:cxnSp>
        <p:nvCxnSpPr>
          <p:cNvPr id="23" name="link-100">
            <a:extLst>
              <a:ext uri="{FF2B5EF4-FFF2-40B4-BE49-F238E27FC236}">
                <a16:creationId xmlns:a16="http://schemas.microsoft.com/office/drawing/2014/main" id="{7568024B-7EB0-4FDA-9D8D-BB7DD9B71CDC}"/>
              </a:ext>
            </a:extLst>
          </p:cNvPr>
          <p:cNvCxnSpPr/>
          <p:nvPr/>
        </p:nvCxnSpPr>
        <p:spPr>
          <a:xfrm>
            <a:off x="6038850" y="3495675"/>
            <a:ext cx="95250" cy="0"/>
          </a:xfrm>
          <a:prstGeom prst="straightConnector1">
            <a:avLst/>
          </a:prstGeom>
          <a:ln w="19050">
            <a:solidFill>
              <a:srgbClr val="006D77"/>
            </a:solidFill>
            <a:prstDash val="solid"/>
          </a:ln>
        </p:spPr>
      </p:cxnSp>
      <p:sp>
        <p:nvSpPr>
          <p:cNvPr id="26" name="text-101">
            <a:extLst>
              <a:ext uri="{FF2B5EF4-FFF2-40B4-BE49-F238E27FC236}">
                <a16:creationId xmlns:a16="http://schemas.microsoft.com/office/drawing/2014/main" id="{A48F0AF9-8A47-43F9-9A9E-DBF27E86D7B6}"/>
              </a:ext>
            </a:extLst>
          </p:cNvPr>
          <p:cNvSpPr>
            <a:spLocks noGrp="1"/>
          </p:cNvSpPr>
          <p:nvPr/>
        </p:nvSpPr>
        <p:spPr>
          <a:xfrm>
            <a:off x="609600" y="5248275"/>
            <a:ext cx="10972800" cy="6286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A single reasoning loop combines API execution with semantic in-app context.</a:t>
            </a:r>
          </a:p>
        </p:txBody>
      </p:sp>
      <p:sp>
        <p:nvSpPr>
          <p:cNvPr id="27" name="text-102">
            <a:extLst>
              <a:ext uri="{FF2B5EF4-FFF2-40B4-BE49-F238E27FC236}">
                <a16:creationId xmlns:a16="http://schemas.microsoft.com/office/drawing/2014/main" id="{4F67AA30-ED80-416E-9D6C-DD897FA0FAA0}"/>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integrated behavior. The API agent and the ERPNext bridge are built and verified separately.</a:t>
            </a:r>
          </a:p>
        </p:txBody>
      </p:sp>
      <p:pic>
        <p:nvPicPr>
          <p:cNvPr id="28" name="Picture 27">
            <a:extLst>
              <a:ext uri="{FF2B5EF4-FFF2-40B4-BE49-F238E27FC236}">
                <a16:creationId xmlns:a16="http://schemas.microsoft.com/office/drawing/2014/main" id="{6860344A-5DFE-48CB-B22A-D2FE20620F9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678094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Objectives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07 / 23</a:t>
            </a:r>
          </a:p>
        </p:txBody>
      </p:sp>
      <p:sp>
        <p:nvSpPr>
          <p:cNvPr id="7" name="text-106">
            <a:extLst>
              <a:ext uri="{FF2B5EF4-FFF2-40B4-BE49-F238E27FC236}">
                <a16:creationId xmlns:a16="http://schemas.microsoft.com/office/drawing/2014/main" id="{70940FC8-0A43-40E5-8646-77A0CACA249D}"/>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Proposed targets and acceptance criteria for the final evaluation</a:t>
            </a:r>
          </a:p>
        </p:txBody>
      </p:sp>
      <p:graphicFrame>
        <p:nvGraphicFramePr>
          <p:cNvPr id="8" name="Table 7">
            <a:extLst>
              <a:ext uri="{FF2B5EF4-FFF2-40B4-BE49-F238E27FC236}">
                <a16:creationId xmlns:a16="http://schemas.microsoft.com/office/drawing/2014/main" id="{C3707C37-F335-487C-89BE-D551C6851EB6}"/>
              </a:ext>
            </a:extLst>
          </p:cNvPr>
          <p:cNvGraphicFramePr/>
          <p:nvPr/>
        </p:nvGraphicFramePr>
        <p:xfrm>
          <a:off x="609600" y="2019300"/>
          <a:ext cx="10972800" cy="3724275"/>
        </p:xfrm>
        <a:graphic>
          <a:graphicData uri="http://schemas.openxmlformats.org/drawingml/2006/table">
            <a:tbl>
              <a:tblPr/>
              <a:tblGrid>
                <a:gridCol w="1428750">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gridCol w="5981700">
                  <a:extLst>
                    <a:ext uri="{9D8B030D-6E8A-4147-A177-3AD203B41FA5}">
                      <a16:colId xmlns:a16="http://schemas.microsoft.com/office/drawing/2014/main" val="20002"/>
                    </a:ext>
                  </a:extLst>
                </a:gridCol>
              </a:tblGrid>
              <a:tr h="447675">
                <a:tc>
                  <a:txBody>
                    <a:bodyPr/>
                    <a:lstStyle/>
                    <a:p>
                      <a:pPr>
                        <a:lnSpc>
                          <a:spcPct val="108000"/>
                        </a:lnSpc>
                        <a:buNone/>
                      </a:pPr>
                      <a:r>
                        <a:rPr sz="1725" b="1">
                          <a:solidFill>
                            <a:srgbClr val="FFFFFF"/>
                          </a:solidFill>
                          <a:latin typeface="Arial"/>
                          <a:ea typeface="Arial"/>
                          <a:cs typeface="Arial"/>
                        </a:rPr>
                        <a:t>Target</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Objective</a:t>
                      </a:r>
                    </a:p>
                  </a:txBody>
                  <a:tcPr marL="133350" marR="133350" marT="95250" marB="85725" anchor="ctr">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Acceptance criterion</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19150">
                <a:tc>
                  <a:txBody>
                    <a:bodyPr/>
                    <a:lstStyle/>
                    <a:p>
                      <a:pPr>
                        <a:lnSpc>
                          <a:spcPct val="108000"/>
                        </a:lnSpc>
                        <a:buNone/>
                      </a:pPr>
                      <a:r>
                        <a:rPr sz="1725" b="1">
                          <a:solidFill>
                            <a:srgbClr val="17324A"/>
                          </a:solidFill>
                          <a:latin typeface="Arial"/>
                          <a:ea typeface="Arial"/>
                          <a:cs typeface="Arial"/>
                        </a:rPr>
                        <a:t>15 of 18</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Reliable multi-step task completion</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Frozen, held-out tasks meet every required outcome: operation, scope, destination and values.</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FFFFF"/>
                    </a:solidFill>
                  </a:tcPr>
                </a:tc>
                <a:tc>
                  <a:txBody>
                    <a:bodyPr/>
                    <a:lstStyle/>
                    <a:p>
                      <a:pPr>
                        <a:lnSpc>
                          <a:spcPct val="108000"/>
                        </a:lnSpc>
                        <a:buNone/>
                      </a:pPr>
                      <a:r>
                        <a:rPr sz="1725" b="0">
                          <a:solidFill>
                            <a:srgbClr val="17324A"/>
                          </a:solidFill>
                          <a:latin typeface="Arial"/>
                          <a:ea typeface="Arial"/>
                          <a:cs typeface="Arial"/>
                        </a:rPr>
                        <a:t>Faithful numerical answers</a:t>
                      </a:r>
                    </a:p>
                  </a:txBody>
                  <a:tcPr marL="133350" marR="133350" marT="95250" marB="85725" anchor="ctr">
                    <a:solidFill>
                      <a:srgbClr val="FFFFFF"/>
                    </a:solidFill>
                  </a:tcPr>
                </a:tc>
                <a:tc>
                  <a:txBody>
                    <a:bodyPr/>
                    <a:lstStyle/>
                    <a:p>
                      <a:pPr>
                        <a:lnSpc>
                          <a:spcPct val="108000"/>
                        </a:lnSpc>
                        <a:buNone/>
                      </a:pPr>
                      <a:r>
                        <a:rPr sz="1725" b="0">
                          <a:solidFill>
                            <a:srgbClr val="17324A"/>
                          </a:solidFill>
                          <a:latin typeface="Arial"/>
                          <a:ea typeface="Arial"/>
                          <a:cs typeface="Arial"/>
                        </a:rPr>
                        <a:t>Each reported figure matches its source value, unit, scope and stated caveat.</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Context continuity and correct destination</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Follow-ups, reloads and navigation keep scope and reach the intended view.</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19150">
                <a:tc>
                  <a:txBody>
                    <a:bodyPr/>
                    <a:lstStyle/>
                    <a:p>
                      <a:pPr>
                        <a:lnSpc>
                          <a:spcPct val="108000"/>
                        </a:lnSpc>
                        <a:buNone/>
                      </a:pPr>
                      <a:r>
                        <a:rPr sz="1725" b="1">
                          <a:solidFill>
                            <a:srgbClr val="17324A"/>
                          </a:solidFill>
                          <a:latin typeface="Arial"/>
                          <a:ea typeface="Arial"/>
                          <a:cs typeface="Arial"/>
                        </a:rPr>
                        <a:t>0</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No false completion</a:t>
                      </a:r>
                    </a:p>
                  </a:txBody>
                  <a:tcPr marL="133350" marR="133350" marT="95250" marB="85725" anchor="ctr">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Invalid, unsupported or failed requests are never reported as completed.</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107">
            <a:extLst>
              <a:ext uri="{FF2B5EF4-FFF2-40B4-BE49-F238E27FC236}">
                <a16:creationId xmlns:a16="http://schemas.microsoft.com/office/drawing/2014/main" id="{6D4B3E07-100B-47A8-8E27-6C7F4AADAED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Targets are not achieved results. Report coverage, abstentions and failures alongside correctness.</a:t>
            </a:r>
          </a:p>
        </p:txBody>
      </p:sp>
      <p:pic>
        <p:nvPicPr>
          <p:cNvPr id="10" name="Picture 9">
            <a:extLst>
              <a:ext uri="{FF2B5EF4-FFF2-40B4-BE49-F238E27FC236}">
                <a16:creationId xmlns:a16="http://schemas.microsoft.com/office/drawing/2014/main" id="{B05A6FAE-2DA7-4E9C-BA5E-C65441883019}"/>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5871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shape-108">
            <a:extLst>
              <a:ext uri="{FF2B5EF4-FFF2-40B4-BE49-F238E27FC236}">
                <a16:creationId xmlns:a16="http://schemas.microsoft.com/office/drawing/2014/main" id="{23C95EB9-8543-4E84-8A36-C111092C1CDC}"/>
              </a:ext>
            </a:extLst>
          </p:cNvPr>
          <p:cNvSpPr>
            <a:spLocks noGrp="1"/>
          </p:cNvSpPr>
          <p:nvPr/>
        </p:nvSpPr>
        <p:spPr>
          <a:xfrm>
            <a:off x="0" y="0"/>
            <a:ext cx="12192000" cy="1066800"/>
          </a:xfrm>
          <a:prstGeom prst="rect">
            <a:avLst/>
          </a:prstGeom>
          <a:solidFill>
            <a:srgbClr val="F2F6F7"/>
          </a:solidFill>
          <a:ln w="0">
            <a:noFill/>
          </a:ln>
        </p:spPr>
      </p:sp>
      <p:sp>
        <p:nvSpPr>
          <p:cNvPr id="2" name="shape-109">
            <a:extLst>
              <a:ext uri="{FF2B5EF4-FFF2-40B4-BE49-F238E27FC236}">
                <a16:creationId xmlns:a16="http://schemas.microsoft.com/office/drawing/2014/main" id="{B383186A-0792-446D-AC11-F8AA572C27B8}"/>
              </a:ext>
            </a:extLst>
          </p:cNvPr>
          <p:cNvSpPr>
            <a:spLocks noGrp="1"/>
          </p:cNvSpPr>
          <p:nvPr/>
        </p:nvSpPr>
        <p:spPr>
          <a:xfrm>
            <a:off x="0" y="1038225"/>
            <a:ext cx="12192000" cy="28575"/>
          </a:xfrm>
          <a:prstGeom prst="rect">
            <a:avLst/>
          </a:prstGeom>
          <a:solidFill>
            <a:srgbClr val="006D77"/>
          </a:solidFill>
          <a:ln w="0">
            <a:noFill/>
          </a:ln>
        </p:spPr>
      </p:sp>
      <p:sp>
        <p:nvSpPr>
          <p:cNvPr id="3" name="slide-6-title">
            <a:extLst>
              <a:ext uri="{FF2B5EF4-FFF2-40B4-BE49-F238E27FC236}">
                <a16:creationId xmlns:a16="http://schemas.microsoft.com/office/drawing/2014/main" id="{07B0A851-32D2-4B0A-8FDB-9D89273EE18F}"/>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System architecture</a:t>
            </a:r>
          </a:p>
        </p:txBody>
      </p:sp>
      <p:sp>
        <p:nvSpPr>
          <p:cNvPr id="4" name="shape-110">
            <a:extLst>
              <a:ext uri="{FF2B5EF4-FFF2-40B4-BE49-F238E27FC236}">
                <a16:creationId xmlns:a16="http://schemas.microsoft.com/office/drawing/2014/main" id="{DCEE9FC2-0179-403B-9B56-755672535C17}"/>
              </a:ext>
            </a:extLst>
          </p:cNvPr>
          <p:cNvSpPr>
            <a:spLocks noGrp="1"/>
          </p:cNvSpPr>
          <p:nvPr/>
        </p:nvSpPr>
        <p:spPr>
          <a:xfrm>
            <a:off x="0" y="6381750"/>
            <a:ext cx="12192000" cy="476250"/>
          </a:xfrm>
          <a:prstGeom prst="rect">
            <a:avLst/>
          </a:prstGeom>
          <a:solidFill>
            <a:srgbClr val="102A43"/>
          </a:solidFill>
          <a:ln w="0">
            <a:noFill/>
          </a:ln>
        </p:spPr>
      </p:sp>
      <p:sp>
        <p:nvSpPr>
          <p:cNvPr id="5" name="brand-6">
            <a:extLst>
              <a:ext uri="{FF2B5EF4-FFF2-40B4-BE49-F238E27FC236}">
                <a16:creationId xmlns:a16="http://schemas.microsoft.com/office/drawing/2014/main" id="{84780945-2D6B-4F5F-B320-A289A6AAC28B}"/>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6">
            <a:extLst>
              <a:ext uri="{FF2B5EF4-FFF2-40B4-BE49-F238E27FC236}">
                <a16:creationId xmlns:a16="http://schemas.microsoft.com/office/drawing/2014/main" id="{912BD343-55E5-4158-BADE-2F08D72A798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09 / 23</a:t>
            </a:r>
          </a:p>
        </p:txBody>
      </p:sp>
      <p:pic>
        <p:nvPicPr>
          <p:cNvPr id="77" name="Picture 76">
            <a:extLst>
              <a:ext uri="{FF2B5EF4-FFF2-40B4-BE49-F238E27FC236}">
                <a16:creationId xmlns:a16="http://schemas.microsoft.com/office/drawing/2014/main" id="{7A7C7D65-CA29-4299-8709-DA48A92F64DD}"/>
              </a:ext>
            </a:extLst>
          </p:cNvPr>
          <p:cNvPicPr>
            <a:picLocks noChangeAspect="1"/>
          </p:cNvPicPr>
          <p:nvPr/>
        </p:nvPicPr>
        <p:blipFill>
          <a:blip r:embed="rId3"/>
          <a:stretch/>
        </p:blipFill>
        <p:spPr>
          <a:xfrm>
            <a:off x="9220220" y="295275"/>
            <a:ext cx="2362160" cy="442436"/>
          </a:xfrm>
          <a:prstGeom prst="rect">
            <a:avLst/>
          </a:prstGeom>
        </p:spPr>
      </p:pic>
      <p:sp>
        <p:nvSpPr>
          <p:cNvPr id="79" name="api-label"/>
          <p:cNvSpPr/>
          <p:nvPr/>
        </p:nvSpPr>
        <p:spPr>
          <a:xfrm>
            <a:off x="640080" y="1280160"/>
            <a:ext cx="2148840" cy="1371600"/>
          </a:xfrm>
          <a:prstGeom prst="rect">
            <a:avLst/>
          </a:prstGeom>
          <a:solidFill>
            <a:srgbClr val="EAF2F1"/>
          </a:solidFill>
          <a:ln w="19050">
            <a:solidFill>
              <a:srgbClr val="006D77"/>
            </a:solidFill>
          </a:ln>
        </p:spPr>
      </p:sp>
      <p:sp>
        <p:nvSpPr>
          <p:cNvPr id="80" name="api-label-a"/>
          <p:cNvSpPr/>
          <p:nvPr/>
        </p:nvSpPr>
        <p:spPr>
          <a:xfrm>
            <a:off x="777240" y="138988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Approach 1</a:t>
            </a:r>
          </a:p>
        </p:txBody>
      </p:sp>
      <p:sp>
        <p:nvSpPr>
          <p:cNvPr id="81" name="api-label-b"/>
          <p:cNvSpPr/>
          <p:nvPr/>
        </p:nvSpPr>
        <p:spPr>
          <a:xfrm>
            <a:off x="777240" y="1691639"/>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API-based agent</a:t>
            </a:r>
          </a:p>
        </p:txBody>
      </p:sp>
      <p:sp>
        <p:nvSpPr>
          <p:cNvPr id="82" name="api-label-c"/>
          <p:cNvSpPr/>
          <p:nvPr/>
        </p:nvSpPr>
        <p:spPr>
          <a:xfrm>
            <a:off x="777240" y="230428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built first, measured</a:t>
            </a:r>
          </a:p>
        </p:txBody>
      </p:sp>
      <p:sp>
        <p:nvSpPr>
          <p:cNvPr id="83" name="api-user"/>
          <p:cNvSpPr/>
          <p:nvPr/>
        </p:nvSpPr>
        <p:spPr>
          <a:xfrm>
            <a:off x="3063240" y="1371600"/>
            <a:ext cx="1097280" cy="731520"/>
          </a:xfrm>
          <a:prstGeom prst="rect">
            <a:avLst/>
          </a:prstGeom>
          <a:solidFill>
            <a:srgbClr val="FFFFFF"/>
          </a:solidFill>
          <a:ln w="19050">
            <a:solidFill>
              <a:srgbClr val="006D77"/>
            </a:solidFill>
          </a:ln>
        </p:spPr>
      </p:sp>
      <p:sp>
        <p:nvSpPr>
          <p:cNvPr id="84" name="api-user-t"/>
          <p:cNvSpPr/>
          <p:nvPr/>
        </p:nvSpPr>
        <p:spPr>
          <a:xfrm>
            <a:off x="3191256" y="158991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85" name="api-a1"/>
          <p:cNvCxnSpPr/>
          <p:nvPr/>
        </p:nvCxnSpPr>
        <p:spPr>
          <a:xfrm>
            <a:off x="4160520" y="1737360"/>
            <a:ext cx="365760" cy="0"/>
          </a:xfrm>
          <a:prstGeom prst="straightConnector1">
            <a:avLst/>
          </a:prstGeom>
          <a:ln w="19050">
            <a:solidFill>
              <a:srgbClr val="006D77"/>
            </a:solidFill>
            <a:tailEnd type="triangle" w="med" len="med"/>
          </a:ln>
        </p:spPr>
      </p:cxnSp>
      <p:sp>
        <p:nvSpPr>
          <p:cNvPr id="86" name="api-agent"/>
          <p:cNvSpPr/>
          <p:nvPr/>
        </p:nvSpPr>
        <p:spPr>
          <a:xfrm>
            <a:off x="4526280" y="1325880"/>
            <a:ext cx="2743200" cy="914400"/>
          </a:xfrm>
          <a:prstGeom prst="rect">
            <a:avLst/>
          </a:prstGeom>
          <a:solidFill>
            <a:srgbClr val="EAF2F1"/>
          </a:solidFill>
          <a:ln w="19050">
            <a:solidFill>
              <a:srgbClr val="006D77"/>
            </a:solidFill>
          </a:ln>
        </p:spPr>
      </p:sp>
      <p:sp>
        <p:nvSpPr>
          <p:cNvPr id="87" name="api-agent-t"/>
          <p:cNvSpPr/>
          <p:nvPr/>
        </p:nvSpPr>
        <p:spPr>
          <a:xfrm>
            <a:off x="4654296" y="1417320"/>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Agent loop</a:t>
            </a:r>
          </a:p>
        </p:txBody>
      </p:sp>
      <p:sp>
        <p:nvSpPr>
          <p:cNvPr id="88" name="api-agent-s"/>
          <p:cNvSpPr/>
          <p:nvPr/>
        </p:nvSpPr>
        <p:spPr>
          <a:xfrm>
            <a:off x="4654296" y="1748790"/>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Ledger, tools, harness</a:t>
            </a:r>
          </a:p>
        </p:txBody>
      </p:sp>
      <p:cxnSp>
        <p:nvCxnSpPr>
          <p:cNvPr id="89" name="api-a2"/>
          <p:cNvCxnSpPr/>
          <p:nvPr/>
        </p:nvCxnSpPr>
        <p:spPr>
          <a:xfrm>
            <a:off x="7269480" y="1783080"/>
            <a:ext cx="1280159" cy="0"/>
          </a:xfrm>
          <a:prstGeom prst="straightConnector1">
            <a:avLst/>
          </a:prstGeom>
          <a:ln w="19050">
            <a:solidFill>
              <a:srgbClr val="006D77"/>
            </a:solidFill>
            <a:tailEnd type="triangle" w="med" len="med"/>
          </a:ln>
        </p:spPr>
      </p:cxnSp>
      <p:sp>
        <p:nvSpPr>
          <p:cNvPr id="90" name="api-chan"/>
          <p:cNvSpPr/>
          <p:nvPr/>
        </p:nvSpPr>
        <p:spPr>
          <a:xfrm>
            <a:off x="7269480" y="1463039"/>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API calls</a:t>
            </a:r>
          </a:p>
        </p:txBody>
      </p:sp>
      <p:sp>
        <p:nvSpPr>
          <p:cNvPr id="91" name="api-target"/>
          <p:cNvSpPr/>
          <p:nvPr/>
        </p:nvSpPr>
        <p:spPr>
          <a:xfrm>
            <a:off x="8549640" y="1325880"/>
            <a:ext cx="3063240" cy="914400"/>
          </a:xfrm>
          <a:prstGeom prst="rect">
            <a:avLst/>
          </a:prstGeom>
          <a:solidFill>
            <a:srgbClr val="FFFFFF"/>
          </a:solidFill>
          <a:ln w="19050">
            <a:solidFill>
              <a:srgbClr val="006D77"/>
            </a:solidFill>
          </a:ln>
        </p:spPr>
      </p:sp>
      <p:sp>
        <p:nvSpPr>
          <p:cNvPr id="92" name="api-target-t"/>
          <p:cNvSpPr/>
          <p:nvPr/>
        </p:nvSpPr>
        <p:spPr>
          <a:xfrm>
            <a:off x="8677656" y="1417320"/>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Business API</a:t>
            </a:r>
          </a:p>
        </p:txBody>
      </p:sp>
      <p:sp>
        <p:nvSpPr>
          <p:cNvPr id="93" name="api-target-s"/>
          <p:cNvSpPr/>
          <p:nvPr/>
        </p:nvSpPr>
        <p:spPr>
          <a:xfrm>
            <a:off x="8677656" y="1748790"/>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WWI data, ERPNext adapter</a:t>
            </a:r>
          </a:p>
        </p:txBody>
      </p:sp>
      <p:sp>
        <p:nvSpPr>
          <p:cNvPr id="94" name="api-ret-v1"/>
          <p:cNvSpPr/>
          <p:nvPr/>
        </p:nvSpPr>
        <p:spPr>
          <a:xfrm>
            <a:off x="10058400" y="2240280"/>
            <a:ext cx="0" cy="228600"/>
          </a:xfrm>
          <a:prstGeom prst="rect">
            <a:avLst/>
          </a:prstGeom>
          <a:noFill/>
          <a:ln w="19050">
            <a:solidFill>
              <a:srgbClr val="006D77"/>
            </a:solidFill>
          </a:ln>
        </p:spPr>
      </p:sp>
      <p:cxnSp>
        <p:nvCxnSpPr>
          <p:cNvPr id="95" name="api-ret-h"/>
          <p:cNvCxnSpPr/>
          <p:nvPr/>
        </p:nvCxnSpPr>
        <p:spPr>
          <a:xfrm flipH="1">
            <a:off x="3611880" y="2468880"/>
            <a:ext cx="6446520" cy="0"/>
          </a:xfrm>
          <a:prstGeom prst="straightConnector1">
            <a:avLst/>
          </a:prstGeom>
          <a:ln w="19050">
            <a:solidFill>
              <a:srgbClr val="006D77"/>
            </a:solidFill>
            <a:tailEnd type="triangle" w="med" len="med"/>
          </a:ln>
        </p:spPr>
      </p:cxnSp>
      <p:cxnSp>
        <p:nvCxnSpPr>
          <p:cNvPr id="96" name="api-ret-v2"/>
          <p:cNvCxnSpPr/>
          <p:nvPr/>
        </p:nvCxnSpPr>
        <p:spPr>
          <a:xfrm flipV="1">
            <a:off x="3611880" y="2121408"/>
            <a:ext cx="0" cy="347472"/>
          </a:xfrm>
          <a:prstGeom prst="straightConnector1">
            <a:avLst/>
          </a:prstGeom>
          <a:ln w="19050">
            <a:solidFill>
              <a:srgbClr val="006D77"/>
            </a:solidFill>
            <a:tailEnd type="triangle" w="med" len="med"/>
          </a:ln>
        </p:spPr>
      </p:cxnSp>
      <p:sp>
        <p:nvSpPr>
          <p:cNvPr id="97" name="vacp-label"/>
          <p:cNvSpPr/>
          <p:nvPr/>
        </p:nvSpPr>
        <p:spPr>
          <a:xfrm>
            <a:off x="640080" y="2788920"/>
            <a:ext cx="2148840" cy="1371600"/>
          </a:xfrm>
          <a:prstGeom prst="rect">
            <a:avLst/>
          </a:prstGeom>
          <a:solidFill>
            <a:srgbClr val="F1F6F6"/>
          </a:solidFill>
          <a:ln w="19050">
            <a:solidFill>
              <a:srgbClr val="006D77"/>
            </a:solidFill>
          </a:ln>
        </p:spPr>
      </p:sp>
      <p:sp>
        <p:nvSpPr>
          <p:cNvPr id="98" name="vacp-label-a"/>
          <p:cNvSpPr/>
          <p:nvPr/>
        </p:nvSpPr>
        <p:spPr>
          <a:xfrm>
            <a:off x="777240" y="289864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Approach 2</a:t>
            </a:r>
          </a:p>
        </p:txBody>
      </p:sp>
      <p:sp>
        <p:nvSpPr>
          <p:cNvPr id="99" name="vacp-label-b"/>
          <p:cNvSpPr/>
          <p:nvPr/>
        </p:nvSpPr>
        <p:spPr>
          <a:xfrm>
            <a:off x="777240" y="3200400"/>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VACP bridge</a:t>
            </a:r>
          </a:p>
        </p:txBody>
      </p:sp>
      <p:sp>
        <p:nvSpPr>
          <p:cNvPr id="100" name="vacp-label-c"/>
          <p:cNvSpPr/>
          <p:nvPr/>
        </p:nvSpPr>
        <p:spPr>
          <a:xfrm>
            <a:off x="777240" y="381304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verified separately</a:t>
            </a:r>
          </a:p>
        </p:txBody>
      </p:sp>
      <p:sp>
        <p:nvSpPr>
          <p:cNvPr id="101" name="vacp-user"/>
          <p:cNvSpPr/>
          <p:nvPr/>
        </p:nvSpPr>
        <p:spPr>
          <a:xfrm>
            <a:off x="3063240" y="2880360"/>
            <a:ext cx="1097280" cy="731520"/>
          </a:xfrm>
          <a:prstGeom prst="rect">
            <a:avLst/>
          </a:prstGeom>
          <a:solidFill>
            <a:srgbClr val="FFFFFF"/>
          </a:solidFill>
          <a:ln w="19050">
            <a:solidFill>
              <a:srgbClr val="006D77"/>
            </a:solidFill>
          </a:ln>
        </p:spPr>
      </p:sp>
      <p:sp>
        <p:nvSpPr>
          <p:cNvPr id="102" name="vacp-user-t"/>
          <p:cNvSpPr/>
          <p:nvPr/>
        </p:nvSpPr>
        <p:spPr>
          <a:xfrm>
            <a:off x="3191256" y="309867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103" name="vacp-a1"/>
          <p:cNvCxnSpPr/>
          <p:nvPr/>
        </p:nvCxnSpPr>
        <p:spPr>
          <a:xfrm>
            <a:off x="4160520" y="3246120"/>
            <a:ext cx="365760" cy="0"/>
          </a:xfrm>
          <a:prstGeom prst="straightConnector1">
            <a:avLst/>
          </a:prstGeom>
          <a:ln w="19050">
            <a:solidFill>
              <a:srgbClr val="006D77"/>
            </a:solidFill>
            <a:tailEnd type="triangle" w="med" len="med"/>
          </a:ln>
        </p:spPr>
      </p:cxnSp>
      <p:sp>
        <p:nvSpPr>
          <p:cNvPr id="104" name="vacp-agent"/>
          <p:cNvSpPr/>
          <p:nvPr/>
        </p:nvSpPr>
        <p:spPr>
          <a:xfrm>
            <a:off x="4526280" y="2834639"/>
            <a:ext cx="2743200" cy="914400"/>
          </a:xfrm>
          <a:prstGeom prst="rect">
            <a:avLst/>
          </a:prstGeom>
          <a:solidFill>
            <a:srgbClr val="F1F6F6"/>
          </a:solidFill>
          <a:ln w="19050">
            <a:solidFill>
              <a:srgbClr val="006D77"/>
            </a:solidFill>
          </a:ln>
        </p:spPr>
      </p:sp>
      <p:sp>
        <p:nvSpPr>
          <p:cNvPr id="105" name="vacp-agent-t"/>
          <p:cNvSpPr/>
          <p:nvPr/>
        </p:nvSpPr>
        <p:spPr>
          <a:xfrm>
            <a:off x="4654296" y="2926079"/>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Agent loop</a:t>
            </a:r>
          </a:p>
        </p:txBody>
      </p:sp>
      <p:sp>
        <p:nvSpPr>
          <p:cNvPr id="106" name="vacp-agent-s"/>
          <p:cNvSpPr/>
          <p:nvPr/>
        </p:nvSpPr>
        <p:spPr>
          <a:xfrm>
            <a:off x="4654296" y="3257550"/>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Reads state, acts, re-reads</a:t>
            </a:r>
          </a:p>
        </p:txBody>
      </p:sp>
      <p:cxnSp>
        <p:nvCxnSpPr>
          <p:cNvPr id="107" name="vacp-a2"/>
          <p:cNvCxnSpPr/>
          <p:nvPr/>
        </p:nvCxnSpPr>
        <p:spPr>
          <a:xfrm>
            <a:off x="7269480" y="3291839"/>
            <a:ext cx="1280159" cy="0"/>
          </a:xfrm>
          <a:prstGeom prst="straightConnector1">
            <a:avLst/>
          </a:prstGeom>
          <a:ln w="19050">
            <a:solidFill>
              <a:srgbClr val="006D77"/>
            </a:solidFill>
            <a:tailEnd type="triangle" w="med" len="med"/>
          </a:ln>
        </p:spPr>
      </p:cxnSp>
      <p:sp>
        <p:nvSpPr>
          <p:cNvPr id="108" name="vacp-chan"/>
          <p:cNvSpPr/>
          <p:nvPr/>
        </p:nvSpPr>
        <p:spPr>
          <a:xfrm>
            <a:off x="7269480" y="2971800"/>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Declared actions</a:t>
            </a:r>
          </a:p>
        </p:txBody>
      </p:sp>
      <p:sp>
        <p:nvSpPr>
          <p:cNvPr id="109" name="vacp-target"/>
          <p:cNvSpPr/>
          <p:nvPr/>
        </p:nvSpPr>
        <p:spPr>
          <a:xfrm>
            <a:off x="8549640" y="2834639"/>
            <a:ext cx="3063240" cy="914400"/>
          </a:xfrm>
          <a:prstGeom prst="rect">
            <a:avLst/>
          </a:prstGeom>
          <a:solidFill>
            <a:srgbClr val="FFFFFF"/>
          </a:solidFill>
          <a:ln w="19050">
            <a:solidFill>
              <a:srgbClr val="006D77"/>
            </a:solidFill>
          </a:ln>
        </p:spPr>
      </p:sp>
      <p:sp>
        <p:nvSpPr>
          <p:cNvPr id="110" name="vacp-target-t"/>
          <p:cNvSpPr/>
          <p:nvPr/>
        </p:nvSpPr>
        <p:spPr>
          <a:xfrm>
            <a:off x="8677656" y="2926079"/>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ERPNext app</a:t>
            </a:r>
          </a:p>
        </p:txBody>
      </p:sp>
      <p:sp>
        <p:nvSpPr>
          <p:cNvPr id="111" name="vacp-target-s"/>
          <p:cNvSpPr/>
          <p:nvPr/>
        </p:nvSpPr>
        <p:spPr>
          <a:xfrm>
            <a:off x="8677656" y="3257550"/>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View, filters, records</a:t>
            </a:r>
          </a:p>
        </p:txBody>
      </p:sp>
      <p:sp>
        <p:nvSpPr>
          <p:cNvPr id="112" name="vacp-ret-v1"/>
          <p:cNvSpPr/>
          <p:nvPr/>
        </p:nvSpPr>
        <p:spPr>
          <a:xfrm>
            <a:off x="10058400" y="3749039"/>
            <a:ext cx="0" cy="228600"/>
          </a:xfrm>
          <a:prstGeom prst="rect">
            <a:avLst/>
          </a:prstGeom>
          <a:noFill/>
          <a:ln w="19050">
            <a:solidFill>
              <a:srgbClr val="006D77"/>
            </a:solidFill>
          </a:ln>
        </p:spPr>
      </p:sp>
      <p:cxnSp>
        <p:nvCxnSpPr>
          <p:cNvPr id="113" name="vacp-ret-h"/>
          <p:cNvCxnSpPr/>
          <p:nvPr/>
        </p:nvCxnSpPr>
        <p:spPr>
          <a:xfrm flipH="1">
            <a:off x="3611880" y="3977639"/>
            <a:ext cx="6446520" cy="0"/>
          </a:xfrm>
          <a:prstGeom prst="straightConnector1">
            <a:avLst/>
          </a:prstGeom>
          <a:ln w="19050">
            <a:solidFill>
              <a:srgbClr val="006D77"/>
            </a:solidFill>
            <a:tailEnd type="triangle" w="med" len="med"/>
          </a:ln>
        </p:spPr>
      </p:cxnSp>
      <p:cxnSp>
        <p:nvCxnSpPr>
          <p:cNvPr id="114" name="vacp-ret-v2"/>
          <p:cNvCxnSpPr/>
          <p:nvPr/>
        </p:nvCxnSpPr>
        <p:spPr>
          <a:xfrm flipV="1">
            <a:off x="3611880" y="3630168"/>
            <a:ext cx="0" cy="347471"/>
          </a:xfrm>
          <a:prstGeom prst="straightConnector1">
            <a:avLst/>
          </a:prstGeom>
          <a:ln w="19050">
            <a:solidFill>
              <a:srgbClr val="006D77"/>
            </a:solidFill>
            <a:tailEnd type="triangle" w="med" len="med"/>
          </a:ln>
        </p:spPr>
      </p:cxnSp>
      <p:sp>
        <p:nvSpPr>
          <p:cNvPr id="115" name="uni-label"/>
          <p:cNvSpPr/>
          <p:nvPr/>
        </p:nvSpPr>
        <p:spPr>
          <a:xfrm>
            <a:off x="640080" y="4297680"/>
            <a:ext cx="2148840" cy="1371600"/>
          </a:xfrm>
          <a:prstGeom prst="rect">
            <a:avLst/>
          </a:prstGeom>
          <a:solidFill>
            <a:srgbClr val="FFFFFF"/>
          </a:solidFill>
          <a:ln w="19050">
            <a:solidFill>
              <a:srgbClr val="006D77"/>
            </a:solidFill>
            <a:prstDash val="dash"/>
          </a:ln>
        </p:spPr>
      </p:sp>
      <p:sp>
        <p:nvSpPr>
          <p:cNvPr id="116" name="uni-label-a"/>
          <p:cNvSpPr/>
          <p:nvPr/>
        </p:nvSpPr>
        <p:spPr>
          <a:xfrm>
            <a:off x="777240" y="440740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Proposed</a:t>
            </a:r>
          </a:p>
        </p:txBody>
      </p:sp>
      <p:sp>
        <p:nvSpPr>
          <p:cNvPr id="117" name="uni-label-b"/>
          <p:cNvSpPr/>
          <p:nvPr/>
        </p:nvSpPr>
        <p:spPr>
          <a:xfrm>
            <a:off x="777240" y="4709160"/>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Unified agent</a:t>
            </a:r>
          </a:p>
        </p:txBody>
      </p:sp>
      <p:sp>
        <p:nvSpPr>
          <p:cNvPr id="118" name="uni-label-c"/>
          <p:cNvSpPr/>
          <p:nvPr/>
        </p:nvSpPr>
        <p:spPr>
          <a:xfrm>
            <a:off x="777240" y="532180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join pending</a:t>
            </a:r>
          </a:p>
        </p:txBody>
      </p:sp>
      <p:sp>
        <p:nvSpPr>
          <p:cNvPr id="119" name="uni-user"/>
          <p:cNvSpPr/>
          <p:nvPr/>
        </p:nvSpPr>
        <p:spPr>
          <a:xfrm>
            <a:off x="3063240" y="4389120"/>
            <a:ext cx="1097280" cy="731520"/>
          </a:xfrm>
          <a:prstGeom prst="rect">
            <a:avLst/>
          </a:prstGeom>
          <a:solidFill>
            <a:srgbClr val="FFFFFF"/>
          </a:solidFill>
          <a:ln w="19050">
            <a:solidFill>
              <a:srgbClr val="006D77"/>
            </a:solidFill>
            <a:prstDash val="dash"/>
          </a:ln>
        </p:spPr>
      </p:sp>
      <p:sp>
        <p:nvSpPr>
          <p:cNvPr id="120" name="uni-user-t"/>
          <p:cNvSpPr/>
          <p:nvPr/>
        </p:nvSpPr>
        <p:spPr>
          <a:xfrm>
            <a:off x="3191256" y="460743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121" name="uni-a1"/>
          <p:cNvCxnSpPr/>
          <p:nvPr/>
        </p:nvCxnSpPr>
        <p:spPr>
          <a:xfrm>
            <a:off x="4160520" y="4754880"/>
            <a:ext cx="365760" cy="0"/>
          </a:xfrm>
          <a:prstGeom prst="straightConnector1">
            <a:avLst/>
          </a:prstGeom>
          <a:ln w="19050">
            <a:solidFill>
              <a:srgbClr val="006D77"/>
            </a:solidFill>
            <a:prstDash val="dash"/>
            <a:tailEnd type="triangle" w="med" len="med"/>
          </a:ln>
        </p:spPr>
      </p:cxnSp>
      <p:sp>
        <p:nvSpPr>
          <p:cNvPr id="122" name="uni-agent"/>
          <p:cNvSpPr/>
          <p:nvPr/>
        </p:nvSpPr>
        <p:spPr>
          <a:xfrm>
            <a:off x="4526280" y="4343400"/>
            <a:ext cx="2743200" cy="914400"/>
          </a:xfrm>
          <a:prstGeom prst="rect">
            <a:avLst/>
          </a:prstGeom>
          <a:solidFill>
            <a:srgbClr val="FFFFFF"/>
          </a:solidFill>
          <a:ln w="19050">
            <a:solidFill>
              <a:srgbClr val="006D77"/>
            </a:solidFill>
            <a:prstDash val="dash"/>
          </a:ln>
        </p:spPr>
      </p:sp>
      <p:sp>
        <p:nvSpPr>
          <p:cNvPr id="123" name="uni-agent-t"/>
          <p:cNvSpPr/>
          <p:nvPr/>
        </p:nvSpPr>
        <p:spPr>
          <a:xfrm>
            <a:off x="4654296" y="4434840"/>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Shared agent core</a:t>
            </a:r>
          </a:p>
        </p:txBody>
      </p:sp>
      <p:sp>
        <p:nvSpPr>
          <p:cNvPr id="124" name="uni-agent-s"/>
          <p:cNvSpPr/>
          <p:nvPr/>
        </p:nvSpPr>
        <p:spPr>
          <a:xfrm>
            <a:off x="4654296" y="4766309"/>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API to know, VACP to do</a:t>
            </a:r>
          </a:p>
        </p:txBody>
      </p:sp>
      <p:cxnSp>
        <p:nvCxnSpPr>
          <p:cNvPr id="125" name="uni-a2"/>
          <p:cNvCxnSpPr/>
          <p:nvPr/>
        </p:nvCxnSpPr>
        <p:spPr>
          <a:xfrm>
            <a:off x="7269480" y="4800600"/>
            <a:ext cx="1280159" cy="0"/>
          </a:xfrm>
          <a:prstGeom prst="straightConnector1">
            <a:avLst/>
          </a:prstGeom>
          <a:ln w="19050">
            <a:solidFill>
              <a:srgbClr val="006D77"/>
            </a:solidFill>
            <a:prstDash val="dash"/>
            <a:tailEnd type="triangle" w="med" len="med"/>
          </a:ln>
        </p:spPr>
      </p:cxnSp>
      <p:sp>
        <p:nvSpPr>
          <p:cNvPr id="126" name="uni-chan"/>
          <p:cNvSpPr/>
          <p:nvPr/>
        </p:nvSpPr>
        <p:spPr>
          <a:xfrm>
            <a:off x="7269480" y="4480560"/>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Calls and actions</a:t>
            </a:r>
          </a:p>
        </p:txBody>
      </p:sp>
      <p:sp>
        <p:nvSpPr>
          <p:cNvPr id="127" name="uni-target"/>
          <p:cNvSpPr/>
          <p:nvPr/>
        </p:nvSpPr>
        <p:spPr>
          <a:xfrm>
            <a:off x="8549640" y="4343400"/>
            <a:ext cx="3063240" cy="914400"/>
          </a:xfrm>
          <a:prstGeom prst="rect">
            <a:avLst/>
          </a:prstGeom>
          <a:solidFill>
            <a:srgbClr val="FFFFFF"/>
          </a:solidFill>
          <a:ln w="19050">
            <a:solidFill>
              <a:srgbClr val="006D77"/>
            </a:solidFill>
            <a:prstDash val="dash"/>
          </a:ln>
        </p:spPr>
      </p:sp>
      <p:sp>
        <p:nvSpPr>
          <p:cNvPr id="128" name="uni-target-t"/>
          <p:cNvSpPr/>
          <p:nvPr/>
        </p:nvSpPr>
        <p:spPr>
          <a:xfrm>
            <a:off x="8677656" y="4434840"/>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Data and app</a:t>
            </a:r>
          </a:p>
        </p:txBody>
      </p:sp>
      <p:sp>
        <p:nvSpPr>
          <p:cNvPr id="129" name="uni-target-s"/>
          <p:cNvSpPr/>
          <p:nvPr/>
        </p:nvSpPr>
        <p:spPr>
          <a:xfrm>
            <a:off x="8677656" y="4766309"/>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Answer, then show the page</a:t>
            </a:r>
          </a:p>
        </p:txBody>
      </p:sp>
      <p:sp>
        <p:nvSpPr>
          <p:cNvPr id="130" name="uni-ret-v1"/>
          <p:cNvSpPr/>
          <p:nvPr/>
        </p:nvSpPr>
        <p:spPr>
          <a:xfrm>
            <a:off x="10058400" y="5257800"/>
            <a:ext cx="0" cy="228600"/>
          </a:xfrm>
          <a:prstGeom prst="rect">
            <a:avLst/>
          </a:prstGeom>
          <a:noFill/>
          <a:ln w="19050">
            <a:solidFill>
              <a:srgbClr val="006D77"/>
            </a:solidFill>
            <a:prstDash val="dash"/>
          </a:ln>
        </p:spPr>
      </p:sp>
      <p:cxnSp>
        <p:nvCxnSpPr>
          <p:cNvPr id="131" name="uni-ret-h"/>
          <p:cNvCxnSpPr/>
          <p:nvPr/>
        </p:nvCxnSpPr>
        <p:spPr>
          <a:xfrm flipH="1">
            <a:off x="3611880" y="5486400"/>
            <a:ext cx="6446520" cy="0"/>
          </a:xfrm>
          <a:prstGeom prst="straightConnector1">
            <a:avLst/>
          </a:prstGeom>
          <a:ln w="19050">
            <a:solidFill>
              <a:srgbClr val="006D77"/>
            </a:solidFill>
            <a:prstDash val="dash"/>
            <a:tailEnd type="triangle" w="med" len="med"/>
          </a:ln>
        </p:spPr>
      </p:cxnSp>
      <p:cxnSp>
        <p:nvCxnSpPr>
          <p:cNvPr id="132" name="uni-ret-v2"/>
          <p:cNvCxnSpPr/>
          <p:nvPr/>
        </p:nvCxnSpPr>
        <p:spPr>
          <a:xfrm flipV="1">
            <a:off x="3611880" y="5138928"/>
            <a:ext cx="0" cy="347471"/>
          </a:xfrm>
          <a:prstGeom prst="straightConnector1">
            <a:avLst/>
          </a:prstGeom>
          <a:ln w="19050">
            <a:solidFill>
              <a:srgbClr val="006D77"/>
            </a:solidFill>
            <a:prstDash val="dash"/>
            <a:tailEnd type="triangle" w="med" len="med"/>
          </a:ln>
        </p:spPr>
      </p:cxnSp>
      <p:sp>
        <p:nvSpPr>
          <p:cNvPr id="133" name="ov-note"/>
          <p:cNvSpPr/>
          <p:nvPr/>
        </p:nvSpPr>
        <p:spPr>
          <a:xfrm>
            <a:off x="640080" y="589788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Loop after Beyond Browsing; ledger, tools and harness after LedgerAgent, Tool Illusion, Mingbird.</a:t>
            </a:r>
          </a:p>
        </p:txBody>
      </p:sp>
    </p:spTree>
    <p:extLst>
      <p:ext uri="{BB962C8B-B14F-4D97-AF65-F5344CB8AC3E}">
        <p14:creationId xmlns:p14="http://schemas.microsoft.com/office/powerpoint/2010/main" val="1084102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shape-180">
            <a:extLst>
              <a:ext uri="{FF2B5EF4-FFF2-40B4-BE49-F238E27FC236}">
                <a16:creationId xmlns:a16="http://schemas.microsoft.com/office/drawing/2014/main" id="{87AE5D47-0D0F-444D-88F1-3A8464F23D36}"/>
              </a:ext>
            </a:extLst>
          </p:cNvPr>
          <p:cNvSpPr>
            <a:spLocks noGrp="1"/>
          </p:cNvSpPr>
          <p:nvPr/>
        </p:nvSpPr>
        <p:spPr>
          <a:xfrm>
            <a:off x="0" y="0"/>
            <a:ext cx="12192000" cy="1066800"/>
          </a:xfrm>
          <a:prstGeom prst="rect">
            <a:avLst/>
          </a:prstGeom>
          <a:solidFill>
            <a:srgbClr val="F2F6F7"/>
          </a:solidFill>
          <a:ln w="0">
            <a:noFill/>
          </a:ln>
        </p:spPr>
      </p:sp>
      <p:sp>
        <p:nvSpPr>
          <p:cNvPr id="2" name="shape-181">
            <a:extLst>
              <a:ext uri="{FF2B5EF4-FFF2-40B4-BE49-F238E27FC236}">
                <a16:creationId xmlns:a16="http://schemas.microsoft.com/office/drawing/2014/main" id="{D4B33B3E-EC0B-41B2-B09E-945196896345}"/>
              </a:ext>
            </a:extLst>
          </p:cNvPr>
          <p:cNvSpPr>
            <a:spLocks noGrp="1"/>
          </p:cNvSpPr>
          <p:nvPr/>
        </p:nvSpPr>
        <p:spPr>
          <a:xfrm>
            <a:off x="0" y="1038225"/>
            <a:ext cx="12192000" cy="28575"/>
          </a:xfrm>
          <a:prstGeom prst="rect">
            <a:avLst/>
          </a:prstGeom>
          <a:solidFill>
            <a:srgbClr val="006D77"/>
          </a:solidFill>
          <a:ln w="0">
            <a:noFill/>
          </a:ln>
        </p:spPr>
      </p:sp>
      <p:sp>
        <p:nvSpPr>
          <p:cNvPr id="3" name="slide-7-title">
            <a:extLst>
              <a:ext uri="{FF2B5EF4-FFF2-40B4-BE49-F238E27FC236}">
                <a16:creationId xmlns:a16="http://schemas.microsoft.com/office/drawing/2014/main" id="{5AEDFE26-9D99-4F79-878B-0F9B042F94F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Example workflow</a:t>
            </a:r>
          </a:p>
        </p:txBody>
      </p:sp>
      <p:sp>
        <p:nvSpPr>
          <p:cNvPr id="4" name="shape-182">
            <a:extLst>
              <a:ext uri="{FF2B5EF4-FFF2-40B4-BE49-F238E27FC236}">
                <a16:creationId xmlns:a16="http://schemas.microsoft.com/office/drawing/2014/main" id="{C3CE84BD-BCA6-4B3D-9674-F5BF9D0B1A89}"/>
              </a:ext>
            </a:extLst>
          </p:cNvPr>
          <p:cNvSpPr>
            <a:spLocks noGrp="1"/>
          </p:cNvSpPr>
          <p:nvPr/>
        </p:nvSpPr>
        <p:spPr>
          <a:xfrm>
            <a:off x="0" y="6381750"/>
            <a:ext cx="12192000" cy="476250"/>
          </a:xfrm>
          <a:prstGeom prst="rect">
            <a:avLst/>
          </a:prstGeom>
          <a:solidFill>
            <a:srgbClr val="102A43"/>
          </a:solidFill>
          <a:ln w="0">
            <a:noFill/>
          </a:ln>
        </p:spPr>
      </p:sp>
      <p:sp>
        <p:nvSpPr>
          <p:cNvPr id="5" name="brand-7">
            <a:extLst>
              <a:ext uri="{FF2B5EF4-FFF2-40B4-BE49-F238E27FC236}">
                <a16:creationId xmlns:a16="http://schemas.microsoft.com/office/drawing/2014/main" id="{83BB5955-9F62-4BD7-8BE5-356BCD03BFD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7">
            <a:extLst>
              <a:ext uri="{FF2B5EF4-FFF2-40B4-BE49-F238E27FC236}">
                <a16:creationId xmlns:a16="http://schemas.microsoft.com/office/drawing/2014/main" id="{D30ED835-04B9-40E5-9394-3DD5828C1D0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13 / 23</a:t>
            </a:r>
          </a:p>
        </p:txBody>
      </p:sp>
      <p:pic>
        <p:nvPicPr>
          <p:cNvPr id="39" name="Picture 38">
            <a:extLst>
              <a:ext uri="{FF2B5EF4-FFF2-40B4-BE49-F238E27FC236}">
                <a16:creationId xmlns:a16="http://schemas.microsoft.com/office/drawing/2014/main" id="{DC9795D5-C37A-46D8-9D00-1CFDC6F588AD}"/>
              </a:ext>
            </a:extLst>
          </p:cNvPr>
          <p:cNvPicPr>
            <a:picLocks noChangeAspect="1"/>
          </p:cNvPicPr>
          <p:nvPr/>
        </p:nvPicPr>
        <p:blipFill>
          <a:blip r:embed="rId3"/>
          <a:stretch/>
        </p:blipFill>
        <p:spPr>
          <a:xfrm>
            <a:off x="9220220" y="295275"/>
            <a:ext cx="2362160" cy="442436"/>
          </a:xfrm>
          <a:prstGeom prst="rect">
            <a:avLst/>
          </a:prstGeom>
        </p:spPr>
      </p:pic>
      <p:sp>
        <p:nvSpPr>
          <p:cNvPr id="41" name="subtitle"/>
          <p:cNvSpPr/>
          <p:nvPr/>
        </p:nvSpPr>
        <p:spPr>
          <a:xfrm>
            <a:off x="640080" y="1280160"/>
            <a:ext cx="10972800" cy="41148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Example: “Compare total orders in April and May 2016.”</a:t>
            </a:r>
          </a:p>
        </p:txBody>
      </p:sp>
      <p:sp>
        <p:nvSpPr>
          <p:cNvPr id="42" name="tl-solid"/>
          <p:cNvSpPr/>
          <p:nvPr/>
        </p:nvSpPr>
        <p:spPr>
          <a:xfrm>
            <a:off x="822960" y="3520440"/>
            <a:ext cx="5877763" cy="0"/>
          </a:xfrm>
          <a:prstGeom prst="rect">
            <a:avLst/>
          </a:prstGeom>
          <a:noFill/>
          <a:ln w="28575">
            <a:solidFill>
              <a:srgbClr val="006D77"/>
            </a:solidFill>
          </a:ln>
        </p:spPr>
      </p:sp>
      <p:sp>
        <p:nvSpPr>
          <p:cNvPr id="43" name="tl-dash"/>
          <p:cNvSpPr/>
          <p:nvPr/>
        </p:nvSpPr>
        <p:spPr>
          <a:xfrm>
            <a:off x="6700723" y="3520440"/>
            <a:ext cx="4637836" cy="0"/>
          </a:xfrm>
          <a:prstGeom prst="rect">
            <a:avLst/>
          </a:prstGeom>
          <a:noFill/>
          <a:ln w="28575">
            <a:solidFill>
              <a:srgbClr val="006D77"/>
            </a:solidFill>
            <a:prstDash val="dash"/>
          </a:ln>
        </p:spPr>
      </p:sp>
      <p:sp>
        <p:nvSpPr>
          <p:cNvPr id="44" name="halo0"/>
          <p:cNvSpPr/>
          <p:nvPr/>
        </p:nvSpPr>
        <p:spPr>
          <a:xfrm>
            <a:off x="1499616" y="3282696"/>
            <a:ext cx="475488" cy="475488"/>
          </a:xfrm>
          <a:prstGeom prst="ellipse">
            <a:avLst/>
          </a:prstGeom>
          <a:solidFill>
            <a:srgbClr val="EAF2F1"/>
          </a:solidFill>
          <a:ln w="0">
            <a:noFill/>
          </a:ln>
        </p:spPr>
      </p:sp>
      <p:sp>
        <p:nvSpPr>
          <p:cNvPr id="45" name="dot0"/>
          <p:cNvSpPr/>
          <p:nvPr/>
        </p:nvSpPr>
        <p:spPr>
          <a:xfrm>
            <a:off x="1636775" y="3419856"/>
            <a:ext cx="201168" cy="201168"/>
          </a:xfrm>
          <a:prstGeom prst="ellipse">
            <a:avLst/>
          </a:prstGeom>
          <a:solidFill>
            <a:srgbClr val="006D77"/>
          </a:solidFill>
          <a:ln w="22225">
            <a:solidFill>
              <a:srgbClr val="006D77"/>
            </a:solidFill>
          </a:ln>
        </p:spPr>
      </p:sp>
      <p:sp>
        <p:nvSpPr>
          <p:cNvPr id="46" name="n0"/>
          <p:cNvSpPr/>
          <p:nvPr/>
        </p:nvSpPr>
        <p:spPr>
          <a:xfrm>
            <a:off x="594359"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01</a:t>
            </a:r>
          </a:p>
        </p:txBody>
      </p:sp>
      <p:sp>
        <p:nvSpPr>
          <p:cNvPr id="47" name="t0"/>
          <p:cNvSpPr/>
          <p:nvPr/>
        </p:nvSpPr>
        <p:spPr>
          <a:xfrm>
            <a:off x="594359"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Ask</a:t>
            </a:r>
          </a:p>
        </p:txBody>
      </p:sp>
      <p:sp>
        <p:nvSpPr>
          <p:cNvPr id="48" name="d0"/>
          <p:cNvSpPr/>
          <p:nvPr/>
        </p:nvSpPr>
        <p:spPr>
          <a:xfrm>
            <a:off x="594359"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Compare orders</a:t>
            </a:r>
          </a:p>
        </p:txBody>
      </p:sp>
      <p:sp>
        <p:nvSpPr>
          <p:cNvPr id="49" name="halo1"/>
          <p:cNvSpPr/>
          <p:nvPr/>
        </p:nvSpPr>
        <p:spPr>
          <a:xfrm>
            <a:off x="2740456" y="3282696"/>
            <a:ext cx="475488" cy="475488"/>
          </a:xfrm>
          <a:prstGeom prst="ellipse">
            <a:avLst/>
          </a:prstGeom>
          <a:solidFill>
            <a:srgbClr val="EAF2F1"/>
          </a:solidFill>
          <a:ln w="0">
            <a:noFill/>
          </a:ln>
        </p:spPr>
      </p:sp>
      <p:sp>
        <p:nvSpPr>
          <p:cNvPr id="50" name="dot1"/>
          <p:cNvSpPr/>
          <p:nvPr/>
        </p:nvSpPr>
        <p:spPr>
          <a:xfrm>
            <a:off x="2877616" y="3419856"/>
            <a:ext cx="201168" cy="201168"/>
          </a:xfrm>
          <a:prstGeom prst="ellipse">
            <a:avLst/>
          </a:prstGeom>
          <a:solidFill>
            <a:srgbClr val="006D77"/>
          </a:solidFill>
          <a:ln w="22225">
            <a:solidFill>
              <a:srgbClr val="006D77"/>
            </a:solidFill>
          </a:ln>
        </p:spPr>
      </p:sp>
      <p:sp>
        <p:nvSpPr>
          <p:cNvPr id="51" name="n1"/>
          <p:cNvSpPr/>
          <p:nvPr/>
        </p:nvSpPr>
        <p:spPr>
          <a:xfrm>
            <a:off x="1835200"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02</a:t>
            </a:r>
          </a:p>
        </p:txBody>
      </p:sp>
      <p:sp>
        <p:nvSpPr>
          <p:cNvPr id="52" name="t1"/>
          <p:cNvSpPr/>
          <p:nvPr/>
        </p:nvSpPr>
        <p:spPr>
          <a:xfrm>
            <a:off x="1835200"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Resolve scope</a:t>
            </a:r>
          </a:p>
        </p:txBody>
      </p:sp>
      <p:sp>
        <p:nvSpPr>
          <p:cNvPr id="53" name="d1"/>
          <p:cNvSpPr/>
          <p:nvPr/>
        </p:nvSpPr>
        <p:spPr>
          <a:xfrm>
            <a:off x="1835200"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Two periods</a:t>
            </a:r>
          </a:p>
        </p:txBody>
      </p:sp>
      <p:sp>
        <p:nvSpPr>
          <p:cNvPr id="54" name="halo2"/>
          <p:cNvSpPr/>
          <p:nvPr/>
        </p:nvSpPr>
        <p:spPr>
          <a:xfrm>
            <a:off x="3981297" y="3282696"/>
            <a:ext cx="475488" cy="475488"/>
          </a:xfrm>
          <a:prstGeom prst="ellipse">
            <a:avLst/>
          </a:prstGeom>
          <a:solidFill>
            <a:srgbClr val="EAF2F1"/>
          </a:solidFill>
          <a:ln w="0">
            <a:noFill/>
          </a:ln>
        </p:spPr>
      </p:sp>
      <p:sp>
        <p:nvSpPr>
          <p:cNvPr id="55" name="dot2"/>
          <p:cNvSpPr/>
          <p:nvPr/>
        </p:nvSpPr>
        <p:spPr>
          <a:xfrm>
            <a:off x="4118457" y="3419856"/>
            <a:ext cx="201168" cy="201168"/>
          </a:xfrm>
          <a:prstGeom prst="ellipse">
            <a:avLst/>
          </a:prstGeom>
          <a:solidFill>
            <a:srgbClr val="006D77"/>
          </a:solidFill>
          <a:ln w="22225">
            <a:solidFill>
              <a:srgbClr val="006D77"/>
            </a:solidFill>
          </a:ln>
        </p:spPr>
      </p:sp>
      <p:sp>
        <p:nvSpPr>
          <p:cNvPr id="56" name="n2"/>
          <p:cNvSpPr/>
          <p:nvPr/>
        </p:nvSpPr>
        <p:spPr>
          <a:xfrm>
            <a:off x="3076041"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03</a:t>
            </a:r>
          </a:p>
        </p:txBody>
      </p:sp>
      <p:sp>
        <p:nvSpPr>
          <p:cNvPr id="57" name="t2"/>
          <p:cNvSpPr/>
          <p:nvPr/>
        </p:nvSpPr>
        <p:spPr>
          <a:xfrm>
            <a:off x="3076041"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Get the facts</a:t>
            </a:r>
          </a:p>
        </p:txBody>
      </p:sp>
      <p:sp>
        <p:nvSpPr>
          <p:cNvPr id="58" name="d2"/>
          <p:cNvSpPr/>
          <p:nvPr/>
        </p:nvSpPr>
        <p:spPr>
          <a:xfrm>
            <a:off x="3076041"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Run comparison</a:t>
            </a:r>
          </a:p>
        </p:txBody>
      </p:sp>
      <p:sp>
        <p:nvSpPr>
          <p:cNvPr id="59" name="halo3"/>
          <p:cNvSpPr/>
          <p:nvPr/>
        </p:nvSpPr>
        <p:spPr>
          <a:xfrm>
            <a:off x="5222138" y="3282696"/>
            <a:ext cx="475488" cy="475488"/>
          </a:xfrm>
          <a:prstGeom prst="ellipse">
            <a:avLst/>
          </a:prstGeom>
          <a:solidFill>
            <a:srgbClr val="EAF2F1"/>
          </a:solidFill>
          <a:ln w="0">
            <a:noFill/>
          </a:ln>
        </p:spPr>
      </p:sp>
      <p:sp>
        <p:nvSpPr>
          <p:cNvPr id="60" name="dot3"/>
          <p:cNvSpPr/>
          <p:nvPr/>
        </p:nvSpPr>
        <p:spPr>
          <a:xfrm>
            <a:off x="5359298" y="3419856"/>
            <a:ext cx="201168" cy="201168"/>
          </a:xfrm>
          <a:prstGeom prst="ellipse">
            <a:avLst/>
          </a:prstGeom>
          <a:solidFill>
            <a:srgbClr val="006D77"/>
          </a:solidFill>
          <a:ln w="22225">
            <a:solidFill>
              <a:srgbClr val="006D77"/>
            </a:solidFill>
          </a:ln>
        </p:spPr>
      </p:sp>
      <p:sp>
        <p:nvSpPr>
          <p:cNvPr id="61" name="n3"/>
          <p:cNvSpPr/>
          <p:nvPr/>
        </p:nvSpPr>
        <p:spPr>
          <a:xfrm>
            <a:off x="4316882"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04</a:t>
            </a:r>
          </a:p>
        </p:txBody>
      </p:sp>
      <p:sp>
        <p:nvSpPr>
          <p:cNvPr id="62" name="t3"/>
          <p:cNvSpPr/>
          <p:nvPr/>
        </p:nvSpPr>
        <p:spPr>
          <a:xfrm>
            <a:off x="4316882"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Verify</a:t>
            </a:r>
          </a:p>
        </p:txBody>
      </p:sp>
      <p:sp>
        <p:nvSpPr>
          <p:cNvPr id="63" name="d3"/>
          <p:cNvSpPr/>
          <p:nvPr/>
        </p:nvSpPr>
        <p:spPr>
          <a:xfrm>
            <a:off x="4316882"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Check figures</a:t>
            </a:r>
          </a:p>
        </p:txBody>
      </p:sp>
      <p:sp>
        <p:nvSpPr>
          <p:cNvPr id="64" name="halo4"/>
          <p:cNvSpPr/>
          <p:nvPr/>
        </p:nvSpPr>
        <p:spPr>
          <a:xfrm>
            <a:off x="6462979" y="3282696"/>
            <a:ext cx="475488" cy="475488"/>
          </a:xfrm>
          <a:prstGeom prst="ellipse">
            <a:avLst/>
          </a:prstGeom>
          <a:solidFill>
            <a:srgbClr val="EAF2F1"/>
          </a:solidFill>
          <a:ln w="0">
            <a:noFill/>
          </a:ln>
        </p:spPr>
      </p:sp>
      <p:sp>
        <p:nvSpPr>
          <p:cNvPr id="65" name="dot4"/>
          <p:cNvSpPr/>
          <p:nvPr/>
        </p:nvSpPr>
        <p:spPr>
          <a:xfrm>
            <a:off x="6600139" y="3419856"/>
            <a:ext cx="201168" cy="201168"/>
          </a:xfrm>
          <a:prstGeom prst="ellipse">
            <a:avLst/>
          </a:prstGeom>
          <a:solidFill>
            <a:srgbClr val="006D77"/>
          </a:solidFill>
          <a:ln w="22225">
            <a:solidFill>
              <a:srgbClr val="006D77"/>
            </a:solidFill>
          </a:ln>
        </p:spPr>
      </p:sp>
      <p:sp>
        <p:nvSpPr>
          <p:cNvPr id="66" name="n4"/>
          <p:cNvSpPr/>
          <p:nvPr/>
        </p:nvSpPr>
        <p:spPr>
          <a:xfrm>
            <a:off x="5557723"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05</a:t>
            </a:r>
          </a:p>
        </p:txBody>
      </p:sp>
      <p:sp>
        <p:nvSpPr>
          <p:cNvPr id="67" name="t4"/>
          <p:cNvSpPr/>
          <p:nvPr/>
        </p:nvSpPr>
        <p:spPr>
          <a:xfrm>
            <a:off x="5557723" y="2441448"/>
            <a:ext cx="2286000" cy="310896"/>
          </a:xfrm>
          <a:prstGeom prst="rect">
            <a:avLst/>
          </a:prstGeom>
          <a:noFill/>
          <a:ln w="0">
            <a:noFill/>
          </a:ln>
        </p:spPr>
        <p:txBody>
          <a:bodyPr wrap="square" lIns="0" tIns="0" rIns="0" bIns="0" anchor="t">
            <a:noAutofit/>
          </a:bodyPr>
          <a:lstStyle/>
          <a:p>
            <a:pPr algn="ctr">
              <a:lnSpc>
                <a:spcPct val="112000"/>
              </a:lnSpc>
              <a:buNone/>
            </a:pPr>
            <a:r>
              <a:rPr lang="en-US" sz="1875" b="1">
                <a:solidFill>
                  <a:srgbClr val="006D77"/>
                </a:solidFill>
                <a:latin typeface="Arial"/>
                <a:ea typeface="Arial"/>
                <a:cs typeface="Arial"/>
              </a:rPr>
              <a:t>Explain</a:t>
            </a:r>
          </a:p>
        </p:txBody>
      </p:sp>
      <p:sp>
        <p:nvSpPr>
          <p:cNvPr id="68" name="d4"/>
          <p:cNvSpPr/>
          <p:nvPr/>
        </p:nvSpPr>
        <p:spPr>
          <a:xfrm>
            <a:off x="5557723"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+96 orders</a:t>
            </a:r>
          </a:p>
        </p:txBody>
      </p:sp>
      <p:sp>
        <p:nvSpPr>
          <p:cNvPr id="69" name="halo5"/>
          <p:cNvSpPr/>
          <p:nvPr/>
        </p:nvSpPr>
        <p:spPr>
          <a:xfrm>
            <a:off x="7703820" y="3282696"/>
            <a:ext cx="475488" cy="475488"/>
          </a:xfrm>
          <a:prstGeom prst="ellipse">
            <a:avLst/>
          </a:prstGeom>
          <a:solidFill>
            <a:srgbClr val="EAF2F1"/>
          </a:solidFill>
          <a:ln w="0">
            <a:noFill/>
          </a:ln>
        </p:spPr>
      </p:sp>
      <p:sp>
        <p:nvSpPr>
          <p:cNvPr id="70" name="dot5"/>
          <p:cNvSpPr/>
          <p:nvPr/>
        </p:nvSpPr>
        <p:spPr>
          <a:xfrm>
            <a:off x="7840980" y="3419856"/>
            <a:ext cx="201168" cy="201168"/>
          </a:xfrm>
          <a:prstGeom prst="ellipse">
            <a:avLst/>
          </a:prstGeom>
          <a:solidFill>
            <a:srgbClr val="006D77"/>
          </a:solidFill>
          <a:ln w="22225">
            <a:solidFill>
              <a:srgbClr val="006D77"/>
            </a:solidFill>
          </a:ln>
        </p:spPr>
      </p:sp>
      <p:sp>
        <p:nvSpPr>
          <p:cNvPr id="71" name="n5"/>
          <p:cNvSpPr/>
          <p:nvPr/>
        </p:nvSpPr>
        <p:spPr>
          <a:xfrm>
            <a:off x="6798564"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06</a:t>
            </a:r>
          </a:p>
        </p:txBody>
      </p:sp>
      <p:sp>
        <p:nvSpPr>
          <p:cNvPr id="72" name="t5"/>
          <p:cNvSpPr/>
          <p:nvPr/>
        </p:nvSpPr>
        <p:spPr>
          <a:xfrm>
            <a:off x="6798564"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Follow up</a:t>
            </a:r>
          </a:p>
        </p:txBody>
      </p:sp>
      <p:sp>
        <p:nvSpPr>
          <p:cNvPr id="73" name="d5"/>
          <p:cNvSpPr/>
          <p:nvPr/>
        </p:nvSpPr>
        <p:spPr>
          <a:xfrm>
            <a:off x="6798564"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May orders</a:t>
            </a:r>
          </a:p>
        </p:txBody>
      </p:sp>
      <p:sp>
        <p:nvSpPr>
          <p:cNvPr id="74" name="halo6"/>
          <p:cNvSpPr/>
          <p:nvPr/>
        </p:nvSpPr>
        <p:spPr>
          <a:xfrm>
            <a:off x="8944660" y="3282696"/>
            <a:ext cx="475488" cy="475488"/>
          </a:xfrm>
          <a:prstGeom prst="ellipse">
            <a:avLst/>
          </a:prstGeom>
          <a:solidFill>
            <a:srgbClr val="EAF2F1"/>
          </a:solidFill>
          <a:ln w="0">
            <a:noFill/>
          </a:ln>
        </p:spPr>
      </p:sp>
      <p:sp>
        <p:nvSpPr>
          <p:cNvPr id="75" name="dot6"/>
          <p:cNvSpPr/>
          <p:nvPr/>
        </p:nvSpPr>
        <p:spPr>
          <a:xfrm>
            <a:off x="9081820" y="3419856"/>
            <a:ext cx="201168" cy="201168"/>
          </a:xfrm>
          <a:prstGeom prst="ellipse">
            <a:avLst/>
          </a:prstGeom>
          <a:solidFill>
            <a:srgbClr val="006D77"/>
          </a:solidFill>
          <a:ln w="22225">
            <a:solidFill>
              <a:srgbClr val="006D77"/>
            </a:solidFill>
          </a:ln>
        </p:spPr>
      </p:sp>
      <p:sp>
        <p:nvSpPr>
          <p:cNvPr id="76" name="n6"/>
          <p:cNvSpPr/>
          <p:nvPr/>
        </p:nvSpPr>
        <p:spPr>
          <a:xfrm>
            <a:off x="8039404"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07</a:t>
            </a:r>
          </a:p>
        </p:txBody>
      </p:sp>
      <p:sp>
        <p:nvSpPr>
          <p:cNvPr id="77" name="t6"/>
          <p:cNvSpPr/>
          <p:nvPr/>
        </p:nvSpPr>
        <p:spPr>
          <a:xfrm>
            <a:off x="8039404"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Open view</a:t>
            </a:r>
          </a:p>
        </p:txBody>
      </p:sp>
      <p:sp>
        <p:nvSpPr>
          <p:cNvPr id="78" name="d6"/>
          <p:cNvSpPr/>
          <p:nvPr/>
        </p:nvSpPr>
        <p:spPr>
          <a:xfrm>
            <a:off x="8039404"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Matching page</a:t>
            </a:r>
          </a:p>
        </p:txBody>
      </p:sp>
      <p:sp>
        <p:nvSpPr>
          <p:cNvPr id="79" name="halo7"/>
          <p:cNvSpPr/>
          <p:nvPr/>
        </p:nvSpPr>
        <p:spPr>
          <a:xfrm>
            <a:off x="10185501" y="3282696"/>
            <a:ext cx="475488" cy="475488"/>
          </a:xfrm>
          <a:prstGeom prst="ellipse">
            <a:avLst/>
          </a:prstGeom>
          <a:solidFill>
            <a:srgbClr val="EAF2F1"/>
          </a:solidFill>
          <a:ln w="0">
            <a:noFill/>
          </a:ln>
        </p:spPr>
      </p:sp>
      <p:sp>
        <p:nvSpPr>
          <p:cNvPr id="80" name="dot7"/>
          <p:cNvSpPr/>
          <p:nvPr/>
        </p:nvSpPr>
        <p:spPr>
          <a:xfrm>
            <a:off x="10322661" y="3419856"/>
            <a:ext cx="201168" cy="201168"/>
          </a:xfrm>
          <a:prstGeom prst="ellipse">
            <a:avLst/>
          </a:prstGeom>
          <a:solidFill>
            <a:srgbClr val="006D77"/>
          </a:solidFill>
          <a:ln w="22225">
            <a:solidFill>
              <a:srgbClr val="006D77"/>
            </a:solidFill>
          </a:ln>
        </p:spPr>
      </p:sp>
      <p:sp>
        <p:nvSpPr>
          <p:cNvPr id="81" name="n7"/>
          <p:cNvSpPr/>
          <p:nvPr/>
        </p:nvSpPr>
        <p:spPr>
          <a:xfrm>
            <a:off x="9280245"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08</a:t>
            </a:r>
          </a:p>
        </p:txBody>
      </p:sp>
      <p:sp>
        <p:nvSpPr>
          <p:cNvPr id="82" name="t7"/>
          <p:cNvSpPr/>
          <p:nvPr/>
        </p:nvSpPr>
        <p:spPr>
          <a:xfrm>
            <a:off x="9280245"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Confirm</a:t>
            </a:r>
          </a:p>
        </p:txBody>
      </p:sp>
      <p:sp>
        <p:nvSpPr>
          <p:cNvPr id="83" name="d7"/>
          <p:cNvSpPr/>
          <p:nvPr/>
        </p:nvSpPr>
        <p:spPr>
          <a:xfrm>
            <a:off x="9280245"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Match answer</a:t>
            </a:r>
          </a:p>
        </p:txBody>
      </p:sp>
      <p:sp>
        <p:nvSpPr>
          <p:cNvPr id="84" name="data-strip"/>
          <p:cNvSpPr/>
          <p:nvPr/>
        </p:nvSpPr>
        <p:spPr>
          <a:xfrm>
            <a:off x="640080" y="5257800"/>
            <a:ext cx="10972800" cy="502920"/>
          </a:xfrm>
          <a:prstGeom prst="rect">
            <a:avLst/>
          </a:prstGeom>
          <a:solidFill>
            <a:srgbClr val="EAF2F1"/>
          </a:solidFill>
          <a:ln w="19050">
            <a:solidFill>
              <a:srgbClr val="006D77"/>
            </a:solidFill>
          </a:ln>
        </p:spPr>
      </p:sp>
      <p:sp>
        <p:nvSpPr>
          <p:cNvPr id="85" name="data-text"/>
          <p:cNvSpPr/>
          <p:nvPr/>
        </p:nvSpPr>
        <p:spPr>
          <a:xfrm>
            <a:off x="822960" y="5340096"/>
            <a:ext cx="10607040" cy="36576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Verified data: April 1,951 · May 2,047 · 96 more orders · 4.92% · April’s 1,951 read back from the ERPNext page</a:t>
            </a:r>
          </a:p>
        </p:txBody>
      </p:sp>
      <p:sp>
        <p:nvSpPr>
          <p:cNvPr id="86" name="w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line turns dashed after step 5: those steps need the joined runtime, which remains proposed.</a:t>
            </a:r>
          </a:p>
        </p:txBody>
      </p:sp>
    </p:spTree>
    <p:extLst>
      <p:ext uri="{BB962C8B-B14F-4D97-AF65-F5344CB8AC3E}">
        <p14:creationId xmlns:p14="http://schemas.microsoft.com/office/powerpoint/2010/main" val="209525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84DBB906-8915-41F1-8CFD-A30530640DC8}"/>
              </a:ext>
            </a:extLst>
          </p:cNvPr>
          <p:cNvCxnSpPr>
            <a:stCxn id="44" idx="3"/>
            <a:endCxn id="46" idx="1"/>
          </p:cNvCxnSpPr>
          <p:nvPr/>
        </p:nvCxnSpPr>
        <p:spPr>
          <a:xfrm>
            <a:off x="8248650" y="5881688"/>
            <a:ext cx="428625" cy="0"/>
          </a:xfrm>
          <a:prstGeom prst="straightConnector1">
            <a:avLst/>
          </a:prstGeom>
          <a:ln w="19050">
            <a:solidFill>
              <a:srgbClr val="006D77"/>
            </a:solidFill>
            <a:prstDash val="solid"/>
            <a:tailEnd type="triangle" w="med" len="med"/>
          </a:ln>
        </p:spPr>
      </p:cxnSp>
      <p:cxnSp>
        <p:nvCxnSpPr>
          <p:cNvPr id="49" name="Straight Arrow Connector 48">
            <a:extLst>
              <a:ext uri="{FF2B5EF4-FFF2-40B4-BE49-F238E27FC236}">
                <a16:creationId xmlns:a16="http://schemas.microsoft.com/office/drawing/2014/main" id="{21A10EDE-AC16-4403-9823-7BF5978B5D8A}"/>
              </a:ext>
            </a:extLst>
          </p:cNvPr>
          <p:cNvCxnSpPr>
            <a:stCxn id="42" idx="3"/>
            <a:endCxn id="44" idx="1"/>
          </p:cNvCxnSpPr>
          <p:nvPr/>
        </p:nvCxnSpPr>
        <p:spPr>
          <a:xfrm>
            <a:off x="5276850" y="5881688"/>
            <a:ext cx="428625" cy="0"/>
          </a:xfrm>
          <a:prstGeom prst="straightConnector1">
            <a:avLst/>
          </a:prstGeom>
          <a:ln w="19050">
            <a:solidFill>
              <a:srgbClr val="006D77"/>
            </a:solidFill>
            <a:prstDash val="solid"/>
            <a:tailEnd type="triangle" w="med" len="med"/>
          </a:ln>
        </p:spPr>
      </p:cxnSp>
      <p:cxnSp>
        <p:nvCxnSpPr>
          <p:cNvPr id="48" name="Straight Arrow Connector 47">
            <a:extLst>
              <a:ext uri="{FF2B5EF4-FFF2-40B4-BE49-F238E27FC236}">
                <a16:creationId xmlns:a16="http://schemas.microsoft.com/office/drawing/2014/main" id="{2F578B6D-73C1-4B4A-8DB4-1D51C335A5FC}"/>
              </a:ext>
            </a:extLst>
          </p:cNvPr>
          <p:cNvCxnSpPr>
            <a:stCxn id="40" idx="3"/>
            <a:endCxn id="42" idx="1"/>
          </p:cNvCxnSpPr>
          <p:nvPr/>
        </p:nvCxnSpPr>
        <p:spPr>
          <a:xfrm>
            <a:off x="2305050" y="5881688"/>
            <a:ext cx="428625" cy="0"/>
          </a:xfrm>
          <a:prstGeom prst="straightConnector1">
            <a:avLst/>
          </a:prstGeom>
          <a:ln w="19050">
            <a:solidFill>
              <a:srgbClr val="006D77"/>
            </a:solidFill>
            <a:prstDash val="solid"/>
            <a:tailEnd type="triangle" w="med" len="med"/>
          </a:ln>
        </p:spPr>
      </p:cxnSp>
      <p:sp>
        <p:nvSpPr>
          <p:cNvPr id="52" name="shape-213">
            <a:extLst>
              <a:ext uri="{FF2B5EF4-FFF2-40B4-BE49-F238E27FC236}">
                <a16:creationId xmlns:a16="http://schemas.microsoft.com/office/drawing/2014/main" id="{7E74DD4E-A87A-4FA9-92DA-001EAFEBFB78}"/>
              </a:ext>
            </a:extLst>
          </p:cNvPr>
          <p:cNvSpPr>
            <a:spLocks noGrp="1"/>
          </p:cNvSpPr>
          <p:nvPr/>
        </p:nvSpPr>
        <p:spPr>
          <a:xfrm>
            <a:off x="0" y="0"/>
            <a:ext cx="12192000" cy="1066800"/>
          </a:xfrm>
          <a:prstGeom prst="rect">
            <a:avLst/>
          </a:prstGeom>
          <a:solidFill>
            <a:srgbClr val="F2F6F7"/>
          </a:solidFill>
          <a:ln w="0">
            <a:noFill/>
          </a:ln>
        </p:spPr>
      </p:sp>
      <p:sp>
        <p:nvSpPr>
          <p:cNvPr id="2" name="shape-214">
            <a:extLst>
              <a:ext uri="{FF2B5EF4-FFF2-40B4-BE49-F238E27FC236}">
                <a16:creationId xmlns:a16="http://schemas.microsoft.com/office/drawing/2014/main" id="{B31D0600-3586-4DFA-BB88-1A04F5C5C31F}"/>
              </a:ext>
            </a:extLst>
          </p:cNvPr>
          <p:cNvSpPr>
            <a:spLocks noGrp="1"/>
          </p:cNvSpPr>
          <p:nvPr/>
        </p:nvSpPr>
        <p:spPr>
          <a:xfrm>
            <a:off x="0" y="1038225"/>
            <a:ext cx="12192000" cy="28575"/>
          </a:xfrm>
          <a:prstGeom prst="rect">
            <a:avLst/>
          </a:prstGeom>
          <a:solidFill>
            <a:srgbClr val="006D77"/>
          </a:solidFill>
          <a:ln w="0">
            <a:noFill/>
          </a:ln>
        </p:spPr>
      </p:sp>
      <p:sp>
        <p:nvSpPr>
          <p:cNvPr id="3" name="slide-8-title">
            <a:extLst>
              <a:ext uri="{FF2B5EF4-FFF2-40B4-BE49-F238E27FC236}">
                <a16:creationId xmlns:a16="http://schemas.microsoft.com/office/drawing/2014/main" id="{D8726B03-504F-4CBF-A6AA-DBDC4965C03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Context and state persistence</a:t>
            </a:r>
          </a:p>
        </p:txBody>
      </p:sp>
      <p:sp>
        <p:nvSpPr>
          <p:cNvPr id="4" name="shape-215">
            <a:extLst>
              <a:ext uri="{FF2B5EF4-FFF2-40B4-BE49-F238E27FC236}">
                <a16:creationId xmlns:a16="http://schemas.microsoft.com/office/drawing/2014/main" id="{F7A77C76-650C-4982-8647-3E7119B4563B}"/>
              </a:ext>
            </a:extLst>
          </p:cNvPr>
          <p:cNvSpPr>
            <a:spLocks noGrp="1"/>
          </p:cNvSpPr>
          <p:nvPr/>
        </p:nvSpPr>
        <p:spPr>
          <a:xfrm>
            <a:off x="0" y="6381750"/>
            <a:ext cx="12192000" cy="476250"/>
          </a:xfrm>
          <a:prstGeom prst="rect">
            <a:avLst/>
          </a:prstGeom>
          <a:solidFill>
            <a:srgbClr val="102A43"/>
          </a:solidFill>
          <a:ln w="0">
            <a:noFill/>
          </a:ln>
        </p:spPr>
      </p:sp>
      <p:sp>
        <p:nvSpPr>
          <p:cNvPr id="5" name="brand-8">
            <a:extLst>
              <a:ext uri="{FF2B5EF4-FFF2-40B4-BE49-F238E27FC236}">
                <a16:creationId xmlns:a16="http://schemas.microsoft.com/office/drawing/2014/main" id="{6D5AF13E-342A-442E-9131-E6F0B8460FE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8">
            <a:extLst>
              <a:ext uri="{FF2B5EF4-FFF2-40B4-BE49-F238E27FC236}">
                <a16:creationId xmlns:a16="http://schemas.microsoft.com/office/drawing/2014/main" id="{7B77762F-9281-4739-B53E-B24EB7D82EB4}"/>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14 / 23</a:t>
            </a:r>
          </a:p>
        </p:txBody>
      </p:sp>
      <p:sp>
        <p:nvSpPr>
          <p:cNvPr id="7" name="text-216">
            <a:extLst>
              <a:ext uri="{FF2B5EF4-FFF2-40B4-BE49-F238E27FC236}">
                <a16:creationId xmlns:a16="http://schemas.microsoft.com/office/drawing/2014/main" id="{3C94C982-DE7A-4EE7-B3A3-8C2847B3DA55}"/>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runtime state retains meaning while the application changes</a:t>
            </a:r>
          </a:p>
        </p:txBody>
      </p:sp>
      <p:sp>
        <p:nvSpPr>
          <p:cNvPr id="8" name="symbol-browser-217">
            <a:extLst>
              <a:ext uri="{FF2B5EF4-FFF2-40B4-BE49-F238E27FC236}">
                <a16:creationId xmlns:a16="http://schemas.microsoft.com/office/drawing/2014/main" id="{6245CA5F-FF2C-4AC7-8B64-7A04679BDDB4}"/>
              </a:ext>
            </a:extLst>
          </p:cNvPr>
          <p:cNvSpPr>
            <a:spLocks noGrp="1"/>
          </p:cNvSpPr>
          <p:nvPr/>
        </p:nvSpPr>
        <p:spPr>
          <a:xfrm>
            <a:off x="609600" y="2152650"/>
            <a:ext cx="390525" cy="288989"/>
          </a:xfrm>
          <a:prstGeom prst="roundRect">
            <a:avLst>
              <a:gd name="adj" fmla="val 26368"/>
            </a:avLst>
          </a:prstGeom>
          <a:solidFill>
            <a:srgbClr val="FFFFFF"/>
          </a:solidFill>
          <a:ln w="19050">
            <a:solidFill>
              <a:srgbClr val="315E87"/>
            </a:solidFill>
          </a:ln>
        </p:spPr>
      </p:sp>
      <p:cxnSp>
        <p:nvCxnSpPr>
          <p:cNvPr id="9" name="link-218">
            <a:extLst>
              <a:ext uri="{FF2B5EF4-FFF2-40B4-BE49-F238E27FC236}">
                <a16:creationId xmlns:a16="http://schemas.microsoft.com/office/drawing/2014/main" id="{F0CC07B0-8058-4311-8767-9DB8FBA80C18}"/>
              </a:ext>
            </a:extLst>
          </p:cNvPr>
          <p:cNvCxnSpPr/>
          <p:nvPr/>
        </p:nvCxnSpPr>
        <p:spPr>
          <a:xfrm>
            <a:off x="609600" y="2286000"/>
            <a:ext cx="390525" cy="0"/>
          </a:xfrm>
          <a:prstGeom prst="straightConnector1">
            <a:avLst/>
          </a:prstGeom>
          <a:ln w="19050">
            <a:solidFill>
              <a:srgbClr val="315E87"/>
            </a:solidFill>
            <a:prstDash val="solid"/>
          </a:ln>
        </p:spPr>
      </p:cxnSp>
      <p:sp>
        <p:nvSpPr>
          <p:cNvPr id="10" name="symbol-browser-219">
            <a:extLst>
              <a:ext uri="{FF2B5EF4-FFF2-40B4-BE49-F238E27FC236}">
                <a16:creationId xmlns:a16="http://schemas.microsoft.com/office/drawing/2014/main" id="{EC97E9F6-139B-41FE-A310-1DC63AA53426}"/>
              </a:ext>
            </a:extLst>
          </p:cNvPr>
          <p:cNvSpPr>
            <a:spLocks noGrp="1"/>
          </p:cNvSpPr>
          <p:nvPr/>
        </p:nvSpPr>
        <p:spPr>
          <a:xfrm>
            <a:off x="685800" y="2200275"/>
            <a:ext cx="28575" cy="28575"/>
          </a:xfrm>
          <a:prstGeom prst="ellipse">
            <a:avLst/>
          </a:prstGeom>
          <a:solidFill>
            <a:srgbClr val="315E87"/>
          </a:solidFill>
          <a:ln w="19050">
            <a:solidFill>
              <a:srgbClr val="315E87"/>
            </a:solidFill>
          </a:ln>
        </p:spPr>
      </p:sp>
      <p:sp>
        <p:nvSpPr>
          <p:cNvPr id="11" name="symbol-browser-220">
            <a:extLst>
              <a:ext uri="{FF2B5EF4-FFF2-40B4-BE49-F238E27FC236}">
                <a16:creationId xmlns:a16="http://schemas.microsoft.com/office/drawing/2014/main" id="{CCCA751E-AD93-4256-ADD1-EE80D6C516C1}"/>
              </a:ext>
            </a:extLst>
          </p:cNvPr>
          <p:cNvSpPr>
            <a:spLocks noGrp="1"/>
          </p:cNvSpPr>
          <p:nvPr/>
        </p:nvSpPr>
        <p:spPr>
          <a:xfrm>
            <a:off x="762000" y="2200275"/>
            <a:ext cx="28575" cy="28575"/>
          </a:xfrm>
          <a:prstGeom prst="ellipse">
            <a:avLst/>
          </a:prstGeom>
          <a:solidFill>
            <a:srgbClr val="315E87"/>
          </a:solidFill>
          <a:ln w="19050">
            <a:solidFill>
              <a:srgbClr val="315E87"/>
            </a:solidFill>
          </a:ln>
        </p:spPr>
      </p:sp>
      <p:sp>
        <p:nvSpPr>
          <p:cNvPr id="12" name="symbol-browser-221">
            <a:extLst>
              <a:ext uri="{FF2B5EF4-FFF2-40B4-BE49-F238E27FC236}">
                <a16:creationId xmlns:a16="http://schemas.microsoft.com/office/drawing/2014/main" id="{BF4301EB-77A0-401B-8DF3-6E99F88A81DF}"/>
              </a:ext>
            </a:extLst>
          </p:cNvPr>
          <p:cNvSpPr>
            <a:spLocks noGrp="1"/>
          </p:cNvSpPr>
          <p:nvPr/>
        </p:nvSpPr>
        <p:spPr>
          <a:xfrm>
            <a:off x="838200" y="2200275"/>
            <a:ext cx="28575" cy="28575"/>
          </a:xfrm>
          <a:prstGeom prst="ellipse">
            <a:avLst/>
          </a:prstGeom>
          <a:solidFill>
            <a:srgbClr val="315E87"/>
          </a:solidFill>
          <a:ln w="19050">
            <a:solidFill>
              <a:srgbClr val="315E87"/>
            </a:solidFill>
          </a:ln>
        </p:spPr>
      </p:sp>
      <p:cxnSp>
        <p:nvCxnSpPr>
          <p:cNvPr id="13" name="link-222">
            <a:extLst>
              <a:ext uri="{FF2B5EF4-FFF2-40B4-BE49-F238E27FC236}">
                <a16:creationId xmlns:a16="http://schemas.microsoft.com/office/drawing/2014/main" id="{7716306F-AC6A-4981-BE0A-70E592924A8F}"/>
              </a:ext>
            </a:extLst>
          </p:cNvPr>
          <p:cNvCxnSpPr/>
          <p:nvPr/>
        </p:nvCxnSpPr>
        <p:spPr>
          <a:xfrm>
            <a:off x="695325" y="2390775"/>
            <a:ext cx="219075" cy="0"/>
          </a:xfrm>
          <a:prstGeom prst="straightConnector1">
            <a:avLst/>
          </a:prstGeom>
          <a:ln w="19050">
            <a:solidFill>
              <a:srgbClr val="315E87"/>
            </a:solidFill>
            <a:prstDash val="solid"/>
          </a:ln>
        </p:spPr>
      </p:cxnSp>
      <p:sp>
        <p:nvSpPr>
          <p:cNvPr id="14" name="text-223">
            <a:extLst>
              <a:ext uri="{FF2B5EF4-FFF2-40B4-BE49-F238E27FC236}">
                <a16:creationId xmlns:a16="http://schemas.microsoft.com/office/drawing/2014/main" id="{4B7A9CE4-E15B-42EC-810F-1FA75FADCE17}"/>
              </a:ext>
            </a:extLst>
          </p:cNvPr>
          <p:cNvSpPr>
            <a:spLocks noGrp="1"/>
          </p:cNvSpPr>
          <p:nvPr/>
        </p:nvSpPr>
        <p:spPr>
          <a:xfrm>
            <a:off x="609600" y="2733675"/>
            <a:ext cx="3352800" cy="400050"/>
          </a:xfrm>
          <a:prstGeom prst="rect">
            <a:avLst/>
          </a:prstGeom>
          <a:noFill/>
          <a:ln w="0">
            <a:noFill/>
          </a:ln>
        </p:spPr>
        <p:txBody>
          <a:bodyPr wrap="square" lIns="0" tIns="0" rIns="0" bIns="0" anchor="t">
            <a:noAutofit/>
          </a:bodyPr>
          <a:lstStyle>
            <a:defPPr algn="l">
              <a:defRPr sz="2025" b="1">
                <a:solidFill>
                  <a:srgbClr val="315E87"/>
                </a:solidFill>
                <a:latin typeface="Arial"/>
                <a:ea typeface="Arial"/>
                <a:cs typeface="Arial"/>
              </a:defRPr>
            </a:defPPr>
          </a:lstStyle>
          <a:p>
            <a:pPr algn="l">
              <a:lnSpc>
                <a:spcPct val="112000"/>
              </a:lnSpc>
              <a:buNone/>
              <a:defRPr sz="2025" b="1">
                <a:solidFill>
                  <a:srgbClr val="315E87"/>
                </a:solidFill>
                <a:latin typeface="Arial"/>
                <a:ea typeface="Arial"/>
                <a:cs typeface="Arial"/>
              </a:defRPr>
            </a:pPr>
            <a:r>
              <a:rPr sz="2025" b="1">
                <a:solidFill>
                  <a:srgbClr val="315E87"/>
                </a:solidFill>
                <a:latin typeface="Arial"/>
                <a:ea typeface="Arial"/>
                <a:cs typeface="Arial"/>
              </a:rPr>
              <a:t>Live application state</a:t>
            </a:r>
          </a:p>
        </p:txBody>
      </p:sp>
      <p:sp>
        <p:nvSpPr>
          <p:cNvPr id="15" name="citation-224">
            <a:extLst>
              <a:ext uri="{FF2B5EF4-FFF2-40B4-BE49-F238E27FC236}">
                <a16:creationId xmlns:a16="http://schemas.microsoft.com/office/drawing/2014/main" id="{5AF71573-8B8A-4C5A-BBCE-EF76FF664F14}"/>
              </a:ext>
            </a:extLst>
          </p:cNvPr>
          <p:cNvSpPr>
            <a:spLocks noGrp="1"/>
          </p:cNvSpPr>
          <p:nvPr/>
        </p:nvSpPr>
        <p:spPr>
          <a:xfrm>
            <a:off x="3272504" y="2667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3</a:t>
            </a:r>
          </a:p>
        </p:txBody>
      </p:sp>
      <p:sp>
        <p:nvSpPr>
          <p:cNvPr id="16" name="shape-225">
            <a:extLst>
              <a:ext uri="{FF2B5EF4-FFF2-40B4-BE49-F238E27FC236}">
                <a16:creationId xmlns:a16="http://schemas.microsoft.com/office/drawing/2014/main" id="{78489458-F7D6-4909-B9B6-A2276FF1266A}"/>
              </a:ext>
            </a:extLst>
          </p:cNvPr>
          <p:cNvSpPr>
            <a:spLocks noGrp="1"/>
          </p:cNvSpPr>
          <p:nvPr/>
        </p:nvSpPr>
        <p:spPr>
          <a:xfrm>
            <a:off x="609600" y="3257550"/>
            <a:ext cx="3352800" cy="14288"/>
          </a:xfrm>
          <a:prstGeom prst="rect">
            <a:avLst/>
          </a:prstGeom>
          <a:solidFill>
            <a:srgbClr val="315E87"/>
          </a:solidFill>
          <a:ln w="0">
            <a:noFill/>
          </a:ln>
        </p:spPr>
      </p:sp>
      <p:sp>
        <p:nvSpPr>
          <p:cNvPr id="17" name="text-226">
            <a:extLst>
              <a:ext uri="{FF2B5EF4-FFF2-40B4-BE49-F238E27FC236}">
                <a16:creationId xmlns:a16="http://schemas.microsoft.com/office/drawing/2014/main" id="{E10E6F39-F088-419E-8377-D1134AC20C26}"/>
              </a:ext>
            </a:extLst>
          </p:cNvPr>
          <p:cNvSpPr>
            <a:spLocks noGrp="1"/>
          </p:cNvSpPr>
          <p:nvPr/>
        </p:nvSpPr>
        <p:spPr>
          <a:xfrm>
            <a:off x="60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Current view and filters</a:t>
            </a:r>
          </a:p>
        </p:txBody>
      </p:sp>
      <p:sp>
        <p:nvSpPr>
          <p:cNvPr id="18" name="text-227">
            <a:extLst>
              <a:ext uri="{FF2B5EF4-FFF2-40B4-BE49-F238E27FC236}">
                <a16:creationId xmlns:a16="http://schemas.microsoft.com/office/drawing/2014/main" id="{1AD48571-E87C-426F-A28B-D98243B41A2A}"/>
              </a:ext>
            </a:extLst>
          </p:cNvPr>
          <p:cNvSpPr>
            <a:spLocks noGrp="1"/>
          </p:cNvSpPr>
          <p:nvPr/>
        </p:nvSpPr>
        <p:spPr>
          <a:xfrm>
            <a:off x="60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Selected record</a:t>
            </a:r>
          </a:p>
        </p:txBody>
      </p:sp>
      <p:sp>
        <p:nvSpPr>
          <p:cNvPr id="19" name="text-228">
            <a:extLst>
              <a:ext uri="{FF2B5EF4-FFF2-40B4-BE49-F238E27FC236}">
                <a16:creationId xmlns:a16="http://schemas.microsoft.com/office/drawing/2014/main" id="{8249BA07-0A8C-4C49-97D2-3A08C09A3E06}"/>
              </a:ext>
            </a:extLst>
          </p:cNvPr>
          <p:cNvSpPr>
            <a:spLocks noGrp="1"/>
          </p:cNvSpPr>
          <p:nvPr/>
        </p:nvSpPr>
        <p:spPr>
          <a:xfrm>
            <a:off x="60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Instance and revision</a:t>
            </a:r>
          </a:p>
        </p:txBody>
      </p:sp>
      <p:sp>
        <p:nvSpPr>
          <p:cNvPr id="20" name="text-229">
            <a:extLst>
              <a:ext uri="{FF2B5EF4-FFF2-40B4-BE49-F238E27FC236}">
                <a16:creationId xmlns:a16="http://schemas.microsoft.com/office/drawing/2014/main" id="{8945B605-085C-45F5-BB13-A88FFFA07BB8}"/>
              </a:ext>
            </a:extLst>
          </p:cNvPr>
          <p:cNvSpPr>
            <a:spLocks noGrp="1"/>
          </p:cNvSpPr>
          <p:nvPr/>
        </p:nvSpPr>
        <p:spPr>
          <a:xfrm>
            <a:off x="60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application shows now</a:t>
            </a:r>
          </a:p>
        </p:txBody>
      </p:sp>
      <p:sp>
        <p:nvSpPr>
          <p:cNvPr id="21" name="symbol-ledger-230">
            <a:extLst>
              <a:ext uri="{FF2B5EF4-FFF2-40B4-BE49-F238E27FC236}">
                <a16:creationId xmlns:a16="http://schemas.microsoft.com/office/drawing/2014/main" id="{DAF56534-A1A2-4008-BCA5-2B6A7B3AECC6}"/>
              </a:ext>
            </a:extLst>
          </p:cNvPr>
          <p:cNvSpPr>
            <a:spLocks noGrp="1"/>
          </p:cNvSpPr>
          <p:nvPr/>
        </p:nvSpPr>
        <p:spPr>
          <a:xfrm>
            <a:off x="4467225" y="2114550"/>
            <a:ext cx="312420" cy="390525"/>
          </a:xfrm>
          <a:prstGeom prst="can">
            <a:avLst/>
          </a:prstGeom>
          <a:solidFill>
            <a:srgbClr val="FFFFFF"/>
          </a:solidFill>
          <a:ln w="19050">
            <a:solidFill>
              <a:srgbClr val="006D77"/>
            </a:solidFill>
          </a:ln>
        </p:spPr>
      </p:sp>
      <p:cxnSp>
        <p:nvCxnSpPr>
          <p:cNvPr id="22" name="link-231">
            <a:extLst>
              <a:ext uri="{FF2B5EF4-FFF2-40B4-BE49-F238E27FC236}">
                <a16:creationId xmlns:a16="http://schemas.microsoft.com/office/drawing/2014/main" id="{84CF8E06-DEC3-4B7B-92C0-F628E0F05461}"/>
              </a:ext>
            </a:extLst>
          </p:cNvPr>
          <p:cNvCxnSpPr/>
          <p:nvPr/>
        </p:nvCxnSpPr>
        <p:spPr>
          <a:xfrm>
            <a:off x="4562475" y="2352675"/>
            <a:ext cx="156210" cy="0"/>
          </a:xfrm>
          <a:prstGeom prst="straightConnector1">
            <a:avLst/>
          </a:prstGeom>
          <a:ln w="19050">
            <a:solidFill>
              <a:srgbClr val="006D77"/>
            </a:solidFill>
            <a:prstDash val="solid"/>
          </a:ln>
        </p:spPr>
      </p:cxnSp>
      <p:sp>
        <p:nvSpPr>
          <p:cNvPr id="23" name="text-232">
            <a:extLst>
              <a:ext uri="{FF2B5EF4-FFF2-40B4-BE49-F238E27FC236}">
                <a16:creationId xmlns:a16="http://schemas.microsoft.com/office/drawing/2014/main" id="{45D0234F-576D-4B52-9501-D7F23B71D0E9}"/>
              </a:ext>
            </a:extLst>
          </p:cNvPr>
          <p:cNvSpPr>
            <a:spLocks noGrp="1"/>
          </p:cNvSpPr>
          <p:nvPr/>
        </p:nvSpPr>
        <p:spPr>
          <a:xfrm>
            <a:off x="4419600" y="2733675"/>
            <a:ext cx="3352800" cy="4000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Conversation anchors</a:t>
            </a:r>
          </a:p>
        </p:txBody>
      </p:sp>
      <p:sp>
        <p:nvSpPr>
          <p:cNvPr id="24" name="citation-233">
            <a:extLst>
              <a:ext uri="{FF2B5EF4-FFF2-40B4-BE49-F238E27FC236}">
                <a16:creationId xmlns:a16="http://schemas.microsoft.com/office/drawing/2014/main" id="{D48B8A76-2BFD-478A-A2AD-1BC0484BCA2C}"/>
              </a:ext>
            </a:extLst>
          </p:cNvPr>
          <p:cNvSpPr>
            <a:spLocks noGrp="1"/>
          </p:cNvSpPr>
          <p:nvPr/>
        </p:nvSpPr>
        <p:spPr>
          <a:xfrm>
            <a:off x="7182517" y="2667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4</a:t>
            </a:r>
          </a:p>
        </p:txBody>
      </p:sp>
      <p:sp>
        <p:nvSpPr>
          <p:cNvPr id="25" name="shape-234">
            <a:extLst>
              <a:ext uri="{FF2B5EF4-FFF2-40B4-BE49-F238E27FC236}">
                <a16:creationId xmlns:a16="http://schemas.microsoft.com/office/drawing/2014/main" id="{ACF7920C-D961-4238-A094-B1FEB1FC3269}"/>
              </a:ext>
            </a:extLst>
          </p:cNvPr>
          <p:cNvSpPr>
            <a:spLocks noGrp="1"/>
          </p:cNvSpPr>
          <p:nvPr/>
        </p:nvSpPr>
        <p:spPr>
          <a:xfrm>
            <a:off x="4419600" y="3257550"/>
            <a:ext cx="3352800" cy="14288"/>
          </a:xfrm>
          <a:prstGeom prst="rect">
            <a:avLst/>
          </a:prstGeom>
          <a:solidFill>
            <a:srgbClr val="006D77"/>
          </a:solidFill>
          <a:ln w="0">
            <a:noFill/>
          </a:ln>
        </p:spPr>
      </p:sp>
      <p:sp>
        <p:nvSpPr>
          <p:cNvPr id="26" name="text-235">
            <a:extLst>
              <a:ext uri="{FF2B5EF4-FFF2-40B4-BE49-F238E27FC236}">
                <a16:creationId xmlns:a16="http://schemas.microsoft.com/office/drawing/2014/main" id="{067FE1AD-0214-4067-9580-723A0B22639B}"/>
              </a:ext>
            </a:extLst>
          </p:cNvPr>
          <p:cNvSpPr>
            <a:spLocks noGrp="1"/>
          </p:cNvSpPr>
          <p:nvPr/>
        </p:nvSpPr>
        <p:spPr>
          <a:xfrm>
            <a:off x="441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Agreed entity and period</a:t>
            </a:r>
          </a:p>
        </p:txBody>
      </p:sp>
      <p:sp>
        <p:nvSpPr>
          <p:cNvPr id="27" name="text-236">
            <a:extLst>
              <a:ext uri="{FF2B5EF4-FFF2-40B4-BE49-F238E27FC236}">
                <a16:creationId xmlns:a16="http://schemas.microsoft.com/office/drawing/2014/main" id="{6905385F-CF12-4D65-9CDC-9E04E8709193}"/>
              </a:ext>
            </a:extLst>
          </p:cNvPr>
          <p:cNvSpPr>
            <a:spLocks noGrp="1"/>
          </p:cNvSpPr>
          <p:nvPr/>
        </p:nvSpPr>
        <p:spPr>
          <a:xfrm>
            <a:off x="441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Earlier question references</a:t>
            </a:r>
          </a:p>
        </p:txBody>
      </p:sp>
      <p:sp>
        <p:nvSpPr>
          <p:cNvPr id="28" name="text-237">
            <a:extLst>
              <a:ext uri="{FF2B5EF4-FFF2-40B4-BE49-F238E27FC236}">
                <a16:creationId xmlns:a16="http://schemas.microsoft.com/office/drawing/2014/main" id="{DD0654F2-92C7-4814-846C-1BF3F3E3E98E}"/>
              </a:ext>
            </a:extLst>
          </p:cNvPr>
          <p:cNvSpPr>
            <a:spLocks noGrp="1"/>
          </p:cNvSpPr>
          <p:nvPr/>
        </p:nvSpPr>
        <p:spPr>
          <a:xfrm>
            <a:off x="441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Task progress</a:t>
            </a:r>
          </a:p>
        </p:txBody>
      </p:sp>
      <p:sp>
        <p:nvSpPr>
          <p:cNvPr id="29" name="text-238">
            <a:extLst>
              <a:ext uri="{FF2B5EF4-FFF2-40B4-BE49-F238E27FC236}">
                <a16:creationId xmlns:a16="http://schemas.microsoft.com/office/drawing/2014/main" id="{BCC4BC01-291B-4FA2-A202-1787B954200D}"/>
              </a:ext>
            </a:extLst>
          </p:cNvPr>
          <p:cNvSpPr>
            <a:spLocks noGrp="1"/>
          </p:cNvSpPr>
          <p:nvPr/>
        </p:nvSpPr>
        <p:spPr>
          <a:xfrm>
            <a:off x="441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conversation refers to</a:t>
            </a:r>
          </a:p>
        </p:txBody>
      </p:sp>
      <p:sp>
        <p:nvSpPr>
          <p:cNvPr id="30" name="symbol-check-239">
            <a:extLst>
              <a:ext uri="{FF2B5EF4-FFF2-40B4-BE49-F238E27FC236}">
                <a16:creationId xmlns:a16="http://schemas.microsoft.com/office/drawing/2014/main" id="{C92AD24C-575D-46E9-916E-3665E8EFF198}"/>
              </a:ext>
            </a:extLst>
          </p:cNvPr>
          <p:cNvSpPr>
            <a:spLocks noGrp="1"/>
          </p:cNvSpPr>
          <p:nvPr/>
        </p:nvSpPr>
        <p:spPr>
          <a:xfrm>
            <a:off x="8229600" y="2114550"/>
            <a:ext cx="390525" cy="390525"/>
          </a:xfrm>
          <a:prstGeom prst="hexagon">
            <a:avLst/>
          </a:prstGeom>
          <a:solidFill>
            <a:srgbClr val="FFFFFF"/>
          </a:solidFill>
          <a:ln w="19050">
            <a:solidFill>
              <a:srgbClr val="A4630B"/>
            </a:solidFill>
          </a:ln>
        </p:spPr>
      </p:sp>
      <p:cxnSp>
        <p:nvCxnSpPr>
          <p:cNvPr id="31" name="link-240">
            <a:extLst>
              <a:ext uri="{FF2B5EF4-FFF2-40B4-BE49-F238E27FC236}">
                <a16:creationId xmlns:a16="http://schemas.microsoft.com/office/drawing/2014/main" id="{1F9176C6-CA59-407A-A07B-65401BB5F9AA}"/>
              </a:ext>
            </a:extLst>
          </p:cNvPr>
          <p:cNvCxnSpPr/>
          <p:nvPr/>
        </p:nvCxnSpPr>
        <p:spPr>
          <a:xfrm>
            <a:off x="8327231" y="2309813"/>
            <a:ext cx="70295" cy="70295"/>
          </a:xfrm>
          <a:prstGeom prst="straightConnector1">
            <a:avLst/>
          </a:prstGeom>
          <a:ln w="19050">
            <a:solidFill>
              <a:srgbClr val="A4630B"/>
            </a:solidFill>
            <a:prstDash val="solid"/>
          </a:ln>
        </p:spPr>
      </p:cxnSp>
      <p:cxnSp>
        <p:nvCxnSpPr>
          <p:cNvPr id="32" name="link-241">
            <a:extLst>
              <a:ext uri="{FF2B5EF4-FFF2-40B4-BE49-F238E27FC236}">
                <a16:creationId xmlns:a16="http://schemas.microsoft.com/office/drawing/2014/main" id="{7F5B9E44-7B70-42DC-A6AB-60DDCD007420}"/>
              </a:ext>
            </a:extLst>
          </p:cNvPr>
          <p:cNvCxnSpPr/>
          <p:nvPr/>
        </p:nvCxnSpPr>
        <p:spPr>
          <a:xfrm flipV="1">
            <a:off x="8397526" y="2223897"/>
            <a:ext cx="128873" cy="156210"/>
          </a:xfrm>
          <a:prstGeom prst="straightConnector1">
            <a:avLst/>
          </a:prstGeom>
          <a:ln w="19050">
            <a:solidFill>
              <a:srgbClr val="A4630B"/>
            </a:solidFill>
            <a:prstDash val="solid"/>
          </a:ln>
        </p:spPr>
      </p:cxnSp>
      <p:sp>
        <p:nvSpPr>
          <p:cNvPr id="33" name="text-242">
            <a:extLst>
              <a:ext uri="{FF2B5EF4-FFF2-40B4-BE49-F238E27FC236}">
                <a16:creationId xmlns:a16="http://schemas.microsoft.com/office/drawing/2014/main" id="{43F68DD1-C8B0-4B25-AE80-C70769C5C64B}"/>
              </a:ext>
            </a:extLst>
          </p:cNvPr>
          <p:cNvSpPr>
            <a:spLocks noGrp="1"/>
          </p:cNvSpPr>
          <p:nvPr/>
        </p:nvSpPr>
        <p:spPr>
          <a:xfrm>
            <a:off x="8229600" y="2733675"/>
            <a:ext cx="3352800" cy="400050"/>
          </a:xfrm>
          <a:prstGeom prst="rect">
            <a:avLst/>
          </a:prstGeom>
          <a:noFill/>
          <a:ln w="0">
            <a:noFill/>
          </a:ln>
        </p:spPr>
        <p:txBody>
          <a:bodyPr wrap="square" lIns="0" tIns="0" rIns="0" bIns="0" anchor="t">
            <a:noAutofit/>
          </a:bodyPr>
          <a:lstStyle>
            <a:defPPr algn="l">
              <a:defRPr sz="2025" b="1">
                <a:solidFill>
                  <a:srgbClr val="A4630B"/>
                </a:solidFill>
                <a:latin typeface="Arial"/>
                <a:ea typeface="Arial"/>
                <a:cs typeface="Arial"/>
              </a:defRPr>
            </a:defPPr>
          </a:lstStyle>
          <a:p>
            <a:pPr algn="l">
              <a:lnSpc>
                <a:spcPct val="112000"/>
              </a:lnSpc>
              <a:buNone/>
              <a:defRPr sz="2025" b="1">
                <a:solidFill>
                  <a:srgbClr val="A4630B"/>
                </a:solidFill>
                <a:latin typeface="Arial"/>
                <a:ea typeface="Arial"/>
                <a:cs typeface="Arial"/>
              </a:defRPr>
            </a:pPr>
            <a:r>
              <a:rPr sz="2025" b="1">
                <a:solidFill>
                  <a:srgbClr val="A4630B"/>
                </a:solidFill>
                <a:latin typeface="Arial"/>
                <a:ea typeface="Arial"/>
                <a:cs typeface="Arial"/>
              </a:rPr>
              <a:t>Execution evidence</a:t>
            </a:r>
          </a:p>
        </p:txBody>
      </p:sp>
      <p:sp>
        <p:nvSpPr>
          <p:cNvPr id="34" name="citation-243">
            <a:extLst>
              <a:ext uri="{FF2B5EF4-FFF2-40B4-BE49-F238E27FC236}">
                <a16:creationId xmlns:a16="http://schemas.microsoft.com/office/drawing/2014/main" id="{40845381-AFC2-49CE-9377-D238E68E18BB}"/>
              </a:ext>
            </a:extLst>
          </p:cNvPr>
          <p:cNvSpPr>
            <a:spLocks noGrp="1"/>
          </p:cNvSpPr>
          <p:nvPr/>
        </p:nvSpPr>
        <p:spPr>
          <a:xfrm>
            <a:off x="10678478" y="2667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4</a:t>
            </a:r>
          </a:p>
        </p:txBody>
      </p:sp>
      <p:sp>
        <p:nvSpPr>
          <p:cNvPr id="35" name="shape-244">
            <a:extLst>
              <a:ext uri="{FF2B5EF4-FFF2-40B4-BE49-F238E27FC236}">
                <a16:creationId xmlns:a16="http://schemas.microsoft.com/office/drawing/2014/main" id="{214883D0-4557-42D0-B4A9-5FFCE3C08734}"/>
              </a:ext>
            </a:extLst>
          </p:cNvPr>
          <p:cNvSpPr>
            <a:spLocks noGrp="1"/>
          </p:cNvSpPr>
          <p:nvPr/>
        </p:nvSpPr>
        <p:spPr>
          <a:xfrm>
            <a:off x="8229600" y="3257550"/>
            <a:ext cx="3352800" cy="14288"/>
          </a:xfrm>
          <a:prstGeom prst="rect">
            <a:avLst/>
          </a:prstGeom>
          <a:solidFill>
            <a:srgbClr val="A4630B"/>
          </a:solidFill>
          <a:ln w="0">
            <a:noFill/>
          </a:ln>
        </p:spPr>
      </p:sp>
      <p:sp>
        <p:nvSpPr>
          <p:cNvPr id="36" name="text-245">
            <a:extLst>
              <a:ext uri="{FF2B5EF4-FFF2-40B4-BE49-F238E27FC236}">
                <a16:creationId xmlns:a16="http://schemas.microsoft.com/office/drawing/2014/main" id="{DADE4C57-24F2-474A-8DEB-3813ACD2BB88}"/>
              </a:ext>
            </a:extLst>
          </p:cNvPr>
          <p:cNvSpPr>
            <a:spLocks noGrp="1"/>
          </p:cNvSpPr>
          <p:nvPr/>
        </p:nvSpPr>
        <p:spPr>
          <a:xfrm>
            <a:off x="822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Committed result identities</a:t>
            </a:r>
          </a:p>
        </p:txBody>
      </p:sp>
      <p:sp>
        <p:nvSpPr>
          <p:cNvPr id="37" name="text-246">
            <a:extLst>
              <a:ext uri="{FF2B5EF4-FFF2-40B4-BE49-F238E27FC236}">
                <a16:creationId xmlns:a16="http://schemas.microsoft.com/office/drawing/2014/main" id="{F5237A11-AC5A-402E-86F7-2E7C0CE9ACB8}"/>
              </a:ext>
            </a:extLst>
          </p:cNvPr>
          <p:cNvSpPr>
            <a:spLocks noGrp="1"/>
          </p:cNvSpPr>
          <p:nvPr/>
        </p:nvSpPr>
        <p:spPr>
          <a:xfrm>
            <a:off x="822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Applied scope and coverage</a:t>
            </a:r>
          </a:p>
        </p:txBody>
      </p:sp>
      <p:sp>
        <p:nvSpPr>
          <p:cNvPr id="38" name="text-247">
            <a:extLst>
              <a:ext uri="{FF2B5EF4-FFF2-40B4-BE49-F238E27FC236}">
                <a16:creationId xmlns:a16="http://schemas.microsoft.com/office/drawing/2014/main" id="{FDF1C7D6-E177-4F89-B658-215FE3E6E9F0}"/>
              </a:ext>
            </a:extLst>
          </p:cNvPr>
          <p:cNvSpPr>
            <a:spLocks noGrp="1"/>
          </p:cNvSpPr>
          <p:nvPr/>
        </p:nvSpPr>
        <p:spPr>
          <a:xfrm>
            <a:off x="822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action outcomes</a:t>
            </a:r>
          </a:p>
        </p:txBody>
      </p:sp>
      <p:sp>
        <p:nvSpPr>
          <p:cNvPr id="39" name="text-248">
            <a:extLst>
              <a:ext uri="{FF2B5EF4-FFF2-40B4-BE49-F238E27FC236}">
                <a16:creationId xmlns:a16="http://schemas.microsoft.com/office/drawing/2014/main" id="{138F645B-7D1D-4243-880B-6AD48D84898A}"/>
              </a:ext>
            </a:extLst>
          </p:cNvPr>
          <p:cNvSpPr>
            <a:spLocks noGrp="1"/>
          </p:cNvSpPr>
          <p:nvPr/>
        </p:nvSpPr>
        <p:spPr>
          <a:xfrm>
            <a:off x="822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execution established</a:t>
            </a:r>
          </a:p>
        </p:txBody>
      </p:sp>
      <p:sp>
        <p:nvSpPr>
          <p:cNvPr id="40" name="shape-249">
            <a:extLst>
              <a:ext uri="{FF2B5EF4-FFF2-40B4-BE49-F238E27FC236}">
                <a16:creationId xmlns:a16="http://schemas.microsoft.com/office/drawing/2014/main" id="{EEA264DE-289F-4774-88D0-9341F15769E2}"/>
              </a:ext>
            </a:extLst>
          </p:cNvPr>
          <p:cNvSpPr>
            <a:spLocks noGrp="1"/>
          </p:cNvSpPr>
          <p:nvPr/>
        </p:nvSpPr>
        <p:spPr>
          <a:xfrm>
            <a:off x="609600" y="5619750"/>
            <a:ext cx="1695450" cy="523875"/>
          </a:xfrm>
          <a:prstGeom prst="rect">
            <a:avLst/>
          </a:prstGeom>
          <a:solidFill>
            <a:srgbClr val="FFFFFF"/>
          </a:solidFill>
          <a:ln w="15240">
            <a:solidFill>
              <a:srgbClr val="006D77"/>
            </a:solidFill>
          </a:ln>
        </p:spPr>
      </p:sp>
      <p:sp>
        <p:nvSpPr>
          <p:cNvPr id="41" name="text-250">
            <a:extLst>
              <a:ext uri="{FF2B5EF4-FFF2-40B4-BE49-F238E27FC236}">
                <a16:creationId xmlns:a16="http://schemas.microsoft.com/office/drawing/2014/main" id="{5A9FBA1C-81A0-4E1E-8EC2-BABFD83958F3}"/>
              </a:ext>
            </a:extLst>
          </p:cNvPr>
          <p:cNvSpPr>
            <a:spLocks noGrp="1"/>
          </p:cNvSpPr>
          <p:nvPr/>
        </p:nvSpPr>
        <p:spPr>
          <a:xfrm>
            <a:off x="762000" y="5753671"/>
            <a:ext cx="13906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Reload</a:t>
            </a:r>
          </a:p>
        </p:txBody>
      </p:sp>
      <p:sp>
        <p:nvSpPr>
          <p:cNvPr id="42" name="shape-251">
            <a:extLst>
              <a:ext uri="{FF2B5EF4-FFF2-40B4-BE49-F238E27FC236}">
                <a16:creationId xmlns:a16="http://schemas.microsoft.com/office/drawing/2014/main" id="{889B24F4-87E1-4FB3-9A19-C5B0A4491F33}"/>
              </a:ext>
            </a:extLst>
          </p:cNvPr>
          <p:cNvSpPr>
            <a:spLocks noGrp="1"/>
          </p:cNvSpPr>
          <p:nvPr/>
        </p:nvSpPr>
        <p:spPr>
          <a:xfrm>
            <a:off x="2733675" y="5619750"/>
            <a:ext cx="2543175" cy="523875"/>
          </a:xfrm>
          <a:prstGeom prst="rect">
            <a:avLst/>
          </a:prstGeom>
          <a:solidFill>
            <a:srgbClr val="FFFFFF"/>
          </a:solidFill>
          <a:ln w="15240">
            <a:solidFill>
              <a:srgbClr val="006D77"/>
            </a:solidFill>
          </a:ln>
        </p:spPr>
      </p:sp>
      <p:sp>
        <p:nvSpPr>
          <p:cNvPr id="43" name="text-252">
            <a:extLst>
              <a:ext uri="{FF2B5EF4-FFF2-40B4-BE49-F238E27FC236}">
                <a16:creationId xmlns:a16="http://schemas.microsoft.com/office/drawing/2014/main" id="{9950BC40-4E0A-45D9-9FD9-D27BEE9B7044}"/>
              </a:ext>
            </a:extLst>
          </p:cNvPr>
          <p:cNvSpPr>
            <a:spLocks noGrp="1"/>
          </p:cNvSpPr>
          <p:nvPr/>
        </p:nvSpPr>
        <p:spPr>
          <a:xfrm>
            <a:off x="28860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Restore anchors</a:t>
            </a:r>
          </a:p>
        </p:txBody>
      </p:sp>
      <p:sp>
        <p:nvSpPr>
          <p:cNvPr id="44" name="shape-253">
            <a:extLst>
              <a:ext uri="{FF2B5EF4-FFF2-40B4-BE49-F238E27FC236}">
                <a16:creationId xmlns:a16="http://schemas.microsoft.com/office/drawing/2014/main" id="{738C6C89-D953-41C0-8F1F-6A9130E77292}"/>
              </a:ext>
            </a:extLst>
          </p:cNvPr>
          <p:cNvSpPr>
            <a:spLocks noGrp="1"/>
          </p:cNvSpPr>
          <p:nvPr/>
        </p:nvSpPr>
        <p:spPr>
          <a:xfrm>
            <a:off x="5705475" y="5619750"/>
            <a:ext cx="2543175" cy="523875"/>
          </a:xfrm>
          <a:prstGeom prst="rect">
            <a:avLst/>
          </a:prstGeom>
          <a:solidFill>
            <a:srgbClr val="FFFFFF"/>
          </a:solidFill>
          <a:ln w="15240">
            <a:solidFill>
              <a:srgbClr val="006D77"/>
            </a:solidFill>
          </a:ln>
        </p:spPr>
      </p:sp>
      <p:sp>
        <p:nvSpPr>
          <p:cNvPr id="45" name="text-254">
            <a:extLst>
              <a:ext uri="{FF2B5EF4-FFF2-40B4-BE49-F238E27FC236}">
                <a16:creationId xmlns:a16="http://schemas.microsoft.com/office/drawing/2014/main" id="{533BB35D-1F9D-44E5-A4CE-BF201F2E45CD}"/>
              </a:ext>
            </a:extLst>
          </p:cNvPr>
          <p:cNvSpPr>
            <a:spLocks noGrp="1"/>
          </p:cNvSpPr>
          <p:nvPr/>
        </p:nvSpPr>
        <p:spPr>
          <a:xfrm>
            <a:off x="58578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Reobserve view</a:t>
            </a:r>
          </a:p>
        </p:txBody>
      </p:sp>
      <p:sp>
        <p:nvSpPr>
          <p:cNvPr id="46" name="shape-255">
            <a:extLst>
              <a:ext uri="{FF2B5EF4-FFF2-40B4-BE49-F238E27FC236}">
                <a16:creationId xmlns:a16="http://schemas.microsoft.com/office/drawing/2014/main" id="{B4E6C38B-DB78-49EF-9E1D-709A246A2BFB}"/>
              </a:ext>
            </a:extLst>
          </p:cNvPr>
          <p:cNvSpPr>
            <a:spLocks noGrp="1"/>
          </p:cNvSpPr>
          <p:nvPr/>
        </p:nvSpPr>
        <p:spPr>
          <a:xfrm>
            <a:off x="8677275" y="5619750"/>
            <a:ext cx="2905125" cy="523875"/>
          </a:xfrm>
          <a:prstGeom prst="rect">
            <a:avLst/>
          </a:prstGeom>
          <a:solidFill>
            <a:srgbClr val="FFFFFF"/>
          </a:solidFill>
          <a:ln w="15240">
            <a:solidFill>
              <a:srgbClr val="006D77"/>
            </a:solidFill>
          </a:ln>
        </p:spPr>
      </p:sp>
      <p:sp>
        <p:nvSpPr>
          <p:cNvPr id="47" name="text-256">
            <a:extLst>
              <a:ext uri="{FF2B5EF4-FFF2-40B4-BE49-F238E27FC236}">
                <a16:creationId xmlns:a16="http://schemas.microsoft.com/office/drawing/2014/main" id="{EF9227A6-B193-4C39-A51F-C8D1AD53350F}"/>
              </a:ext>
            </a:extLst>
          </p:cNvPr>
          <p:cNvSpPr>
            <a:spLocks noGrp="1"/>
          </p:cNvSpPr>
          <p:nvPr/>
        </p:nvSpPr>
        <p:spPr>
          <a:xfrm>
            <a:off x="8829675" y="5759006"/>
            <a:ext cx="260032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Revalidate evidence</a:t>
            </a:r>
          </a:p>
        </p:txBody>
      </p:sp>
      <p:pic>
        <p:nvPicPr>
          <p:cNvPr id="51" name="Picture 50">
            <a:extLst>
              <a:ext uri="{FF2B5EF4-FFF2-40B4-BE49-F238E27FC236}">
                <a16:creationId xmlns:a16="http://schemas.microsoft.com/office/drawing/2014/main" id="{A3276BEC-6C97-4928-A770-C5C0DE5F12A2}"/>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4667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257">
            <a:extLst>
              <a:ext uri="{FF2B5EF4-FFF2-40B4-BE49-F238E27FC236}">
                <a16:creationId xmlns:a16="http://schemas.microsoft.com/office/drawing/2014/main" id="{240110AF-D9B2-4C15-A774-6651822F3AD3}"/>
              </a:ext>
            </a:extLst>
          </p:cNvPr>
          <p:cNvSpPr>
            <a:spLocks noGrp="1"/>
          </p:cNvSpPr>
          <p:nvPr/>
        </p:nvSpPr>
        <p:spPr>
          <a:xfrm>
            <a:off x="0" y="0"/>
            <a:ext cx="12192000" cy="1066800"/>
          </a:xfrm>
          <a:prstGeom prst="rect">
            <a:avLst/>
          </a:prstGeom>
          <a:solidFill>
            <a:srgbClr val="F2F6F7"/>
          </a:solidFill>
          <a:ln w="0">
            <a:noFill/>
          </a:ln>
        </p:spPr>
      </p:sp>
      <p:sp>
        <p:nvSpPr>
          <p:cNvPr id="2" name="shape-258">
            <a:extLst>
              <a:ext uri="{FF2B5EF4-FFF2-40B4-BE49-F238E27FC236}">
                <a16:creationId xmlns:a16="http://schemas.microsoft.com/office/drawing/2014/main" id="{59FC26BD-A415-43EF-B777-A45DDA60A82A}"/>
              </a:ext>
            </a:extLst>
          </p:cNvPr>
          <p:cNvSpPr>
            <a:spLocks noGrp="1"/>
          </p:cNvSpPr>
          <p:nvPr/>
        </p:nvSpPr>
        <p:spPr>
          <a:xfrm>
            <a:off x="0" y="1038225"/>
            <a:ext cx="12192000" cy="28575"/>
          </a:xfrm>
          <a:prstGeom prst="rect">
            <a:avLst/>
          </a:prstGeom>
          <a:solidFill>
            <a:srgbClr val="006D77"/>
          </a:solidFill>
          <a:ln w="0">
            <a:noFill/>
          </a:ln>
        </p:spPr>
      </p:sp>
      <p:sp>
        <p:nvSpPr>
          <p:cNvPr id="3" name="slide-9-title">
            <a:extLst>
              <a:ext uri="{FF2B5EF4-FFF2-40B4-BE49-F238E27FC236}">
                <a16:creationId xmlns:a16="http://schemas.microsoft.com/office/drawing/2014/main" id="{446D9689-09A8-4116-A094-5B8EC6E8A0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Why is our solution better?</a:t>
            </a:r>
          </a:p>
        </p:txBody>
      </p:sp>
      <p:sp>
        <p:nvSpPr>
          <p:cNvPr id="4" name="shape-259">
            <a:extLst>
              <a:ext uri="{FF2B5EF4-FFF2-40B4-BE49-F238E27FC236}">
                <a16:creationId xmlns:a16="http://schemas.microsoft.com/office/drawing/2014/main" id="{FF007119-BDFE-4C99-AC7F-6A184D564B3C}"/>
              </a:ext>
            </a:extLst>
          </p:cNvPr>
          <p:cNvSpPr>
            <a:spLocks noGrp="1"/>
          </p:cNvSpPr>
          <p:nvPr/>
        </p:nvSpPr>
        <p:spPr>
          <a:xfrm>
            <a:off x="0" y="6381750"/>
            <a:ext cx="12192000" cy="476250"/>
          </a:xfrm>
          <a:prstGeom prst="rect">
            <a:avLst/>
          </a:prstGeom>
          <a:solidFill>
            <a:srgbClr val="102A43"/>
          </a:solidFill>
          <a:ln w="0">
            <a:noFill/>
          </a:ln>
        </p:spPr>
      </p:sp>
      <p:sp>
        <p:nvSpPr>
          <p:cNvPr id="5" name="brand-9">
            <a:extLst>
              <a:ext uri="{FF2B5EF4-FFF2-40B4-BE49-F238E27FC236}">
                <a16:creationId xmlns:a16="http://schemas.microsoft.com/office/drawing/2014/main" id="{4DB976CB-32B5-43FD-BE2E-4AC88AFC77E9}"/>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9">
            <a:extLst>
              <a:ext uri="{FF2B5EF4-FFF2-40B4-BE49-F238E27FC236}">
                <a16:creationId xmlns:a16="http://schemas.microsoft.com/office/drawing/2014/main" id="{920A760D-4835-47DB-8F54-E7B9391FF56B}"/>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15 / 23</a:t>
            </a:r>
          </a:p>
        </p:txBody>
      </p:sp>
      <p:sp>
        <p:nvSpPr>
          <p:cNvPr id="7" name="text-260">
            <a:extLst>
              <a:ext uri="{FF2B5EF4-FFF2-40B4-BE49-F238E27FC236}">
                <a16:creationId xmlns:a16="http://schemas.microsoft.com/office/drawing/2014/main" id="{243072B7-EE1A-4808-AD6C-D94E7BC4E9C4}"/>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Expected advantages to validate during evaluation</a:t>
            </a:r>
          </a:p>
        </p:txBody>
      </p:sp>
      <p:graphicFrame>
        <p:nvGraphicFramePr>
          <p:cNvPr id="8" name="Table 7">
            <a:extLst>
              <a:ext uri="{FF2B5EF4-FFF2-40B4-BE49-F238E27FC236}">
                <a16:creationId xmlns:a16="http://schemas.microsoft.com/office/drawing/2014/main" id="{0AC86C14-3DD1-44DC-87C1-FB92F0E84864}"/>
              </a:ext>
            </a:extLst>
          </p:cNvPr>
          <p:cNvGraphicFramePr/>
          <p:nvPr/>
        </p:nvGraphicFramePr>
        <p:xfrm>
          <a:off x="609600" y="2019300"/>
          <a:ext cx="10972800" cy="3638550"/>
        </p:xfrm>
        <a:graphic>
          <a:graphicData uri="http://schemas.openxmlformats.org/drawingml/2006/table">
            <a:tbl>
              <a:tblPr/>
              <a:tblGrid>
                <a:gridCol w="314325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38150">
                <a:tc>
                  <a:txBody>
                    <a:bodyPr/>
                    <a:lstStyle/>
                    <a:p>
                      <a:pPr>
                        <a:lnSpc>
                          <a:spcPct val="108000"/>
                        </a:lnSpc>
                        <a:buNone/>
                      </a:pPr>
                      <a:r>
                        <a:rPr sz="1800" b="1">
                          <a:solidFill>
                            <a:srgbClr val="FFFFFF"/>
                          </a:solidFill>
                          <a:latin typeface="Arial"/>
                          <a:ea typeface="Arial"/>
                          <a:cs typeface="Arial"/>
                        </a:rPr>
                        <a:t>Challenge</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Design response</a:t>
                      </a:r>
                    </a:p>
                  </a:txBody>
                  <a:tcPr marL="133350" marR="133350" marT="95250" marB="85725" anchor="ctr">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Evaluation measure</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00100">
                <a:tc>
                  <a:txBody>
                    <a:bodyPr/>
                    <a:lstStyle/>
                    <a:p>
                      <a:pPr>
                        <a:lnSpc>
                          <a:spcPct val="108000"/>
                        </a:lnSpc>
                        <a:buNone/>
                      </a:pPr>
                      <a:r>
                        <a:rPr sz="1800">
                          <a:solidFill>
                            <a:srgbClr val="17324A"/>
                          </a:solidFill>
                          <a:latin typeface="Arial"/>
                          <a:ea typeface="Arial"/>
                          <a:cs typeface="Arial"/>
                        </a:rPr>
                        <a:t>Unclear task scope</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Semantic context and</a:t>
                      </a:r>
                    </a:p>
                    <a:p>
                      <a:pPr>
                        <a:lnSpc>
                          <a:spcPct val="108000"/>
                        </a:lnSpc>
                        <a:buNone/>
                      </a:pPr>
                      <a:r>
                        <a:rPr sz="1800">
                          <a:solidFill>
                            <a:srgbClr val="17324A"/>
                          </a:solidFill>
                          <a:latin typeface="Arial"/>
                          <a:ea typeface="Arial"/>
                          <a:cs typeface="Arial"/>
                        </a:rPr>
                        <a:t>retained facts</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Follow-up accuracy</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00100">
                <a:tc>
                  <a:txBody>
                    <a:bodyPr/>
                    <a:lstStyle/>
                    <a:p>
                      <a:pPr>
                        <a:lnSpc>
                          <a:spcPct val="108000"/>
                        </a:lnSpc>
                        <a:buNone/>
                      </a:pPr>
                      <a:r>
                        <a:rPr sz="1800">
                          <a:solidFill>
                            <a:srgbClr val="17324A"/>
                          </a:solidFill>
                          <a:latin typeface="Arial"/>
                          <a:ea typeface="Arial"/>
                          <a:cs typeface="Arial"/>
                        </a:rPr>
                        <a:t>Wrong business meaning</a:t>
                      </a:r>
                    </a:p>
                  </a:txBody>
                  <a:tcPr marL="133350" marR="133350" marT="95250" marB="85725" anchor="ctr">
                    <a:lnL w="0">
                      <a:solidFill>
                        <a:srgbClr val="FFFFFF"/>
                      </a:solidFill>
                    </a:lnL>
                    <a:solidFill>
                      <a:srgbClr val="FFFFFF"/>
                    </a:solidFill>
                  </a:tcPr>
                </a:tc>
                <a:tc>
                  <a:txBody>
                    <a:bodyPr/>
                    <a:lstStyle/>
                    <a:p>
                      <a:pPr>
                        <a:lnSpc>
                          <a:spcPct val="108000"/>
                        </a:lnSpc>
                        <a:buNone/>
                      </a:pPr>
                      <a:r>
                        <a:rPr sz="1800">
                          <a:solidFill>
                            <a:srgbClr val="17324A"/>
                          </a:solidFill>
                          <a:latin typeface="Arial"/>
                          <a:ea typeface="Arial"/>
                          <a:cs typeface="Arial"/>
                        </a:rPr>
                        <a:t>Governed, composable</a:t>
                      </a:r>
                    </a:p>
                    <a:p>
                      <a:pPr>
                        <a:lnSpc>
                          <a:spcPct val="108000"/>
                        </a:lnSpc>
                        <a:buNone/>
                      </a:pPr>
                      <a:r>
                        <a:rPr sz="1800">
                          <a:solidFill>
                            <a:srgbClr val="17324A"/>
                          </a:solidFill>
                          <a:latin typeface="Arial"/>
                          <a:ea typeface="Arial"/>
                          <a:cs typeface="Arial"/>
                        </a:rPr>
                        <a:t>analytics tools</a:t>
                      </a:r>
                    </a:p>
                  </a:txBody>
                  <a:tcPr marL="133350" marR="133350" marT="95250" marB="85725" anchor="ctr">
                    <a:solidFill>
                      <a:srgbClr val="FFFFFF"/>
                    </a:solidFill>
                  </a:tcPr>
                </a:tc>
                <a:tc>
                  <a:txBody>
                    <a:bodyPr/>
                    <a:lstStyle/>
                    <a:p>
                      <a:pPr>
                        <a:lnSpc>
                          <a:spcPct val="108000"/>
                        </a:lnSpc>
                        <a:buNone/>
                      </a:pPr>
                      <a:r>
                        <a:rPr sz="1800">
                          <a:solidFill>
                            <a:srgbClr val="17324A"/>
                          </a:solidFill>
                          <a:latin typeface="Arial"/>
                          <a:ea typeface="Arial"/>
                          <a:cs typeface="Arial"/>
                        </a:rPr>
                        <a:t>Value and scope correctness</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00100">
                <a:tc>
                  <a:txBody>
                    <a:bodyPr/>
                    <a:lstStyle/>
                    <a:p>
                      <a:pPr>
                        <a:lnSpc>
                          <a:spcPct val="108000"/>
                        </a:lnSpc>
                        <a:buNone/>
                      </a:pPr>
                      <a:r>
                        <a:rPr sz="1800">
                          <a:solidFill>
                            <a:srgbClr val="17324A"/>
                          </a:solidFill>
                          <a:latin typeface="Arial"/>
                          <a:ea typeface="Arial"/>
                          <a:cs typeface="Arial"/>
                        </a:rPr>
                        <a:t>False completion</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Independent checks and</a:t>
                      </a:r>
                    </a:p>
                    <a:p>
                      <a:pPr>
                        <a:lnSpc>
                          <a:spcPct val="108000"/>
                        </a:lnSpc>
                        <a:buNone/>
                      </a:pPr>
                      <a:r>
                        <a:rPr sz="1800">
                          <a:solidFill>
                            <a:srgbClr val="17324A"/>
                          </a:solidFill>
                          <a:latin typeface="Arial"/>
                          <a:ea typeface="Arial"/>
                          <a:cs typeface="Arial"/>
                        </a:rPr>
                        <a:t>bounded execution</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False-completion rate</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00100">
                <a:tc>
                  <a:txBody>
                    <a:bodyPr/>
                    <a:lstStyle/>
                    <a:p>
                      <a:pPr>
                        <a:lnSpc>
                          <a:spcPct val="108000"/>
                        </a:lnSpc>
                        <a:buNone/>
                      </a:pPr>
                      <a:r>
                        <a:rPr sz="1800">
                          <a:solidFill>
                            <a:srgbClr val="17324A"/>
                          </a:solidFill>
                          <a:latin typeface="Arial"/>
                          <a:ea typeface="Arial"/>
                          <a:cs typeface="Arial"/>
                        </a:rPr>
                        <a:t>Answer disconnected</a:t>
                      </a:r>
                    </a:p>
                    <a:p>
                      <a:pPr>
                        <a:lnSpc>
                          <a:spcPct val="108000"/>
                        </a:lnSpc>
                        <a:buNone/>
                      </a:pPr>
                      <a:r>
                        <a:rPr sz="1800">
                          <a:solidFill>
                            <a:srgbClr val="17324A"/>
                          </a:solidFill>
                          <a:latin typeface="Arial"/>
                          <a:ea typeface="Arial"/>
                          <a:cs typeface="Arial"/>
                        </a:rPr>
                        <a:t>from the workspace</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One task loop for facts</a:t>
                      </a:r>
                    </a:p>
                    <a:p>
                      <a:pPr>
                        <a:lnSpc>
                          <a:spcPct val="108000"/>
                        </a:lnSpc>
                        <a:buNone/>
                      </a:pPr>
                      <a:r>
                        <a:rPr sz="1800">
                          <a:solidFill>
                            <a:srgbClr val="17324A"/>
                          </a:solidFill>
                          <a:latin typeface="Arial"/>
                          <a:ea typeface="Arial"/>
                          <a:cs typeface="Arial"/>
                        </a:rPr>
                        <a:t>and application state</a:t>
                      </a:r>
                    </a:p>
                  </a:txBody>
                  <a:tcPr marL="133350" marR="133350" marT="95250" marB="85725" anchor="ctr">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Task and destination success</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261">
            <a:extLst>
              <a:ext uri="{FF2B5EF4-FFF2-40B4-BE49-F238E27FC236}">
                <a16:creationId xmlns:a16="http://schemas.microsoft.com/office/drawing/2014/main" id="{959E025A-383E-47B6-9CD2-DE09C087EC9A}"/>
              </a:ext>
            </a:extLst>
          </p:cNvPr>
          <p:cNvSpPr>
            <a:spLocks noGrp="1"/>
          </p:cNvSpPr>
          <p:nvPr/>
        </p:nvSpPr>
        <p:spPr>
          <a:xfrm>
            <a:off x="7372350" y="28479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0" name="text-262">
            <a:extLst>
              <a:ext uri="{FF2B5EF4-FFF2-40B4-BE49-F238E27FC236}">
                <a16:creationId xmlns:a16="http://schemas.microsoft.com/office/drawing/2014/main" id="{DEC6990C-1E95-4F01-B965-19136B4A03E2}"/>
              </a:ext>
            </a:extLst>
          </p:cNvPr>
          <p:cNvSpPr>
            <a:spLocks noGrp="1"/>
          </p:cNvSpPr>
          <p:nvPr/>
        </p:nvSpPr>
        <p:spPr>
          <a:xfrm>
            <a:off x="7372350" y="36480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6,7</a:t>
            </a:r>
          </a:p>
        </p:txBody>
      </p:sp>
      <p:sp>
        <p:nvSpPr>
          <p:cNvPr id="11" name="text-263">
            <a:extLst>
              <a:ext uri="{FF2B5EF4-FFF2-40B4-BE49-F238E27FC236}">
                <a16:creationId xmlns:a16="http://schemas.microsoft.com/office/drawing/2014/main" id="{029F646A-2901-4DE9-BEF2-7B016D9F9D8A}"/>
              </a:ext>
            </a:extLst>
          </p:cNvPr>
          <p:cNvSpPr>
            <a:spLocks noGrp="1"/>
          </p:cNvSpPr>
          <p:nvPr/>
        </p:nvSpPr>
        <p:spPr>
          <a:xfrm>
            <a:off x="7372350" y="44481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5,8</a:t>
            </a:r>
          </a:p>
        </p:txBody>
      </p:sp>
      <p:sp>
        <p:nvSpPr>
          <p:cNvPr id="12" name="text-264">
            <a:extLst>
              <a:ext uri="{FF2B5EF4-FFF2-40B4-BE49-F238E27FC236}">
                <a16:creationId xmlns:a16="http://schemas.microsoft.com/office/drawing/2014/main" id="{8323D278-2B24-4E0E-822C-D9A58C8ABB9F}"/>
              </a:ext>
            </a:extLst>
          </p:cNvPr>
          <p:cNvSpPr>
            <a:spLocks noGrp="1"/>
          </p:cNvSpPr>
          <p:nvPr/>
        </p:nvSpPr>
        <p:spPr>
          <a:xfrm>
            <a:off x="7372350" y="52482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2,3</a:t>
            </a:r>
          </a:p>
        </p:txBody>
      </p:sp>
      <p:sp>
        <p:nvSpPr>
          <p:cNvPr id="13" name="text-265">
            <a:extLst>
              <a:ext uri="{FF2B5EF4-FFF2-40B4-BE49-F238E27FC236}">
                <a16:creationId xmlns:a16="http://schemas.microsoft.com/office/drawing/2014/main" id="{BD728642-069C-4EF0-8EEE-14D9551BED8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Research-informed design hypotheses. No baseline comparison yet; first development-set evidence on slide 19.</a:t>
            </a:r>
          </a:p>
        </p:txBody>
      </p:sp>
      <p:pic>
        <p:nvPicPr>
          <p:cNvPr id="14" name="Picture 13">
            <a:extLst>
              <a:ext uri="{FF2B5EF4-FFF2-40B4-BE49-F238E27FC236}">
                <a16:creationId xmlns:a16="http://schemas.microsoft.com/office/drawing/2014/main" id="{E125EB7B-860F-4F4E-9021-3F42770A1D1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89181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8" name="Connector: Elbow 37">
            <a:extLst>
              <a:ext uri="{FF2B5EF4-FFF2-40B4-BE49-F238E27FC236}">
                <a16:creationId xmlns:a16="http://schemas.microsoft.com/office/drawing/2014/main" id="{6558FA5D-275F-4E3F-B01C-AD3CFE751B87}"/>
              </a:ext>
            </a:extLst>
          </p:cNvPr>
          <p:cNvCxnSpPr>
            <a:stCxn id="31" idx="3"/>
            <a:endCxn id="25" idx="2"/>
          </p:cNvCxnSpPr>
          <p:nvPr/>
        </p:nvCxnSpPr>
        <p:spPr>
          <a:xfrm flipV="1">
            <a:off x="8115300" y="4705350"/>
            <a:ext cx="2209800" cy="261938"/>
          </a:xfrm>
          <a:prstGeom prst="bentConnector2">
            <a:avLst/>
          </a:prstGeom>
          <a:ln w="19050">
            <a:solidFill>
              <a:srgbClr val="006D77"/>
            </a:solidFill>
            <a:prstDash val="solid"/>
            <a:tailEnd type="triangle" w="med" len="med"/>
          </a:ln>
        </p:spPr>
      </p:cxnSp>
      <p:cxnSp>
        <p:nvCxnSpPr>
          <p:cNvPr id="37" name="Straight Arrow Connector 36">
            <a:extLst>
              <a:ext uri="{FF2B5EF4-FFF2-40B4-BE49-F238E27FC236}">
                <a16:creationId xmlns:a16="http://schemas.microsoft.com/office/drawing/2014/main" id="{23D5EF0A-7BB7-4E73-A081-5CEB29FA5640}"/>
              </a:ext>
            </a:extLst>
          </p:cNvPr>
          <p:cNvCxnSpPr>
            <a:stCxn id="29" idx="3"/>
            <a:endCxn id="31" idx="1"/>
          </p:cNvCxnSpPr>
          <p:nvPr/>
        </p:nvCxnSpPr>
        <p:spPr>
          <a:xfrm>
            <a:off x="5314950" y="4967288"/>
            <a:ext cx="419100" cy="0"/>
          </a:xfrm>
          <a:prstGeom prst="straightConnector1">
            <a:avLst/>
          </a:prstGeom>
          <a:ln w="19050">
            <a:solidFill>
              <a:srgbClr val="006D77"/>
            </a:solidFill>
            <a:prstDash val="solid"/>
            <a:tailEnd type="triangle" w="med" len="med"/>
          </a:ln>
        </p:spPr>
      </p:cxnSp>
      <p:cxnSp>
        <p:nvCxnSpPr>
          <p:cNvPr id="36" name="Straight Arrow Connector 35">
            <a:extLst>
              <a:ext uri="{FF2B5EF4-FFF2-40B4-BE49-F238E27FC236}">
                <a16:creationId xmlns:a16="http://schemas.microsoft.com/office/drawing/2014/main" id="{8045AC2B-92FB-448E-B6A5-9371E8A315AD}"/>
              </a:ext>
            </a:extLst>
          </p:cNvPr>
          <p:cNvCxnSpPr>
            <a:stCxn id="27" idx="3"/>
            <a:endCxn id="29" idx="1"/>
          </p:cNvCxnSpPr>
          <p:nvPr/>
        </p:nvCxnSpPr>
        <p:spPr>
          <a:xfrm>
            <a:off x="2705100" y="4967288"/>
            <a:ext cx="419100" cy="0"/>
          </a:xfrm>
          <a:prstGeom prst="straightConnector1">
            <a:avLst/>
          </a:prstGeom>
          <a:ln w="19050">
            <a:solidFill>
              <a:srgbClr val="006D77"/>
            </a:solidFill>
            <a:prstDash val="solid"/>
            <a:tailEnd type="triangle" w="med" len="med"/>
          </a:ln>
        </p:spPr>
      </p:cxnSp>
      <p:cxnSp>
        <p:nvCxnSpPr>
          <p:cNvPr id="35" name="Connector: Elbow 34">
            <a:extLst>
              <a:ext uri="{FF2B5EF4-FFF2-40B4-BE49-F238E27FC236}">
                <a16:creationId xmlns:a16="http://schemas.microsoft.com/office/drawing/2014/main" id="{A5787E6C-C58E-49E6-B0D6-DDFF827339CA}"/>
              </a:ext>
            </a:extLst>
          </p:cNvPr>
          <p:cNvCxnSpPr>
            <a:stCxn id="23" idx="3"/>
            <a:endCxn id="25" idx="0"/>
          </p:cNvCxnSpPr>
          <p:nvPr/>
        </p:nvCxnSpPr>
        <p:spPr>
          <a:xfrm>
            <a:off x="8115300" y="3929063"/>
            <a:ext cx="2209800" cy="233363"/>
          </a:xfrm>
          <a:prstGeom prst="bentConnector2">
            <a:avLst/>
          </a:prstGeom>
          <a:ln w="19050">
            <a:solidFill>
              <a:srgbClr val="006D77"/>
            </a:solidFill>
            <a:prstDash val="solid"/>
            <a:tailEnd type="triangle" w="med" len="med"/>
          </a:ln>
        </p:spPr>
      </p:cxnSp>
      <p:cxnSp>
        <p:nvCxnSpPr>
          <p:cNvPr id="34" name="Straight Arrow Connector 33">
            <a:extLst>
              <a:ext uri="{FF2B5EF4-FFF2-40B4-BE49-F238E27FC236}">
                <a16:creationId xmlns:a16="http://schemas.microsoft.com/office/drawing/2014/main" id="{3F94AC0D-9958-4455-ACE1-3A5B9E05FC35}"/>
              </a:ext>
            </a:extLst>
          </p:cNvPr>
          <p:cNvCxnSpPr>
            <a:stCxn id="21" idx="3"/>
            <a:endCxn id="23" idx="1"/>
          </p:cNvCxnSpPr>
          <p:nvPr/>
        </p:nvCxnSpPr>
        <p:spPr>
          <a:xfrm>
            <a:off x="5314950" y="3929063"/>
            <a:ext cx="419100" cy="0"/>
          </a:xfrm>
          <a:prstGeom prst="straightConnector1">
            <a:avLst/>
          </a:prstGeom>
          <a:ln w="19050">
            <a:solidFill>
              <a:srgbClr val="006D77"/>
            </a:solidFill>
            <a:prstDash val="solid"/>
            <a:tailEnd type="triangle" w="med" len="med"/>
          </a:ln>
        </p:spPr>
      </p:cxnSp>
      <p:cxnSp>
        <p:nvCxnSpPr>
          <p:cNvPr id="33" name="Straight Arrow Connector 32">
            <a:extLst>
              <a:ext uri="{FF2B5EF4-FFF2-40B4-BE49-F238E27FC236}">
                <a16:creationId xmlns:a16="http://schemas.microsoft.com/office/drawing/2014/main" id="{95F9FE10-2616-403B-81A6-38B75C39CDAA}"/>
              </a:ext>
            </a:extLst>
          </p:cNvPr>
          <p:cNvCxnSpPr>
            <a:stCxn id="19" idx="3"/>
            <a:endCxn id="21" idx="1"/>
          </p:cNvCxnSpPr>
          <p:nvPr/>
        </p:nvCxnSpPr>
        <p:spPr>
          <a:xfrm>
            <a:off x="2705100" y="3929063"/>
            <a:ext cx="419100" cy="0"/>
          </a:xfrm>
          <a:prstGeom prst="straightConnector1">
            <a:avLst/>
          </a:prstGeom>
          <a:ln w="19050">
            <a:solidFill>
              <a:srgbClr val="006D77"/>
            </a:solidFill>
            <a:prstDash val="solid"/>
            <a:tailEnd type="triangle" w="med" len="med"/>
          </a:ln>
        </p:spPr>
      </p:cxnSp>
      <p:sp>
        <p:nvSpPr>
          <p:cNvPr id="46" name="shape-266">
            <a:extLst>
              <a:ext uri="{FF2B5EF4-FFF2-40B4-BE49-F238E27FC236}">
                <a16:creationId xmlns:a16="http://schemas.microsoft.com/office/drawing/2014/main" id="{4E66810F-B2B7-4C15-B595-A49FCA6BDAD9}"/>
              </a:ext>
            </a:extLst>
          </p:cNvPr>
          <p:cNvSpPr>
            <a:spLocks noGrp="1"/>
          </p:cNvSpPr>
          <p:nvPr/>
        </p:nvSpPr>
        <p:spPr>
          <a:xfrm>
            <a:off x="0" y="0"/>
            <a:ext cx="12192000" cy="1066800"/>
          </a:xfrm>
          <a:prstGeom prst="rect">
            <a:avLst/>
          </a:prstGeom>
          <a:solidFill>
            <a:srgbClr val="F2F6F7"/>
          </a:solidFill>
          <a:ln w="0">
            <a:noFill/>
          </a:ln>
        </p:spPr>
      </p:sp>
      <p:sp>
        <p:nvSpPr>
          <p:cNvPr id="2" name="shape-267">
            <a:extLst>
              <a:ext uri="{FF2B5EF4-FFF2-40B4-BE49-F238E27FC236}">
                <a16:creationId xmlns:a16="http://schemas.microsoft.com/office/drawing/2014/main" id="{3894F425-DCFE-473E-ACA1-022F6380EA64}"/>
              </a:ext>
            </a:extLst>
          </p:cNvPr>
          <p:cNvSpPr>
            <a:spLocks noGrp="1"/>
          </p:cNvSpPr>
          <p:nvPr/>
        </p:nvSpPr>
        <p:spPr>
          <a:xfrm>
            <a:off x="0" y="1038225"/>
            <a:ext cx="12192000" cy="28575"/>
          </a:xfrm>
          <a:prstGeom prst="rect">
            <a:avLst/>
          </a:prstGeom>
          <a:solidFill>
            <a:srgbClr val="006D77"/>
          </a:solidFill>
          <a:ln w="0">
            <a:noFill/>
          </a:ln>
        </p:spPr>
      </p:sp>
      <p:sp>
        <p:nvSpPr>
          <p:cNvPr id="3" name="slide-10-title">
            <a:extLst>
              <a:ext uri="{FF2B5EF4-FFF2-40B4-BE49-F238E27FC236}">
                <a16:creationId xmlns:a16="http://schemas.microsoft.com/office/drawing/2014/main" id="{E39225C1-D561-4D76-BF50-9EAADB4024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Dataset information</a:t>
            </a:r>
          </a:p>
        </p:txBody>
      </p:sp>
      <p:sp>
        <p:nvSpPr>
          <p:cNvPr id="4" name="shape-268">
            <a:extLst>
              <a:ext uri="{FF2B5EF4-FFF2-40B4-BE49-F238E27FC236}">
                <a16:creationId xmlns:a16="http://schemas.microsoft.com/office/drawing/2014/main" id="{C1825EE7-A51F-423D-B67F-CE97CC320C7E}"/>
              </a:ext>
            </a:extLst>
          </p:cNvPr>
          <p:cNvSpPr>
            <a:spLocks noGrp="1"/>
          </p:cNvSpPr>
          <p:nvPr/>
        </p:nvSpPr>
        <p:spPr>
          <a:xfrm>
            <a:off x="0" y="6381750"/>
            <a:ext cx="12192000" cy="476250"/>
          </a:xfrm>
          <a:prstGeom prst="rect">
            <a:avLst/>
          </a:prstGeom>
          <a:solidFill>
            <a:srgbClr val="102A43"/>
          </a:solidFill>
          <a:ln w="0">
            <a:noFill/>
          </a:ln>
        </p:spPr>
      </p:sp>
      <p:sp>
        <p:nvSpPr>
          <p:cNvPr id="5" name="brand-10">
            <a:extLst>
              <a:ext uri="{FF2B5EF4-FFF2-40B4-BE49-F238E27FC236}">
                <a16:creationId xmlns:a16="http://schemas.microsoft.com/office/drawing/2014/main" id="{777EA4BB-5795-4DEB-91EA-DA244130E73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0">
            <a:extLst>
              <a:ext uri="{FF2B5EF4-FFF2-40B4-BE49-F238E27FC236}">
                <a16:creationId xmlns:a16="http://schemas.microsoft.com/office/drawing/2014/main" id="{87B63402-34C3-4D16-B397-38C16C07DF1C}"/>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16 / 23</a:t>
            </a:r>
          </a:p>
        </p:txBody>
      </p:sp>
      <p:sp>
        <p:nvSpPr>
          <p:cNvPr id="7" name="symbol-database-269">
            <a:extLst>
              <a:ext uri="{FF2B5EF4-FFF2-40B4-BE49-F238E27FC236}">
                <a16:creationId xmlns:a16="http://schemas.microsoft.com/office/drawing/2014/main" id="{71386154-2B7C-457C-8FB5-C0DECFD91DEF}"/>
              </a:ext>
            </a:extLst>
          </p:cNvPr>
          <p:cNvSpPr>
            <a:spLocks noGrp="1"/>
          </p:cNvSpPr>
          <p:nvPr/>
        </p:nvSpPr>
        <p:spPr>
          <a:xfrm>
            <a:off x="657225" y="1371600"/>
            <a:ext cx="342900" cy="428625"/>
          </a:xfrm>
          <a:prstGeom prst="can">
            <a:avLst/>
          </a:prstGeom>
          <a:solidFill>
            <a:srgbClr val="FFFFFF"/>
          </a:solidFill>
          <a:ln w="19050">
            <a:solidFill>
              <a:srgbClr val="006D77"/>
            </a:solidFill>
          </a:ln>
        </p:spPr>
      </p:sp>
      <p:sp>
        <p:nvSpPr>
          <p:cNvPr id="8" name="text-270">
            <a:extLst>
              <a:ext uri="{FF2B5EF4-FFF2-40B4-BE49-F238E27FC236}">
                <a16:creationId xmlns:a16="http://schemas.microsoft.com/office/drawing/2014/main" id="{072D07D5-30A4-4605-BD59-B92F8CF1BE25}"/>
              </a:ext>
            </a:extLst>
          </p:cNvPr>
          <p:cNvSpPr>
            <a:spLocks noGrp="1"/>
          </p:cNvSpPr>
          <p:nvPr/>
        </p:nvSpPr>
        <p:spPr>
          <a:xfrm>
            <a:off x="1209675" y="1381125"/>
            <a:ext cx="9477375" cy="419100"/>
          </a:xfrm>
          <a:prstGeom prst="rect">
            <a:avLst/>
          </a:prstGeom>
          <a:noFill/>
          <a:ln w="0">
            <a:noFill/>
          </a:ln>
        </p:spPr>
        <p:txBody>
          <a:bodyPr wrap="square" lIns="0" tIns="0" rIns="0" bIns="0" anchor="t">
            <a:noAutofit/>
          </a:bodyPr>
          <a:lstStyle>
            <a:defPPr algn="l">
              <a:defRPr sz="2250" b="1">
                <a:solidFill>
                  <a:srgbClr val="006D77"/>
                </a:solidFill>
                <a:latin typeface="Arial"/>
                <a:ea typeface="Arial"/>
                <a:cs typeface="Arial"/>
              </a:defRPr>
            </a:defPPr>
          </a:lstStyle>
          <a:p>
            <a:pPr algn="l">
              <a:lnSpc>
                <a:spcPct val="112000"/>
              </a:lnSpc>
              <a:buNone/>
              <a:defRPr sz="2250" b="1">
                <a:solidFill>
                  <a:srgbClr val="006D77"/>
                </a:solidFill>
                <a:latin typeface="Arial"/>
                <a:ea typeface="Arial"/>
                <a:cs typeface="Arial"/>
              </a:defRPr>
            </a:pPr>
            <a:r>
              <a:rPr sz="2250" b="1">
                <a:solidFill>
                  <a:srgbClr val="006D77"/>
                </a:solidFill>
                <a:latin typeface="Arial"/>
                <a:ea typeface="Arial"/>
                <a:cs typeface="Arial"/>
              </a:rPr>
              <a:t>Microsoft Wide World Importers</a:t>
            </a:r>
          </a:p>
        </p:txBody>
      </p:sp>
      <p:sp>
        <p:nvSpPr>
          <p:cNvPr id="9" name="citation-271">
            <a:extLst>
              <a:ext uri="{FF2B5EF4-FFF2-40B4-BE49-F238E27FC236}">
                <a16:creationId xmlns:a16="http://schemas.microsoft.com/office/drawing/2014/main" id="{880B53D3-D9C9-47B1-A538-ECFD105893A1}"/>
              </a:ext>
            </a:extLst>
          </p:cNvPr>
          <p:cNvSpPr>
            <a:spLocks noGrp="1"/>
          </p:cNvSpPr>
          <p:nvPr/>
        </p:nvSpPr>
        <p:spPr>
          <a:xfrm>
            <a:off x="5583555" y="13144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9</a:t>
            </a:r>
          </a:p>
        </p:txBody>
      </p:sp>
      <p:sp>
        <p:nvSpPr>
          <p:cNvPr id="10" name="text-272">
            <a:extLst>
              <a:ext uri="{FF2B5EF4-FFF2-40B4-BE49-F238E27FC236}">
                <a16:creationId xmlns:a16="http://schemas.microsoft.com/office/drawing/2014/main" id="{23768959-3045-42C5-ADA5-3FA5C1559977}"/>
              </a:ext>
            </a:extLst>
          </p:cNvPr>
          <p:cNvSpPr>
            <a:spLocks noGrp="1"/>
          </p:cNvSpPr>
          <p:nvPr/>
        </p:nvSpPr>
        <p:spPr>
          <a:xfrm>
            <a:off x="1209675" y="1828800"/>
            <a:ext cx="10372725" cy="2857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Prepared WWI package</a:t>
            </a:r>
          </a:p>
        </p:txBody>
      </p:sp>
      <p:sp>
        <p:nvSpPr>
          <p:cNvPr id="11" name="text-273">
            <a:extLst>
              <a:ext uri="{FF2B5EF4-FFF2-40B4-BE49-F238E27FC236}">
                <a16:creationId xmlns:a16="http://schemas.microsoft.com/office/drawing/2014/main" id="{F120FF8A-A63D-48BB-92A0-AE2DB562DC94}"/>
              </a:ext>
            </a:extLst>
          </p:cNvPr>
          <p:cNvSpPr>
            <a:spLocks noGrp="1"/>
          </p:cNvSpPr>
          <p:nvPr/>
        </p:nvSpPr>
        <p:spPr>
          <a:xfrm>
            <a:off x="6096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21</a:t>
            </a:r>
          </a:p>
        </p:txBody>
      </p:sp>
      <p:sp>
        <p:nvSpPr>
          <p:cNvPr id="12" name="text-274">
            <a:extLst>
              <a:ext uri="{FF2B5EF4-FFF2-40B4-BE49-F238E27FC236}">
                <a16:creationId xmlns:a16="http://schemas.microsoft.com/office/drawing/2014/main" id="{AB1B261F-B8F4-48AA-8B2B-293866CB4614}"/>
              </a:ext>
            </a:extLst>
          </p:cNvPr>
          <p:cNvSpPr>
            <a:spLocks noGrp="1"/>
          </p:cNvSpPr>
          <p:nvPr/>
        </p:nvSpPr>
        <p:spPr>
          <a:xfrm>
            <a:off x="6096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source tables</a:t>
            </a:r>
          </a:p>
        </p:txBody>
      </p:sp>
      <p:sp>
        <p:nvSpPr>
          <p:cNvPr id="13" name="text-275">
            <a:extLst>
              <a:ext uri="{FF2B5EF4-FFF2-40B4-BE49-F238E27FC236}">
                <a16:creationId xmlns:a16="http://schemas.microsoft.com/office/drawing/2014/main" id="{EEDF5180-D71B-46C0-B6FF-497D9FD315D0}"/>
              </a:ext>
            </a:extLst>
          </p:cNvPr>
          <p:cNvSpPr>
            <a:spLocks noGrp="1"/>
          </p:cNvSpPr>
          <p:nvPr/>
        </p:nvSpPr>
        <p:spPr>
          <a:xfrm>
            <a:off x="33909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73,595</a:t>
            </a:r>
          </a:p>
        </p:txBody>
      </p:sp>
      <p:sp>
        <p:nvSpPr>
          <p:cNvPr id="14" name="text-276">
            <a:extLst>
              <a:ext uri="{FF2B5EF4-FFF2-40B4-BE49-F238E27FC236}">
                <a16:creationId xmlns:a16="http://schemas.microsoft.com/office/drawing/2014/main" id="{EB093BCB-B84A-4EA5-9FE4-A0ED6ECD760C}"/>
              </a:ext>
            </a:extLst>
          </p:cNvPr>
          <p:cNvSpPr>
            <a:spLocks noGrp="1"/>
          </p:cNvSpPr>
          <p:nvPr/>
        </p:nvSpPr>
        <p:spPr>
          <a:xfrm>
            <a:off x="33909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sales orders</a:t>
            </a:r>
          </a:p>
        </p:txBody>
      </p:sp>
      <p:sp>
        <p:nvSpPr>
          <p:cNvPr id="15" name="text-277">
            <a:extLst>
              <a:ext uri="{FF2B5EF4-FFF2-40B4-BE49-F238E27FC236}">
                <a16:creationId xmlns:a16="http://schemas.microsoft.com/office/drawing/2014/main" id="{DE1B5E36-BFC7-480D-A984-AEDFCDAEE54F}"/>
              </a:ext>
            </a:extLst>
          </p:cNvPr>
          <p:cNvSpPr>
            <a:spLocks noGrp="1"/>
          </p:cNvSpPr>
          <p:nvPr/>
        </p:nvSpPr>
        <p:spPr>
          <a:xfrm>
            <a:off x="61722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231,412</a:t>
            </a:r>
          </a:p>
        </p:txBody>
      </p:sp>
      <p:sp>
        <p:nvSpPr>
          <p:cNvPr id="16" name="text-278">
            <a:extLst>
              <a:ext uri="{FF2B5EF4-FFF2-40B4-BE49-F238E27FC236}">
                <a16:creationId xmlns:a16="http://schemas.microsoft.com/office/drawing/2014/main" id="{2F5D9789-8B1F-4C36-B0C7-6CD1DC911584}"/>
              </a:ext>
            </a:extLst>
          </p:cNvPr>
          <p:cNvSpPr>
            <a:spLocks noGrp="1"/>
          </p:cNvSpPr>
          <p:nvPr/>
        </p:nvSpPr>
        <p:spPr>
          <a:xfrm>
            <a:off x="61722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order lines</a:t>
            </a:r>
          </a:p>
        </p:txBody>
      </p:sp>
      <p:sp>
        <p:nvSpPr>
          <p:cNvPr id="17" name="text-279">
            <a:extLst>
              <a:ext uri="{FF2B5EF4-FFF2-40B4-BE49-F238E27FC236}">
                <a16:creationId xmlns:a16="http://schemas.microsoft.com/office/drawing/2014/main" id="{8B7D775D-3C1B-444B-B64E-C86A9F23477A}"/>
              </a:ext>
            </a:extLst>
          </p:cNvPr>
          <p:cNvSpPr>
            <a:spLocks noGrp="1"/>
          </p:cNvSpPr>
          <p:nvPr/>
        </p:nvSpPr>
        <p:spPr>
          <a:xfrm>
            <a:off x="8953500" y="2324100"/>
            <a:ext cx="2647950" cy="600075"/>
          </a:xfrm>
          <a:prstGeom prst="rect">
            <a:avLst/>
          </a:prstGeom>
          <a:noFill/>
          <a:ln w="0">
            <a:noFill/>
          </a:ln>
        </p:spPr>
        <p:txBody>
          <a:bodyPr wrap="square" lIns="0" tIns="0" rIns="0" bIns="0" anchor="t">
            <a:noAutofit/>
          </a:bodyPr>
          <a:lstStyle>
            <a:defPPr algn="l">
              <a:defRPr sz="3000" b="1">
                <a:solidFill>
                  <a:srgbClr val="17324A"/>
                </a:solidFill>
                <a:latin typeface="Arial"/>
                <a:ea typeface="Arial"/>
                <a:cs typeface="Arial"/>
              </a:defRPr>
            </a:defPPr>
          </a:lstStyle>
          <a:p>
            <a:pPr algn="l">
              <a:lnSpc>
                <a:spcPct val="112000"/>
              </a:lnSpc>
              <a:buNone/>
              <a:defRPr sz="3000" b="1">
                <a:solidFill>
                  <a:srgbClr val="17324A"/>
                </a:solidFill>
                <a:latin typeface="Arial"/>
                <a:ea typeface="Arial"/>
                <a:cs typeface="Arial"/>
              </a:defRPr>
            </a:pPr>
            <a:r>
              <a:rPr sz="3000" b="1">
                <a:solidFill>
                  <a:srgbClr val="17324A"/>
                </a:solidFill>
                <a:latin typeface="Arial"/>
                <a:ea typeface="Arial"/>
                <a:cs typeface="Arial"/>
              </a:rPr>
              <a:t>24 Feb 2016</a:t>
            </a:r>
          </a:p>
        </p:txBody>
      </p:sp>
      <p:sp>
        <p:nvSpPr>
          <p:cNvPr id="18" name="text-280">
            <a:extLst>
              <a:ext uri="{FF2B5EF4-FFF2-40B4-BE49-F238E27FC236}">
                <a16:creationId xmlns:a16="http://schemas.microsoft.com/office/drawing/2014/main" id="{46574597-2967-49C8-B984-BCD952BE6591}"/>
              </a:ext>
            </a:extLst>
          </p:cNvPr>
          <p:cNvSpPr>
            <a:spLocks noGrp="1"/>
          </p:cNvSpPr>
          <p:nvPr/>
        </p:nvSpPr>
        <p:spPr>
          <a:xfrm>
            <a:off x="89535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ERPNext invoice cut-off</a:t>
            </a:r>
          </a:p>
        </p:txBody>
      </p:sp>
      <p:sp>
        <p:nvSpPr>
          <p:cNvPr id="19" name="shape-281">
            <a:extLst>
              <a:ext uri="{FF2B5EF4-FFF2-40B4-BE49-F238E27FC236}">
                <a16:creationId xmlns:a16="http://schemas.microsoft.com/office/drawing/2014/main" id="{C8AF1360-B6C6-4271-8297-26F75564E411}"/>
              </a:ext>
            </a:extLst>
          </p:cNvPr>
          <p:cNvSpPr>
            <a:spLocks noGrp="1"/>
          </p:cNvSpPr>
          <p:nvPr/>
        </p:nvSpPr>
        <p:spPr>
          <a:xfrm>
            <a:off x="609600" y="3657600"/>
            <a:ext cx="2095500" cy="542925"/>
          </a:xfrm>
          <a:prstGeom prst="rect">
            <a:avLst/>
          </a:prstGeom>
          <a:solidFill>
            <a:srgbClr val="FFFFFF"/>
          </a:solidFill>
          <a:ln w="15240">
            <a:solidFill>
              <a:srgbClr val="006D77"/>
            </a:solidFill>
          </a:ln>
        </p:spPr>
      </p:sp>
      <p:sp>
        <p:nvSpPr>
          <p:cNvPr id="20" name="text-282">
            <a:extLst>
              <a:ext uri="{FF2B5EF4-FFF2-40B4-BE49-F238E27FC236}">
                <a16:creationId xmlns:a16="http://schemas.microsoft.com/office/drawing/2014/main" id="{44E4AD95-2FDB-4B56-8ABD-FEE15B6DAC45}"/>
              </a:ext>
            </a:extLst>
          </p:cNvPr>
          <p:cNvSpPr>
            <a:spLocks noGrp="1"/>
          </p:cNvSpPr>
          <p:nvPr/>
        </p:nvSpPr>
        <p:spPr>
          <a:xfrm>
            <a:off x="762000" y="3801047"/>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Customer</a:t>
            </a:r>
          </a:p>
        </p:txBody>
      </p:sp>
      <p:sp>
        <p:nvSpPr>
          <p:cNvPr id="21" name="shape-283">
            <a:extLst>
              <a:ext uri="{FF2B5EF4-FFF2-40B4-BE49-F238E27FC236}">
                <a16:creationId xmlns:a16="http://schemas.microsoft.com/office/drawing/2014/main" id="{C599726B-6E01-4B80-9E54-488ED6CFB46B}"/>
              </a:ext>
            </a:extLst>
          </p:cNvPr>
          <p:cNvSpPr>
            <a:spLocks noGrp="1"/>
          </p:cNvSpPr>
          <p:nvPr/>
        </p:nvSpPr>
        <p:spPr>
          <a:xfrm>
            <a:off x="3124200" y="3657600"/>
            <a:ext cx="2190750" cy="542925"/>
          </a:xfrm>
          <a:prstGeom prst="rect">
            <a:avLst/>
          </a:prstGeom>
          <a:solidFill>
            <a:srgbClr val="FFFFFF"/>
          </a:solidFill>
          <a:ln w="15240">
            <a:solidFill>
              <a:srgbClr val="006D77"/>
            </a:solidFill>
          </a:ln>
        </p:spPr>
      </p:sp>
      <p:sp>
        <p:nvSpPr>
          <p:cNvPr id="22" name="text-284">
            <a:extLst>
              <a:ext uri="{FF2B5EF4-FFF2-40B4-BE49-F238E27FC236}">
                <a16:creationId xmlns:a16="http://schemas.microsoft.com/office/drawing/2014/main" id="{EA08B1DD-D2FF-4C4B-A0AB-7AB63FE7A08A}"/>
              </a:ext>
            </a:extLst>
          </p:cNvPr>
          <p:cNvSpPr>
            <a:spLocks noGrp="1"/>
          </p:cNvSpPr>
          <p:nvPr/>
        </p:nvSpPr>
        <p:spPr>
          <a:xfrm>
            <a:off x="3276600" y="3801047"/>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a:t>
            </a:r>
          </a:p>
        </p:txBody>
      </p:sp>
      <p:sp>
        <p:nvSpPr>
          <p:cNvPr id="23" name="shape-285">
            <a:extLst>
              <a:ext uri="{FF2B5EF4-FFF2-40B4-BE49-F238E27FC236}">
                <a16:creationId xmlns:a16="http://schemas.microsoft.com/office/drawing/2014/main" id="{D88DCE34-44F8-4E2B-B32A-DF24E5C74ED1}"/>
              </a:ext>
            </a:extLst>
          </p:cNvPr>
          <p:cNvSpPr>
            <a:spLocks noGrp="1"/>
          </p:cNvSpPr>
          <p:nvPr/>
        </p:nvSpPr>
        <p:spPr>
          <a:xfrm>
            <a:off x="5734050" y="3657600"/>
            <a:ext cx="2381250" cy="542925"/>
          </a:xfrm>
          <a:prstGeom prst="rect">
            <a:avLst/>
          </a:prstGeom>
          <a:solidFill>
            <a:srgbClr val="FFFFFF"/>
          </a:solidFill>
          <a:ln w="15240">
            <a:solidFill>
              <a:srgbClr val="006D77"/>
            </a:solidFill>
          </a:ln>
        </p:spPr>
      </p:sp>
      <p:sp>
        <p:nvSpPr>
          <p:cNvPr id="24" name="text-286">
            <a:extLst>
              <a:ext uri="{FF2B5EF4-FFF2-40B4-BE49-F238E27FC236}">
                <a16:creationId xmlns:a16="http://schemas.microsoft.com/office/drawing/2014/main" id="{E2FC207A-173F-4120-A59B-64FDBEAC7224}"/>
              </a:ext>
            </a:extLst>
          </p:cNvPr>
          <p:cNvSpPr>
            <a:spLocks noGrp="1"/>
          </p:cNvSpPr>
          <p:nvPr/>
        </p:nvSpPr>
        <p:spPr>
          <a:xfrm>
            <a:off x="5886450" y="3801047"/>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 line</a:t>
            </a:r>
          </a:p>
        </p:txBody>
      </p:sp>
      <p:sp>
        <p:nvSpPr>
          <p:cNvPr id="25" name="shape-287">
            <a:extLst>
              <a:ext uri="{FF2B5EF4-FFF2-40B4-BE49-F238E27FC236}">
                <a16:creationId xmlns:a16="http://schemas.microsoft.com/office/drawing/2014/main" id="{B9A18F88-B3D6-4438-A354-4824D336D770}"/>
              </a:ext>
            </a:extLst>
          </p:cNvPr>
          <p:cNvSpPr>
            <a:spLocks noGrp="1"/>
          </p:cNvSpPr>
          <p:nvPr/>
        </p:nvSpPr>
        <p:spPr>
          <a:xfrm>
            <a:off x="9067800" y="4162425"/>
            <a:ext cx="2514600" cy="542925"/>
          </a:xfrm>
          <a:prstGeom prst="rect">
            <a:avLst/>
          </a:prstGeom>
          <a:solidFill>
            <a:srgbClr val="EAF2F1"/>
          </a:solidFill>
          <a:ln w="15240">
            <a:solidFill>
              <a:srgbClr val="006D77"/>
            </a:solidFill>
          </a:ln>
        </p:spPr>
      </p:sp>
      <p:sp>
        <p:nvSpPr>
          <p:cNvPr id="26" name="text-288">
            <a:extLst>
              <a:ext uri="{FF2B5EF4-FFF2-40B4-BE49-F238E27FC236}">
                <a16:creationId xmlns:a16="http://schemas.microsoft.com/office/drawing/2014/main" id="{EBF4BF07-A96F-4E85-8693-9231044D2D1C}"/>
              </a:ext>
            </a:extLst>
          </p:cNvPr>
          <p:cNvSpPr>
            <a:spLocks noGrp="1"/>
          </p:cNvSpPr>
          <p:nvPr/>
        </p:nvSpPr>
        <p:spPr>
          <a:xfrm>
            <a:off x="9220200" y="4300538"/>
            <a:ext cx="2209800" cy="304800"/>
          </a:xfrm>
          <a:prstGeom prst="rect">
            <a:avLst/>
          </a:prstGeom>
          <a:noFill/>
          <a:ln w="0">
            <a:noFill/>
          </a:ln>
        </p:spPr>
        <p:txBody>
          <a:bodyPr wrap="square" lIns="0" tIns="0" rIns="0" bIns="0" anchor="t">
            <a:noAutofit/>
          </a:bodyPr>
          <a:lstStyle>
            <a:defPPr algn="ctr">
              <a:defRPr sz="1875" b="1">
                <a:solidFill>
                  <a:srgbClr val="102A43"/>
                </a:solidFill>
                <a:latin typeface="Arial"/>
                <a:ea typeface="Arial"/>
                <a:cs typeface="Arial"/>
              </a:defRPr>
            </a:defPPr>
          </a:lstStyle>
          <a:p>
            <a:pPr algn="ctr">
              <a:lnSpc>
                <a:spcPct val="112000"/>
              </a:lnSpc>
              <a:buNone/>
              <a:defRPr sz="1875" b="1">
                <a:solidFill>
                  <a:srgbClr val="102A43"/>
                </a:solidFill>
                <a:latin typeface="Arial"/>
                <a:ea typeface="Arial"/>
                <a:cs typeface="Arial"/>
              </a:defRPr>
            </a:pPr>
            <a:r>
              <a:rPr sz="1875" b="1">
                <a:solidFill>
                  <a:srgbClr val="102A43"/>
                </a:solidFill>
                <a:latin typeface="Arial"/>
                <a:ea typeface="Arial"/>
                <a:cs typeface="Arial"/>
              </a:rPr>
              <a:t>Item</a:t>
            </a:r>
          </a:p>
        </p:txBody>
      </p:sp>
      <p:sp>
        <p:nvSpPr>
          <p:cNvPr id="27" name="shape-289">
            <a:extLst>
              <a:ext uri="{FF2B5EF4-FFF2-40B4-BE49-F238E27FC236}">
                <a16:creationId xmlns:a16="http://schemas.microsoft.com/office/drawing/2014/main" id="{3B6542F2-A0C2-4877-9966-669DD2FA13AA}"/>
              </a:ext>
            </a:extLst>
          </p:cNvPr>
          <p:cNvSpPr>
            <a:spLocks noGrp="1"/>
          </p:cNvSpPr>
          <p:nvPr/>
        </p:nvSpPr>
        <p:spPr>
          <a:xfrm>
            <a:off x="609600" y="4695825"/>
            <a:ext cx="2095500" cy="542925"/>
          </a:xfrm>
          <a:prstGeom prst="rect">
            <a:avLst/>
          </a:prstGeom>
          <a:solidFill>
            <a:srgbClr val="FFFFFF"/>
          </a:solidFill>
          <a:ln w="15240">
            <a:solidFill>
              <a:srgbClr val="006D77"/>
            </a:solidFill>
          </a:ln>
        </p:spPr>
      </p:sp>
      <p:sp>
        <p:nvSpPr>
          <p:cNvPr id="28" name="text-290">
            <a:extLst>
              <a:ext uri="{FF2B5EF4-FFF2-40B4-BE49-F238E27FC236}">
                <a16:creationId xmlns:a16="http://schemas.microsoft.com/office/drawing/2014/main" id="{3A0D000A-4674-4ADE-B061-0AFA4A4BF9A2}"/>
              </a:ext>
            </a:extLst>
          </p:cNvPr>
          <p:cNvSpPr>
            <a:spLocks noGrp="1"/>
          </p:cNvSpPr>
          <p:nvPr/>
        </p:nvSpPr>
        <p:spPr>
          <a:xfrm>
            <a:off x="762000" y="4839272"/>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Supplier</a:t>
            </a:r>
          </a:p>
        </p:txBody>
      </p:sp>
      <p:sp>
        <p:nvSpPr>
          <p:cNvPr id="29" name="shape-291">
            <a:extLst>
              <a:ext uri="{FF2B5EF4-FFF2-40B4-BE49-F238E27FC236}">
                <a16:creationId xmlns:a16="http://schemas.microsoft.com/office/drawing/2014/main" id="{6105495C-0C89-4200-BE29-07F66A21B2C3}"/>
              </a:ext>
            </a:extLst>
          </p:cNvPr>
          <p:cNvSpPr>
            <a:spLocks noGrp="1"/>
          </p:cNvSpPr>
          <p:nvPr/>
        </p:nvSpPr>
        <p:spPr>
          <a:xfrm>
            <a:off x="3124200" y="4695825"/>
            <a:ext cx="2190750" cy="542925"/>
          </a:xfrm>
          <a:prstGeom prst="rect">
            <a:avLst/>
          </a:prstGeom>
          <a:solidFill>
            <a:srgbClr val="FFFFFF"/>
          </a:solidFill>
          <a:ln w="15240">
            <a:solidFill>
              <a:srgbClr val="006D77"/>
            </a:solidFill>
          </a:ln>
        </p:spPr>
      </p:sp>
      <p:sp>
        <p:nvSpPr>
          <p:cNvPr id="30" name="text-292">
            <a:extLst>
              <a:ext uri="{FF2B5EF4-FFF2-40B4-BE49-F238E27FC236}">
                <a16:creationId xmlns:a16="http://schemas.microsoft.com/office/drawing/2014/main" id="{FB94C3A9-E796-449D-953D-6C4383E1E254}"/>
              </a:ext>
            </a:extLst>
          </p:cNvPr>
          <p:cNvSpPr>
            <a:spLocks noGrp="1"/>
          </p:cNvSpPr>
          <p:nvPr/>
        </p:nvSpPr>
        <p:spPr>
          <a:xfrm>
            <a:off x="3276600" y="4839272"/>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order</a:t>
            </a:r>
          </a:p>
        </p:txBody>
      </p:sp>
      <p:sp>
        <p:nvSpPr>
          <p:cNvPr id="31" name="shape-293">
            <a:extLst>
              <a:ext uri="{FF2B5EF4-FFF2-40B4-BE49-F238E27FC236}">
                <a16:creationId xmlns:a16="http://schemas.microsoft.com/office/drawing/2014/main" id="{75FD1CEC-C84B-4653-A613-364FDE1790A0}"/>
              </a:ext>
            </a:extLst>
          </p:cNvPr>
          <p:cNvSpPr>
            <a:spLocks noGrp="1"/>
          </p:cNvSpPr>
          <p:nvPr/>
        </p:nvSpPr>
        <p:spPr>
          <a:xfrm>
            <a:off x="5734050" y="4695825"/>
            <a:ext cx="2381250" cy="542925"/>
          </a:xfrm>
          <a:prstGeom prst="rect">
            <a:avLst/>
          </a:prstGeom>
          <a:solidFill>
            <a:srgbClr val="FFFFFF"/>
          </a:solidFill>
          <a:ln w="15240">
            <a:solidFill>
              <a:srgbClr val="006D77"/>
            </a:solidFill>
          </a:ln>
        </p:spPr>
      </p:sp>
      <p:sp>
        <p:nvSpPr>
          <p:cNvPr id="32" name="text-294">
            <a:extLst>
              <a:ext uri="{FF2B5EF4-FFF2-40B4-BE49-F238E27FC236}">
                <a16:creationId xmlns:a16="http://schemas.microsoft.com/office/drawing/2014/main" id="{A18B44D1-BCDF-4A85-8BE0-4FFBAE5F8280}"/>
              </a:ext>
            </a:extLst>
          </p:cNvPr>
          <p:cNvSpPr>
            <a:spLocks noGrp="1"/>
          </p:cNvSpPr>
          <p:nvPr/>
        </p:nvSpPr>
        <p:spPr>
          <a:xfrm>
            <a:off x="5886450" y="4839272"/>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line</a:t>
            </a:r>
          </a:p>
        </p:txBody>
      </p:sp>
      <p:sp>
        <p:nvSpPr>
          <p:cNvPr id="39" name="shape-295">
            <a:extLst>
              <a:ext uri="{FF2B5EF4-FFF2-40B4-BE49-F238E27FC236}">
                <a16:creationId xmlns:a16="http://schemas.microsoft.com/office/drawing/2014/main" id="{ADBF6DC4-B2D3-4F81-882D-94314BB6C897}"/>
              </a:ext>
            </a:extLst>
          </p:cNvPr>
          <p:cNvSpPr>
            <a:spLocks noGrp="1"/>
          </p:cNvSpPr>
          <p:nvPr/>
        </p:nvSpPr>
        <p:spPr>
          <a:xfrm>
            <a:off x="609600" y="5505450"/>
            <a:ext cx="10972800" cy="14288"/>
          </a:xfrm>
          <a:prstGeom prst="rect">
            <a:avLst/>
          </a:prstGeom>
          <a:solidFill>
            <a:srgbClr val="CDD7D9"/>
          </a:solidFill>
          <a:ln w="0">
            <a:noFill/>
          </a:ln>
        </p:spPr>
      </p:sp>
      <p:sp>
        <p:nvSpPr>
          <p:cNvPr id="40" name="text-296">
            <a:extLst>
              <a:ext uri="{FF2B5EF4-FFF2-40B4-BE49-F238E27FC236}">
                <a16:creationId xmlns:a16="http://schemas.microsoft.com/office/drawing/2014/main" id="{CF3D5DE3-4815-4446-BD41-C17C34722BB2}"/>
              </a:ext>
            </a:extLst>
          </p:cNvPr>
          <p:cNvSpPr>
            <a:spLocks noGrp="1"/>
          </p:cNvSpPr>
          <p:nvPr/>
        </p:nvSpPr>
        <p:spPr>
          <a:xfrm>
            <a:off x="609600" y="5695950"/>
            <a:ext cx="5905500" cy="314325"/>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Current: WWI relational sample data</a:t>
            </a:r>
          </a:p>
        </p:txBody>
      </p:sp>
      <p:sp>
        <p:nvSpPr>
          <p:cNvPr id="41" name="text-297">
            <a:extLst>
              <a:ext uri="{FF2B5EF4-FFF2-40B4-BE49-F238E27FC236}">
                <a16:creationId xmlns:a16="http://schemas.microsoft.com/office/drawing/2014/main" id="{42BCE020-6ADE-4D89-8B6F-84FE68DDE09C}"/>
              </a:ext>
            </a:extLst>
          </p:cNvPr>
          <p:cNvSpPr>
            <a:spLocks noGrp="1"/>
          </p:cNvSpPr>
          <p:nvPr/>
        </p:nvSpPr>
        <p:spPr>
          <a:xfrm>
            <a:off x="5852160" y="5695950"/>
            <a:ext cx="3383280" cy="314325"/>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ERPNext 15 with WWI loaded</a:t>
            </a:r>
          </a:p>
        </p:txBody>
      </p:sp>
      <p:sp>
        <p:nvSpPr>
          <p:cNvPr id="42" name="citation-298">
            <a:extLst>
              <a:ext uri="{FF2B5EF4-FFF2-40B4-BE49-F238E27FC236}">
                <a16:creationId xmlns:a16="http://schemas.microsoft.com/office/drawing/2014/main" id="{11BE4339-0B19-4DC2-858B-DA6ED64DD02A}"/>
              </a:ext>
            </a:extLst>
          </p:cNvPr>
          <p:cNvSpPr>
            <a:spLocks noGrp="1"/>
          </p:cNvSpPr>
          <p:nvPr/>
        </p:nvSpPr>
        <p:spPr>
          <a:xfrm>
            <a:off x="9235440" y="5629275"/>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10,11</a:t>
            </a:r>
          </a:p>
        </p:txBody>
      </p:sp>
      <p:sp>
        <p:nvSpPr>
          <p:cNvPr id="43" name="text-299">
            <a:extLst>
              <a:ext uri="{FF2B5EF4-FFF2-40B4-BE49-F238E27FC236}">
                <a16:creationId xmlns:a16="http://schemas.microsoft.com/office/drawing/2014/main" id="{E101C3C0-F706-4CDF-9395-D3FD374BDBF3}"/>
              </a:ext>
            </a:extLst>
          </p:cNvPr>
          <p:cNvSpPr>
            <a:spLocks noGrp="1"/>
          </p:cNvSpPr>
          <p:nvPr/>
        </p:nvSpPr>
        <p:spPr>
          <a:xfrm>
            <a:off x="609600" y="6067425"/>
            <a:ext cx="590550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Read-only data with preserved source IDs</a:t>
            </a:r>
          </a:p>
        </p:txBody>
      </p:sp>
      <p:sp>
        <p:nvSpPr>
          <p:cNvPr id="44" name="text-300">
            <a:extLst>
              <a:ext uri="{FF2B5EF4-FFF2-40B4-BE49-F238E27FC236}">
                <a16:creationId xmlns:a16="http://schemas.microsoft.com/office/drawing/2014/main" id="{9243508D-0853-4CA1-BA30-567DD428424E}"/>
              </a:ext>
            </a:extLst>
          </p:cNvPr>
          <p:cNvSpPr>
            <a:spLocks noGrp="1"/>
          </p:cNvSpPr>
          <p:nvPr/>
        </p:nvSpPr>
        <p:spPr>
          <a:xfrm>
            <a:off x="5852160" y="6067425"/>
            <a:ext cx="576072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73,596 orders, 64,500 invoices; 8 of 8 checks pass</a:t>
            </a:r>
          </a:p>
        </p:txBody>
      </p:sp>
      <p:pic>
        <p:nvPicPr>
          <p:cNvPr id="45" name="Picture 44">
            <a:extLst>
              <a:ext uri="{FF2B5EF4-FFF2-40B4-BE49-F238E27FC236}">
                <a16:creationId xmlns:a16="http://schemas.microsoft.com/office/drawing/2014/main" id="{E53B259F-4D55-408F-BF26-502ACCE665AE}"/>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25365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hape-301">
            <a:extLst>
              <a:ext uri="{FF2B5EF4-FFF2-40B4-BE49-F238E27FC236}">
                <a16:creationId xmlns:a16="http://schemas.microsoft.com/office/drawing/2014/main" id="{95CF6F9F-9BB3-4DC5-940F-94565FB433F4}"/>
              </a:ext>
            </a:extLst>
          </p:cNvPr>
          <p:cNvSpPr>
            <a:spLocks noGrp="1"/>
          </p:cNvSpPr>
          <p:nvPr/>
        </p:nvSpPr>
        <p:spPr>
          <a:xfrm>
            <a:off x="0" y="0"/>
            <a:ext cx="12192000" cy="1066800"/>
          </a:xfrm>
          <a:prstGeom prst="rect">
            <a:avLst/>
          </a:prstGeom>
          <a:solidFill>
            <a:srgbClr val="F2F6F7"/>
          </a:solidFill>
          <a:ln w="0">
            <a:noFill/>
          </a:ln>
        </p:spPr>
      </p:sp>
      <p:sp>
        <p:nvSpPr>
          <p:cNvPr id="2" name="shape-302">
            <a:extLst>
              <a:ext uri="{FF2B5EF4-FFF2-40B4-BE49-F238E27FC236}">
                <a16:creationId xmlns:a16="http://schemas.microsoft.com/office/drawing/2014/main" id="{3A6E29A4-C674-491A-B91C-A5E05F94FD2F}"/>
              </a:ext>
            </a:extLst>
          </p:cNvPr>
          <p:cNvSpPr>
            <a:spLocks noGrp="1"/>
          </p:cNvSpPr>
          <p:nvPr/>
        </p:nvSpPr>
        <p:spPr>
          <a:xfrm>
            <a:off x="0" y="1038225"/>
            <a:ext cx="12192000" cy="28575"/>
          </a:xfrm>
          <a:prstGeom prst="rect">
            <a:avLst/>
          </a:prstGeom>
          <a:solidFill>
            <a:srgbClr val="006D77"/>
          </a:solidFill>
          <a:ln w="0">
            <a:noFill/>
          </a:ln>
        </p:spPr>
      </p:sp>
      <p:sp>
        <p:nvSpPr>
          <p:cNvPr id="3" name="slide-11-title">
            <a:extLst>
              <a:ext uri="{FF2B5EF4-FFF2-40B4-BE49-F238E27FC236}">
                <a16:creationId xmlns:a16="http://schemas.microsoft.com/office/drawing/2014/main" id="{710092CD-A091-49DC-8E92-053D86CF366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Evaluation plan</a:t>
            </a:r>
          </a:p>
        </p:txBody>
      </p:sp>
      <p:sp>
        <p:nvSpPr>
          <p:cNvPr id="4" name="shape-303">
            <a:extLst>
              <a:ext uri="{FF2B5EF4-FFF2-40B4-BE49-F238E27FC236}">
                <a16:creationId xmlns:a16="http://schemas.microsoft.com/office/drawing/2014/main" id="{C9D29AB5-353F-40F8-A8AF-48739E79E91D}"/>
              </a:ext>
            </a:extLst>
          </p:cNvPr>
          <p:cNvSpPr>
            <a:spLocks noGrp="1"/>
          </p:cNvSpPr>
          <p:nvPr/>
        </p:nvSpPr>
        <p:spPr>
          <a:xfrm>
            <a:off x="0" y="6381750"/>
            <a:ext cx="12192000" cy="476250"/>
          </a:xfrm>
          <a:prstGeom prst="rect">
            <a:avLst/>
          </a:prstGeom>
          <a:solidFill>
            <a:srgbClr val="102A43"/>
          </a:solidFill>
          <a:ln w="0">
            <a:noFill/>
          </a:ln>
        </p:spPr>
      </p:sp>
      <p:sp>
        <p:nvSpPr>
          <p:cNvPr id="5" name="brand-11">
            <a:extLst>
              <a:ext uri="{FF2B5EF4-FFF2-40B4-BE49-F238E27FC236}">
                <a16:creationId xmlns:a16="http://schemas.microsoft.com/office/drawing/2014/main" id="{244D9C01-DAF6-4168-9DA2-28A8D373497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1">
            <a:extLst>
              <a:ext uri="{FF2B5EF4-FFF2-40B4-BE49-F238E27FC236}">
                <a16:creationId xmlns:a16="http://schemas.microsoft.com/office/drawing/2014/main" id="{933BAC26-35F3-4609-9B3E-F11EE901280A}"/>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17 / 23</a:t>
            </a:r>
          </a:p>
        </p:txBody>
      </p:sp>
      <p:sp>
        <p:nvSpPr>
          <p:cNvPr id="7" name="text-304">
            <a:extLst>
              <a:ext uri="{FF2B5EF4-FFF2-40B4-BE49-F238E27FC236}">
                <a16:creationId xmlns:a16="http://schemas.microsoft.com/office/drawing/2014/main" id="{B8D79435-3F7D-46A3-9263-ADF4686B8C1F}"/>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evaluation across web and enterprise task environments</a:t>
            </a:r>
          </a:p>
        </p:txBody>
      </p:sp>
      <p:sp>
        <p:nvSpPr>
          <p:cNvPr id="8" name="text-305">
            <a:extLst>
              <a:ext uri="{FF2B5EF4-FFF2-40B4-BE49-F238E27FC236}">
                <a16:creationId xmlns:a16="http://schemas.microsoft.com/office/drawing/2014/main" id="{7DC549D0-0F23-49B9-BFD4-8CB13F2CED46}"/>
              </a:ext>
            </a:extLst>
          </p:cNvPr>
          <p:cNvSpPr>
            <a:spLocks noGrp="1"/>
          </p:cNvSpPr>
          <p:nvPr/>
        </p:nvSpPr>
        <p:spPr>
          <a:xfrm>
            <a:off x="609600" y="2162175"/>
            <a:ext cx="4953000" cy="419100"/>
          </a:xfrm>
          <a:prstGeom prst="rect">
            <a:avLst/>
          </a:prstGeom>
          <a:noFill/>
          <a:ln w="0">
            <a:noFill/>
          </a:ln>
        </p:spPr>
        <p:txBody>
          <a:bodyPr wrap="square" lIns="0" tIns="0" rIns="0" bIns="0" anchor="t">
            <a:noAutofit/>
          </a:bodyPr>
          <a:lstStyle>
            <a:defPPr algn="l">
              <a:defRPr sz="2325" b="1">
                <a:solidFill>
                  <a:srgbClr val="315E87"/>
                </a:solidFill>
                <a:latin typeface="Arial"/>
                <a:ea typeface="Arial"/>
                <a:cs typeface="Arial"/>
              </a:defRPr>
            </a:defPPr>
          </a:lstStyle>
          <a:p>
            <a:pPr algn="l">
              <a:lnSpc>
                <a:spcPct val="112000"/>
              </a:lnSpc>
              <a:buNone/>
              <a:defRPr sz="2325" b="1">
                <a:solidFill>
                  <a:srgbClr val="315E87"/>
                </a:solidFill>
                <a:latin typeface="Arial"/>
                <a:ea typeface="Arial"/>
                <a:cs typeface="Arial"/>
              </a:defRPr>
            </a:pPr>
            <a:r>
              <a:rPr sz="2325" b="1">
                <a:solidFill>
                  <a:srgbClr val="315E87"/>
                </a:solidFill>
                <a:latin typeface="Arial"/>
                <a:ea typeface="Arial"/>
                <a:cs typeface="Arial"/>
              </a:rPr>
              <a:t>WebArena</a:t>
            </a:r>
          </a:p>
        </p:txBody>
      </p:sp>
      <p:sp>
        <p:nvSpPr>
          <p:cNvPr id="9" name="citation-306">
            <a:extLst>
              <a:ext uri="{FF2B5EF4-FFF2-40B4-BE49-F238E27FC236}">
                <a16:creationId xmlns:a16="http://schemas.microsoft.com/office/drawing/2014/main" id="{A4872A7B-C038-4840-9F00-9D4139532EA1}"/>
              </a:ext>
            </a:extLst>
          </p:cNvPr>
          <p:cNvSpPr>
            <a:spLocks noGrp="1"/>
          </p:cNvSpPr>
          <p:nvPr/>
        </p:nvSpPr>
        <p:spPr>
          <a:xfrm>
            <a:off x="2112074" y="20955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12</a:t>
            </a:r>
          </a:p>
        </p:txBody>
      </p:sp>
      <p:sp>
        <p:nvSpPr>
          <p:cNvPr id="10" name="text-307">
            <a:extLst>
              <a:ext uri="{FF2B5EF4-FFF2-40B4-BE49-F238E27FC236}">
                <a16:creationId xmlns:a16="http://schemas.microsoft.com/office/drawing/2014/main" id="{422E0AAE-0AA9-426E-9556-0D2CC2C7CB36}"/>
              </a:ext>
            </a:extLst>
          </p:cNvPr>
          <p:cNvSpPr>
            <a:spLocks noGrp="1"/>
          </p:cNvSpPr>
          <p:nvPr/>
        </p:nvSpPr>
        <p:spPr>
          <a:xfrm>
            <a:off x="609600" y="2752725"/>
            <a:ext cx="4953000" cy="771525"/>
          </a:xfrm>
          <a:prstGeom prst="rect">
            <a:avLst/>
          </a:prstGeom>
          <a:noFill/>
          <a:ln w="0">
            <a:noFill/>
          </a:ln>
        </p:spPr>
        <p:txBody>
          <a:bodyPr wrap="square" lIns="0" tIns="0" rIns="0" bIns="0" anchor="t">
            <a:noAutofit/>
          </a:bodyPr>
          <a:lstStyle>
            <a:defPPr algn="l">
              <a:defRPr sz="4875" b="1">
                <a:solidFill>
                  <a:srgbClr val="315E87"/>
                </a:solidFill>
                <a:latin typeface="Arial"/>
                <a:ea typeface="Arial"/>
                <a:cs typeface="Arial"/>
              </a:defRPr>
            </a:defPPr>
          </a:lstStyle>
          <a:p>
            <a:pPr algn="l">
              <a:lnSpc>
                <a:spcPct val="112000"/>
              </a:lnSpc>
              <a:buNone/>
              <a:defRPr sz="4875" b="1">
                <a:solidFill>
                  <a:srgbClr val="315E87"/>
                </a:solidFill>
                <a:latin typeface="Arial"/>
                <a:ea typeface="Arial"/>
                <a:cs typeface="Arial"/>
              </a:defRPr>
            </a:pPr>
            <a:r>
              <a:rPr sz="4875" b="1">
                <a:solidFill>
                  <a:srgbClr val="315E87"/>
                </a:solidFill>
                <a:latin typeface="Arial"/>
                <a:ea typeface="Arial"/>
                <a:cs typeface="Arial"/>
              </a:rPr>
              <a:t>812</a:t>
            </a:r>
          </a:p>
        </p:txBody>
      </p:sp>
      <p:sp>
        <p:nvSpPr>
          <p:cNvPr id="11" name="text-308">
            <a:extLst>
              <a:ext uri="{FF2B5EF4-FFF2-40B4-BE49-F238E27FC236}">
                <a16:creationId xmlns:a16="http://schemas.microsoft.com/office/drawing/2014/main" id="{781E96D2-A36F-428B-92B9-5DBA46E93CF4}"/>
              </a:ext>
            </a:extLst>
          </p:cNvPr>
          <p:cNvSpPr>
            <a:spLocks noGrp="1"/>
          </p:cNvSpPr>
          <p:nvPr/>
        </p:nvSpPr>
        <p:spPr>
          <a:xfrm>
            <a:off x="609600" y="3600450"/>
            <a:ext cx="49530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tasks in the original benchmark</a:t>
            </a:r>
          </a:p>
        </p:txBody>
      </p:sp>
      <p:sp>
        <p:nvSpPr>
          <p:cNvPr id="12" name="text-309">
            <a:extLst>
              <a:ext uri="{FF2B5EF4-FFF2-40B4-BE49-F238E27FC236}">
                <a16:creationId xmlns:a16="http://schemas.microsoft.com/office/drawing/2014/main" id="{FC6714F1-BE60-4094-9843-E73D087D5744}"/>
              </a:ext>
            </a:extLst>
          </p:cNvPr>
          <p:cNvSpPr>
            <a:spLocks noGrp="1"/>
          </p:cNvSpPr>
          <p:nvPr/>
        </p:nvSpPr>
        <p:spPr>
          <a:xfrm>
            <a:off x="609600" y="4210050"/>
            <a:ext cx="49530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Self-hosted shopping, forums, code and content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Functional completion of declared tasks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Fixed budgets and observation permissions</a:t>
            </a:r>
          </a:p>
        </p:txBody>
      </p:sp>
      <p:sp>
        <p:nvSpPr>
          <p:cNvPr id="13" name="shape-310">
            <a:extLst>
              <a:ext uri="{FF2B5EF4-FFF2-40B4-BE49-F238E27FC236}">
                <a16:creationId xmlns:a16="http://schemas.microsoft.com/office/drawing/2014/main" id="{F0189572-7368-42DC-A244-C71CC5DFC93C}"/>
              </a:ext>
            </a:extLst>
          </p:cNvPr>
          <p:cNvSpPr>
            <a:spLocks noGrp="1"/>
          </p:cNvSpPr>
          <p:nvPr/>
        </p:nvSpPr>
        <p:spPr>
          <a:xfrm>
            <a:off x="6096000" y="2162175"/>
            <a:ext cx="14288" cy="3067050"/>
          </a:xfrm>
          <a:prstGeom prst="rect">
            <a:avLst/>
          </a:prstGeom>
          <a:solidFill>
            <a:srgbClr val="CDD7D9"/>
          </a:solidFill>
          <a:ln w="0">
            <a:noFill/>
          </a:ln>
        </p:spPr>
      </p:sp>
      <p:sp>
        <p:nvSpPr>
          <p:cNvPr id="14" name="text-311">
            <a:extLst>
              <a:ext uri="{FF2B5EF4-FFF2-40B4-BE49-F238E27FC236}">
                <a16:creationId xmlns:a16="http://schemas.microsoft.com/office/drawing/2014/main" id="{C433EC1A-6E43-44D1-A5FB-866C14418BBA}"/>
              </a:ext>
            </a:extLst>
          </p:cNvPr>
          <p:cNvSpPr>
            <a:spLocks noGrp="1"/>
          </p:cNvSpPr>
          <p:nvPr/>
        </p:nvSpPr>
        <p:spPr>
          <a:xfrm>
            <a:off x="6705600" y="2162175"/>
            <a:ext cx="4876800" cy="41910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WWI / ERP task suite</a:t>
            </a:r>
          </a:p>
        </p:txBody>
      </p:sp>
      <p:sp>
        <p:nvSpPr>
          <p:cNvPr id="15" name="text-312">
            <a:extLst>
              <a:ext uri="{FF2B5EF4-FFF2-40B4-BE49-F238E27FC236}">
                <a16:creationId xmlns:a16="http://schemas.microsoft.com/office/drawing/2014/main" id="{473D9169-48E0-441D-AF9A-CA45B0452A68}"/>
              </a:ext>
            </a:extLst>
          </p:cNvPr>
          <p:cNvSpPr>
            <a:spLocks noGrp="1"/>
          </p:cNvSpPr>
          <p:nvPr/>
        </p:nvSpPr>
        <p:spPr>
          <a:xfrm>
            <a:off x="6705600" y="2752725"/>
            <a:ext cx="4876800" cy="771525"/>
          </a:xfrm>
          <a:prstGeom prst="rect">
            <a:avLst/>
          </a:prstGeom>
          <a:noFill/>
          <a:ln w="0">
            <a:noFill/>
          </a:ln>
        </p:spPr>
        <p:txBody>
          <a:bodyPr wrap="square" lIns="0" tIns="0" rIns="0" bIns="0" anchor="t">
            <a:noAutofit/>
          </a:bodyPr>
          <a:lstStyle>
            <a:defPPr algn="l">
              <a:defRPr sz="4500" b="1">
                <a:solidFill>
                  <a:srgbClr val="006D77"/>
                </a:solidFill>
                <a:latin typeface="Arial"/>
                <a:ea typeface="Arial"/>
                <a:cs typeface="Arial"/>
              </a:defRPr>
            </a:defPPr>
          </a:lstStyle>
          <a:p>
            <a:pPr algn="l">
              <a:lnSpc>
                <a:spcPct val="112000"/>
              </a:lnSpc>
              <a:buNone/>
              <a:defRPr sz="4500" b="1">
                <a:solidFill>
                  <a:srgbClr val="006D77"/>
                </a:solidFill>
                <a:latin typeface="Arial"/>
                <a:ea typeface="Arial"/>
                <a:cs typeface="Arial"/>
              </a:defRPr>
            </a:pPr>
            <a:r>
              <a:rPr sz="4500" b="1">
                <a:solidFill>
                  <a:srgbClr val="006D77"/>
                </a:solidFill>
                <a:latin typeface="Arial"/>
                <a:ea typeface="Arial"/>
                <a:cs typeface="Arial"/>
              </a:rPr>
              <a:t>12 + 18</a:t>
            </a:r>
          </a:p>
        </p:txBody>
      </p:sp>
      <p:sp>
        <p:nvSpPr>
          <p:cNvPr id="16" name="text-313">
            <a:extLst>
              <a:ext uri="{FF2B5EF4-FFF2-40B4-BE49-F238E27FC236}">
                <a16:creationId xmlns:a16="http://schemas.microsoft.com/office/drawing/2014/main" id="{72B78407-C55A-41EC-B60F-F2D61E6D2A82}"/>
              </a:ext>
            </a:extLst>
          </p:cNvPr>
          <p:cNvSpPr>
            <a:spLocks noGrp="1"/>
          </p:cNvSpPr>
          <p:nvPr/>
        </p:nvSpPr>
        <p:spPr>
          <a:xfrm>
            <a:off x="6705600" y="3600450"/>
            <a:ext cx="48768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development + held-out tasks</a:t>
            </a:r>
          </a:p>
        </p:txBody>
      </p:sp>
      <p:sp>
        <p:nvSpPr>
          <p:cNvPr id="17" name="text-314">
            <a:extLst>
              <a:ext uri="{FF2B5EF4-FFF2-40B4-BE49-F238E27FC236}">
                <a16:creationId xmlns:a16="http://schemas.microsoft.com/office/drawing/2014/main" id="{1A7A623C-B2A6-49D3-BA76-2AF431EE8D29}"/>
              </a:ext>
            </a:extLst>
          </p:cNvPr>
          <p:cNvSpPr>
            <a:spLocks noGrp="1"/>
          </p:cNvSpPr>
          <p:nvPr/>
        </p:nvSpPr>
        <p:spPr>
          <a:xfrm>
            <a:off x="6705600" y="4210050"/>
            <a:ext cx="48768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Business values and applied scope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context and supporting evidence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destination and recovery</a:t>
            </a:r>
          </a:p>
        </p:txBody>
      </p:sp>
      <p:sp>
        <p:nvSpPr>
          <p:cNvPr id="18" name="shape-315">
            <a:extLst>
              <a:ext uri="{FF2B5EF4-FFF2-40B4-BE49-F238E27FC236}">
                <a16:creationId xmlns:a16="http://schemas.microsoft.com/office/drawing/2014/main" id="{8F17DC8D-BFE5-4D31-A28B-C8637C123869}"/>
              </a:ext>
            </a:extLst>
          </p:cNvPr>
          <p:cNvSpPr>
            <a:spLocks noGrp="1"/>
          </p:cNvSpPr>
          <p:nvPr/>
        </p:nvSpPr>
        <p:spPr>
          <a:xfrm>
            <a:off x="609600" y="5562600"/>
            <a:ext cx="10972800" cy="14288"/>
          </a:xfrm>
          <a:prstGeom prst="rect">
            <a:avLst/>
          </a:prstGeom>
          <a:solidFill>
            <a:srgbClr val="CDD7D9"/>
          </a:solidFill>
          <a:ln w="0">
            <a:noFill/>
          </a:ln>
        </p:spPr>
      </p:sp>
      <p:sp>
        <p:nvSpPr>
          <p:cNvPr id="19" name="text-316">
            <a:extLst>
              <a:ext uri="{FF2B5EF4-FFF2-40B4-BE49-F238E27FC236}">
                <a16:creationId xmlns:a16="http://schemas.microsoft.com/office/drawing/2014/main" id="{9CB824F0-13AB-4F44-9C8F-8C12392997FC}"/>
              </a:ext>
            </a:extLst>
          </p:cNvPr>
          <p:cNvSpPr>
            <a:spLocks noGrp="1"/>
          </p:cNvSpPr>
          <p:nvPr/>
        </p:nvSpPr>
        <p:spPr>
          <a:xfrm>
            <a:off x="609600" y="5657850"/>
            <a:ext cx="10972800" cy="3238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Separate environments and scores</a:t>
            </a:r>
          </a:p>
        </p:txBody>
      </p:sp>
      <p:sp>
        <p:nvSpPr>
          <p:cNvPr id="20" name="text-317">
            <a:extLst>
              <a:ext uri="{FF2B5EF4-FFF2-40B4-BE49-F238E27FC236}">
                <a16:creationId xmlns:a16="http://schemas.microsoft.com/office/drawing/2014/main" id="{D51FC2A5-8FF5-41A6-BEF0-CE1BD7FE6E3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Added API or semantic-context access creates an adapted WebArena protocol, reported separately.</a:t>
            </a:r>
          </a:p>
        </p:txBody>
      </p:sp>
      <p:pic>
        <p:nvPicPr>
          <p:cNvPr id="21" name="Picture 20">
            <a:extLst>
              <a:ext uri="{FF2B5EF4-FFF2-40B4-BE49-F238E27FC236}">
                <a16:creationId xmlns:a16="http://schemas.microsoft.com/office/drawing/2014/main" id="{BAA600A7-8AA5-487A-973D-0CC0F433ED4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0097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hape-318">
            <a:extLst>
              <a:ext uri="{FF2B5EF4-FFF2-40B4-BE49-F238E27FC236}">
                <a16:creationId xmlns:a16="http://schemas.microsoft.com/office/drawing/2014/main" id="{FC1169AB-5671-45AE-AF57-958CDB9BF17A}"/>
              </a:ext>
            </a:extLst>
          </p:cNvPr>
          <p:cNvSpPr>
            <a:spLocks noGrp="1"/>
          </p:cNvSpPr>
          <p:nvPr/>
        </p:nvSpPr>
        <p:spPr>
          <a:xfrm>
            <a:off x="0" y="0"/>
            <a:ext cx="12192000" cy="1066800"/>
          </a:xfrm>
          <a:prstGeom prst="rect">
            <a:avLst/>
          </a:prstGeom>
          <a:solidFill>
            <a:srgbClr val="F2F6F7"/>
          </a:solidFill>
          <a:ln w="0">
            <a:noFill/>
          </a:ln>
        </p:spPr>
      </p:sp>
      <p:sp>
        <p:nvSpPr>
          <p:cNvPr id="2" name="shape-319">
            <a:extLst>
              <a:ext uri="{FF2B5EF4-FFF2-40B4-BE49-F238E27FC236}">
                <a16:creationId xmlns:a16="http://schemas.microsoft.com/office/drawing/2014/main" id="{ED7113AD-0B45-4C58-B7EB-9FC96FCA9F64}"/>
              </a:ext>
            </a:extLst>
          </p:cNvPr>
          <p:cNvSpPr>
            <a:spLocks noGrp="1"/>
          </p:cNvSpPr>
          <p:nvPr/>
        </p:nvSpPr>
        <p:spPr>
          <a:xfrm>
            <a:off x="0" y="1038225"/>
            <a:ext cx="12192000" cy="28575"/>
          </a:xfrm>
          <a:prstGeom prst="rect">
            <a:avLst/>
          </a:prstGeom>
          <a:solidFill>
            <a:srgbClr val="006D77"/>
          </a:solidFill>
          <a:ln w="0">
            <a:noFill/>
          </a:ln>
        </p:spPr>
      </p:sp>
      <p:sp>
        <p:nvSpPr>
          <p:cNvPr id="3" name="slide-12-title">
            <a:extLst>
              <a:ext uri="{FF2B5EF4-FFF2-40B4-BE49-F238E27FC236}">
                <a16:creationId xmlns:a16="http://schemas.microsoft.com/office/drawing/2014/main" id="{45570A08-F719-4F02-98BA-EE31591239EC}"/>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a:t>
            </a:r>
          </a:p>
        </p:txBody>
      </p:sp>
      <p:sp>
        <p:nvSpPr>
          <p:cNvPr id="4" name="shape-320">
            <a:extLst>
              <a:ext uri="{FF2B5EF4-FFF2-40B4-BE49-F238E27FC236}">
                <a16:creationId xmlns:a16="http://schemas.microsoft.com/office/drawing/2014/main" id="{20A379CE-91A5-4C53-A2FE-9EAE8E5C6C8A}"/>
              </a:ext>
            </a:extLst>
          </p:cNvPr>
          <p:cNvSpPr>
            <a:spLocks noGrp="1"/>
          </p:cNvSpPr>
          <p:nvPr/>
        </p:nvSpPr>
        <p:spPr>
          <a:xfrm>
            <a:off x="0" y="6381750"/>
            <a:ext cx="12192000" cy="476250"/>
          </a:xfrm>
          <a:prstGeom prst="rect">
            <a:avLst/>
          </a:prstGeom>
          <a:solidFill>
            <a:srgbClr val="102A43"/>
          </a:solidFill>
          <a:ln w="0">
            <a:noFill/>
          </a:ln>
        </p:spPr>
      </p:sp>
      <p:sp>
        <p:nvSpPr>
          <p:cNvPr id="5" name="brand-12">
            <a:extLst>
              <a:ext uri="{FF2B5EF4-FFF2-40B4-BE49-F238E27FC236}">
                <a16:creationId xmlns:a16="http://schemas.microsoft.com/office/drawing/2014/main" id="{4379010E-E486-4DBE-8CE6-50DBFE2EC7CC}"/>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2">
            <a:extLst>
              <a:ext uri="{FF2B5EF4-FFF2-40B4-BE49-F238E27FC236}">
                <a16:creationId xmlns:a16="http://schemas.microsoft.com/office/drawing/2014/main" id="{9F6007F5-4928-423C-9B17-436A7CCCCC36}"/>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21 / 23</a:t>
            </a:r>
          </a:p>
        </p:txBody>
      </p:sp>
      <p:sp>
        <p:nvSpPr>
          <p:cNvPr id="7" name="text-321">
            <a:extLst>
              <a:ext uri="{FF2B5EF4-FFF2-40B4-BE49-F238E27FC236}">
                <a16:creationId xmlns:a16="http://schemas.microsoft.com/office/drawing/2014/main" id="{0D5E147E-318D-46A0-B98C-5D2DA5C88B2B}"/>
              </a:ext>
            </a:extLst>
          </p:cNvPr>
          <p:cNvSpPr>
            <a:spLocks noGrp="1"/>
          </p:cNvSpPr>
          <p:nvPr/>
        </p:nvSpPr>
        <p:spPr>
          <a:xfrm>
            <a:off x="6096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01</a:t>
            </a:r>
          </a:p>
        </p:txBody>
      </p:sp>
      <p:sp>
        <p:nvSpPr>
          <p:cNvPr id="8" name="text-322">
            <a:extLst>
              <a:ext uri="{FF2B5EF4-FFF2-40B4-BE49-F238E27FC236}">
                <a16:creationId xmlns:a16="http://schemas.microsoft.com/office/drawing/2014/main" id="{E9BBA2C8-50FE-4809-96DF-158B8BD69F54}"/>
              </a:ext>
            </a:extLst>
          </p:cNvPr>
          <p:cNvSpPr>
            <a:spLocks noGrp="1"/>
          </p:cNvSpPr>
          <p:nvPr/>
        </p:nvSpPr>
        <p:spPr>
          <a:xfrm>
            <a:off x="12477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WebVoyager: End-to-End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 Agent</a:t>
            </a:r>
          </a:p>
        </p:txBody>
      </p:sp>
      <p:sp>
        <p:nvSpPr>
          <p:cNvPr id="9" name="text-323">
            <a:extLst>
              <a:ext uri="{FF2B5EF4-FFF2-40B4-BE49-F238E27FC236}">
                <a16:creationId xmlns:a16="http://schemas.microsoft.com/office/drawing/2014/main" id="{42AD9F1B-72BA-4C0D-A318-3B990977D87D}"/>
              </a:ext>
            </a:extLst>
          </p:cNvPr>
          <p:cNvSpPr>
            <a:spLocks noGrp="1"/>
          </p:cNvSpPr>
          <p:nvPr/>
        </p:nvSpPr>
        <p:spPr>
          <a:xfrm>
            <a:off x="1247775" y="2028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He et al.  /  ACL 2024</a:t>
            </a:r>
          </a:p>
        </p:txBody>
      </p:sp>
      <p:sp>
        <p:nvSpPr>
          <p:cNvPr id="10" name="text-324">
            <a:extLst>
              <a:ext uri="{FF2B5EF4-FFF2-40B4-BE49-F238E27FC236}">
                <a16:creationId xmlns:a16="http://schemas.microsoft.com/office/drawing/2014/main" id="{6D134DA9-5671-410E-BBA1-06324B089CEF}"/>
              </a:ext>
            </a:extLst>
          </p:cNvPr>
          <p:cNvSpPr>
            <a:spLocks noGrp="1"/>
          </p:cNvSpPr>
          <p:nvPr/>
        </p:nvSpPr>
        <p:spPr>
          <a:xfrm>
            <a:off x="6096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02</a:t>
            </a:r>
          </a:p>
        </p:txBody>
      </p:sp>
      <p:sp>
        <p:nvSpPr>
          <p:cNvPr id="11" name="text-325">
            <a:extLst>
              <a:ext uri="{FF2B5EF4-FFF2-40B4-BE49-F238E27FC236}">
                <a16:creationId xmlns:a16="http://schemas.microsoft.com/office/drawing/2014/main" id="{42D18301-48CF-4A12-9C3B-E7FD0B886F3D}"/>
              </a:ext>
            </a:extLst>
          </p:cNvPr>
          <p:cNvSpPr>
            <a:spLocks noGrp="1"/>
          </p:cNvSpPr>
          <p:nvPr/>
        </p:nvSpPr>
        <p:spPr>
          <a:xfrm>
            <a:off x="12477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Beyond Browsing:</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API-Based Web Agents</a:t>
            </a:r>
          </a:p>
        </p:txBody>
      </p:sp>
      <p:sp>
        <p:nvSpPr>
          <p:cNvPr id="12" name="text-326">
            <a:extLst>
              <a:ext uri="{FF2B5EF4-FFF2-40B4-BE49-F238E27FC236}">
                <a16:creationId xmlns:a16="http://schemas.microsoft.com/office/drawing/2014/main" id="{64F40D10-05B7-4E6B-975B-EA7298E165D3}"/>
              </a:ext>
            </a:extLst>
          </p:cNvPr>
          <p:cNvSpPr>
            <a:spLocks noGrp="1"/>
          </p:cNvSpPr>
          <p:nvPr/>
        </p:nvSpPr>
        <p:spPr>
          <a:xfrm>
            <a:off x="1247775" y="3171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Song et al.  /  2025</a:t>
            </a:r>
          </a:p>
        </p:txBody>
      </p:sp>
      <p:sp>
        <p:nvSpPr>
          <p:cNvPr id="13" name="text-327">
            <a:extLst>
              <a:ext uri="{FF2B5EF4-FFF2-40B4-BE49-F238E27FC236}">
                <a16:creationId xmlns:a16="http://schemas.microsoft.com/office/drawing/2014/main" id="{6ED6D1EF-9488-44CF-AB00-DE199F48905E}"/>
              </a:ext>
            </a:extLst>
          </p:cNvPr>
          <p:cNvSpPr>
            <a:spLocks noGrp="1"/>
          </p:cNvSpPr>
          <p:nvPr/>
        </p:nvSpPr>
        <p:spPr>
          <a:xfrm>
            <a:off x="6096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03</a:t>
            </a:r>
          </a:p>
        </p:txBody>
      </p:sp>
      <p:sp>
        <p:nvSpPr>
          <p:cNvPr id="14" name="text-328">
            <a:extLst>
              <a:ext uri="{FF2B5EF4-FFF2-40B4-BE49-F238E27FC236}">
                <a16:creationId xmlns:a16="http://schemas.microsoft.com/office/drawing/2014/main" id="{FC14F678-024E-499F-B1C6-7CDE52BE628A}"/>
              </a:ext>
            </a:extLst>
          </p:cNvPr>
          <p:cNvSpPr>
            <a:spLocks noGrp="1"/>
          </p:cNvSpPr>
          <p:nvPr/>
        </p:nvSpPr>
        <p:spPr>
          <a:xfrm>
            <a:off x="12477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VACP: Visual Analytics</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Context Protocol</a:t>
            </a:r>
          </a:p>
        </p:txBody>
      </p:sp>
      <p:sp>
        <p:nvSpPr>
          <p:cNvPr id="15" name="text-329">
            <a:extLst>
              <a:ext uri="{FF2B5EF4-FFF2-40B4-BE49-F238E27FC236}">
                <a16:creationId xmlns:a16="http://schemas.microsoft.com/office/drawing/2014/main" id="{563FCF1A-B702-42BE-BB6B-6F185F394A96}"/>
              </a:ext>
            </a:extLst>
          </p:cNvPr>
          <p:cNvSpPr>
            <a:spLocks noGrp="1"/>
          </p:cNvSpPr>
          <p:nvPr/>
        </p:nvSpPr>
        <p:spPr>
          <a:xfrm>
            <a:off x="12477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Stähle et al.  /  2026</a:t>
            </a:r>
          </a:p>
        </p:txBody>
      </p:sp>
      <p:sp>
        <p:nvSpPr>
          <p:cNvPr id="16" name="text-330">
            <a:extLst>
              <a:ext uri="{FF2B5EF4-FFF2-40B4-BE49-F238E27FC236}">
                <a16:creationId xmlns:a16="http://schemas.microsoft.com/office/drawing/2014/main" id="{01478E23-DE5D-4771-B627-EB284C3EDC81}"/>
              </a:ext>
            </a:extLst>
          </p:cNvPr>
          <p:cNvSpPr>
            <a:spLocks noGrp="1"/>
          </p:cNvSpPr>
          <p:nvPr/>
        </p:nvSpPr>
        <p:spPr>
          <a:xfrm>
            <a:off x="6096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04</a:t>
            </a:r>
          </a:p>
        </p:txBody>
      </p:sp>
      <p:sp>
        <p:nvSpPr>
          <p:cNvPr id="17" name="text-331">
            <a:extLst>
              <a:ext uri="{FF2B5EF4-FFF2-40B4-BE49-F238E27FC236}">
                <a16:creationId xmlns:a16="http://schemas.microsoft.com/office/drawing/2014/main" id="{C9CB84A3-B0A6-4BF5-8BFE-74014EABCC62}"/>
              </a:ext>
            </a:extLst>
          </p:cNvPr>
          <p:cNvSpPr>
            <a:spLocks noGrp="1"/>
          </p:cNvSpPr>
          <p:nvPr/>
        </p:nvSpPr>
        <p:spPr>
          <a:xfrm>
            <a:off x="12477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LedgerAgent: Structured State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Tool-Calling Agents</a:t>
            </a:r>
          </a:p>
        </p:txBody>
      </p:sp>
      <p:sp>
        <p:nvSpPr>
          <p:cNvPr id="18" name="text-332">
            <a:extLst>
              <a:ext uri="{FF2B5EF4-FFF2-40B4-BE49-F238E27FC236}">
                <a16:creationId xmlns:a16="http://schemas.microsoft.com/office/drawing/2014/main" id="{EDB214E3-8E76-493B-AD12-95E471EEC963}"/>
              </a:ext>
            </a:extLst>
          </p:cNvPr>
          <p:cNvSpPr>
            <a:spLocks noGrp="1"/>
          </p:cNvSpPr>
          <p:nvPr/>
        </p:nvSpPr>
        <p:spPr>
          <a:xfrm>
            <a:off x="12477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Uddin et al.  /  2026</a:t>
            </a:r>
          </a:p>
        </p:txBody>
      </p:sp>
      <p:sp>
        <p:nvSpPr>
          <p:cNvPr id="19" name="text-333">
            <a:extLst>
              <a:ext uri="{FF2B5EF4-FFF2-40B4-BE49-F238E27FC236}">
                <a16:creationId xmlns:a16="http://schemas.microsoft.com/office/drawing/2014/main" id="{8BC9058A-049F-4790-9789-ABCE5E1F4608}"/>
              </a:ext>
            </a:extLst>
          </p:cNvPr>
          <p:cNvSpPr>
            <a:spLocks noGrp="1"/>
          </p:cNvSpPr>
          <p:nvPr/>
        </p:nvSpPr>
        <p:spPr>
          <a:xfrm>
            <a:off x="64770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05</a:t>
            </a:r>
          </a:p>
        </p:txBody>
      </p:sp>
      <p:sp>
        <p:nvSpPr>
          <p:cNvPr id="20" name="text-334">
            <a:extLst>
              <a:ext uri="{FF2B5EF4-FFF2-40B4-BE49-F238E27FC236}">
                <a16:creationId xmlns:a16="http://schemas.microsoft.com/office/drawing/2014/main" id="{C738C65F-FAA7-4B20-8494-52F177DD173B}"/>
              </a:ext>
            </a:extLst>
          </p:cNvPr>
          <p:cNvSpPr>
            <a:spLocks noGrp="1"/>
          </p:cNvSpPr>
          <p:nvPr/>
        </p:nvSpPr>
        <p:spPr>
          <a:xfrm>
            <a:off x="71151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7"/>
              </a:rPr>
              <a:t>Reason Less, Verify More</a:t>
            </a:r>
          </a:p>
        </p:txBody>
      </p:sp>
      <p:sp>
        <p:nvSpPr>
          <p:cNvPr id="21" name="text-335">
            <a:extLst>
              <a:ext uri="{FF2B5EF4-FFF2-40B4-BE49-F238E27FC236}">
                <a16:creationId xmlns:a16="http://schemas.microsoft.com/office/drawing/2014/main" id="{201D90B6-668F-4774-879E-CC8EDC663AB9}"/>
              </a:ext>
            </a:extLst>
          </p:cNvPr>
          <p:cNvSpPr>
            <a:spLocks noGrp="1"/>
          </p:cNvSpPr>
          <p:nvPr/>
        </p:nvSpPr>
        <p:spPr>
          <a:xfrm>
            <a:off x="7115175" y="1800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Reddy et al.  /  2026</a:t>
            </a:r>
          </a:p>
        </p:txBody>
      </p:sp>
      <p:sp>
        <p:nvSpPr>
          <p:cNvPr id="22" name="text-336">
            <a:extLst>
              <a:ext uri="{FF2B5EF4-FFF2-40B4-BE49-F238E27FC236}">
                <a16:creationId xmlns:a16="http://schemas.microsoft.com/office/drawing/2014/main" id="{B3B981D3-E0A3-476C-B46B-20392B9DB2D9}"/>
              </a:ext>
            </a:extLst>
          </p:cNvPr>
          <p:cNvSpPr>
            <a:spLocks noGrp="1"/>
          </p:cNvSpPr>
          <p:nvPr/>
        </p:nvSpPr>
        <p:spPr>
          <a:xfrm>
            <a:off x="64770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06</a:t>
            </a:r>
          </a:p>
        </p:txBody>
      </p:sp>
      <p:sp>
        <p:nvSpPr>
          <p:cNvPr id="23" name="text-337">
            <a:extLst>
              <a:ext uri="{FF2B5EF4-FFF2-40B4-BE49-F238E27FC236}">
                <a16:creationId xmlns:a16="http://schemas.microsoft.com/office/drawing/2014/main" id="{C1ED5D2C-645A-4939-94E5-5EC7916FEBCA}"/>
              </a:ext>
            </a:extLst>
          </p:cNvPr>
          <p:cNvSpPr>
            <a:spLocks noGrp="1"/>
          </p:cNvSpPr>
          <p:nvPr/>
        </p:nvSpPr>
        <p:spPr>
          <a:xfrm>
            <a:off x="71151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8"/>
              </a:rPr>
              <a:t>The Tool Illusion</a:t>
            </a:r>
          </a:p>
        </p:txBody>
      </p:sp>
      <p:sp>
        <p:nvSpPr>
          <p:cNvPr id="24" name="text-338">
            <a:extLst>
              <a:ext uri="{FF2B5EF4-FFF2-40B4-BE49-F238E27FC236}">
                <a16:creationId xmlns:a16="http://schemas.microsoft.com/office/drawing/2014/main" id="{1BA52E96-7274-408B-AF56-C078E3D764AD}"/>
              </a:ext>
            </a:extLst>
          </p:cNvPr>
          <p:cNvSpPr>
            <a:spLocks noGrp="1"/>
          </p:cNvSpPr>
          <p:nvPr/>
        </p:nvSpPr>
        <p:spPr>
          <a:xfrm>
            <a:off x="7115175" y="2943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Lou et al.  /  2026</a:t>
            </a:r>
          </a:p>
        </p:txBody>
      </p:sp>
      <p:sp>
        <p:nvSpPr>
          <p:cNvPr id="25" name="text-339">
            <a:extLst>
              <a:ext uri="{FF2B5EF4-FFF2-40B4-BE49-F238E27FC236}">
                <a16:creationId xmlns:a16="http://schemas.microsoft.com/office/drawing/2014/main" id="{DB3C8D64-1F73-40FF-B773-3E7ED49BA2F4}"/>
              </a:ext>
            </a:extLst>
          </p:cNvPr>
          <p:cNvSpPr>
            <a:spLocks noGrp="1"/>
          </p:cNvSpPr>
          <p:nvPr/>
        </p:nvSpPr>
        <p:spPr>
          <a:xfrm>
            <a:off x="64770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07</a:t>
            </a:r>
          </a:p>
        </p:txBody>
      </p:sp>
      <p:sp>
        <p:nvSpPr>
          <p:cNvPr id="26" name="text-340">
            <a:extLst>
              <a:ext uri="{FF2B5EF4-FFF2-40B4-BE49-F238E27FC236}">
                <a16:creationId xmlns:a16="http://schemas.microsoft.com/office/drawing/2014/main" id="{7606A72C-6191-4033-8A1E-7C7B9CF10EE2}"/>
              </a:ext>
            </a:extLst>
          </p:cNvPr>
          <p:cNvSpPr>
            <a:spLocks noGrp="1"/>
          </p:cNvSpPr>
          <p:nvPr/>
        </p:nvSpPr>
        <p:spPr>
          <a:xfrm>
            <a:off x="71151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Beyond Text-to-SQL: Governed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Enterprise Analytics APIs</a:t>
            </a:r>
          </a:p>
        </p:txBody>
      </p:sp>
      <p:sp>
        <p:nvSpPr>
          <p:cNvPr id="27" name="text-341">
            <a:extLst>
              <a:ext uri="{FF2B5EF4-FFF2-40B4-BE49-F238E27FC236}">
                <a16:creationId xmlns:a16="http://schemas.microsoft.com/office/drawing/2014/main" id="{7F857D45-EC6B-42AE-8C17-68C31AAB9431}"/>
              </a:ext>
            </a:extLst>
          </p:cNvPr>
          <p:cNvSpPr>
            <a:spLocks noGrp="1"/>
          </p:cNvSpPr>
          <p:nvPr/>
        </p:nvSpPr>
        <p:spPr>
          <a:xfrm>
            <a:off x="71151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Singh et al.  /  2026</a:t>
            </a:r>
          </a:p>
        </p:txBody>
      </p:sp>
      <p:sp>
        <p:nvSpPr>
          <p:cNvPr id="28" name="text-342">
            <a:extLst>
              <a:ext uri="{FF2B5EF4-FFF2-40B4-BE49-F238E27FC236}">
                <a16:creationId xmlns:a16="http://schemas.microsoft.com/office/drawing/2014/main" id="{12A119AD-B861-4788-AF0B-19950CCC0C58}"/>
              </a:ext>
            </a:extLst>
          </p:cNvPr>
          <p:cNvSpPr>
            <a:spLocks noGrp="1"/>
          </p:cNvSpPr>
          <p:nvPr/>
        </p:nvSpPr>
        <p:spPr>
          <a:xfrm>
            <a:off x="64770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08</a:t>
            </a:r>
          </a:p>
        </p:txBody>
      </p:sp>
      <p:sp>
        <p:nvSpPr>
          <p:cNvPr id="29" name="text-343">
            <a:extLst>
              <a:ext uri="{FF2B5EF4-FFF2-40B4-BE49-F238E27FC236}">
                <a16:creationId xmlns:a16="http://schemas.microsoft.com/office/drawing/2014/main" id="{86E1D96F-D5C2-4D0F-A9E9-89274428DAF7}"/>
              </a:ext>
            </a:extLst>
          </p:cNvPr>
          <p:cNvSpPr>
            <a:spLocks noGrp="1"/>
          </p:cNvSpPr>
          <p:nvPr/>
        </p:nvSpPr>
        <p:spPr>
          <a:xfrm>
            <a:off x="71151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Mingbird: Agent Harness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Small Open Models</a:t>
            </a:r>
          </a:p>
        </p:txBody>
      </p:sp>
      <p:sp>
        <p:nvSpPr>
          <p:cNvPr id="30" name="text-344">
            <a:extLst>
              <a:ext uri="{FF2B5EF4-FFF2-40B4-BE49-F238E27FC236}">
                <a16:creationId xmlns:a16="http://schemas.microsoft.com/office/drawing/2014/main" id="{FFB8421C-6712-48E0-A869-CF340A78A896}"/>
              </a:ext>
            </a:extLst>
          </p:cNvPr>
          <p:cNvSpPr>
            <a:spLocks noGrp="1"/>
          </p:cNvSpPr>
          <p:nvPr/>
        </p:nvSpPr>
        <p:spPr>
          <a:xfrm>
            <a:off x="71151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Wang and Huang  /  2026</a:t>
            </a:r>
          </a:p>
        </p:txBody>
      </p:sp>
      <p:pic>
        <p:nvPicPr>
          <p:cNvPr id="31" name="Picture 30">
            <a:extLst>
              <a:ext uri="{FF2B5EF4-FFF2-40B4-BE49-F238E27FC236}">
                <a16:creationId xmlns:a16="http://schemas.microsoft.com/office/drawing/2014/main" id="{BD783710-E100-415A-8D92-2EBB30C4B319}"/>
              </a:ext>
            </a:extLst>
          </p:cNvPr>
          <p:cNvPicPr>
            <a:picLocks noChangeAspect="1"/>
          </p:cNvPicPr>
          <p:nvPr/>
        </p:nvPicPr>
        <p:blipFill>
          <a:blip r:embed="rId11"/>
          <a:stretch/>
        </p:blipFill>
        <p:spPr>
          <a:xfrm>
            <a:off x="9220220" y="295275"/>
            <a:ext cx="2362160" cy="442436"/>
          </a:xfrm>
          <a:prstGeom prst="rect">
            <a:avLst/>
          </a:prstGeom>
        </p:spPr>
      </p:pic>
    </p:spTree>
    <p:extLst>
      <p:ext uri="{BB962C8B-B14F-4D97-AF65-F5344CB8AC3E}">
        <p14:creationId xmlns:p14="http://schemas.microsoft.com/office/powerpoint/2010/main" val="2003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345">
            <a:extLst>
              <a:ext uri="{FF2B5EF4-FFF2-40B4-BE49-F238E27FC236}">
                <a16:creationId xmlns:a16="http://schemas.microsoft.com/office/drawing/2014/main" id="{A13565C3-1E94-4CA8-900F-CCDF04FBCBFC}"/>
              </a:ext>
            </a:extLst>
          </p:cNvPr>
          <p:cNvSpPr>
            <a:spLocks noGrp="1"/>
          </p:cNvSpPr>
          <p:nvPr/>
        </p:nvSpPr>
        <p:spPr>
          <a:xfrm>
            <a:off x="0" y="0"/>
            <a:ext cx="12192000" cy="1066800"/>
          </a:xfrm>
          <a:prstGeom prst="rect">
            <a:avLst/>
          </a:prstGeom>
          <a:solidFill>
            <a:srgbClr val="F2F6F7"/>
          </a:solidFill>
          <a:ln w="0">
            <a:noFill/>
          </a:ln>
        </p:spPr>
      </p:sp>
      <p:sp>
        <p:nvSpPr>
          <p:cNvPr id="2" name="shape-346">
            <a:extLst>
              <a:ext uri="{FF2B5EF4-FFF2-40B4-BE49-F238E27FC236}">
                <a16:creationId xmlns:a16="http://schemas.microsoft.com/office/drawing/2014/main" id="{4BB248C8-3F73-444E-AD29-EEC8B8039B20}"/>
              </a:ext>
            </a:extLst>
          </p:cNvPr>
          <p:cNvSpPr>
            <a:spLocks noGrp="1"/>
          </p:cNvSpPr>
          <p:nvPr/>
        </p:nvSpPr>
        <p:spPr>
          <a:xfrm>
            <a:off x="0" y="1038225"/>
            <a:ext cx="12192000" cy="28575"/>
          </a:xfrm>
          <a:prstGeom prst="rect">
            <a:avLst/>
          </a:prstGeom>
          <a:solidFill>
            <a:srgbClr val="006D77"/>
          </a:solidFill>
          <a:ln w="0">
            <a:noFill/>
          </a:ln>
        </p:spPr>
      </p:sp>
      <p:sp>
        <p:nvSpPr>
          <p:cNvPr id="3" name="slide-13-title">
            <a:extLst>
              <a:ext uri="{FF2B5EF4-FFF2-40B4-BE49-F238E27FC236}">
                <a16:creationId xmlns:a16="http://schemas.microsoft.com/office/drawing/2014/main" id="{AFD80963-AB59-4177-B581-04C37873339E}"/>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 sources and AI disclosure</a:t>
            </a:r>
          </a:p>
        </p:txBody>
      </p:sp>
      <p:sp>
        <p:nvSpPr>
          <p:cNvPr id="4" name="shape-347">
            <a:extLst>
              <a:ext uri="{FF2B5EF4-FFF2-40B4-BE49-F238E27FC236}">
                <a16:creationId xmlns:a16="http://schemas.microsoft.com/office/drawing/2014/main" id="{C13AC0AA-05BC-459F-92B6-E86077F4817A}"/>
              </a:ext>
            </a:extLst>
          </p:cNvPr>
          <p:cNvSpPr>
            <a:spLocks noGrp="1"/>
          </p:cNvSpPr>
          <p:nvPr/>
        </p:nvSpPr>
        <p:spPr>
          <a:xfrm>
            <a:off x="0" y="6381750"/>
            <a:ext cx="12192000" cy="476250"/>
          </a:xfrm>
          <a:prstGeom prst="rect">
            <a:avLst/>
          </a:prstGeom>
          <a:solidFill>
            <a:srgbClr val="102A43"/>
          </a:solidFill>
          <a:ln w="0">
            <a:noFill/>
          </a:ln>
        </p:spPr>
      </p:sp>
      <p:sp>
        <p:nvSpPr>
          <p:cNvPr id="5" name="brand-13">
            <a:extLst>
              <a:ext uri="{FF2B5EF4-FFF2-40B4-BE49-F238E27FC236}">
                <a16:creationId xmlns:a16="http://schemas.microsoft.com/office/drawing/2014/main" id="{52816084-C053-4D17-9E4B-57F1D85B5AE5}"/>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3">
            <a:extLst>
              <a:ext uri="{FF2B5EF4-FFF2-40B4-BE49-F238E27FC236}">
                <a16:creationId xmlns:a16="http://schemas.microsoft.com/office/drawing/2014/main" id="{5B8AE600-5BA6-4042-B472-4E42228FEEE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23 / 23</a:t>
            </a:r>
          </a:p>
        </p:txBody>
      </p:sp>
      <p:sp>
        <p:nvSpPr>
          <p:cNvPr id="7" name="text-348">
            <a:extLst>
              <a:ext uri="{FF2B5EF4-FFF2-40B4-BE49-F238E27FC236}">
                <a16:creationId xmlns:a16="http://schemas.microsoft.com/office/drawing/2014/main" id="{6ED9BB09-FD16-4370-8C62-033E507E2F65}"/>
              </a:ext>
            </a:extLst>
          </p:cNvPr>
          <p:cNvSpPr>
            <a:spLocks noGrp="1"/>
          </p:cNvSpPr>
          <p:nvPr/>
        </p:nvSpPr>
        <p:spPr>
          <a:xfrm>
            <a:off x="609600" y="14859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09</a:t>
            </a:r>
          </a:p>
        </p:txBody>
      </p:sp>
      <p:sp>
        <p:nvSpPr>
          <p:cNvPr id="8" name="text-349">
            <a:extLst>
              <a:ext uri="{FF2B5EF4-FFF2-40B4-BE49-F238E27FC236}">
                <a16:creationId xmlns:a16="http://schemas.microsoft.com/office/drawing/2014/main" id="{83DA5CC5-68D2-40A5-8A1A-7C516E90306A}"/>
              </a:ext>
            </a:extLst>
          </p:cNvPr>
          <p:cNvSpPr>
            <a:spLocks noGrp="1"/>
          </p:cNvSpPr>
          <p:nvPr/>
        </p:nvSpPr>
        <p:spPr>
          <a:xfrm>
            <a:off x="1247775" y="14859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Wide World Importers</a:t>
            </a:r>
          </a:p>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sample database</a:t>
            </a:r>
          </a:p>
        </p:txBody>
      </p:sp>
      <p:sp>
        <p:nvSpPr>
          <p:cNvPr id="9" name="text-350">
            <a:extLst>
              <a:ext uri="{FF2B5EF4-FFF2-40B4-BE49-F238E27FC236}">
                <a16:creationId xmlns:a16="http://schemas.microsoft.com/office/drawing/2014/main" id="{B4F93A81-A780-497E-8A72-AF7A888A1533}"/>
              </a:ext>
            </a:extLst>
          </p:cNvPr>
          <p:cNvSpPr>
            <a:spLocks noGrp="1"/>
          </p:cNvSpPr>
          <p:nvPr/>
        </p:nvSpPr>
        <p:spPr>
          <a:xfrm>
            <a:off x="1247775" y="20955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Microsoft  /  SQL Server samples</a:t>
            </a:r>
          </a:p>
        </p:txBody>
      </p:sp>
      <p:sp>
        <p:nvSpPr>
          <p:cNvPr id="10" name="text-351">
            <a:extLst>
              <a:ext uri="{FF2B5EF4-FFF2-40B4-BE49-F238E27FC236}">
                <a16:creationId xmlns:a16="http://schemas.microsoft.com/office/drawing/2014/main" id="{E345F0E7-DB06-4A60-A3BE-F28E5CE1F067}"/>
              </a:ext>
            </a:extLst>
          </p:cNvPr>
          <p:cNvSpPr>
            <a:spLocks noGrp="1"/>
          </p:cNvSpPr>
          <p:nvPr/>
        </p:nvSpPr>
        <p:spPr>
          <a:xfrm>
            <a:off x="609600" y="25336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10</a:t>
            </a:r>
          </a:p>
        </p:txBody>
      </p:sp>
      <p:sp>
        <p:nvSpPr>
          <p:cNvPr id="11" name="text-352">
            <a:extLst>
              <a:ext uri="{FF2B5EF4-FFF2-40B4-BE49-F238E27FC236}">
                <a16:creationId xmlns:a16="http://schemas.microsoft.com/office/drawing/2014/main" id="{E0042F3A-7FF8-4EBD-84A1-FB9985B2297C}"/>
              </a:ext>
            </a:extLst>
          </p:cNvPr>
          <p:cNvSpPr>
            <a:spLocks noGrp="1"/>
          </p:cNvSpPr>
          <p:nvPr/>
        </p:nvSpPr>
        <p:spPr>
          <a:xfrm>
            <a:off x="1247775" y="25336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4"/>
              </a:rPr>
              <a:t>ERPNext</a:t>
            </a:r>
          </a:p>
        </p:txBody>
      </p:sp>
      <p:sp>
        <p:nvSpPr>
          <p:cNvPr id="12" name="text-353">
            <a:extLst>
              <a:ext uri="{FF2B5EF4-FFF2-40B4-BE49-F238E27FC236}">
                <a16:creationId xmlns:a16="http://schemas.microsoft.com/office/drawing/2014/main" id="{ED3FB06D-1511-4A1D-B4A3-2A23B4E67B8C}"/>
              </a:ext>
            </a:extLst>
          </p:cNvPr>
          <p:cNvSpPr>
            <a:spLocks noGrp="1"/>
          </p:cNvSpPr>
          <p:nvPr/>
        </p:nvSpPr>
        <p:spPr>
          <a:xfrm>
            <a:off x="1247775" y="29718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Open-source ERP</a:t>
            </a:r>
          </a:p>
        </p:txBody>
      </p:sp>
      <p:sp>
        <p:nvSpPr>
          <p:cNvPr id="13" name="text-354">
            <a:extLst>
              <a:ext uri="{FF2B5EF4-FFF2-40B4-BE49-F238E27FC236}">
                <a16:creationId xmlns:a16="http://schemas.microsoft.com/office/drawing/2014/main" id="{B0BFEC7E-AC8D-4AC0-BFF8-BDED4166CFBB}"/>
              </a:ext>
            </a:extLst>
          </p:cNvPr>
          <p:cNvSpPr>
            <a:spLocks noGrp="1"/>
          </p:cNvSpPr>
          <p:nvPr/>
        </p:nvSpPr>
        <p:spPr>
          <a:xfrm>
            <a:off x="609600" y="35814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11</a:t>
            </a:r>
          </a:p>
        </p:txBody>
      </p:sp>
      <p:sp>
        <p:nvSpPr>
          <p:cNvPr id="14" name="text-355">
            <a:extLst>
              <a:ext uri="{FF2B5EF4-FFF2-40B4-BE49-F238E27FC236}">
                <a16:creationId xmlns:a16="http://schemas.microsoft.com/office/drawing/2014/main" id="{F7228FB3-CEFC-4277-A427-7CDACB1DB275}"/>
              </a:ext>
            </a:extLst>
          </p:cNvPr>
          <p:cNvSpPr>
            <a:spLocks noGrp="1"/>
          </p:cNvSpPr>
          <p:nvPr/>
        </p:nvSpPr>
        <p:spPr>
          <a:xfrm>
            <a:off x="1247775" y="35814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5"/>
              </a:rPr>
              <a:t>Frappe REST API</a:t>
            </a:r>
          </a:p>
        </p:txBody>
      </p:sp>
      <p:sp>
        <p:nvSpPr>
          <p:cNvPr id="15" name="text-356">
            <a:extLst>
              <a:ext uri="{FF2B5EF4-FFF2-40B4-BE49-F238E27FC236}">
                <a16:creationId xmlns:a16="http://schemas.microsoft.com/office/drawing/2014/main" id="{4282AD9D-8802-474C-B137-3651E2990B2F}"/>
              </a:ext>
            </a:extLst>
          </p:cNvPr>
          <p:cNvSpPr>
            <a:spLocks noGrp="1"/>
          </p:cNvSpPr>
          <p:nvPr/>
        </p:nvSpPr>
        <p:spPr>
          <a:xfrm>
            <a:off x="1247775" y="401955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Framework documentation</a:t>
            </a:r>
          </a:p>
        </p:txBody>
      </p:sp>
      <p:sp>
        <p:nvSpPr>
          <p:cNvPr id="16" name="text-357">
            <a:extLst>
              <a:ext uri="{FF2B5EF4-FFF2-40B4-BE49-F238E27FC236}">
                <a16:creationId xmlns:a16="http://schemas.microsoft.com/office/drawing/2014/main" id="{FFEFBA27-0438-49DB-A865-A370FCA1F3A4}"/>
              </a:ext>
            </a:extLst>
          </p:cNvPr>
          <p:cNvSpPr>
            <a:spLocks noGrp="1"/>
          </p:cNvSpPr>
          <p:nvPr/>
        </p:nvSpPr>
        <p:spPr>
          <a:xfrm>
            <a:off x="609600" y="46291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12</a:t>
            </a:r>
          </a:p>
        </p:txBody>
      </p:sp>
      <p:sp>
        <p:nvSpPr>
          <p:cNvPr id="17" name="text-358">
            <a:extLst>
              <a:ext uri="{FF2B5EF4-FFF2-40B4-BE49-F238E27FC236}">
                <a16:creationId xmlns:a16="http://schemas.microsoft.com/office/drawing/2014/main" id="{2F99ACAC-2B8B-4C37-AFBC-6238E28FE9E9}"/>
              </a:ext>
            </a:extLst>
          </p:cNvPr>
          <p:cNvSpPr>
            <a:spLocks noGrp="1"/>
          </p:cNvSpPr>
          <p:nvPr/>
        </p:nvSpPr>
        <p:spPr>
          <a:xfrm>
            <a:off x="1247775" y="46291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6"/>
              </a:rPr>
              <a:t>WebArena</a:t>
            </a:r>
          </a:p>
        </p:txBody>
      </p:sp>
      <p:sp>
        <p:nvSpPr>
          <p:cNvPr id="18" name="text-359">
            <a:extLst>
              <a:ext uri="{FF2B5EF4-FFF2-40B4-BE49-F238E27FC236}">
                <a16:creationId xmlns:a16="http://schemas.microsoft.com/office/drawing/2014/main" id="{F0DE1BCC-4CDE-46CA-A3EC-196DD343AFD9}"/>
              </a:ext>
            </a:extLst>
          </p:cNvPr>
          <p:cNvSpPr>
            <a:spLocks noGrp="1"/>
          </p:cNvSpPr>
          <p:nvPr/>
        </p:nvSpPr>
        <p:spPr>
          <a:xfrm>
            <a:off x="1247775" y="50673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Zhou et al.  /  ICLR 2024</a:t>
            </a:r>
          </a:p>
        </p:txBody>
      </p:sp>
      <p:sp>
        <p:nvSpPr>
          <p:cNvPr id="19" name="shape-360">
            <a:extLst>
              <a:ext uri="{FF2B5EF4-FFF2-40B4-BE49-F238E27FC236}">
                <a16:creationId xmlns:a16="http://schemas.microsoft.com/office/drawing/2014/main" id="{D19ADE8C-7D80-489C-911B-7D342F1DD876}"/>
              </a:ext>
            </a:extLst>
          </p:cNvPr>
          <p:cNvSpPr>
            <a:spLocks noGrp="1"/>
          </p:cNvSpPr>
          <p:nvPr/>
        </p:nvSpPr>
        <p:spPr>
          <a:xfrm>
            <a:off x="6981825" y="1485900"/>
            <a:ext cx="14288" cy="4076700"/>
          </a:xfrm>
          <a:prstGeom prst="rect">
            <a:avLst/>
          </a:prstGeom>
          <a:solidFill>
            <a:srgbClr val="CDD7D9"/>
          </a:solidFill>
          <a:ln w="0">
            <a:noFill/>
          </a:ln>
        </p:spPr>
      </p:sp>
      <p:sp>
        <p:nvSpPr>
          <p:cNvPr id="20" name="text-361">
            <a:extLst>
              <a:ext uri="{FF2B5EF4-FFF2-40B4-BE49-F238E27FC236}">
                <a16:creationId xmlns:a16="http://schemas.microsoft.com/office/drawing/2014/main" id="{CE154820-C6E7-4776-87CB-8C101F8D7211}"/>
              </a:ext>
            </a:extLst>
          </p:cNvPr>
          <p:cNvSpPr>
            <a:spLocks noGrp="1"/>
          </p:cNvSpPr>
          <p:nvPr/>
        </p:nvSpPr>
        <p:spPr>
          <a:xfrm>
            <a:off x="7524750" y="1485900"/>
            <a:ext cx="4057650" cy="419100"/>
          </a:xfrm>
          <a:prstGeom prst="rect">
            <a:avLst/>
          </a:prstGeom>
          <a:noFill/>
          <a:ln w="0">
            <a:noFill/>
          </a:ln>
        </p:spPr>
        <p:txBody>
          <a:bodyPr wrap="square" lIns="0" tIns="0" rIns="0" bIns="0" anchor="t">
            <a:noAutofit/>
          </a:bodyPr>
          <a:lstStyle>
            <a:defPPr algn="l">
              <a:defRPr sz="2400" b="1">
                <a:solidFill>
                  <a:srgbClr val="006D77"/>
                </a:solidFill>
                <a:latin typeface="Arial"/>
                <a:ea typeface="Arial"/>
                <a:cs typeface="Arial"/>
              </a:defRPr>
            </a:defPPr>
          </a:lstStyle>
          <a:p>
            <a:pPr algn="l">
              <a:lnSpc>
                <a:spcPct val="112000"/>
              </a:lnSpc>
              <a:buNone/>
              <a:defRPr sz="2400" b="1">
                <a:solidFill>
                  <a:srgbClr val="006D77"/>
                </a:solidFill>
                <a:latin typeface="Arial"/>
                <a:ea typeface="Arial"/>
                <a:cs typeface="Arial"/>
              </a:defRPr>
            </a:pPr>
            <a:r>
              <a:rPr sz="2400" b="1">
                <a:solidFill>
                  <a:srgbClr val="006D77"/>
                </a:solidFill>
                <a:latin typeface="Arial"/>
                <a:ea typeface="Arial"/>
                <a:cs typeface="Arial"/>
              </a:rPr>
              <a:t>AI assistance</a:t>
            </a:r>
          </a:p>
        </p:txBody>
      </p:sp>
      <p:sp>
        <p:nvSpPr>
          <p:cNvPr id="21" name="text-362">
            <a:extLst>
              <a:ext uri="{FF2B5EF4-FFF2-40B4-BE49-F238E27FC236}">
                <a16:creationId xmlns:a16="http://schemas.microsoft.com/office/drawing/2014/main" id="{79612B64-36A0-49C6-A66B-0BA639646B32}"/>
              </a:ext>
            </a:extLst>
          </p:cNvPr>
          <p:cNvSpPr>
            <a:spLocks noGrp="1"/>
          </p:cNvSpPr>
          <p:nvPr/>
        </p:nvSpPr>
        <p:spPr>
          <a:xfrm>
            <a:off x="7524750" y="2143125"/>
            <a:ext cx="4057650" cy="41910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OpenAI Codex</a:t>
            </a:r>
          </a:p>
        </p:txBody>
      </p:sp>
      <p:sp>
        <p:nvSpPr>
          <p:cNvPr id="22" name="text-363">
            <a:extLst>
              <a:ext uri="{FF2B5EF4-FFF2-40B4-BE49-F238E27FC236}">
                <a16:creationId xmlns:a16="http://schemas.microsoft.com/office/drawing/2014/main" id="{182DCA10-24F1-4C1B-9AA5-EB6A171874C2}"/>
              </a:ext>
            </a:extLst>
          </p:cNvPr>
          <p:cNvSpPr>
            <a:spLocks noGrp="1"/>
          </p:cNvSpPr>
          <p:nvPr/>
        </p:nvSpPr>
        <p:spPr>
          <a:xfrm>
            <a:off x="7524750" y="2743200"/>
            <a:ext cx="4057650" cy="12287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Research synthesis</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Implementation assistance</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Presentation authoring</a:t>
            </a:r>
          </a:p>
        </p:txBody>
      </p:sp>
      <p:sp>
        <p:nvSpPr>
          <p:cNvPr id="23" name="text-364">
            <a:extLst>
              <a:ext uri="{FF2B5EF4-FFF2-40B4-BE49-F238E27FC236}">
                <a16:creationId xmlns:a16="http://schemas.microsoft.com/office/drawing/2014/main" id="{3C3D33FA-9A26-439E-A6D0-743E42B544D7}"/>
              </a:ext>
            </a:extLst>
          </p:cNvPr>
          <p:cNvSpPr>
            <a:spLocks noGrp="1"/>
          </p:cNvSpPr>
          <p:nvPr/>
        </p:nvSpPr>
        <p:spPr>
          <a:xfrm>
            <a:off x="7524750" y="4314825"/>
            <a:ext cx="4057650" cy="771525"/>
          </a:xfrm>
          <a:prstGeom prst="rect">
            <a:avLst/>
          </a:prstGeom>
          <a:noFill/>
          <a:ln w="0">
            <a:noFill/>
          </a:ln>
        </p:spPr>
        <p:txBody>
          <a:bodyPr wrap="square" lIns="0" tIns="0" rIns="0" bIns="0" anchor="t">
            <a:noAutofit/>
          </a:bodyPr>
          <a:lstStyle>
            <a:defPPr algn="l">
              <a:defRPr sz="1875" b="0">
                <a:solidFill>
                  <a:srgbClr val="4D6270"/>
                </a:solidFill>
                <a:latin typeface="Arial"/>
                <a:ea typeface="Arial"/>
                <a:cs typeface="Arial"/>
              </a:defRPr>
            </a:defPPr>
          </a:lstStyle>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Primary references and project</a:t>
            </a:r>
          </a:p>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evidence support the claims.</a:t>
            </a:r>
          </a:p>
        </p:txBody>
      </p:sp>
      <p:sp>
        <p:nvSpPr>
          <p:cNvPr id="24" name="text-365">
            <a:extLst>
              <a:ext uri="{FF2B5EF4-FFF2-40B4-BE49-F238E27FC236}">
                <a16:creationId xmlns:a16="http://schemas.microsoft.com/office/drawing/2014/main" id="{3FF837A4-C102-4221-AC3A-09FAA54AA393}"/>
              </a:ext>
            </a:extLst>
          </p:cNvPr>
          <p:cNvSpPr>
            <a:spLocks noGrp="1"/>
          </p:cNvSpPr>
          <p:nvPr/>
        </p:nvSpPr>
        <p:spPr>
          <a:xfrm>
            <a:off x="7524750" y="5657850"/>
            <a:ext cx="4057650" cy="5524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Evaluation results remain pending.</a:t>
            </a:r>
          </a:p>
        </p:txBody>
      </p:sp>
      <p:pic>
        <p:nvPicPr>
          <p:cNvPr id="25" name="Picture 24">
            <a:extLst>
              <a:ext uri="{FF2B5EF4-FFF2-40B4-BE49-F238E27FC236}">
                <a16:creationId xmlns:a16="http://schemas.microsoft.com/office/drawing/2014/main" id="{E66090ED-C45A-40F6-9CA2-32985CFDA172}"/>
              </a:ext>
            </a:extLst>
          </p:cNvPr>
          <p:cNvPicPr>
            <a:picLocks noChangeAspect="1"/>
          </p:cNvPicPr>
          <p:nvPr/>
        </p:nvPicPr>
        <p:blipFill>
          <a:blip r:embed="rId7"/>
          <a:stretch/>
        </p:blipFill>
        <p:spPr>
          <a:xfrm>
            <a:off x="9220220" y="295275"/>
            <a:ext cx="2362160" cy="442436"/>
          </a:xfrm>
          <a:prstGeom prst="rect">
            <a:avLst/>
          </a:prstGeom>
        </p:spPr>
      </p:pic>
    </p:spTree>
    <p:extLst>
      <p:ext uri="{BB962C8B-B14F-4D97-AF65-F5344CB8AC3E}">
        <p14:creationId xmlns:p14="http://schemas.microsoft.com/office/powerpoint/2010/main" val="97271305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Where API-only agents fall short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05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325880"/>
            <a:ext cx="10972800" cy="45720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Half of the sampled tasks had no endpoint to call</a:t>
            </a:r>
          </a:p>
        </p:txBody>
      </p:sp>
      <p:sp>
        <p:nvSpPr>
          <p:cNvPr id="14" name="cap-left"/>
          <p:cNvSpPr/>
          <p:nvPr/>
        </p:nvSpPr>
        <p:spPr>
          <a:xfrm>
            <a:off x="640080" y="1920240"/>
            <a:ext cx="539496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API-only agent, 100 sampled WebArena tasks</a:t>
            </a:r>
            <a:r>
              <a:rPr lang="en-US" sz="1500" b="1" baseline="30000">
                <a:solidFill>
                  <a:srgbClr val="006D77"/>
                </a:solidFill>
                <a:latin typeface="Arial"/>
                <a:ea typeface="Arial"/>
                <a:cs typeface="Arial"/>
              </a:rPr>
              <a:t>2</a:t>
            </a:r>
          </a:p>
        </p:txBody>
      </p:sp>
      <p:graphicFrame>
        <p:nvGraphicFramePr>
          <p:cNvPr id="15" name="Chart 14"/>
          <p:cNvGraphicFramePr>
            <a:graphicFrameLocks noGrp="1"/>
          </p:cNvGraphicFramePr>
          <p:nvPr/>
        </p:nvGraphicFramePr>
        <p:xfrm>
          <a:off x="502920" y="2286000"/>
          <a:ext cx="5852160" cy="2651760"/>
        </p:xfrm>
        <a:graphic>
          <a:graphicData uri="http://schemas.openxmlformats.org/drawingml/2006/chart">
            <c:chart xmlns:c="http://schemas.openxmlformats.org/drawingml/2006/chart" r:id="rId3"/>
          </a:graphicData>
        </a:graphic>
      </p:graphicFrame>
      <p:sp>
        <p:nvSpPr>
          <p:cNvPr id="16" name="big-50"/>
          <p:cNvSpPr/>
          <p:nvPr/>
        </p:nvSpPr>
        <p:spPr>
          <a:xfrm>
            <a:off x="6766560" y="1874519"/>
            <a:ext cx="1828800" cy="777240"/>
          </a:xfrm>
          <a:prstGeom prst="rect">
            <a:avLst/>
          </a:prstGeom>
          <a:noFill/>
          <a:ln w="0">
            <a:noFill/>
          </a:ln>
        </p:spPr>
        <p:txBody>
          <a:bodyPr wrap="square" lIns="0" tIns="0" rIns="0" bIns="0" anchor="t">
            <a:noAutofit/>
          </a:bodyPr>
          <a:lstStyle/>
          <a:p>
            <a:pPr algn="l">
              <a:lnSpc>
                <a:spcPct val="112000"/>
              </a:lnSpc>
              <a:buNone/>
            </a:pPr>
            <a:r>
              <a:rPr lang="en-US" sz="4800" b="1">
                <a:solidFill>
                  <a:srgbClr val="006D77"/>
                </a:solidFill>
                <a:latin typeface="Arial"/>
                <a:ea typeface="Arial"/>
                <a:cs typeface="Arial"/>
              </a:rPr>
              <a:t>50%</a:t>
            </a:r>
          </a:p>
        </p:txBody>
      </p:sp>
      <p:sp>
        <p:nvSpPr>
          <p:cNvPr id="17" name="big-50-label"/>
          <p:cNvSpPr/>
          <p:nvPr/>
        </p:nvSpPr>
        <p:spPr>
          <a:xfrm>
            <a:off x="8549640" y="1920240"/>
            <a:ext cx="3108960" cy="731520"/>
          </a:xfrm>
          <a:prstGeom prst="rect">
            <a:avLst/>
          </a:prstGeom>
          <a:noFill/>
          <a:ln w="0">
            <a:noFill/>
          </a:ln>
        </p:spPr>
        <p:txBody>
          <a:bodyPr wrap="square" lIns="0" tIns="0" rIns="0" bIns="0" anchor="t">
            <a:noAutofit/>
          </a:bodyPr>
          <a:lstStyle/>
          <a:p>
            <a:pPr algn="l">
              <a:lnSpc>
                <a:spcPct val="112000"/>
              </a:lnSpc>
              <a:buNone/>
            </a:pPr>
            <a:r>
              <a:rPr lang="en-US" sz="1725" b="0">
                <a:solidFill>
                  <a:srgbClr val="17324A"/>
                </a:solidFill>
                <a:latin typeface="Arial"/>
                <a:ea typeface="Arial"/>
                <a:cs typeface="Arial"/>
              </a:rPr>
              <a:t>unsolvable: the needed endpoint does not exist</a:t>
            </a:r>
          </a:p>
        </p:txBody>
      </p:sp>
      <p:sp>
        <p:nvSpPr>
          <p:cNvPr id="18" name="cap-right"/>
          <p:cNvSpPr/>
          <p:nvPr/>
        </p:nvSpPr>
        <p:spPr>
          <a:xfrm>
            <a:off x="6766560" y="2926080"/>
            <a:ext cx="484632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Success rate by agent type, WebArena</a:t>
            </a:r>
            <a:r>
              <a:rPr lang="en-US" sz="1500" b="1" baseline="30000">
                <a:solidFill>
                  <a:srgbClr val="006D77"/>
                </a:solidFill>
                <a:latin typeface="Arial"/>
                <a:ea typeface="Arial"/>
                <a:cs typeface="Arial"/>
              </a:rPr>
              <a:t>2</a:t>
            </a:r>
          </a:p>
        </p:txBody>
      </p:sp>
      <p:graphicFrame>
        <p:nvGraphicFramePr>
          <p:cNvPr id="19" name="Chart 18"/>
          <p:cNvGraphicFramePr>
            <a:graphicFrameLocks noGrp="1"/>
          </p:cNvGraphicFramePr>
          <p:nvPr/>
        </p:nvGraphicFramePr>
        <p:xfrm>
          <a:off x="6629400" y="3246120"/>
          <a:ext cx="5029200" cy="1691640"/>
        </p:xfrm>
        <a:graphic>
          <a:graphicData uri="http://schemas.openxmlformats.org/drawingml/2006/chart">
            <c:chart xmlns:c="http://schemas.openxmlformats.org/drawingml/2006/chart" r:id="rId4"/>
          </a:graphicData>
        </a:graphic>
      </p:graphicFrame>
      <p:sp>
        <p:nvSpPr>
          <p:cNvPr id="20" name="rule"/>
          <p:cNvSpPr/>
          <p:nvPr/>
        </p:nvSpPr>
        <p:spPr>
          <a:xfrm>
            <a:off x="640080" y="5138928"/>
            <a:ext cx="10972800" cy="14630"/>
          </a:xfrm>
          <a:prstGeom prst="rect">
            <a:avLst/>
          </a:prstGeom>
          <a:solidFill>
            <a:srgbClr val="CDD7D9"/>
          </a:solidFill>
          <a:ln w="0">
            <a:noFill/>
          </a:ln>
        </p:spPr>
      </p:sp>
      <p:sp>
        <p:nvSpPr>
          <p:cNvPr id="21" name="hypothesis"/>
          <p:cNvSpPr/>
          <p:nvPr/>
        </p:nvSpPr>
        <p:spPr>
          <a:xfrm>
            <a:off x="640080" y="530352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We built the API agent first, then added VACP for the half with no endpoint.</a:t>
            </a:r>
          </a:p>
        </p:txBody>
      </p:sp>
      <p:sp>
        <p:nvSpPr>
          <p:cNvPr id="22" name="gap-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(refs 2, 14, 15). That VACP closes the gap is our hypothesis, not yet measured.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Development-set KPI results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18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Current system on 31 development chains (87 steps), one run</a:t>
            </a:r>
          </a:p>
        </p:txBody>
      </p:sp>
      <p:graphicFrame>
        <p:nvGraphicFramePr>
          <p:cNvPr id="14" name="Table 13"/>
          <p:cNvGraphicFramePr>
            <a:graphicFrameLocks noGrp="1"/>
          </p:cNvGraphicFramePr>
          <p:nvPr/>
        </p:nvGraphicFramePr>
        <p:xfrm>
          <a:off x="640080" y="1719072"/>
          <a:ext cx="10972800" cy="4169664"/>
        </p:xfrm>
        <a:graphic>
          <a:graphicData uri="http://schemas.openxmlformats.org/drawingml/2006/table">
            <a:tbl>
              <a:tblPr/>
              <a:tblGrid>
                <a:gridCol w="3383280"/>
                <a:gridCol w="3108960"/>
                <a:gridCol w="4480560"/>
              </a:tblGrid>
              <a:tr h="384048">
                <a:tc>
                  <a:txBody>
                    <a:bodyPr wrap="square"/>
                    <a:lstStyle/>
                    <a:p>
                      <a:pPr>
                        <a:lnSpc>
                          <a:spcPct val="108000"/>
                        </a:lnSpc>
                      </a:pPr>
                      <a:r>
                        <a:rPr sz="1725" b="1">
                          <a:solidFill>
                            <a:srgbClr val="FFFFFF"/>
                          </a:solidFill>
                          <a:latin typeface="Arial"/>
                        </a:rPr>
                        <a:t>KPI from the brief</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Result</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Basis</a:t>
                      </a:r>
                    </a:p>
                  </a:txBody>
                  <a:tcPr marL="133502" marR="133502" marT="64008" marB="54864" anchor="ctr">
                    <a:solidFill>
                      <a:srgbClr val="006D77"/>
                    </a:solidFill>
                  </a:tcPr>
                </a:tc>
              </a:tr>
              <a:tr h="420624">
                <a:tc>
                  <a:txBody>
                    <a:bodyPr wrap="square"/>
                    <a:lstStyle/>
                    <a:p>
                      <a:pPr>
                        <a:lnSpc>
                          <a:spcPct val="108000"/>
                        </a:lnSpc>
                      </a:pPr>
                      <a:r>
                        <a:rPr sz="1575" b="1">
                          <a:solidFill>
                            <a:srgbClr val="17324A"/>
                          </a:solidFill>
                          <a:latin typeface="Arial"/>
                        </a:rPr>
                        <a:t>Intent-to-destination accuracy</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Right page and operation</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UI-state correctness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79.3% (69 of 87)</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Filters, dates and sort match the key</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Multi-step task success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58.1% (18 of 31)</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Every step right; steps alone 77.0%</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Steps and latency</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19.3 s per step</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2.8 steps per chain; p95 39 s</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Analytical correctness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Totals and rows match the oracle</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Faithfulness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100%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Every number traced to a tool result</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Retrieval over 293 pages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MRR 0.677; hit@5 77.9%</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140 queries; hit@1 61.4%</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Action hallucination</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4.6% of steps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 of 87 steps; target 0</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Error and recovery rate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Pending</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Not yet reported separately</a:t>
                      </a:r>
                    </a:p>
                  </a:txBody>
                  <a:tcPr marL="133502" marR="133502" marT="64008" marB="54864" anchor="ctr">
                    <a:solidFill>
                      <a:srgbClr val="F1F6F6"/>
                    </a:solidFill>
                  </a:tcPr>
                </a:tc>
              </a:tr>
            </a:tbl>
          </a:graphicData>
        </a:graphic>
      </p:graphicFrame>
      <p:sp>
        <p:nvSpPr>
          <p:cNvPr id="15" name="kpi-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single run, tuned on these chains. Held-out chains not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drove the result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19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Three runs on the same development chains</a:t>
            </a:r>
          </a:p>
        </p:txBody>
      </p:sp>
      <p:graphicFrame>
        <p:nvGraphicFramePr>
          <p:cNvPr id="14" name="Chart 13"/>
          <p:cNvGraphicFramePr>
            <a:graphicFrameLocks noGrp="1"/>
          </p:cNvGraphicFramePr>
          <p:nvPr/>
        </p:nvGraphicFramePr>
        <p:xfrm>
          <a:off x="502920" y="1737360"/>
          <a:ext cx="6583680" cy="2743200"/>
        </p:xfrm>
        <a:graphic>
          <a:graphicData uri="http://schemas.openxmlformats.org/drawingml/2006/chart">
            <c:chart xmlns:c="http://schemas.openxmlformats.org/drawingml/2006/chart" r:id="rId3"/>
          </a:graphicData>
        </a:graphic>
      </p:graphicFrame>
      <p:sp>
        <p:nvSpPr>
          <p:cNvPr id="15" name="leg-chain"/>
          <p:cNvSpPr/>
          <p:nvPr/>
        </p:nvSpPr>
        <p:spPr>
          <a:xfrm>
            <a:off x="868680" y="4590288"/>
            <a:ext cx="146304" cy="146304"/>
          </a:xfrm>
          <a:prstGeom prst="rect">
            <a:avLst/>
          </a:prstGeom>
          <a:solidFill>
            <a:srgbClr val="17324A"/>
          </a:solidFill>
          <a:ln w="0">
            <a:noFill/>
          </a:ln>
        </p:spPr>
      </p:sp>
      <p:sp>
        <p:nvSpPr>
          <p:cNvPr id="16" name="leg-chain-t"/>
          <p:cNvSpPr/>
          <p:nvPr/>
        </p:nvSpPr>
        <p:spPr>
          <a:xfrm>
            <a:off x="109728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Chain success</a:t>
            </a:r>
          </a:p>
        </p:txBody>
      </p:sp>
      <p:sp>
        <p:nvSpPr>
          <p:cNvPr id="17" name="leg-step"/>
          <p:cNvSpPr/>
          <p:nvPr/>
        </p:nvSpPr>
        <p:spPr>
          <a:xfrm>
            <a:off x="3063240" y="4590288"/>
            <a:ext cx="146304" cy="146304"/>
          </a:xfrm>
          <a:prstGeom prst="rect">
            <a:avLst/>
          </a:prstGeom>
          <a:solidFill>
            <a:srgbClr val="006D77"/>
          </a:solidFill>
          <a:ln w="0">
            <a:noFill/>
          </a:ln>
        </p:spPr>
      </p:sp>
      <p:sp>
        <p:nvSpPr>
          <p:cNvPr id="18" name="leg-step-t"/>
          <p:cNvSpPr/>
          <p:nvPr/>
        </p:nvSpPr>
        <p:spPr>
          <a:xfrm>
            <a:off x="329184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Step pass</a:t>
            </a:r>
          </a:p>
        </p:txBody>
      </p:sp>
      <p:graphicFrame>
        <p:nvGraphicFramePr>
          <p:cNvPr id="19" name="Table 18"/>
          <p:cNvGraphicFramePr>
            <a:graphicFrameLocks noGrp="1"/>
          </p:cNvGraphicFramePr>
          <p:nvPr/>
        </p:nvGraphicFramePr>
        <p:xfrm>
          <a:off x="7269480" y="1783080"/>
          <a:ext cx="4389120" cy="2231136"/>
        </p:xfrm>
        <a:graphic>
          <a:graphicData uri="http://schemas.openxmlformats.org/drawingml/2006/table">
            <a:tbl>
              <a:tblPr/>
              <a:tblGrid>
                <a:gridCol w="1920240"/>
                <a:gridCol w="1188720"/>
                <a:gridCol w="1280160"/>
              </a:tblGrid>
              <a:tr h="365760">
                <a:tc>
                  <a:txBody>
                    <a:bodyPr wrap="square"/>
                    <a:lstStyle/>
                    <a:p>
                      <a:pPr>
                        <a:lnSpc>
                          <a:spcPct val="108000"/>
                        </a:lnSpc>
                      </a:pPr>
                      <a:r>
                        <a:rPr sz="1575" b="1">
                          <a:solidFill>
                            <a:srgbClr val="FFFFFF"/>
                          </a:solidFill>
                          <a:latin typeface="Arial"/>
                        </a:rPr>
                        <a:t>Run</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Halluc.</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Latency</a:t>
                      </a:r>
                    </a:p>
                  </a:txBody>
                  <a:tcPr marL="133502" marR="133502" marT="64008" marB="54864" anchor="ctr">
                    <a:solidFill>
                      <a:srgbClr val="006D77"/>
                    </a:solidFill>
                  </a:tcPr>
                </a:tc>
              </a:tr>
              <a:tr h="621792">
                <a:tc>
                  <a:txBody>
                    <a:bodyPr wrap="square"/>
                    <a:lstStyle/>
                    <a:p>
                      <a:pPr>
                        <a:lnSpc>
                          <a:spcPct val="108000"/>
                        </a:lnSpc>
                      </a:pPr>
                      <a:r>
                        <a:rPr sz="1575" b="1">
                          <a:solidFill>
                            <a:srgbClr val="17324A"/>
                          </a:solidFill>
                          <a:latin typeface="Arial"/>
                        </a:rPr>
                        <a:t>R1-32B</a:t>
                      </a:r>
                    </a:p>
                    <a:p>
                      <a:pPr>
                        <a:lnSpc>
                          <a:spcPct val="108000"/>
                        </a:lnSpc>
                      </a:pPr>
                      <a:r>
                        <a:rPr sz="1575" b="1">
                          <a:solidFill>
                            <a:srgbClr val="17324A"/>
                          </a:solidFill>
                          <a:latin typeface="Arial"/>
                        </a:rPr>
                        <a:t>emits calls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3.4%</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32 s</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older code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2.3%</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8 s</a:t>
                      </a:r>
                    </a:p>
                  </a:txBody>
                  <a:tcPr marL="133502" marR="133502" marT="64008" marB="54864" anchor="ctr">
                    <a:solidFill>
                      <a:srgbClr val="FFFFFF"/>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current code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4.6%</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19 s</a:t>
                      </a:r>
                    </a:p>
                  </a:txBody>
                  <a:tcPr marL="133502" marR="133502" marT="64008" marB="54864" anchor="ctr">
                    <a:solidFill>
                      <a:srgbClr val="F1F6F6"/>
                    </a:solidFill>
                  </a:tcPr>
                </a:tc>
              </a:tr>
            </a:tbl>
          </a:graphicData>
        </a:graphic>
      </p:graphicFrame>
      <p:sp>
        <p:nvSpPr>
          <p:cNvPr id="20" name="caveat-card"/>
          <p:cNvSpPr/>
          <p:nvPr/>
        </p:nvSpPr>
        <p:spPr>
          <a:xfrm>
            <a:off x="640080" y="4937760"/>
            <a:ext cx="10972800" cy="1005840"/>
          </a:xfrm>
          <a:prstGeom prst="rect">
            <a:avLst/>
          </a:prstGeom>
          <a:solidFill>
            <a:srgbClr val="EAF2F1"/>
          </a:solidFill>
          <a:ln w="15240">
            <a:solidFill>
              <a:srgbClr val="006D77"/>
            </a:solidFill>
          </a:ln>
        </p:spPr>
      </p:sp>
      <p:sp>
        <p:nvSpPr>
          <p:cNvPr id="21" name="caveat"/>
          <p:cNvSpPr/>
          <p:nvPr/>
        </p:nvSpPr>
        <p:spPr>
          <a:xfrm>
            <a:off x="822960" y="5029200"/>
            <a:ext cx="10607040" cy="868680"/>
          </a:xfrm>
          <a:prstGeom prst="rect">
            <a:avLst/>
          </a:prstGeom>
          <a:noFill/>
          <a:ln w="0">
            <a:noFill/>
          </a:ln>
        </p:spPr>
        <p:txBody>
          <a:bodyPr wrap="square" lIns="0" tIns="0" rIns="0" bIns="0" anchor="t">
            <a:noAutofit/>
          </a:bodyPr>
          <a:lstStyle/>
          <a:p>
            <a:pPr algn="l">
              <a:lnSpc>
                <a:spcPct val="112000"/>
              </a:lnSpc>
              <a:spcAft>
                <a:spcPts val="3"/>
              </a:spcAft>
              <a:buNone/>
            </a:pPr>
            <a:r>
              <a:rPr lang="en-US" sz="1575" b="0">
                <a:solidFill>
                  <a:srgbClr val="17324A"/>
                </a:solidFill>
                <a:latin typeface="Arial"/>
                <a:ea typeface="Arial"/>
                <a:cs typeface="Arial"/>
              </a:rPr>
              <a:t>Not a controlled comparison: the first two runs used earlier code, and prompts and guards were tuned on these chains.</a:t>
            </a:r>
          </a:p>
          <a:p>
            <a:pPr algn="l">
              <a:lnSpc>
                <a:spcPct val="112000"/>
              </a:lnSpc>
              <a:spcAft>
                <a:spcPts val="3"/>
              </a:spcAft>
              <a:buNone/>
            </a:pPr>
            <a:r>
              <a:rPr lang="en-US" sz="1575" b="0">
                <a:solidFill>
                  <a:srgbClr val="17324A"/>
                </a:solidFill>
                <a:latin typeface="Arial"/>
                <a:ea typeface="Arial"/>
                <a:cs typeface="Arial"/>
              </a:rPr>
              <a:t>Same-code rerun, R1-32B emits the calls: 38.7% of chains.</a:t>
            </a:r>
          </a:p>
        </p:txBody>
      </p:sp>
      <p:sp>
        <p:nvSpPr>
          <p:cNvPr id="22" name="var-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one run each. Held-out chains not run. Row 2 latency excludes the written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Built and verified so far</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20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card-built"/>
          <p:cNvSpPr/>
          <p:nvPr/>
        </p:nvSpPr>
        <p:spPr>
          <a:xfrm>
            <a:off x="640080" y="1371600"/>
            <a:ext cx="6858000" cy="3611880"/>
          </a:xfrm>
          <a:prstGeom prst="rect">
            <a:avLst/>
          </a:prstGeom>
          <a:solidFill>
            <a:srgbClr val="FFFFFF"/>
          </a:solidFill>
          <a:ln w="15240">
            <a:solidFill>
              <a:srgbClr val="006D77"/>
            </a:solidFill>
          </a:ln>
        </p:spPr>
      </p:sp>
      <p:sp>
        <p:nvSpPr>
          <p:cNvPr id="14" name="built-h"/>
          <p:cNvSpPr/>
          <p:nvPr/>
        </p:nvSpPr>
        <p:spPr>
          <a:xfrm>
            <a:off x="868680" y="1481328"/>
            <a:ext cx="640080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Verified individually</a:t>
            </a:r>
          </a:p>
        </p:txBody>
      </p:sp>
      <p:sp>
        <p:nvSpPr>
          <p:cNvPr id="15" name="lead-API ag"/>
          <p:cNvSpPr/>
          <p:nvPr/>
        </p:nvSpPr>
        <p:spPr>
          <a:xfrm>
            <a:off x="868680" y="1874519"/>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API agent</a:t>
            </a:r>
          </a:p>
        </p:txBody>
      </p:sp>
      <p:sp>
        <p:nvSpPr>
          <p:cNvPr id="16" name="det-API ag"/>
          <p:cNvSpPr/>
          <p:nvPr/>
        </p:nvSpPr>
        <p:spPr>
          <a:xfrm>
            <a:off x="868680" y="2203703"/>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16 tests pass; live demo: +96 orders (4.92%), Great Lakes +65</a:t>
            </a:r>
          </a:p>
        </p:txBody>
      </p:sp>
      <p:sp>
        <p:nvSpPr>
          <p:cNvPr id="17" name="lead-ERPNex"/>
          <p:cNvSpPr/>
          <p:nvPr/>
        </p:nvSpPr>
        <p:spPr>
          <a:xfrm>
            <a:off x="868680" y="265176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15 with WWI data</a:t>
            </a:r>
          </a:p>
        </p:txBody>
      </p:sp>
      <p:sp>
        <p:nvSpPr>
          <p:cNvPr id="18" name="det-ERPNex"/>
          <p:cNvSpPr/>
          <p:nvPr/>
        </p:nvSpPr>
        <p:spPr>
          <a:xfrm>
            <a:off x="868680" y="298094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73,596 orders, 64,500 invoices, 2,074 POs; 8 of 8 checks pass</a:t>
            </a:r>
          </a:p>
        </p:txBody>
      </p:sp>
      <p:sp>
        <p:nvSpPr>
          <p:cNvPr id="19" name="lead-ERPNex"/>
          <p:cNvSpPr/>
          <p:nvPr/>
        </p:nvSpPr>
        <p:spPr>
          <a:xfrm>
            <a:off x="868680" y="342900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bridge (window.__vacp)</a:t>
            </a:r>
          </a:p>
        </p:txBody>
      </p:sp>
      <p:sp>
        <p:nvSpPr>
          <p:cNvPr id="20" name="det-ERPNex"/>
          <p:cNvSpPr/>
          <p:nvPr/>
        </p:nvSpPr>
        <p:spPr>
          <a:xfrm>
            <a:off x="868680" y="375818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23 of 23 checks against SQL on the stock Desk</a:t>
            </a:r>
          </a:p>
        </p:txBody>
      </p:sp>
      <p:sp>
        <p:nvSpPr>
          <p:cNvPr id="21" name="lead-Sapien"/>
          <p:cNvSpPr/>
          <p:nvPr/>
        </p:nvSpPr>
        <p:spPr>
          <a:xfrm>
            <a:off x="868680" y="420624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Sapience workspace build</a:t>
            </a:r>
          </a:p>
        </p:txBody>
      </p:sp>
      <p:sp>
        <p:nvSpPr>
          <p:cNvPr id="22" name="det-Sapien"/>
          <p:cNvSpPr/>
          <p:nvPr/>
        </p:nvSpPr>
        <p:spPr>
          <a:xfrm>
            <a:off x="868680" y="453542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WWI API, ERP-style UI, model transport; 65 tests pass</a:t>
            </a:r>
          </a:p>
        </p:txBody>
      </p:sp>
      <p:sp>
        <p:nvSpPr>
          <p:cNvPr id="23" name="card-todo"/>
          <p:cNvSpPr/>
          <p:nvPr/>
        </p:nvSpPr>
        <p:spPr>
          <a:xfrm>
            <a:off x="7772400" y="1371600"/>
            <a:ext cx="3840480" cy="3611880"/>
          </a:xfrm>
          <a:prstGeom prst="rect">
            <a:avLst/>
          </a:prstGeom>
          <a:solidFill>
            <a:srgbClr val="EAF2F1"/>
          </a:solidFill>
          <a:ln w="15240">
            <a:solidFill>
              <a:srgbClr val="006D77"/>
            </a:solidFill>
          </a:ln>
        </p:spPr>
      </p:sp>
      <p:sp>
        <p:nvSpPr>
          <p:cNvPr id="24" name="todo-h"/>
          <p:cNvSpPr/>
          <p:nvPr/>
        </p:nvSpPr>
        <p:spPr>
          <a:xfrm>
            <a:off x="8001000" y="1481328"/>
            <a:ext cx="347472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7324A"/>
                </a:solidFill>
                <a:latin typeface="Arial"/>
                <a:ea typeface="Arial"/>
                <a:cs typeface="Arial"/>
              </a:rPr>
              <a:t>Not done yet</a:t>
            </a:r>
          </a:p>
        </p:txBody>
      </p:sp>
      <p:sp>
        <p:nvSpPr>
          <p:cNvPr id="25" name="todo-Held-o"/>
          <p:cNvSpPr/>
          <p:nvPr/>
        </p:nvSpPr>
        <p:spPr>
          <a:xfrm>
            <a:off x="8001000" y="196596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Held-out run, 15 chains</a:t>
            </a:r>
          </a:p>
        </p:txBody>
      </p:sp>
      <p:sp>
        <p:nvSpPr>
          <p:cNvPr id="26" name="todo-Joined"/>
          <p:cNvSpPr/>
          <p:nvPr/>
        </p:nvSpPr>
        <p:spPr>
          <a:xfrm>
            <a:off x="8001000" y="246888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Joined API + bridge agent</a:t>
            </a:r>
          </a:p>
        </p:txBody>
      </p:sp>
      <p:sp>
        <p:nvSpPr>
          <p:cNvPr id="27" name="todo-Live h"/>
          <p:cNvSpPr/>
          <p:nvPr/>
        </p:nvSpPr>
        <p:spPr>
          <a:xfrm>
            <a:off x="8001000" y="297180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Live hosted-model loop</a:t>
            </a:r>
          </a:p>
        </p:txBody>
      </p:sp>
      <p:sp>
        <p:nvSpPr>
          <p:cNvPr id="28" name="todo-Durabl"/>
          <p:cNvSpPr/>
          <p:nvPr/>
        </p:nvSpPr>
        <p:spPr>
          <a:xfrm>
            <a:off x="8001000" y="347472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Durable session state</a:t>
            </a:r>
          </a:p>
        </p:txBody>
      </p:sp>
      <p:sp>
        <p:nvSpPr>
          <p:cNvPr id="29" name="todo-Assist"/>
          <p:cNvSpPr/>
          <p:nvPr/>
        </p:nvSpPr>
        <p:spPr>
          <a:xfrm>
            <a:off x="8001000" y="397763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Assistant panel in the app</a:t>
            </a:r>
          </a:p>
        </p:txBody>
      </p:sp>
      <p:sp>
        <p:nvSpPr>
          <p:cNvPr id="30" name="todo-WebAre"/>
          <p:cNvSpPr/>
          <p:nvPr/>
        </p:nvSpPr>
        <p:spPr>
          <a:xfrm>
            <a:off x="8001000" y="448055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WebArena runs, baselines</a:t>
            </a:r>
          </a:p>
        </p:txBody>
      </p:sp>
      <p:sp>
        <p:nvSpPr>
          <p:cNvPr id="31" name="status-line"/>
          <p:cNvSpPr/>
          <p:nvPr/>
        </p:nvSpPr>
        <p:spPr>
          <a:xfrm>
            <a:off x="640080" y="521208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Both channels are built and verified individually; joining them is the last step.</a:t>
            </a:r>
          </a:p>
        </p:txBody>
      </p:sp>
      <p:sp>
        <p:nvSpPr>
          <p:cNvPr id="32" name="status-note"/>
          <p:cNvSpPr/>
          <p:nvPr/>
        </p:nvSpPr>
        <p:spPr>
          <a:xfrm>
            <a:off x="640080" y="5650992"/>
            <a:ext cx="10972800" cy="59436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bridge is our own window.__vacp, tested in headless Chromium on the Sales Order and Sales Invoice lists, not VACP's kit. ERPNext invoices stop at 24 Feb 2016.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 (continued)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22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ref-num-13"/>
          <p:cNvSpPr/>
          <p:nvPr/>
        </p:nvSpPr>
        <p:spPr>
          <a:xfrm>
            <a:off x="64008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13</a:t>
            </a:r>
          </a:p>
        </p:txBody>
      </p:sp>
      <p:sp>
        <p:nvSpPr>
          <p:cNvPr id="14" name="ref-title-13"/>
          <p:cNvSpPr/>
          <p:nvPr/>
        </p:nvSpPr>
        <p:spPr>
          <a:xfrm>
            <a:off x="128016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3"/>
              </a:rPr>
              <a:t>WebArena Verified: Reliable</a:t>
            </a:r>
          </a:p>
          <a:p>
            <a:pPr algn="l">
              <a:lnSpc>
                <a:spcPct val="112000"/>
              </a:lnSpc>
              <a:buNone/>
            </a:pPr>
            <a:r>
              <a:rPr lang="en-US" sz="1725" b="1" u="sng">
                <a:solidFill>
                  <a:srgbClr val="17324A"/>
                </a:solidFill>
                <a:latin typeface="Arial"/>
                <a:ea typeface="Arial"/>
                <a:cs typeface="Arial"/>
                <a:hlinkClick r:id="rId3"/>
              </a:rPr>
              <a:t>Evaluation for Web Agents</a:t>
            </a:r>
          </a:p>
        </p:txBody>
      </p:sp>
      <p:sp>
        <p:nvSpPr>
          <p:cNvPr id="15" name="ref-meta-13"/>
          <p:cNvSpPr/>
          <p:nvPr/>
        </p:nvSpPr>
        <p:spPr>
          <a:xfrm>
            <a:off x="1280160" y="223113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El hattami et al.  /  NeurIPS 2025 workshop</a:t>
            </a:r>
          </a:p>
        </p:txBody>
      </p:sp>
      <p:sp>
        <p:nvSpPr>
          <p:cNvPr id="16" name="ref-num-14"/>
          <p:cNvSpPr/>
          <p:nvPr/>
        </p:nvSpPr>
        <p:spPr>
          <a:xfrm>
            <a:off x="649224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14</a:t>
            </a:r>
          </a:p>
        </p:txBody>
      </p:sp>
      <p:sp>
        <p:nvSpPr>
          <p:cNvPr id="17" name="ref-title-14"/>
          <p:cNvSpPr/>
          <p:nvPr/>
        </p:nvSpPr>
        <p:spPr>
          <a:xfrm>
            <a:off x="713232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4"/>
              </a:rPr>
              <a:t>WALT: Web Agents that Learn Tools</a:t>
            </a:r>
          </a:p>
        </p:txBody>
      </p:sp>
      <p:sp>
        <p:nvSpPr>
          <p:cNvPr id="18" name="ref-meta-14"/>
          <p:cNvSpPr/>
          <p:nvPr/>
        </p:nvSpPr>
        <p:spPr>
          <a:xfrm>
            <a:off x="7132320" y="1947672"/>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Prabhu et al.  /  2025</a:t>
            </a:r>
          </a:p>
        </p:txBody>
      </p:sp>
      <p:sp>
        <p:nvSpPr>
          <p:cNvPr id="19" name="ref-num-15"/>
          <p:cNvSpPr/>
          <p:nvPr/>
        </p:nvSpPr>
        <p:spPr>
          <a:xfrm>
            <a:off x="64008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15</a:t>
            </a:r>
          </a:p>
        </p:txBody>
      </p:sp>
      <p:sp>
        <p:nvSpPr>
          <p:cNvPr id="20" name="ref-title-15"/>
          <p:cNvSpPr/>
          <p:nvPr/>
        </p:nvSpPr>
        <p:spPr>
          <a:xfrm>
            <a:off x="128016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5"/>
              </a:rPr>
              <a:t>Web Agents Should Adopt the</a:t>
            </a:r>
          </a:p>
          <a:p>
            <a:pPr algn="l">
              <a:lnSpc>
                <a:spcPct val="112000"/>
              </a:lnSpc>
              <a:buNone/>
            </a:pPr>
            <a:r>
              <a:rPr lang="en-US" sz="1725" b="1" u="sng">
                <a:solidFill>
                  <a:srgbClr val="17324A"/>
                </a:solidFill>
                <a:latin typeface="Arial"/>
                <a:ea typeface="Arial"/>
                <a:cs typeface="Arial"/>
                <a:hlinkClick r:id="rId5"/>
              </a:rPr>
              <a:t>Plan-Then-Execute Paradigm</a:t>
            </a:r>
          </a:p>
        </p:txBody>
      </p:sp>
      <p:sp>
        <p:nvSpPr>
          <p:cNvPr id="21" name="ref-meta-15"/>
          <p:cNvSpPr/>
          <p:nvPr/>
        </p:nvSpPr>
        <p:spPr>
          <a:xfrm>
            <a:off x="1280160" y="410565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Piet et al.  /  2026</a:t>
            </a:r>
          </a:p>
        </p:txBody>
      </p:sp>
      <p:sp>
        <p:nvSpPr>
          <p:cNvPr id="22" name="ref-num-16"/>
          <p:cNvSpPr/>
          <p:nvPr/>
        </p:nvSpPr>
        <p:spPr>
          <a:xfrm>
            <a:off x="649224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16</a:t>
            </a:r>
          </a:p>
        </p:txBody>
      </p:sp>
      <p:sp>
        <p:nvSpPr>
          <p:cNvPr id="23" name="ref-title-16"/>
          <p:cNvSpPr/>
          <p:nvPr/>
        </p:nvSpPr>
        <p:spPr>
          <a:xfrm>
            <a:off x="713232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6"/>
              </a:rPr>
              <a:t>Callability Is Not Operability:</a:t>
            </a:r>
          </a:p>
          <a:p>
            <a:pPr algn="l">
              <a:lnSpc>
                <a:spcPct val="112000"/>
              </a:lnSpc>
              <a:buNone/>
            </a:pPr>
            <a:r>
              <a:rPr lang="en-US" sz="1725" b="1" u="sng">
                <a:solidFill>
                  <a:srgbClr val="17324A"/>
                </a:solidFill>
                <a:latin typeface="Arial"/>
                <a:ea typeface="Arial"/>
                <a:cs typeface="Arial"/>
                <a:hlinkClick r:id="rId6"/>
              </a:rPr>
              <a:t>Controlled Interface Interventions</a:t>
            </a:r>
          </a:p>
          <a:p>
            <a:pPr algn="l">
              <a:lnSpc>
                <a:spcPct val="112000"/>
              </a:lnSpc>
              <a:buNone/>
            </a:pPr>
            <a:r>
              <a:rPr lang="en-US" sz="1725" b="1" u="sng">
                <a:solidFill>
                  <a:srgbClr val="17324A"/>
                </a:solidFill>
                <a:latin typeface="Arial"/>
                <a:ea typeface="Arial"/>
                <a:cs typeface="Arial"/>
                <a:hlinkClick r:id="rId6"/>
              </a:rPr>
              <a:t>for LLM Agents</a:t>
            </a:r>
          </a:p>
        </p:txBody>
      </p:sp>
      <p:sp>
        <p:nvSpPr>
          <p:cNvPr id="24" name="ref-meta-16"/>
          <p:cNvSpPr/>
          <p:nvPr/>
        </p:nvSpPr>
        <p:spPr>
          <a:xfrm>
            <a:off x="7132320" y="4389120"/>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Wang  /  2026</a:t>
            </a:r>
          </a:p>
        </p:txBody>
      </p:sp>
      <p:sp>
        <p:nvSpPr>
          <p:cNvPr id="25" name="re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Added in v5. Authors and venues checked on arXiv and OpenReview, 11 October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1: API-based agent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10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Typed tools, a state ledger and a code-checked finish</a:t>
            </a:r>
          </a:p>
        </p:txBody>
      </p:sp>
      <p:sp>
        <p:nvSpPr>
          <p:cNvPr id="14" name="step0"/>
          <p:cNvSpPr/>
          <p:nvPr/>
        </p:nvSpPr>
        <p:spPr>
          <a:xfrm>
            <a:off x="640080" y="1783080"/>
            <a:ext cx="2011680" cy="914400"/>
          </a:xfrm>
          <a:prstGeom prst="rect">
            <a:avLst/>
          </a:prstGeom>
          <a:solidFill>
            <a:srgbClr val="FFFFFF"/>
          </a:solidFill>
          <a:ln w="19050">
            <a:solidFill>
              <a:srgbClr val="006D77"/>
            </a:solidFill>
          </a:ln>
        </p:spPr>
      </p:sp>
      <p:sp>
        <p:nvSpPr>
          <p:cNvPr id="15" name="step0-t"/>
          <p:cNvSpPr/>
          <p:nvPr/>
        </p:nvSpPr>
        <p:spPr>
          <a:xfrm>
            <a:off x="76809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Understand</a:t>
            </a:r>
          </a:p>
        </p:txBody>
      </p:sp>
      <p:sp>
        <p:nvSpPr>
          <p:cNvPr id="16" name="step0-s"/>
          <p:cNvSpPr/>
          <p:nvPr/>
        </p:nvSpPr>
        <p:spPr>
          <a:xfrm>
            <a:off x="76809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LLM reads slots</a:t>
            </a:r>
          </a:p>
        </p:txBody>
      </p:sp>
      <p:cxnSp>
        <p:nvCxnSpPr>
          <p:cNvPr id="17" name="stepa0"/>
          <p:cNvCxnSpPr/>
          <p:nvPr/>
        </p:nvCxnSpPr>
        <p:spPr>
          <a:xfrm>
            <a:off x="2651760" y="2240280"/>
            <a:ext cx="228600" cy="0"/>
          </a:xfrm>
          <a:prstGeom prst="straightConnector1">
            <a:avLst/>
          </a:prstGeom>
          <a:ln w="19050">
            <a:solidFill>
              <a:srgbClr val="006D77"/>
            </a:solidFill>
            <a:tailEnd type="triangle" w="med" len="med"/>
          </a:ln>
        </p:spPr>
      </p:cxnSp>
      <p:sp>
        <p:nvSpPr>
          <p:cNvPr id="18" name="step1"/>
          <p:cNvSpPr/>
          <p:nvPr/>
        </p:nvSpPr>
        <p:spPr>
          <a:xfrm>
            <a:off x="2880360" y="1783080"/>
            <a:ext cx="2011680" cy="914400"/>
          </a:xfrm>
          <a:prstGeom prst="rect">
            <a:avLst/>
          </a:prstGeom>
          <a:solidFill>
            <a:srgbClr val="FFFFFF"/>
          </a:solidFill>
          <a:ln w="19050">
            <a:solidFill>
              <a:srgbClr val="006D77"/>
            </a:solidFill>
          </a:ln>
        </p:spPr>
      </p:sp>
      <p:sp>
        <p:nvSpPr>
          <p:cNvPr id="19" name="step1-t"/>
          <p:cNvSpPr/>
          <p:nvPr/>
        </p:nvSpPr>
        <p:spPr>
          <a:xfrm>
            <a:off x="300837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Resolve</a:t>
            </a:r>
          </a:p>
        </p:txBody>
      </p:sp>
      <p:sp>
        <p:nvSpPr>
          <p:cNvPr id="20" name="step1-s"/>
          <p:cNvSpPr/>
          <p:nvPr/>
        </p:nvSpPr>
        <p:spPr>
          <a:xfrm>
            <a:off x="300837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names to ids</a:t>
            </a:r>
          </a:p>
        </p:txBody>
      </p:sp>
      <p:cxnSp>
        <p:nvCxnSpPr>
          <p:cNvPr id="21" name="stepa1"/>
          <p:cNvCxnSpPr/>
          <p:nvPr/>
        </p:nvCxnSpPr>
        <p:spPr>
          <a:xfrm>
            <a:off x="4892040" y="2240280"/>
            <a:ext cx="228600" cy="0"/>
          </a:xfrm>
          <a:prstGeom prst="straightConnector1">
            <a:avLst/>
          </a:prstGeom>
          <a:ln w="19050">
            <a:solidFill>
              <a:srgbClr val="006D77"/>
            </a:solidFill>
            <a:tailEnd type="triangle" w="med" len="med"/>
          </a:ln>
        </p:spPr>
      </p:cxnSp>
      <p:sp>
        <p:nvSpPr>
          <p:cNvPr id="22" name="step2"/>
          <p:cNvSpPr/>
          <p:nvPr/>
        </p:nvSpPr>
        <p:spPr>
          <a:xfrm>
            <a:off x="5120640" y="1783080"/>
            <a:ext cx="2011680" cy="914400"/>
          </a:xfrm>
          <a:prstGeom prst="rect">
            <a:avLst/>
          </a:prstGeom>
          <a:solidFill>
            <a:srgbClr val="EAF2F1"/>
          </a:solidFill>
          <a:ln w="19050">
            <a:solidFill>
              <a:srgbClr val="006D77"/>
            </a:solidFill>
          </a:ln>
        </p:spPr>
      </p:sp>
      <p:sp>
        <p:nvSpPr>
          <p:cNvPr id="23" name="step2-t"/>
          <p:cNvSpPr/>
          <p:nvPr/>
        </p:nvSpPr>
        <p:spPr>
          <a:xfrm>
            <a:off x="524865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Execute</a:t>
            </a:r>
          </a:p>
        </p:txBody>
      </p:sp>
      <p:sp>
        <p:nvSpPr>
          <p:cNvPr id="24" name="step2-s"/>
          <p:cNvSpPr/>
          <p:nvPr/>
        </p:nvSpPr>
        <p:spPr>
          <a:xfrm>
            <a:off x="524865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gated tool calls</a:t>
            </a:r>
          </a:p>
        </p:txBody>
      </p:sp>
      <p:cxnSp>
        <p:nvCxnSpPr>
          <p:cNvPr id="25" name="stepa2"/>
          <p:cNvCxnSpPr/>
          <p:nvPr/>
        </p:nvCxnSpPr>
        <p:spPr>
          <a:xfrm>
            <a:off x="7132320" y="2240280"/>
            <a:ext cx="228600" cy="0"/>
          </a:xfrm>
          <a:prstGeom prst="straightConnector1">
            <a:avLst/>
          </a:prstGeom>
          <a:ln w="19050">
            <a:solidFill>
              <a:srgbClr val="006D77"/>
            </a:solidFill>
            <a:tailEnd type="triangle" w="med" len="med"/>
          </a:ln>
        </p:spPr>
      </p:cxnSp>
      <p:sp>
        <p:nvSpPr>
          <p:cNvPr id="26" name="step3"/>
          <p:cNvSpPr/>
          <p:nvPr/>
        </p:nvSpPr>
        <p:spPr>
          <a:xfrm>
            <a:off x="7360920" y="1783080"/>
            <a:ext cx="2011680" cy="914400"/>
          </a:xfrm>
          <a:prstGeom prst="rect">
            <a:avLst/>
          </a:prstGeom>
          <a:solidFill>
            <a:srgbClr val="EAF2F1"/>
          </a:solidFill>
          <a:ln w="19050">
            <a:solidFill>
              <a:srgbClr val="006D77"/>
            </a:solidFill>
          </a:ln>
        </p:spPr>
      </p:sp>
      <p:sp>
        <p:nvSpPr>
          <p:cNvPr id="27" name="step3-t"/>
          <p:cNvSpPr/>
          <p:nvPr/>
        </p:nvSpPr>
        <p:spPr>
          <a:xfrm>
            <a:off x="748893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Finish gate</a:t>
            </a:r>
          </a:p>
        </p:txBody>
      </p:sp>
      <p:sp>
        <p:nvSpPr>
          <p:cNvPr id="28" name="step3-s"/>
          <p:cNvSpPr/>
          <p:nvPr/>
        </p:nvSpPr>
        <p:spPr>
          <a:xfrm>
            <a:off x="748893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code checks</a:t>
            </a:r>
          </a:p>
        </p:txBody>
      </p:sp>
      <p:cxnSp>
        <p:nvCxnSpPr>
          <p:cNvPr id="29" name="stepa3"/>
          <p:cNvCxnSpPr/>
          <p:nvPr/>
        </p:nvCxnSpPr>
        <p:spPr>
          <a:xfrm>
            <a:off x="9372600" y="2240280"/>
            <a:ext cx="228600" cy="0"/>
          </a:xfrm>
          <a:prstGeom prst="straightConnector1">
            <a:avLst/>
          </a:prstGeom>
          <a:ln w="19050">
            <a:solidFill>
              <a:srgbClr val="006D77"/>
            </a:solidFill>
            <a:tailEnd type="triangle" w="med" len="med"/>
          </a:ln>
        </p:spPr>
      </p:cxnSp>
      <p:sp>
        <p:nvSpPr>
          <p:cNvPr id="30" name="step4"/>
          <p:cNvSpPr/>
          <p:nvPr/>
        </p:nvSpPr>
        <p:spPr>
          <a:xfrm>
            <a:off x="9601200" y="1783080"/>
            <a:ext cx="2011680" cy="914400"/>
          </a:xfrm>
          <a:prstGeom prst="rect">
            <a:avLst/>
          </a:prstGeom>
          <a:solidFill>
            <a:srgbClr val="FFFFFF"/>
          </a:solidFill>
          <a:ln w="19050">
            <a:solidFill>
              <a:srgbClr val="006D77"/>
            </a:solidFill>
          </a:ln>
        </p:spPr>
      </p:sp>
      <p:sp>
        <p:nvSpPr>
          <p:cNvPr id="31" name="step4-t"/>
          <p:cNvSpPr/>
          <p:nvPr/>
        </p:nvSpPr>
        <p:spPr>
          <a:xfrm>
            <a:off x="972921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Answer</a:t>
            </a:r>
          </a:p>
        </p:txBody>
      </p:sp>
      <p:sp>
        <p:nvSpPr>
          <p:cNvPr id="32" name="step4-s"/>
          <p:cNvSpPr/>
          <p:nvPr/>
        </p:nvSpPr>
        <p:spPr>
          <a:xfrm>
            <a:off x="972921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figures traced</a:t>
            </a:r>
          </a:p>
        </p:txBody>
      </p:sp>
      <p:sp>
        <p:nvSpPr>
          <p:cNvPr id="33" name="concepts"/>
          <p:cNvSpPr/>
          <p:nvPr/>
        </p:nvSpPr>
        <p:spPr>
          <a:xfrm>
            <a:off x="640080" y="2880360"/>
            <a:ext cx="1097280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Concepts the agent is built on</a:t>
            </a:r>
          </a:p>
        </p:txBody>
      </p:sp>
      <p:sp>
        <p:nvSpPr>
          <p:cNvPr id="34" name="c0"/>
          <p:cNvSpPr/>
          <p:nvPr/>
        </p:nvSpPr>
        <p:spPr>
          <a:xfrm>
            <a:off x="640080" y="3246120"/>
            <a:ext cx="3520440" cy="1783080"/>
          </a:xfrm>
          <a:prstGeom prst="rect">
            <a:avLst/>
          </a:prstGeom>
          <a:solidFill>
            <a:srgbClr val="FFFFFF"/>
          </a:solidFill>
          <a:ln w="19050">
            <a:solidFill>
              <a:srgbClr val="006D77"/>
            </a:solidFill>
          </a:ln>
        </p:spPr>
      </p:sp>
      <p:sp>
        <p:nvSpPr>
          <p:cNvPr id="35" name="c0-t"/>
          <p:cNvSpPr/>
          <p:nvPr/>
        </p:nvSpPr>
        <p:spPr>
          <a:xfrm>
            <a:off x="804671"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LedgerAgent</a:t>
            </a:r>
            <a:r>
              <a:rPr lang="en-US" sz="1500" b="1" baseline="30000">
                <a:solidFill>
                  <a:srgbClr val="006D77"/>
                </a:solidFill>
                <a:latin typeface="Arial"/>
                <a:ea typeface="Arial"/>
                <a:cs typeface="Arial"/>
              </a:rPr>
              <a:t>4,5</a:t>
            </a:r>
          </a:p>
        </p:txBody>
      </p:sp>
      <p:sp>
        <p:nvSpPr>
          <p:cNvPr id="36" name="c0-b"/>
          <p:cNvSpPr/>
          <p:nvPr/>
        </p:nvSpPr>
        <p:spPr>
          <a:xfrm>
            <a:off x="804671"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State ledger: every result gets an id, every figure traces to one, read before any change.</a:t>
            </a:r>
          </a:p>
        </p:txBody>
      </p:sp>
      <p:sp>
        <p:nvSpPr>
          <p:cNvPr id="37" name="c1"/>
          <p:cNvSpPr/>
          <p:nvPr/>
        </p:nvSpPr>
        <p:spPr>
          <a:xfrm>
            <a:off x="4366260" y="3246120"/>
            <a:ext cx="3520440" cy="1783080"/>
          </a:xfrm>
          <a:prstGeom prst="rect">
            <a:avLst/>
          </a:prstGeom>
          <a:solidFill>
            <a:srgbClr val="FFFFFF"/>
          </a:solidFill>
          <a:ln w="19050">
            <a:solidFill>
              <a:srgbClr val="006D77"/>
            </a:solidFill>
          </a:ln>
        </p:spPr>
      </p:sp>
      <p:sp>
        <p:nvSpPr>
          <p:cNvPr id="38" name="c1-t"/>
          <p:cNvSpPr/>
          <p:nvPr/>
        </p:nvSpPr>
        <p:spPr>
          <a:xfrm>
            <a:off x="453085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The Tool Illusion</a:t>
            </a:r>
            <a:r>
              <a:rPr lang="en-US" sz="1500" b="1" baseline="30000">
                <a:solidFill>
                  <a:srgbClr val="006D77"/>
                </a:solidFill>
                <a:latin typeface="Arial"/>
                <a:ea typeface="Arial"/>
                <a:cs typeface="Arial"/>
              </a:rPr>
              <a:t>6,7</a:t>
            </a:r>
          </a:p>
        </p:txBody>
      </p:sp>
      <p:sp>
        <p:nvSpPr>
          <p:cNvPr id="39" name="c1-b"/>
          <p:cNvSpPr/>
          <p:nvPr/>
        </p:nvSpPr>
        <p:spPr>
          <a:xfrm>
            <a:off x="453085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Six small typed tools, not raw tables: lookup, resolve, analyze, records, related, open_page.</a:t>
            </a:r>
          </a:p>
        </p:txBody>
      </p:sp>
      <p:sp>
        <p:nvSpPr>
          <p:cNvPr id="40" name="c2"/>
          <p:cNvSpPr/>
          <p:nvPr/>
        </p:nvSpPr>
        <p:spPr>
          <a:xfrm>
            <a:off x="8092440" y="3246120"/>
            <a:ext cx="3520440" cy="1783080"/>
          </a:xfrm>
          <a:prstGeom prst="rect">
            <a:avLst/>
          </a:prstGeom>
          <a:solidFill>
            <a:srgbClr val="FFFFFF"/>
          </a:solidFill>
          <a:ln w="19050">
            <a:solidFill>
              <a:srgbClr val="006D77"/>
            </a:solidFill>
          </a:ln>
        </p:spPr>
      </p:sp>
      <p:sp>
        <p:nvSpPr>
          <p:cNvPr id="41" name="c2-t"/>
          <p:cNvSpPr/>
          <p:nvPr/>
        </p:nvSpPr>
        <p:spPr>
          <a:xfrm>
            <a:off x="825703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Mingbird</a:t>
            </a:r>
            <a:r>
              <a:rPr lang="en-US" sz="1500" b="1" baseline="30000">
                <a:solidFill>
                  <a:srgbClr val="006D77"/>
                </a:solidFill>
                <a:latin typeface="Arial"/>
                <a:ea typeface="Arial"/>
                <a:cs typeface="Arial"/>
              </a:rPr>
              <a:t>8</a:t>
            </a:r>
          </a:p>
        </p:txBody>
      </p:sp>
      <p:sp>
        <p:nvSpPr>
          <p:cNvPr id="42" name="c2-b"/>
          <p:cNvSpPr/>
          <p:nvPr/>
        </p:nvSpPr>
        <p:spPr>
          <a:xfrm>
            <a:off x="825703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Harness: one dispatcher, repeated-call check, step budget and explicit finish conditions.</a:t>
            </a:r>
          </a:p>
        </p:txBody>
      </p:sp>
      <p:sp>
        <p:nvSpPr>
          <p:cNvPr id="43" name="rule"/>
          <p:cNvSpPr/>
          <p:nvPr/>
        </p:nvSpPr>
        <p:spPr>
          <a:xfrm>
            <a:off x="640080" y="5193792"/>
            <a:ext cx="10972800" cy="14630"/>
          </a:xfrm>
          <a:prstGeom prst="rect">
            <a:avLst/>
          </a:prstGeom>
          <a:solidFill>
            <a:srgbClr val="CDD7D9"/>
          </a:solidFill>
          <a:ln w="0">
            <a:noFill/>
          </a:ln>
        </p:spPr>
      </p:sp>
      <p:sp>
        <p:nvSpPr>
          <p:cNvPr id="44" name="data"/>
          <p:cNvSpPr/>
          <p:nvPr/>
        </p:nvSpPr>
        <p:spPr>
          <a:xfrm>
            <a:off x="640080" y="5303520"/>
            <a:ext cx="5120640" cy="64008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Data: WWI read-only API.</a:t>
            </a:r>
          </a:p>
          <a:p>
            <a:pPr algn="l">
              <a:lnSpc>
                <a:spcPct val="112000"/>
              </a:lnSpc>
              <a:buNone/>
            </a:pPr>
            <a:r>
              <a:rPr lang="en-US" sz="1575" b="0">
                <a:solidFill>
                  <a:srgbClr val="17324A"/>
                </a:solidFill>
                <a:latin typeface="Arial"/>
                <a:ea typeface="Arial"/>
                <a:cs typeface="Arial"/>
              </a:rPr>
              <a:t>Built and measured on 31 dev chains.</a:t>
            </a:r>
          </a:p>
        </p:txBody>
      </p:sp>
      <p:sp>
        <p:nvSpPr>
          <p:cNvPr id="45" name="model"/>
          <p:cNvSpPr/>
          <p:nvPr/>
        </p:nvSpPr>
        <p:spPr>
          <a:xfrm>
            <a:off x="6126480" y="5303520"/>
            <a:ext cx="5486400" cy="64008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Hosted model configured: Nemotron-3 Nano 30B on OpenRouter, not run live yet. Results used DeepSeek-R1-32B.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2: VACP, in-app actions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11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Declared in-app actions where no endpoint exists</a:t>
            </a:r>
          </a:p>
        </p:txBody>
      </p:sp>
      <p:sp>
        <p:nvSpPr>
          <p:cNvPr id="14" name="band-task"/>
          <p:cNvSpPr/>
          <p:nvPr/>
        </p:nvSpPr>
        <p:spPr>
          <a:xfrm>
            <a:off x="640080" y="1783080"/>
            <a:ext cx="10972800" cy="731520"/>
          </a:xfrm>
          <a:prstGeom prst="rect">
            <a:avLst/>
          </a:prstGeom>
          <a:solidFill>
            <a:srgbClr val="F1F6F6"/>
          </a:solidFill>
          <a:ln w="19050">
            <a:solidFill>
              <a:srgbClr val="CDD7D9"/>
            </a:solidFill>
          </a:ln>
        </p:spPr>
      </p:sp>
      <p:sp>
        <p:nvSpPr>
          <p:cNvPr id="15" name="task-l"/>
          <p:cNvSpPr/>
          <p:nvPr/>
        </p:nvSpPr>
        <p:spPr>
          <a:xfrm>
            <a:off x="822960" y="190195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Task</a:t>
            </a:r>
          </a:p>
        </p:txBody>
      </p:sp>
      <p:sp>
        <p:nvSpPr>
          <p:cNvPr id="16" name="task-b"/>
          <p:cNvSpPr/>
          <p:nvPr/>
        </p:nvSpPr>
        <p:spPr>
          <a:xfrm>
            <a:off x="2194560" y="1920240"/>
            <a:ext cx="923544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Agent loop: choose one declared action, run it, read the new state, repeat.</a:t>
            </a:r>
          </a:p>
        </p:txBody>
      </p:sp>
      <p:cxnSp>
        <p:nvCxnSpPr>
          <p:cNvPr id="17" name="a-task"/>
          <p:cNvCxnSpPr/>
          <p:nvPr/>
        </p:nvCxnSpPr>
        <p:spPr>
          <a:xfrm>
            <a:off x="6080760" y="2514600"/>
            <a:ext cx="0" cy="182880"/>
          </a:xfrm>
          <a:prstGeom prst="straightConnector1">
            <a:avLst/>
          </a:prstGeom>
          <a:ln w="19050">
            <a:solidFill>
              <a:srgbClr val="006D77"/>
            </a:solidFill>
            <a:headEnd type="triangle" w="med" len="med"/>
            <a:tailEnd type="triangle" w="med" len="med"/>
          </a:ln>
        </p:spPr>
      </p:cxnSp>
      <p:sp>
        <p:nvSpPr>
          <p:cNvPr id="18" name="band-vacp"/>
          <p:cNvSpPr/>
          <p:nvPr/>
        </p:nvSpPr>
        <p:spPr>
          <a:xfrm>
            <a:off x="640080" y="2697480"/>
            <a:ext cx="10972800" cy="2011680"/>
          </a:xfrm>
          <a:prstGeom prst="rect">
            <a:avLst/>
          </a:prstGeom>
          <a:solidFill>
            <a:srgbClr val="EAF2F1"/>
          </a:solidFill>
          <a:ln w="19050">
            <a:solidFill>
              <a:srgbClr val="006D77"/>
            </a:solidFill>
          </a:ln>
        </p:spPr>
      </p:sp>
      <p:sp>
        <p:nvSpPr>
          <p:cNvPr id="19" name="vacp-l"/>
          <p:cNvSpPr/>
          <p:nvPr/>
        </p:nvSpPr>
        <p:spPr>
          <a:xfrm>
            <a:off x="822960" y="277063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006D77"/>
                </a:solidFill>
                <a:latin typeface="Arial"/>
                <a:ea typeface="Arial"/>
                <a:cs typeface="Arial"/>
              </a:rPr>
              <a:t>VACP</a:t>
            </a:r>
          </a:p>
        </p:txBody>
      </p:sp>
      <p:sp>
        <p:nvSpPr>
          <p:cNvPr id="20" name="transport"/>
          <p:cNvSpPr/>
          <p:nvPr/>
        </p:nvSpPr>
        <p:spPr>
          <a:xfrm>
            <a:off x="2194560" y="2770632"/>
            <a:ext cx="9235440" cy="347472"/>
          </a:xfrm>
          <a:prstGeom prst="rect">
            <a:avLst/>
          </a:prstGeom>
          <a:solidFill>
            <a:srgbClr val="FFFFFF"/>
          </a:solidFill>
          <a:ln w="12700">
            <a:solidFill>
              <a:srgbClr val="006D77"/>
            </a:solidFill>
            <a:prstDash val="dash"/>
          </a:ln>
        </p:spPr>
      </p:sp>
      <p:sp>
        <p:nvSpPr>
          <p:cNvPr id="21" name="transport-t"/>
          <p:cNvSpPr/>
          <p:nvPr/>
        </p:nvSpPr>
        <p:spPr>
          <a:xfrm>
            <a:off x="2331720" y="2807208"/>
            <a:ext cx="896112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Transport: getCapabilities, getState, execute (window.__vacp)</a:t>
            </a:r>
          </a:p>
        </p:txBody>
      </p:sp>
      <p:sp>
        <p:nvSpPr>
          <p:cNvPr id="22" name="cap0"/>
          <p:cNvSpPr/>
          <p:nvPr/>
        </p:nvSpPr>
        <p:spPr>
          <a:xfrm>
            <a:off x="822960" y="3246120"/>
            <a:ext cx="3383280" cy="868680"/>
          </a:xfrm>
          <a:prstGeom prst="rect">
            <a:avLst/>
          </a:prstGeom>
          <a:solidFill>
            <a:srgbClr val="FFFFFF"/>
          </a:solidFill>
          <a:ln w="19050">
            <a:solidFill>
              <a:srgbClr val="006D77"/>
            </a:solidFill>
          </a:ln>
        </p:spPr>
      </p:sp>
      <p:sp>
        <p:nvSpPr>
          <p:cNvPr id="23" name="cap0-t"/>
          <p:cNvSpPr/>
          <p:nvPr/>
        </p:nvSpPr>
        <p:spPr>
          <a:xfrm>
            <a:off x="95097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Observation</a:t>
            </a:r>
          </a:p>
        </p:txBody>
      </p:sp>
      <p:sp>
        <p:nvSpPr>
          <p:cNvPr id="24" name="cap0-s"/>
          <p:cNvSpPr/>
          <p:nvPr/>
        </p:nvSpPr>
        <p:spPr>
          <a:xfrm>
            <a:off x="95097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 view state; query exact totals</a:t>
            </a:r>
          </a:p>
        </p:txBody>
      </p:sp>
      <p:sp>
        <p:nvSpPr>
          <p:cNvPr id="25" name="cap1"/>
          <p:cNvSpPr/>
          <p:nvPr/>
        </p:nvSpPr>
        <p:spPr>
          <a:xfrm>
            <a:off x="4434840" y="3246120"/>
            <a:ext cx="3383280" cy="868680"/>
          </a:xfrm>
          <a:prstGeom prst="rect">
            <a:avLst/>
          </a:prstGeom>
          <a:solidFill>
            <a:srgbClr val="FFFFFF"/>
          </a:solidFill>
          <a:ln w="19050">
            <a:solidFill>
              <a:srgbClr val="006D77"/>
            </a:solidFill>
          </a:ln>
        </p:spPr>
      </p:sp>
      <p:sp>
        <p:nvSpPr>
          <p:cNvPr id="26" name="cap1-t"/>
          <p:cNvSpPr/>
          <p:nvPr/>
        </p:nvSpPr>
        <p:spPr>
          <a:xfrm>
            <a:off x="456285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Configuration</a:t>
            </a:r>
          </a:p>
        </p:txBody>
      </p:sp>
      <p:sp>
        <p:nvSpPr>
          <p:cNvPr id="27" name="cap1-s"/>
          <p:cNvSpPr/>
          <p:nvPr/>
        </p:nvSpPr>
        <p:spPr>
          <a:xfrm>
            <a:off x="456285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Set period; set and clear filters</a:t>
            </a:r>
          </a:p>
        </p:txBody>
      </p:sp>
      <p:sp>
        <p:nvSpPr>
          <p:cNvPr id="28" name="cap2"/>
          <p:cNvSpPr/>
          <p:nvPr/>
        </p:nvSpPr>
        <p:spPr>
          <a:xfrm>
            <a:off x="8046720" y="3246120"/>
            <a:ext cx="3383280" cy="868680"/>
          </a:xfrm>
          <a:prstGeom prst="rect">
            <a:avLst/>
          </a:prstGeom>
          <a:solidFill>
            <a:srgbClr val="FFFFFF"/>
          </a:solidFill>
          <a:ln w="19050">
            <a:solidFill>
              <a:srgbClr val="006D77"/>
            </a:solidFill>
          </a:ln>
        </p:spPr>
      </p:sp>
      <p:sp>
        <p:nvSpPr>
          <p:cNvPr id="29" name="cap2-t"/>
          <p:cNvSpPr/>
          <p:nvPr/>
        </p:nvSpPr>
        <p:spPr>
          <a:xfrm>
            <a:off x="817473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Interaction</a:t>
            </a:r>
          </a:p>
        </p:txBody>
      </p:sp>
      <p:sp>
        <p:nvSpPr>
          <p:cNvPr id="30" name="cap2-s"/>
          <p:cNvSpPr/>
          <p:nvPr/>
        </p:nvSpPr>
        <p:spPr>
          <a:xfrm>
            <a:off x="817473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Navigate; open a record</a:t>
            </a:r>
          </a:p>
        </p:txBody>
      </p:sp>
      <p:sp>
        <p:nvSpPr>
          <p:cNvPr id="31" name="state"/>
          <p:cNvSpPr/>
          <p:nvPr/>
        </p:nvSpPr>
        <p:spPr>
          <a:xfrm>
            <a:off x="822960" y="4251960"/>
            <a:ext cx="10607040" cy="32004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Application state: route, period, filters and records, exactly as the user sees them.</a:t>
            </a:r>
          </a:p>
        </p:txBody>
      </p:sp>
      <p:cxnSp>
        <p:nvCxnSpPr>
          <p:cNvPr id="32" name="a-app"/>
          <p:cNvCxnSpPr/>
          <p:nvPr/>
        </p:nvCxnSpPr>
        <p:spPr>
          <a:xfrm>
            <a:off x="6080760" y="4709160"/>
            <a:ext cx="0" cy="182879"/>
          </a:xfrm>
          <a:prstGeom prst="straightConnector1">
            <a:avLst/>
          </a:prstGeom>
          <a:ln w="19050">
            <a:solidFill>
              <a:srgbClr val="006D77"/>
            </a:solidFill>
            <a:headEnd type="triangle" w="med" len="med"/>
            <a:tailEnd type="triangle" w="med" len="med"/>
          </a:ln>
        </p:spPr>
      </p:cxnSp>
      <p:sp>
        <p:nvSpPr>
          <p:cNvPr id="33" name="band-app"/>
          <p:cNvSpPr/>
          <p:nvPr/>
        </p:nvSpPr>
        <p:spPr>
          <a:xfrm>
            <a:off x="640080" y="4892040"/>
            <a:ext cx="10972800" cy="777240"/>
          </a:xfrm>
          <a:prstGeom prst="rect">
            <a:avLst/>
          </a:prstGeom>
          <a:solidFill>
            <a:srgbClr val="FFFFFF"/>
          </a:solidFill>
          <a:ln w="19050">
            <a:solidFill>
              <a:srgbClr val="006D77"/>
            </a:solidFill>
            <a:prstDash val="dash"/>
          </a:ln>
        </p:spPr>
      </p:sp>
      <p:sp>
        <p:nvSpPr>
          <p:cNvPr id="34" name="app-l"/>
          <p:cNvSpPr/>
          <p:nvPr/>
        </p:nvSpPr>
        <p:spPr>
          <a:xfrm>
            <a:off x="822960" y="5010912"/>
            <a:ext cx="201168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Application</a:t>
            </a:r>
          </a:p>
        </p:txBody>
      </p:sp>
      <p:sp>
        <p:nvSpPr>
          <p:cNvPr id="35" name="app-b"/>
          <p:cNvSpPr/>
          <p:nvPr/>
        </p:nvSpPr>
        <p:spPr>
          <a:xfrm>
            <a:off x="2926080" y="5029200"/>
            <a:ext cx="850392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ERPNext Desk: lists, filters and records, stock app, no rebuild.</a:t>
            </a:r>
          </a:p>
        </p:txBody>
      </p:sp>
      <p:sp>
        <p:nvSpPr>
          <p:cNvPr id="36" name="vacp-note"/>
          <p:cNvSpPr/>
          <p:nvPr/>
        </p:nvSpPr>
        <p:spPr>
          <a:xfrm>
            <a:off x="640080" y="589788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Our own window.__vacp prototype, 23 of 23 checks against SQL; joining it to the agent is pending.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VACP: how context is kept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12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Follow-ups in the in-app chat</a:t>
            </a:r>
          </a:p>
        </p:txBody>
      </p:sp>
      <p:sp>
        <p:nvSpPr>
          <p:cNvPr id="14" name="col0"/>
          <p:cNvSpPr/>
          <p:nvPr/>
        </p:nvSpPr>
        <p:spPr>
          <a:xfrm>
            <a:off x="640080" y="1783080"/>
            <a:ext cx="3474720" cy="3931920"/>
          </a:xfrm>
          <a:prstGeom prst="rect">
            <a:avLst/>
          </a:prstGeom>
          <a:solidFill>
            <a:srgbClr val="FFFFFF"/>
          </a:solidFill>
          <a:ln w="19050">
            <a:solidFill>
              <a:srgbClr val="006D77"/>
            </a:solidFill>
          </a:ln>
        </p:spPr>
      </p:sp>
      <p:sp>
        <p:nvSpPr>
          <p:cNvPr id="15" name="col0-h"/>
          <p:cNvSpPr/>
          <p:nvPr/>
        </p:nvSpPr>
        <p:spPr>
          <a:xfrm>
            <a:off x="822959"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Today</a:t>
            </a:r>
          </a:p>
        </p:txBody>
      </p:sp>
      <p:sp>
        <p:nvSpPr>
          <p:cNvPr id="16" name="col0-g"/>
          <p:cNvSpPr/>
          <p:nvPr/>
        </p:nvSpPr>
        <p:spPr>
          <a:xfrm>
            <a:off x="822959"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Implemented in the VACP chat</a:t>
            </a:r>
          </a:p>
        </p:txBody>
      </p:sp>
      <p:sp>
        <p:nvSpPr>
          <p:cNvPr id="17" name="col0-m0"/>
          <p:cNvSpPr/>
          <p:nvPr/>
        </p:nvSpPr>
        <p:spPr>
          <a:xfrm>
            <a:off x="841247" y="2825496"/>
            <a:ext cx="91440" cy="91440"/>
          </a:xfrm>
          <a:prstGeom prst="rect">
            <a:avLst/>
          </a:prstGeom>
          <a:solidFill>
            <a:srgbClr val="006D77"/>
          </a:solidFill>
          <a:ln w="0">
            <a:noFill/>
          </a:ln>
        </p:spPr>
      </p:sp>
      <p:sp>
        <p:nvSpPr>
          <p:cNvPr id="18" name="col0-i0"/>
          <p:cNvSpPr/>
          <p:nvPr/>
        </p:nvSpPr>
        <p:spPr>
          <a:xfrm>
            <a:off x="1051560" y="2743200"/>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One chat thread for the whole Desk, kept across page changes</a:t>
            </a:r>
          </a:p>
        </p:txBody>
      </p:sp>
      <p:sp>
        <p:nvSpPr>
          <p:cNvPr id="19" name="col0-m1"/>
          <p:cNvSpPr/>
          <p:nvPr/>
        </p:nvSpPr>
        <p:spPr>
          <a:xfrm>
            <a:off x="841247" y="3429000"/>
            <a:ext cx="91440" cy="91440"/>
          </a:xfrm>
          <a:prstGeom prst="rect">
            <a:avLst/>
          </a:prstGeom>
          <a:solidFill>
            <a:srgbClr val="006D77"/>
          </a:solidFill>
          <a:ln w="0">
            <a:noFill/>
          </a:ln>
        </p:spPr>
      </p:sp>
      <p:sp>
        <p:nvSpPr>
          <p:cNvPr id="20" name="col0-i1"/>
          <p:cNvSpPr/>
          <p:nvPr/>
        </p:nvSpPr>
        <p:spPr>
          <a:xfrm>
            <a:off x="1051560" y="3346704"/>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Whole thread sent each turn; older results shortened</a:t>
            </a:r>
          </a:p>
        </p:txBody>
      </p:sp>
      <p:sp>
        <p:nvSpPr>
          <p:cNvPr id="21" name="col0-m2"/>
          <p:cNvSpPr/>
          <p:nvPr/>
        </p:nvSpPr>
        <p:spPr>
          <a:xfrm>
            <a:off x="841247" y="4032504"/>
            <a:ext cx="91440" cy="91440"/>
          </a:xfrm>
          <a:prstGeom prst="rect">
            <a:avLst/>
          </a:prstGeom>
          <a:solidFill>
            <a:srgbClr val="006D77"/>
          </a:solidFill>
          <a:ln w="0">
            <a:noFill/>
          </a:ln>
        </p:spPr>
      </p:sp>
      <p:sp>
        <p:nvSpPr>
          <p:cNvPr id="22" name="col0-i2"/>
          <p:cNvSpPr/>
          <p:nvPr/>
        </p:nvSpPr>
        <p:spPr>
          <a:xfrm>
            <a:off x="1051560" y="3950208"/>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Live screen state read on demand (vacp_state)</a:t>
            </a:r>
          </a:p>
        </p:txBody>
      </p:sp>
      <p:sp>
        <p:nvSpPr>
          <p:cNvPr id="23" name="col0-m3"/>
          <p:cNvSpPr/>
          <p:nvPr/>
        </p:nvSpPr>
        <p:spPr>
          <a:xfrm>
            <a:off x="841247" y="4636008"/>
            <a:ext cx="91440" cy="91440"/>
          </a:xfrm>
          <a:prstGeom prst="rect">
            <a:avLst/>
          </a:prstGeom>
          <a:solidFill>
            <a:srgbClr val="006D77"/>
          </a:solidFill>
          <a:ln w="0">
            <a:noFill/>
          </a:ln>
        </p:spPr>
      </p:sp>
      <p:sp>
        <p:nvSpPr>
          <p:cNvPr id="24" name="col0-i3"/>
          <p:cNvSpPr/>
          <p:nvPr/>
        </p:nvSpPr>
        <p:spPr>
          <a:xfrm>
            <a:off x="1051560" y="4553712"/>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Thread saved in the browser; survives a reload</a:t>
            </a:r>
          </a:p>
        </p:txBody>
      </p:sp>
      <p:sp>
        <p:nvSpPr>
          <p:cNvPr id="25" name="col1"/>
          <p:cNvSpPr/>
          <p:nvPr/>
        </p:nvSpPr>
        <p:spPr>
          <a:xfrm>
            <a:off x="4389120" y="1783080"/>
            <a:ext cx="3474720" cy="3931920"/>
          </a:xfrm>
          <a:prstGeom prst="rect">
            <a:avLst/>
          </a:prstGeom>
          <a:solidFill>
            <a:srgbClr val="FFFFFF"/>
          </a:solidFill>
          <a:ln w="19050">
            <a:solidFill>
              <a:srgbClr val="006D77"/>
            </a:solidFill>
          </a:ln>
        </p:spPr>
      </p:sp>
      <p:sp>
        <p:nvSpPr>
          <p:cNvPr id="26" name="col1-h"/>
          <p:cNvSpPr/>
          <p:nvPr/>
        </p:nvSpPr>
        <p:spPr>
          <a:xfrm>
            <a:off x="4572000"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02A43"/>
                </a:solidFill>
                <a:latin typeface="Arial"/>
                <a:ea typeface="Arial"/>
                <a:cs typeface="Arial"/>
              </a:rPr>
              <a:t>Gaps found</a:t>
            </a:r>
          </a:p>
        </p:txBody>
      </p:sp>
      <p:sp>
        <p:nvSpPr>
          <p:cNvPr id="27" name="col1-g"/>
          <p:cNvSpPr/>
          <p:nvPr/>
        </p:nvSpPr>
        <p:spPr>
          <a:xfrm>
            <a:off x="4572000"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Probes, anecdotal</a:t>
            </a:r>
          </a:p>
        </p:txBody>
      </p:sp>
      <p:sp>
        <p:nvSpPr>
          <p:cNvPr id="28" name="col1-m0"/>
          <p:cNvSpPr/>
          <p:nvPr/>
        </p:nvSpPr>
        <p:spPr>
          <a:xfrm>
            <a:off x="4590288" y="2825496"/>
            <a:ext cx="91440" cy="91440"/>
          </a:xfrm>
          <a:prstGeom prst="rect">
            <a:avLst/>
          </a:prstGeom>
          <a:solidFill>
            <a:srgbClr val="006D77"/>
          </a:solidFill>
          <a:ln w="0">
            <a:noFill/>
          </a:ln>
        </p:spPr>
      </p:sp>
      <p:sp>
        <p:nvSpPr>
          <p:cNvPr id="29" name="col1-i0"/>
          <p:cNvSpPr/>
          <p:nvPr/>
        </p:nvSpPr>
        <p:spPr>
          <a:xfrm>
            <a:off x="4800600" y="2743200"/>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Shortened results lose rows and the action list</a:t>
            </a:r>
          </a:p>
        </p:txBody>
      </p:sp>
      <p:sp>
        <p:nvSpPr>
          <p:cNvPr id="30" name="col1-m1"/>
          <p:cNvSpPr/>
          <p:nvPr/>
        </p:nvSpPr>
        <p:spPr>
          <a:xfrm>
            <a:off x="4590288" y="3429000"/>
            <a:ext cx="91440" cy="91440"/>
          </a:xfrm>
          <a:prstGeom prst="rect">
            <a:avLst/>
          </a:prstGeom>
          <a:solidFill>
            <a:srgbClr val="006D77"/>
          </a:solidFill>
          <a:ln w="0">
            <a:noFill/>
          </a:ln>
        </p:spPr>
      </p:sp>
      <p:sp>
        <p:nvSpPr>
          <p:cNvPr id="31" name="col1-i1"/>
          <p:cNvSpPr/>
          <p:nvPr/>
        </p:nvSpPr>
        <p:spPr>
          <a:xfrm>
            <a:off x="4800600" y="3346704"/>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Re-read the action list in 6 of 11 runs</a:t>
            </a:r>
          </a:p>
        </p:txBody>
      </p:sp>
      <p:sp>
        <p:nvSpPr>
          <p:cNvPr id="32" name="col1-m2"/>
          <p:cNvSpPr/>
          <p:nvPr/>
        </p:nvSpPr>
        <p:spPr>
          <a:xfrm>
            <a:off x="4590288" y="4032504"/>
            <a:ext cx="91440" cy="91440"/>
          </a:xfrm>
          <a:prstGeom prst="rect">
            <a:avLst/>
          </a:prstGeom>
          <a:solidFill>
            <a:srgbClr val="006D77"/>
          </a:solidFill>
          <a:ln w="0">
            <a:noFill/>
          </a:ln>
        </p:spPr>
      </p:sp>
      <p:sp>
        <p:nvSpPr>
          <p:cNvPr id="33" name="col1-i2"/>
          <p:cNvSpPr/>
          <p:nvPr/>
        </p:nvSpPr>
        <p:spPr>
          <a:xfrm>
            <a:off x="4800600" y="3950208"/>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Model is not told when the user edits the screen</a:t>
            </a:r>
          </a:p>
        </p:txBody>
      </p:sp>
      <p:sp>
        <p:nvSpPr>
          <p:cNvPr id="34" name="col1-m3"/>
          <p:cNvSpPr/>
          <p:nvPr/>
        </p:nvSpPr>
        <p:spPr>
          <a:xfrm>
            <a:off x="4590288" y="4636008"/>
            <a:ext cx="91440" cy="91440"/>
          </a:xfrm>
          <a:prstGeom prst="rect">
            <a:avLst/>
          </a:prstGeom>
          <a:solidFill>
            <a:srgbClr val="006D77"/>
          </a:solidFill>
          <a:ln w="0">
            <a:noFill/>
          </a:ln>
        </p:spPr>
      </p:sp>
      <p:sp>
        <p:nvSpPr>
          <p:cNvPr id="35" name="col1-i3"/>
          <p:cNvSpPr/>
          <p:nvPr/>
        </p:nvSpPr>
        <p:spPr>
          <a:xfrm>
            <a:off x="4800600" y="4553712"/>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Unknown filters ignored: wrong-scope risk</a:t>
            </a:r>
          </a:p>
        </p:txBody>
      </p:sp>
      <p:sp>
        <p:nvSpPr>
          <p:cNvPr id="36" name="col1-m4"/>
          <p:cNvSpPr/>
          <p:nvPr/>
        </p:nvSpPr>
        <p:spPr>
          <a:xfrm>
            <a:off x="4590288" y="5239512"/>
            <a:ext cx="91440" cy="91440"/>
          </a:xfrm>
          <a:prstGeom prst="rect">
            <a:avLst/>
          </a:prstGeom>
          <a:solidFill>
            <a:srgbClr val="006D77"/>
          </a:solidFill>
          <a:ln w="0">
            <a:noFill/>
          </a:ln>
        </p:spPr>
      </p:sp>
      <p:sp>
        <p:nvSpPr>
          <p:cNvPr id="37" name="col1-i4"/>
          <p:cNvSpPr/>
          <p:nvPr/>
        </p:nvSpPr>
        <p:spPr>
          <a:xfrm>
            <a:off x="4800600" y="5157216"/>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Simple follow-ups worked in 3 of 3 probes</a:t>
            </a:r>
          </a:p>
        </p:txBody>
      </p:sp>
      <p:sp>
        <p:nvSpPr>
          <p:cNvPr id="38" name="col2"/>
          <p:cNvSpPr/>
          <p:nvPr/>
        </p:nvSpPr>
        <p:spPr>
          <a:xfrm>
            <a:off x="8138159" y="1783080"/>
            <a:ext cx="3474720" cy="3931920"/>
          </a:xfrm>
          <a:prstGeom prst="rect">
            <a:avLst/>
          </a:prstGeom>
          <a:solidFill>
            <a:srgbClr val="EAF2F1"/>
          </a:solidFill>
          <a:ln w="19050">
            <a:solidFill>
              <a:srgbClr val="006D77"/>
            </a:solidFill>
            <a:prstDash val="dash"/>
          </a:ln>
        </p:spPr>
      </p:sp>
      <p:sp>
        <p:nvSpPr>
          <p:cNvPr id="39" name="col2-h"/>
          <p:cNvSpPr/>
          <p:nvPr/>
        </p:nvSpPr>
        <p:spPr>
          <a:xfrm>
            <a:off x="8321039"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Planned</a:t>
            </a:r>
          </a:p>
        </p:txBody>
      </p:sp>
      <p:sp>
        <p:nvSpPr>
          <p:cNvPr id="40" name="col2-g"/>
          <p:cNvSpPr/>
          <p:nvPr/>
        </p:nvSpPr>
        <p:spPr>
          <a:xfrm>
            <a:off x="8321039"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Not built yet</a:t>
            </a:r>
          </a:p>
        </p:txBody>
      </p:sp>
      <p:sp>
        <p:nvSpPr>
          <p:cNvPr id="41" name="col2-m0"/>
          <p:cNvSpPr/>
          <p:nvPr/>
        </p:nvSpPr>
        <p:spPr>
          <a:xfrm>
            <a:off x="8339327" y="2825496"/>
            <a:ext cx="91440" cy="91440"/>
          </a:xfrm>
          <a:prstGeom prst="rect">
            <a:avLst/>
          </a:prstGeom>
          <a:solidFill>
            <a:srgbClr val="006D77"/>
          </a:solidFill>
          <a:ln w="0">
            <a:noFill/>
          </a:ln>
        </p:spPr>
      </p:sp>
      <p:sp>
        <p:nvSpPr>
          <p:cNvPr id="42" name="col2-i0"/>
          <p:cNvSpPr/>
          <p:nvPr/>
        </p:nvSpPr>
        <p:spPr>
          <a:xfrm>
            <a:off x="8549639" y="2743200"/>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Context block built in code every turn</a:t>
            </a:r>
          </a:p>
        </p:txBody>
      </p:sp>
      <p:sp>
        <p:nvSpPr>
          <p:cNvPr id="43" name="col2-m1"/>
          <p:cNvSpPr/>
          <p:nvPr/>
        </p:nvSpPr>
        <p:spPr>
          <a:xfrm>
            <a:off x="8339327" y="3429000"/>
            <a:ext cx="91440" cy="91440"/>
          </a:xfrm>
          <a:prstGeom prst="rect">
            <a:avLst/>
          </a:prstGeom>
          <a:solidFill>
            <a:srgbClr val="006D77"/>
          </a:solidFill>
          <a:ln w="0">
            <a:noFill/>
          </a:ln>
        </p:spPr>
      </p:sp>
      <p:sp>
        <p:nvSpPr>
          <p:cNvPr id="44" name="col2-i1"/>
          <p:cNvSpPr/>
          <p:nvPr/>
        </p:nvSpPr>
        <p:spPr>
          <a:xfrm>
            <a:off x="8549639" y="3346704"/>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Digests of older results; scope hash</a:t>
            </a:r>
          </a:p>
        </p:txBody>
      </p:sp>
      <p:sp>
        <p:nvSpPr>
          <p:cNvPr id="45" name="col2-m2"/>
          <p:cNvSpPr/>
          <p:nvPr/>
        </p:nvSpPr>
        <p:spPr>
          <a:xfrm>
            <a:off x="8339327" y="4032504"/>
            <a:ext cx="91440" cy="91440"/>
          </a:xfrm>
          <a:prstGeom prst="rect">
            <a:avLst/>
          </a:prstGeom>
          <a:solidFill>
            <a:srgbClr val="006D77"/>
          </a:solidFill>
          <a:ln w="0">
            <a:noFill/>
          </a:ln>
        </p:spPr>
      </p:sp>
      <p:sp>
        <p:nvSpPr>
          <p:cNvPr id="46" name="col2-i2"/>
          <p:cNvSpPr/>
          <p:nvPr/>
        </p:nvSpPr>
        <p:spPr>
          <a:xfrm>
            <a:off x="8549639" y="3950208"/>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Unknown parameters become errors</a:t>
            </a:r>
          </a:p>
        </p:txBody>
      </p:sp>
      <p:sp>
        <p:nvSpPr>
          <p:cNvPr id="47" name="col2-m3"/>
          <p:cNvSpPr/>
          <p:nvPr/>
        </p:nvSpPr>
        <p:spPr>
          <a:xfrm>
            <a:off x="8339327" y="4636008"/>
            <a:ext cx="91440" cy="91440"/>
          </a:xfrm>
          <a:prstGeom prst="rect">
            <a:avLst/>
          </a:prstGeom>
          <a:solidFill>
            <a:srgbClr val="006D77"/>
          </a:solidFill>
          <a:ln w="0">
            <a:noFill/>
          </a:ln>
        </p:spPr>
      </p:sp>
      <p:sp>
        <p:nvSpPr>
          <p:cNvPr id="48" name="col2-i3"/>
          <p:cNvSpPr/>
          <p:nvPr/>
        </p:nvSpPr>
        <p:spPr>
          <a:xfrm>
            <a:off x="8549639" y="4553712"/>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Back and remove-one-filter actions</a:t>
            </a:r>
          </a:p>
        </p:txBody>
      </p:sp>
      <p:sp>
        <p:nvSpPr>
          <p:cNvPr id="49" name="col2-m4"/>
          <p:cNvSpPr/>
          <p:nvPr/>
        </p:nvSpPr>
        <p:spPr>
          <a:xfrm>
            <a:off x="8339327" y="5239512"/>
            <a:ext cx="91440" cy="91440"/>
          </a:xfrm>
          <a:prstGeom prst="rect">
            <a:avLst/>
          </a:prstGeom>
          <a:solidFill>
            <a:srgbClr val="006D77"/>
          </a:solidFill>
          <a:ln w="0">
            <a:noFill/>
          </a:ln>
        </p:spPr>
      </p:sp>
      <p:sp>
        <p:nvSpPr>
          <p:cNvPr id="50" name="col2-i4"/>
          <p:cNvSpPr/>
          <p:nvPr/>
        </p:nvSpPr>
        <p:spPr>
          <a:xfrm>
            <a:off x="8549639" y="5157216"/>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Test on 28 multi-turn conversations</a:t>
            </a:r>
          </a:p>
        </p:txBody>
      </p:sp>
      <p:sp>
        <p:nvSpPr>
          <p:cNvPr id="51" name="ctx-note"/>
          <p:cNvSpPr/>
          <p:nvPr/>
        </p:nvSpPr>
        <p:spPr>
          <a:xfrm>
            <a:off x="640080" y="594360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Probes: about 38 model calls, one run each. The planned design is not built.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Innovations accomplished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08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inn0"/>
          <p:cNvSpPr/>
          <p:nvPr/>
        </p:nvSpPr>
        <p:spPr>
          <a:xfrm>
            <a:off x="640080" y="1325880"/>
            <a:ext cx="5394960" cy="1371600"/>
          </a:xfrm>
          <a:prstGeom prst="rect">
            <a:avLst/>
          </a:prstGeom>
          <a:solidFill>
            <a:srgbClr val="FFFFFF"/>
          </a:solidFill>
          <a:ln w="19050">
            <a:solidFill>
              <a:srgbClr val="006D77"/>
            </a:solidFill>
          </a:ln>
        </p:spPr>
      </p:sp>
      <p:sp>
        <p:nvSpPr>
          <p:cNvPr id="14" name="inn0-n"/>
          <p:cNvSpPr/>
          <p:nvPr/>
        </p:nvSpPr>
        <p:spPr>
          <a:xfrm>
            <a:off x="804671" y="1435607"/>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01</a:t>
            </a:r>
          </a:p>
        </p:txBody>
      </p:sp>
      <p:sp>
        <p:nvSpPr>
          <p:cNvPr id="15" name="inn0-t"/>
          <p:cNvSpPr/>
          <p:nvPr/>
        </p:nvSpPr>
        <p:spPr>
          <a:xfrm>
            <a:off x="1325880" y="1435607"/>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Code builds the calls</a:t>
            </a:r>
          </a:p>
        </p:txBody>
      </p:sp>
      <p:sp>
        <p:nvSpPr>
          <p:cNvPr id="16" name="inn0-b"/>
          <p:cNvSpPr/>
          <p:nvPr/>
        </p:nvSpPr>
        <p:spPr>
          <a:xfrm>
            <a:off x="1325880" y="178308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The model reads the request into fields; our code makes the tool calls.</a:t>
            </a:r>
          </a:p>
        </p:txBody>
      </p:sp>
      <p:sp>
        <p:nvSpPr>
          <p:cNvPr id="17" name="inn0-g"/>
          <p:cNvSpPr/>
          <p:nvPr/>
        </p:nvSpPr>
        <p:spPr>
          <a:xfrm>
            <a:off x="1325880" y="237743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77.0% of dev steps fully correct</a:t>
            </a:r>
          </a:p>
        </p:txBody>
      </p:sp>
      <p:sp>
        <p:nvSpPr>
          <p:cNvPr id="18" name="inn1"/>
          <p:cNvSpPr/>
          <p:nvPr/>
        </p:nvSpPr>
        <p:spPr>
          <a:xfrm>
            <a:off x="6217920" y="1325880"/>
            <a:ext cx="5394960" cy="1371600"/>
          </a:xfrm>
          <a:prstGeom prst="rect">
            <a:avLst/>
          </a:prstGeom>
          <a:solidFill>
            <a:srgbClr val="FFFFFF"/>
          </a:solidFill>
          <a:ln w="19050">
            <a:solidFill>
              <a:srgbClr val="006D77"/>
            </a:solidFill>
          </a:ln>
        </p:spPr>
      </p:sp>
      <p:sp>
        <p:nvSpPr>
          <p:cNvPr id="19" name="inn1-n"/>
          <p:cNvSpPr/>
          <p:nvPr/>
        </p:nvSpPr>
        <p:spPr>
          <a:xfrm>
            <a:off x="6382512" y="1435607"/>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02</a:t>
            </a:r>
          </a:p>
        </p:txBody>
      </p:sp>
      <p:sp>
        <p:nvSpPr>
          <p:cNvPr id="20" name="inn1-t"/>
          <p:cNvSpPr/>
          <p:nvPr/>
        </p:nvSpPr>
        <p:spPr>
          <a:xfrm>
            <a:off x="6903720" y="1435607"/>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Checks before every call</a:t>
            </a:r>
          </a:p>
        </p:txBody>
      </p:sp>
      <p:sp>
        <p:nvSpPr>
          <p:cNvPr id="21" name="inn1-b"/>
          <p:cNvSpPr/>
          <p:nvPr/>
        </p:nvSpPr>
        <p:spPr>
          <a:xfrm>
            <a:off x="6903720" y="178308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Invented ids and invalid combinations are rejected before anything runs.</a:t>
            </a:r>
          </a:p>
        </p:txBody>
      </p:sp>
      <p:sp>
        <p:nvSpPr>
          <p:cNvPr id="22" name="inn1-g"/>
          <p:cNvSpPr/>
          <p:nvPr/>
        </p:nvSpPr>
        <p:spPr>
          <a:xfrm>
            <a:off x="6903720" y="237743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16 unit tests pass</a:t>
            </a:r>
          </a:p>
        </p:txBody>
      </p:sp>
      <p:sp>
        <p:nvSpPr>
          <p:cNvPr id="23" name="inn2"/>
          <p:cNvSpPr/>
          <p:nvPr/>
        </p:nvSpPr>
        <p:spPr>
          <a:xfrm>
            <a:off x="640080" y="2788920"/>
            <a:ext cx="5394960" cy="1371600"/>
          </a:xfrm>
          <a:prstGeom prst="rect">
            <a:avLst/>
          </a:prstGeom>
          <a:solidFill>
            <a:srgbClr val="FFFFFF"/>
          </a:solidFill>
          <a:ln w="19050">
            <a:solidFill>
              <a:srgbClr val="006D77"/>
            </a:solidFill>
          </a:ln>
        </p:spPr>
      </p:sp>
      <p:sp>
        <p:nvSpPr>
          <p:cNvPr id="24" name="inn2-n"/>
          <p:cNvSpPr/>
          <p:nvPr/>
        </p:nvSpPr>
        <p:spPr>
          <a:xfrm>
            <a:off x="804671" y="289864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03</a:t>
            </a:r>
          </a:p>
        </p:txBody>
      </p:sp>
      <p:sp>
        <p:nvSpPr>
          <p:cNvPr id="25" name="inn2-t"/>
          <p:cNvSpPr/>
          <p:nvPr/>
        </p:nvSpPr>
        <p:spPr>
          <a:xfrm>
            <a:off x="1325880" y="289864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Answers checked in code</a:t>
            </a:r>
          </a:p>
        </p:txBody>
      </p:sp>
      <p:sp>
        <p:nvSpPr>
          <p:cNvPr id="26" name="inn2-b"/>
          <p:cNvSpPr/>
          <p:nvPr/>
        </p:nvSpPr>
        <p:spPr>
          <a:xfrm>
            <a:off x="1325880" y="324612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Every number in an answer is traced back to a tool result.</a:t>
            </a:r>
          </a:p>
        </p:txBody>
      </p:sp>
      <p:sp>
        <p:nvSpPr>
          <p:cNvPr id="27" name="inn2-g"/>
          <p:cNvSpPr/>
          <p:nvPr/>
        </p:nvSpPr>
        <p:spPr>
          <a:xfrm>
            <a:off x="1325880" y="384047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100% of dev answers traced</a:t>
            </a:r>
          </a:p>
        </p:txBody>
      </p:sp>
      <p:sp>
        <p:nvSpPr>
          <p:cNvPr id="28" name="inn3"/>
          <p:cNvSpPr/>
          <p:nvPr/>
        </p:nvSpPr>
        <p:spPr>
          <a:xfrm>
            <a:off x="6217920" y="2788920"/>
            <a:ext cx="5394960" cy="1371600"/>
          </a:xfrm>
          <a:prstGeom prst="rect">
            <a:avLst/>
          </a:prstGeom>
          <a:solidFill>
            <a:srgbClr val="FFFFFF"/>
          </a:solidFill>
          <a:ln w="19050">
            <a:solidFill>
              <a:srgbClr val="006D77"/>
            </a:solidFill>
          </a:ln>
        </p:spPr>
      </p:sp>
      <p:sp>
        <p:nvSpPr>
          <p:cNvPr id="29" name="inn3-n"/>
          <p:cNvSpPr/>
          <p:nvPr/>
        </p:nvSpPr>
        <p:spPr>
          <a:xfrm>
            <a:off x="6382512" y="289864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04</a:t>
            </a:r>
          </a:p>
        </p:txBody>
      </p:sp>
      <p:sp>
        <p:nvSpPr>
          <p:cNvPr id="30" name="inn3-t"/>
          <p:cNvSpPr/>
          <p:nvPr/>
        </p:nvSpPr>
        <p:spPr>
          <a:xfrm>
            <a:off x="6903720" y="289864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Finds the right page</a:t>
            </a:r>
          </a:p>
        </p:txBody>
      </p:sp>
      <p:sp>
        <p:nvSpPr>
          <p:cNvPr id="31" name="inn3-b"/>
          <p:cNvSpPr/>
          <p:nvPr/>
        </p:nvSpPr>
        <p:spPr>
          <a:xfrm>
            <a:off x="6903720" y="324612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Searches 293 pages; a page that does not exist cannot be opened.</a:t>
            </a:r>
          </a:p>
        </p:txBody>
      </p:sp>
      <p:sp>
        <p:nvSpPr>
          <p:cNvPr id="32" name="inn3-g"/>
          <p:cNvSpPr/>
          <p:nvPr/>
        </p:nvSpPr>
        <p:spPr>
          <a:xfrm>
            <a:off x="6903720" y="384047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Right page in top 5: 77.9%</a:t>
            </a:r>
          </a:p>
        </p:txBody>
      </p:sp>
      <p:sp>
        <p:nvSpPr>
          <p:cNvPr id="33" name="inn4"/>
          <p:cNvSpPr/>
          <p:nvPr/>
        </p:nvSpPr>
        <p:spPr>
          <a:xfrm>
            <a:off x="640080" y="4251960"/>
            <a:ext cx="5394960" cy="1371600"/>
          </a:xfrm>
          <a:prstGeom prst="rect">
            <a:avLst/>
          </a:prstGeom>
          <a:solidFill>
            <a:srgbClr val="FFFFFF"/>
          </a:solidFill>
          <a:ln w="19050">
            <a:solidFill>
              <a:srgbClr val="006D77"/>
            </a:solidFill>
          </a:ln>
        </p:spPr>
      </p:sp>
      <p:sp>
        <p:nvSpPr>
          <p:cNvPr id="34" name="inn4-n"/>
          <p:cNvSpPr/>
          <p:nvPr/>
        </p:nvSpPr>
        <p:spPr>
          <a:xfrm>
            <a:off x="804671" y="436168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05</a:t>
            </a:r>
          </a:p>
        </p:txBody>
      </p:sp>
      <p:sp>
        <p:nvSpPr>
          <p:cNvPr id="35" name="inn4-t"/>
          <p:cNvSpPr/>
          <p:nvPr/>
        </p:nvSpPr>
        <p:spPr>
          <a:xfrm>
            <a:off x="1325880" y="436168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Works inside ERPNext</a:t>
            </a:r>
          </a:p>
        </p:txBody>
      </p:sp>
      <p:sp>
        <p:nvSpPr>
          <p:cNvPr id="36" name="inn4-b"/>
          <p:cNvSpPr/>
          <p:nvPr/>
        </p:nvSpPr>
        <p:spPr>
          <a:xfrm>
            <a:off x="1325880" y="470916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 small bridge reads and sets the real page, with no rebuild.</a:t>
            </a:r>
          </a:p>
        </p:txBody>
      </p:sp>
      <p:sp>
        <p:nvSpPr>
          <p:cNvPr id="37" name="inn4-g"/>
          <p:cNvSpPr/>
          <p:nvPr/>
        </p:nvSpPr>
        <p:spPr>
          <a:xfrm>
            <a:off x="1325880" y="5303520"/>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23 of 23 checks passed</a:t>
            </a:r>
          </a:p>
        </p:txBody>
      </p:sp>
      <p:sp>
        <p:nvSpPr>
          <p:cNvPr id="38" name="inn5"/>
          <p:cNvSpPr/>
          <p:nvPr/>
        </p:nvSpPr>
        <p:spPr>
          <a:xfrm>
            <a:off x="6217920" y="4251960"/>
            <a:ext cx="5394960" cy="1371600"/>
          </a:xfrm>
          <a:prstGeom prst="rect">
            <a:avLst/>
          </a:prstGeom>
          <a:solidFill>
            <a:srgbClr val="FFFFFF"/>
          </a:solidFill>
          <a:ln w="19050">
            <a:solidFill>
              <a:srgbClr val="006D77"/>
            </a:solidFill>
          </a:ln>
        </p:spPr>
      </p:sp>
      <p:sp>
        <p:nvSpPr>
          <p:cNvPr id="39" name="inn5-n"/>
          <p:cNvSpPr/>
          <p:nvPr/>
        </p:nvSpPr>
        <p:spPr>
          <a:xfrm>
            <a:off x="6382512" y="436168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06</a:t>
            </a:r>
          </a:p>
        </p:txBody>
      </p:sp>
      <p:sp>
        <p:nvSpPr>
          <p:cNvPr id="40" name="inn5-t"/>
          <p:cNvSpPr/>
          <p:nvPr/>
        </p:nvSpPr>
        <p:spPr>
          <a:xfrm>
            <a:off x="6903720" y="436168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Scored against an answer key</a:t>
            </a:r>
          </a:p>
        </p:txBody>
      </p:sp>
      <p:sp>
        <p:nvSpPr>
          <p:cNvPr id="41" name="inn5-b"/>
          <p:cNvSpPr/>
          <p:nvPr/>
        </p:nvSpPr>
        <p:spPr>
          <a:xfrm>
            <a:off x="6903720" y="470916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Each step is compared with independently computed values.</a:t>
            </a:r>
          </a:p>
        </p:txBody>
      </p:sp>
      <p:sp>
        <p:nvSpPr>
          <p:cNvPr id="42" name="inn5-g"/>
          <p:cNvSpPr/>
          <p:nvPr/>
        </p:nvSpPr>
        <p:spPr>
          <a:xfrm>
            <a:off x="6903720" y="5303520"/>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31 chains, 87 steps</a:t>
            </a:r>
          </a:p>
        </p:txBody>
      </p:sp>
      <p:sp>
        <p:nvSpPr>
          <p:cNvPr id="43" name="inn-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Adapted from the cited research. Development-set results only; held-out set not run.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Literature survey: existing alternatives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04 / 23</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tile0"/>
          <p:cNvSpPr/>
          <p:nvPr/>
        </p:nvSpPr>
        <p:spPr>
          <a:xfrm>
            <a:off x="640080" y="1188720"/>
            <a:ext cx="2651760" cy="932688"/>
          </a:xfrm>
          <a:prstGeom prst="rect">
            <a:avLst/>
          </a:prstGeom>
          <a:solidFill>
            <a:srgbClr val="F1F6F6"/>
          </a:solidFill>
          <a:ln w="19050">
            <a:solidFill>
              <a:srgbClr val="F1F6F6"/>
            </a:solidFill>
          </a:ln>
        </p:spPr>
      </p:sp>
      <p:sp>
        <p:nvSpPr>
          <p:cNvPr id="14" name="tile0-n"/>
          <p:cNvSpPr/>
          <p:nvPr/>
        </p:nvSpPr>
        <p:spPr>
          <a:xfrm>
            <a:off x="768096"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E39B2D"/>
                </a:solidFill>
                <a:latin typeface="Arial"/>
                <a:ea typeface="Arial"/>
                <a:cs typeface="Arial"/>
              </a:rPr>
              <a:t>9–19%</a:t>
            </a:r>
          </a:p>
        </p:txBody>
      </p:sp>
      <p:sp>
        <p:nvSpPr>
          <p:cNvPr id="15" name="tile0-t"/>
          <p:cNvSpPr/>
          <p:nvPr/>
        </p:nvSpPr>
        <p:spPr>
          <a:xfrm>
            <a:off x="768096"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enterprise workflows done by clicking agents</a:t>
            </a:r>
          </a:p>
        </p:txBody>
      </p:sp>
      <p:sp>
        <p:nvSpPr>
          <p:cNvPr id="16" name="tile1"/>
          <p:cNvSpPr/>
          <p:nvPr/>
        </p:nvSpPr>
        <p:spPr>
          <a:xfrm>
            <a:off x="3419856" y="1188720"/>
            <a:ext cx="2651760" cy="932688"/>
          </a:xfrm>
          <a:prstGeom prst="rect">
            <a:avLst/>
          </a:prstGeom>
          <a:solidFill>
            <a:srgbClr val="F1F6F6"/>
          </a:solidFill>
          <a:ln w="19050">
            <a:solidFill>
              <a:srgbClr val="F1F6F6"/>
            </a:solidFill>
          </a:ln>
        </p:spPr>
      </p:sp>
      <p:sp>
        <p:nvSpPr>
          <p:cNvPr id="17" name="tile1-n"/>
          <p:cNvSpPr/>
          <p:nvPr/>
        </p:nvSpPr>
        <p:spPr>
          <a:xfrm>
            <a:off x="3547872"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E39B2D"/>
                </a:solidFill>
                <a:latin typeface="Arial"/>
                <a:ea typeface="Arial"/>
                <a:cs typeface="Arial"/>
              </a:rPr>
              <a:t>61%</a:t>
            </a:r>
          </a:p>
        </p:txBody>
      </p:sp>
      <p:sp>
        <p:nvSpPr>
          <p:cNvPr id="18" name="tile1-t"/>
          <p:cNvSpPr/>
          <p:nvPr/>
        </p:nvSpPr>
        <p:spPr>
          <a:xfrm>
            <a:off x="3547872"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complex tasks done by new users (UI-CUBE)</a:t>
            </a:r>
          </a:p>
        </p:txBody>
      </p:sp>
      <p:sp>
        <p:nvSpPr>
          <p:cNvPr id="19" name="tile2"/>
          <p:cNvSpPr/>
          <p:nvPr/>
        </p:nvSpPr>
        <p:spPr>
          <a:xfrm>
            <a:off x="6199632" y="1188720"/>
            <a:ext cx="2651760" cy="932688"/>
          </a:xfrm>
          <a:prstGeom prst="rect">
            <a:avLst/>
          </a:prstGeom>
          <a:solidFill>
            <a:srgbClr val="F1F6F6"/>
          </a:solidFill>
          <a:ln w="19050">
            <a:solidFill>
              <a:srgbClr val="F1F6F6"/>
            </a:solidFill>
          </a:ln>
        </p:spPr>
      </p:sp>
      <p:sp>
        <p:nvSpPr>
          <p:cNvPr id="20" name="tile2-n"/>
          <p:cNvSpPr/>
          <p:nvPr/>
        </p:nvSpPr>
        <p:spPr>
          <a:xfrm>
            <a:off x="6327648"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14.8% → 29.2%</a:t>
            </a:r>
          </a:p>
        </p:txBody>
      </p:sp>
      <p:sp>
        <p:nvSpPr>
          <p:cNvPr id="21" name="tile2-t"/>
          <p:cNvSpPr/>
          <p:nvPr/>
        </p:nvSpPr>
        <p:spPr>
          <a:xfrm>
            <a:off x="6327648"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WebArena: browsing vs API agent</a:t>
            </a:r>
          </a:p>
        </p:txBody>
      </p:sp>
      <p:sp>
        <p:nvSpPr>
          <p:cNvPr id="22" name="tile3"/>
          <p:cNvSpPr/>
          <p:nvPr/>
        </p:nvSpPr>
        <p:spPr>
          <a:xfrm>
            <a:off x="8979408" y="1188720"/>
            <a:ext cx="2651760" cy="932688"/>
          </a:xfrm>
          <a:prstGeom prst="rect">
            <a:avLst/>
          </a:prstGeom>
          <a:solidFill>
            <a:srgbClr val="F1F6F6"/>
          </a:solidFill>
          <a:ln w="19050">
            <a:solidFill>
              <a:srgbClr val="F1F6F6"/>
            </a:solidFill>
          </a:ln>
        </p:spPr>
      </p:sp>
      <p:sp>
        <p:nvSpPr>
          <p:cNvPr id="23" name="tile3-n"/>
          <p:cNvSpPr/>
          <p:nvPr/>
        </p:nvSpPr>
        <p:spPr>
          <a:xfrm>
            <a:off x="9107424"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91.1–100%</a:t>
            </a:r>
          </a:p>
        </p:txBody>
      </p:sp>
      <p:sp>
        <p:nvSpPr>
          <p:cNvPr id="24" name="tile3-t"/>
          <p:cNvSpPr/>
          <p:nvPr/>
        </p:nvSpPr>
        <p:spPr>
          <a:xfrm>
            <a:off x="9107424"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VACP-only agents; UI+DOM 28.9–51.1%</a:t>
            </a:r>
          </a:p>
        </p:txBody>
      </p:sp>
      <p:sp>
        <p:nvSpPr>
          <p:cNvPr id="25" name="cmp-label"/>
          <p:cNvSpPr/>
          <p:nvPr/>
        </p:nvSpPr>
        <p:spPr>
          <a:xfrm>
            <a:off x="640080" y="2157984"/>
            <a:ext cx="1097280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HOW EXISTING APPROACHES COMPARE</a:t>
            </a:r>
          </a:p>
        </p:txBody>
      </p:sp>
      <p:graphicFrame>
        <p:nvGraphicFramePr>
          <p:cNvPr id="26" name="Table 25"/>
          <p:cNvGraphicFramePr>
            <a:graphicFrameLocks noGrp="1"/>
          </p:cNvGraphicFramePr>
          <p:nvPr/>
        </p:nvGraphicFramePr>
        <p:xfrm>
          <a:off x="640080" y="2432304"/>
          <a:ext cx="10972800" cy="2560320"/>
        </p:xfrm>
        <a:graphic>
          <a:graphicData uri="http://schemas.openxmlformats.org/drawingml/2006/table">
            <a:tbl>
              <a:tblPr/>
              <a:tblGrid>
                <a:gridCol w="2743200"/>
                <a:gridCol w="1371600"/>
                <a:gridCol w="1371600"/>
                <a:gridCol w="1371600"/>
                <a:gridCol w="1371600"/>
                <a:gridCol w="1371600"/>
                <a:gridCol w="1371600"/>
              </a:tblGrid>
              <a:tr h="640080">
                <a:tc>
                  <a:txBody>
                    <a:bodyPr wrap="square"/>
                    <a:lstStyle/>
                    <a:p>
                      <a:pPr>
                        <a:lnSpc>
                          <a:spcPct val="108000"/>
                        </a:lnSpc>
                      </a:pPr>
                      <a:r>
                        <a:rPr sz="1500" b="1">
                          <a:solidFill>
                            <a:srgbClr val="FFFFFF"/>
                          </a:solidFill>
                          <a:latin typeface="Arial"/>
                        </a:rPr>
                        <a:t>Approach</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Operates the app</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No per-app setup</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Knows measures</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Checks the result</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Traces figures</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Keeps context</a:t>
                      </a:r>
                    </a:p>
                  </a:txBody>
                  <a:tcPr marL="133502" marR="133502" marT="64008" marB="54864" anchor="ctr">
                    <a:solidFill>
                      <a:srgbClr val="0F4C5C"/>
                    </a:solidFill>
                  </a:tcPr>
                </a:tc>
              </a:tr>
              <a:tr h="384048">
                <a:tc>
                  <a:txBody>
                    <a:bodyPr wrap="square"/>
                    <a:lstStyle/>
                    <a:p>
                      <a:pPr>
                        <a:lnSpc>
                          <a:spcPct val="108000"/>
                        </a:lnSpc>
                      </a:pPr>
                      <a:r>
                        <a:rPr sz="1500" b="1">
                          <a:solidFill>
                            <a:srgbClr val="17324A"/>
                          </a:solidFill>
                          <a:latin typeface="Arial"/>
                        </a:rPr>
                        <a:t>Chat-BI, text-to-SQL</a:t>
                      </a:r>
                    </a:p>
                  </a:txBody>
                  <a:tcPr marL="133502" marR="133502" marT="64008" marB="54864" anchor="ctr">
                    <a:solidFill>
                      <a:srgbClr val="F1F6F6"/>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Screen-clicking agents</a:t>
                      </a:r>
                    </a:p>
                  </a:txBody>
                  <a:tcPr marL="133502" marR="133502" marT="64008" marB="54864" anchor="ctr">
                    <a:solidFill>
                      <a:srgbClr val="FFFFFF"/>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API and tool agents</a:t>
                      </a:r>
                    </a:p>
                  </a:txBody>
                  <a:tcPr marL="133502" marR="133502" marT="64008" marB="54864" anchor="ctr">
                    <a:solidFill>
                      <a:srgbClr val="F1F6F6"/>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App-state protocol (VACP)</a:t>
                      </a:r>
                    </a:p>
                  </a:txBody>
                  <a:tcPr marL="133502" marR="133502" marT="64008" marB="54864" anchor="ctr">
                    <a:solidFill>
                      <a:srgbClr val="FFFFFF"/>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r>
              <a:tr h="384048">
                <a:tc>
                  <a:txBody>
                    <a:bodyPr wrap="square"/>
                    <a:lstStyle/>
                    <a:p>
                      <a:pPr>
                        <a:lnSpc>
                          <a:spcPct val="108000"/>
                        </a:lnSpc>
                      </a:pPr>
                      <a:r>
                        <a:rPr sz="1500" b="1">
                          <a:solidFill>
                            <a:srgbClr val="FFFFFF"/>
                          </a:solidFill>
                          <a:latin typeface="Arial"/>
                        </a:rPr>
                        <a:t>Ours (API agent + VACP)</a:t>
                      </a:r>
                    </a:p>
                  </a:txBody>
                  <a:tcPr marL="133502" marR="133502" marT="64008" marB="54864" anchor="ctr">
                    <a:solidFill>
                      <a:srgbClr val="E39B2D"/>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r>
            </a:tbl>
          </a:graphicData>
        </a:graphic>
      </p:graphicFrame>
      <p:sp>
        <p:nvSpPr>
          <p:cNvPr id="27" name="take-label"/>
          <p:cNvSpPr/>
          <p:nvPr/>
        </p:nvSpPr>
        <p:spPr>
          <a:xfrm>
            <a:off x="640080" y="5029200"/>
            <a:ext cx="1097280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WHAT THE SURVEY TELLS US</a:t>
            </a:r>
          </a:p>
        </p:txBody>
      </p:sp>
      <p:sp>
        <p:nvSpPr>
          <p:cNvPr id="28" name="take0"/>
          <p:cNvSpPr/>
          <p:nvPr/>
        </p:nvSpPr>
        <p:spPr>
          <a:xfrm>
            <a:off x="640080" y="5330952"/>
            <a:ext cx="3538728" cy="640080"/>
          </a:xfrm>
          <a:prstGeom prst="rect">
            <a:avLst/>
          </a:prstGeom>
          <a:solidFill>
            <a:srgbClr val="FFFFFF"/>
          </a:solidFill>
          <a:ln w="19050">
            <a:solidFill>
              <a:srgbClr val="006D77"/>
            </a:solidFill>
          </a:ln>
        </p:spPr>
      </p:sp>
      <p:sp>
        <p:nvSpPr>
          <p:cNvPr id="29" name="take0-t"/>
          <p:cNvSpPr/>
          <p:nvPr/>
        </p:nvSpPr>
        <p:spPr>
          <a:xfrm>
            <a:off x="768096"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1  Call the app, not the screen</a:t>
            </a:r>
          </a:p>
        </p:txBody>
      </p:sp>
      <p:sp>
        <p:nvSpPr>
          <p:cNvPr id="30" name="take0-b"/>
          <p:cNvSpPr/>
          <p:nvPr/>
        </p:nvSpPr>
        <p:spPr>
          <a:xfrm>
            <a:off x="768096"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Hybrid 38.9% vs browsing 14.8%</a:t>
            </a:r>
          </a:p>
        </p:txBody>
      </p:sp>
      <p:sp>
        <p:nvSpPr>
          <p:cNvPr id="31" name="take1"/>
          <p:cNvSpPr/>
          <p:nvPr/>
        </p:nvSpPr>
        <p:spPr>
          <a:xfrm>
            <a:off x="4361688" y="5330952"/>
            <a:ext cx="3538728" cy="640080"/>
          </a:xfrm>
          <a:prstGeom prst="rect">
            <a:avLst/>
          </a:prstGeom>
          <a:solidFill>
            <a:srgbClr val="FFFFFF"/>
          </a:solidFill>
          <a:ln w="19050">
            <a:solidFill>
              <a:srgbClr val="006D77"/>
            </a:solidFill>
          </a:ln>
        </p:spPr>
      </p:sp>
      <p:sp>
        <p:nvSpPr>
          <p:cNvPr id="32" name="take1-t"/>
          <p:cNvSpPr/>
          <p:nvPr/>
        </p:nvSpPr>
        <p:spPr>
          <a:xfrm>
            <a:off x="4489704"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2  Check in code</a:t>
            </a:r>
          </a:p>
        </p:txBody>
      </p:sp>
      <p:sp>
        <p:nvSpPr>
          <p:cNvPr id="33" name="take1-b"/>
          <p:cNvSpPr/>
          <p:nvPr/>
        </p:nvSpPr>
        <p:spPr>
          <a:xfrm>
            <a:off x="4489704"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Ledger and gates: +3.4–7.6 pts</a:t>
            </a:r>
          </a:p>
        </p:txBody>
      </p:sp>
      <p:sp>
        <p:nvSpPr>
          <p:cNvPr id="34" name="take2"/>
          <p:cNvSpPr/>
          <p:nvPr/>
        </p:nvSpPr>
        <p:spPr>
          <a:xfrm>
            <a:off x="8083296" y="5330952"/>
            <a:ext cx="3538728" cy="640080"/>
          </a:xfrm>
          <a:prstGeom prst="rect">
            <a:avLst/>
          </a:prstGeom>
          <a:solidFill>
            <a:srgbClr val="FFFFFF"/>
          </a:solidFill>
          <a:ln w="19050">
            <a:solidFill>
              <a:srgbClr val="006D77"/>
            </a:solidFill>
          </a:ln>
        </p:spPr>
      </p:sp>
      <p:sp>
        <p:nvSpPr>
          <p:cNvPr id="35" name="take2-t"/>
          <p:cNvSpPr/>
          <p:nvPr/>
        </p:nvSpPr>
        <p:spPr>
          <a:xfrm>
            <a:off x="8211312"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3  Small model reads, code acts</a:t>
            </a:r>
          </a:p>
        </p:txBody>
      </p:sp>
      <p:sp>
        <p:nvSpPr>
          <p:cNvPr id="36" name="take2-b"/>
          <p:cNvSpPr/>
          <p:nvPr/>
        </p:nvSpPr>
        <p:spPr>
          <a:xfrm>
            <a:off x="8211312"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Gated 7B 0.562 vs 32B 0.300</a:t>
            </a:r>
          </a:p>
        </p:txBody>
      </p:sp>
      <p:sp>
        <p:nvSpPr>
          <p:cNvPr id="37" name="sv-note"/>
          <p:cNvSpPr/>
          <p:nvPr/>
        </p:nvSpPr>
        <p:spPr>
          <a:xfrm>
            <a:off x="640080" y="6016752"/>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not our measurements; ratings are our reading of the cited work (91 papers reviewed).</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3855</Words>
  <Application>Microsoft Office PowerPoint</Application>
  <DocSecurity>0</DocSecurity>
  <PresentationFormat>Widescreen</PresentationFormat>
  <Paragraphs>478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Yashas Bhoomraddi</cp:lastModifiedBy>
  <cp:revision>1</cp:revision>
  <dcterms:created xsi:type="dcterms:W3CDTF">2026-10-11T01:55:57Z</dcterms:created>
  <dcterms:modified xsi:type="dcterms:W3CDTF">2026-10-11T02:04:37Z</dcterms:modified>
</cp:coreProperties>
</file>