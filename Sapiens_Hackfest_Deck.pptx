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Sapiens, Domain 5A. Our users run daily work in no-code business apps. The problem in one line: agents see the app only as pixels and prose. Pixels can be clicked but not checked; prose says what a page looks like, not what its numbers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contract, not the chatbot: the app, the agent and the scorer all read the same file, so none of them can disagree. Each objective maps to a KPI in the brief. Published comparisons report 950 ms for direct calls against 3,404 ms for browser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experiment has already been run: agents finish 2-7% of Mind2Web tasks and 9-19% of enterprise workflows, and SeeAct shows success jumps to 51.1% once the element is handed over, so finding things is the bottleneck. We remove the finding. Precedents: MindAct (router), CLAIRE and web verbs (validator), Hybrid World-Model Planning (read-back), VACP (named measures), AD-Bench (evidence). Embedding an agent is not new; declared meaning, verified state changes and traced numbers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1: we describe the app once as a contract and test every claim. Phase 2: each question goes find the page, set the view, get the numbers, with a check after each step, and the answer is labelled fact, calculation or inference. Phase 3: the same contract scores the replayed questions with our checks on and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these technologies: LangGraph gives a stateful loop that can pause for a clarifying question; Pydantic turns the contract into a validator; the same SQL queries serve the screen and the agent, so numbers match. If time allows: bm25s and embeddings for the retrieval test, SQLGlot for a guarded SQL fallback, Playwright to drift-check the app against the contract. All libraries are MIT, BSD or Apache-2.0.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measured yet: these are the deliverables we will ship and the measures we will report, all computed from the trace log. Mind2Web is used only as a retrieval stress test, because it runs on cached pages, scores one recorded click path, has no follow-ups and never asks for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pic>
        <p:nvPicPr>
          <p:cNvPr id="3" name="KLE Tech Hackfest 2026 banner" descr="KLE Tech Hackfest 2026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74" y="274320"/>
            <a:ext cx="2815945" cy="713232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069848"/>
            <a:ext cx="1127729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chemeClr val="tx2"/>
                </a:solidFill>
              </a:rPr>
              <a:t>Context-Aware AI Agent for Enterprise Applications</a:t>
            </a:r>
          </a:p>
        </p:txBody>
      </p:sp>
      <p:sp>
        <p:nvSpPr>
          <p:cNvPr id="5" name="Domain"/>
          <p:cNvSpPr txBox="1"/>
          <p:nvPr/>
        </p:nvSpPr>
        <p:spPr>
          <a:xfrm>
            <a:off x="457200" y="1645920"/>
            <a:ext cx="1127729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Selected domain: </a:t>
            </a:r>
            <a:r>
              <a:rPr sz="1600" b="1">
                <a:solidFill>
                  <a:schemeClr val="tx1"/>
                </a:solidFill>
              </a:rPr>
              <a:t>Domain 5 — Enterprise Applications, Agentic AI &amp; Dynamic Pricing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Problem statement: </a:t>
            </a:r>
            <a:r>
              <a:rPr sz="1600" b="1">
                <a:solidFill>
                  <a:schemeClr val="tx1"/>
                </a:solidFill>
              </a:rPr>
              <a:t>5A — Context-Aware Application Agent</a:t>
            </a:r>
          </a:p>
        </p:txBody>
      </p:sp>
      <p:sp>
        <p:nvSpPr>
          <p:cNvPr id="6" name="Team header"/>
          <p:cNvSpPr txBox="1"/>
          <p:nvPr/>
        </p:nvSpPr>
        <p:spPr>
          <a:xfrm>
            <a:off x="457200" y="237744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TEAM SAPIENS</a:t>
            </a:r>
          </a:p>
        </p:txBody>
      </p:sp>
      <p:sp>
        <p:nvSpPr>
          <p:cNvPr id="7" name="Team table header"/>
          <p:cNvSpPr/>
          <p:nvPr/>
        </p:nvSpPr>
        <p:spPr>
          <a:xfrm>
            <a:off x="457200" y="2724912"/>
            <a:ext cx="5486400" cy="3657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m head Sl. No"/>
          <p:cNvSpPr txBox="1"/>
          <p:nvPr/>
        </p:nvSpPr>
        <p:spPr>
          <a:xfrm>
            <a:off x="594360" y="27249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Sl. No</a:t>
            </a:r>
          </a:p>
        </p:txBody>
      </p:sp>
      <p:sp>
        <p:nvSpPr>
          <p:cNvPr id="9" name="Team head Name"/>
          <p:cNvSpPr txBox="1"/>
          <p:nvPr/>
        </p:nvSpPr>
        <p:spPr>
          <a:xfrm>
            <a:off x="1463039" y="27249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0" name="Team head USN"/>
          <p:cNvSpPr txBox="1"/>
          <p:nvPr/>
        </p:nvSpPr>
        <p:spPr>
          <a:xfrm>
            <a:off x="3977640" y="272491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USN</a:t>
            </a:r>
          </a:p>
        </p:txBody>
      </p:sp>
      <p:sp>
        <p:nvSpPr>
          <p:cNvPr id="11" name="Team row 1"/>
          <p:cNvSpPr/>
          <p:nvPr/>
        </p:nvSpPr>
        <p:spPr>
          <a:xfrm>
            <a:off x="457200" y="3090672"/>
            <a:ext cx="5486400" cy="365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m Sl. No 1"/>
          <p:cNvSpPr txBox="1"/>
          <p:nvPr/>
        </p:nvSpPr>
        <p:spPr>
          <a:xfrm>
            <a:off x="594360" y="30906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am Name 1"/>
          <p:cNvSpPr txBox="1"/>
          <p:nvPr/>
        </p:nvSpPr>
        <p:spPr>
          <a:xfrm>
            <a:off x="1463039" y="30906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Karthik NHM</a:t>
            </a:r>
          </a:p>
        </p:txBody>
      </p:sp>
      <p:sp>
        <p:nvSpPr>
          <p:cNvPr id="14" name="Team USN 1"/>
          <p:cNvSpPr txBox="1"/>
          <p:nvPr/>
        </p:nvSpPr>
        <p:spPr>
          <a:xfrm>
            <a:off x="3977640" y="309067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01FE24BCI072</a:t>
            </a:r>
          </a:p>
        </p:txBody>
      </p:sp>
      <p:sp>
        <p:nvSpPr>
          <p:cNvPr id="15" name="Team row 2"/>
          <p:cNvSpPr/>
          <p:nvPr/>
        </p:nvSpPr>
        <p:spPr>
          <a:xfrm>
            <a:off x="457200" y="3456432"/>
            <a:ext cx="54864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m Sl. No 2"/>
          <p:cNvSpPr txBox="1"/>
          <p:nvPr/>
        </p:nvSpPr>
        <p:spPr>
          <a:xfrm>
            <a:off x="594360" y="345643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am Name 2"/>
          <p:cNvSpPr txBox="1"/>
          <p:nvPr/>
        </p:nvSpPr>
        <p:spPr>
          <a:xfrm>
            <a:off x="1463039" y="34564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Rakshita Kulkarni</a:t>
            </a:r>
          </a:p>
        </p:txBody>
      </p:sp>
      <p:sp>
        <p:nvSpPr>
          <p:cNvPr id="18" name="Team USN 2"/>
          <p:cNvSpPr txBox="1"/>
          <p:nvPr/>
        </p:nvSpPr>
        <p:spPr>
          <a:xfrm>
            <a:off x="3977640" y="345643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01FE23BCS155</a:t>
            </a:r>
          </a:p>
        </p:txBody>
      </p:sp>
      <p:sp>
        <p:nvSpPr>
          <p:cNvPr id="19" name="Team row 3"/>
          <p:cNvSpPr/>
          <p:nvPr/>
        </p:nvSpPr>
        <p:spPr>
          <a:xfrm>
            <a:off x="457200" y="3822191"/>
            <a:ext cx="5486400" cy="365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m Sl. No 3"/>
          <p:cNvSpPr txBox="1"/>
          <p:nvPr/>
        </p:nvSpPr>
        <p:spPr>
          <a:xfrm>
            <a:off x="594360" y="382219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Team Name 3"/>
          <p:cNvSpPr txBox="1"/>
          <p:nvPr/>
        </p:nvSpPr>
        <p:spPr>
          <a:xfrm>
            <a:off x="1463039" y="3822191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Vikas U B</a:t>
            </a:r>
          </a:p>
        </p:txBody>
      </p:sp>
      <p:sp>
        <p:nvSpPr>
          <p:cNvPr id="22" name="Team USN 3"/>
          <p:cNvSpPr txBox="1"/>
          <p:nvPr/>
        </p:nvSpPr>
        <p:spPr>
          <a:xfrm>
            <a:off x="3977640" y="3822191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01FE23BCI094</a:t>
            </a:r>
          </a:p>
        </p:txBody>
      </p:sp>
      <p:sp>
        <p:nvSpPr>
          <p:cNvPr id="23" name="Team row 4"/>
          <p:cNvSpPr/>
          <p:nvPr/>
        </p:nvSpPr>
        <p:spPr>
          <a:xfrm>
            <a:off x="457200" y="4187952"/>
            <a:ext cx="5486400" cy="365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m Sl. No 4"/>
          <p:cNvSpPr txBox="1"/>
          <p:nvPr/>
        </p:nvSpPr>
        <p:spPr>
          <a:xfrm>
            <a:off x="594360" y="41879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Team Name 4"/>
          <p:cNvSpPr txBox="1"/>
          <p:nvPr/>
        </p:nvSpPr>
        <p:spPr>
          <a:xfrm>
            <a:off x="1463039" y="41879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Yashas A B</a:t>
            </a:r>
          </a:p>
        </p:txBody>
      </p:sp>
      <p:sp>
        <p:nvSpPr>
          <p:cNvPr id="26" name="Team USN 4"/>
          <p:cNvSpPr txBox="1"/>
          <p:nvPr/>
        </p:nvSpPr>
        <p:spPr>
          <a:xfrm>
            <a:off x="3977640" y="418795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01FE23BCS026</a:t>
            </a:r>
          </a:p>
        </p:txBody>
      </p:sp>
      <p:sp>
        <p:nvSpPr>
          <p:cNvPr id="27" name="Target users block"/>
          <p:cNvSpPr/>
          <p:nvPr/>
        </p:nvSpPr>
        <p:spPr>
          <a:xfrm>
            <a:off x="6263640" y="2377440"/>
            <a:ext cx="5470855" cy="2194560"/>
          </a:xfrm>
          <a:prstGeom prst="roundRect">
            <a:avLst>
              <a:gd name="adj" fmla="val 416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rget users header"/>
          <p:cNvSpPr txBox="1"/>
          <p:nvPr/>
        </p:nvSpPr>
        <p:spPr>
          <a:xfrm>
            <a:off x="6492240" y="2514600"/>
            <a:ext cx="50136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TARGET USERS</a:t>
            </a:r>
          </a:p>
        </p:txBody>
      </p:sp>
      <p:sp>
        <p:nvSpPr>
          <p:cNvPr id="29" name="User type Operations staff"/>
          <p:cNvSpPr/>
          <p:nvPr/>
        </p:nvSpPr>
        <p:spPr>
          <a:xfrm>
            <a:off x="6492240" y="2926080"/>
            <a:ext cx="1579778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Operations staff</a:t>
            </a:r>
          </a:p>
        </p:txBody>
      </p:sp>
      <p:sp>
        <p:nvSpPr>
          <p:cNvPr id="30" name="User type Managers"/>
          <p:cNvSpPr/>
          <p:nvPr/>
        </p:nvSpPr>
        <p:spPr>
          <a:xfrm>
            <a:off x="8209178" y="2926080"/>
            <a:ext cx="1579778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Managers</a:t>
            </a:r>
          </a:p>
        </p:txBody>
      </p:sp>
      <p:sp>
        <p:nvSpPr>
          <p:cNvPr id="31" name="User type Analysts"/>
          <p:cNvSpPr/>
          <p:nvPr/>
        </p:nvSpPr>
        <p:spPr>
          <a:xfrm>
            <a:off x="9926116" y="2926080"/>
            <a:ext cx="1579778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Analysts</a:t>
            </a:r>
          </a:p>
        </p:txBody>
      </p:sp>
      <p:sp>
        <p:nvSpPr>
          <p:cNvPr id="32" name="Target users text"/>
          <p:cNvSpPr txBox="1"/>
          <p:nvPr/>
        </p:nvSpPr>
        <p:spPr>
          <a:xfrm>
            <a:off x="6492240" y="3566160"/>
            <a:ext cx="501365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Anyone who runs daily work in a no-code business app: sales, operations, finance, support. They know the business, not every screen or query.</a:t>
            </a:r>
          </a:p>
        </p:txBody>
      </p:sp>
      <p:sp>
        <p:nvSpPr>
          <p:cNvPr id="33" name="Problem header"/>
          <p:cNvSpPr txBox="1"/>
          <p:nvPr/>
        </p:nvSpPr>
        <p:spPr>
          <a:xfrm>
            <a:off x="457200" y="475488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THE PROBLEM WE SOLVE</a:t>
            </a:r>
          </a:p>
        </p:txBody>
      </p:sp>
      <p:sp>
        <p:nvSpPr>
          <p:cNvPr id="34" name="Problem statement"/>
          <p:cNvSpPr/>
          <p:nvPr/>
        </p:nvSpPr>
        <p:spPr>
          <a:xfrm>
            <a:off x="457200" y="5120640"/>
            <a:ext cx="11277295" cy="128016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91440" rIns="320040" bIns="9144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chemeClr val="bg1"/>
                </a:solidFill>
              </a:rPr>
              <a:t>AI agents see a business app only as </a:t>
            </a:r>
            <a:r>
              <a:rPr sz="2000" b="1">
                <a:solidFill>
                  <a:schemeClr val="accent2"/>
                </a:solidFill>
              </a:rPr>
              <a:t>pixels and prose</a:t>
            </a:r>
            <a:r>
              <a:rPr sz="2000" b="1">
                <a:solidFill>
                  <a:schemeClr val="bg1"/>
                </a:solidFill>
              </a:rPr>
              <a:t>: they can click but not verify, and read pages without knowing what the numbers mean. So multi-step tasks fail, and answers cannot be traced.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Proposed Solution and Objectives</a:t>
            </a:r>
          </a:p>
        </p:txBody>
      </p:sp>
      <p:sp>
        <p:nvSpPr>
          <p:cNvPr id="4" name="Idea"/>
          <p:cNvSpPr txBox="1"/>
          <p:nvPr/>
        </p:nvSpPr>
        <p:spPr>
          <a:xfrm>
            <a:off x="457200" y="960120"/>
            <a:ext cx="1127729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chemeClr val="accent1"/>
                </a:solidFill>
              </a:rPr>
              <a:t>Our idea: </a:t>
            </a:r>
            <a:r>
              <a:rPr sz="1800" b="0">
                <a:solidFill>
                  <a:schemeClr val="tx1"/>
                </a:solidFill>
              </a:rPr>
              <a:t>an in-app companion that operates and analyses the whole app through one declared </a:t>
            </a:r>
            <a:r>
              <a:rPr sz="1800" b="1">
                <a:solidFill>
                  <a:schemeClr val="tx2"/>
                </a:solidFill>
              </a:rPr>
              <a:t>Application Contract</a:t>
            </a:r>
            <a:r>
              <a:rPr sz="1800" b="0">
                <a:solidFill>
                  <a:schemeClr val="tx1"/>
                </a:solidFill>
              </a:rPr>
              <a:t>, a file the app, the agent and the scorer all read.</a:t>
            </a:r>
          </a:p>
        </p:txBody>
      </p:sp>
      <p:sp>
        <p:nvSpPr>
          <p:cNvPr id="5" name="Contract hub"/>
          <p:cNvSpPr/>
          <p:nvPr/>
        </p:nvSpPr>
        <p:spPr>
          <a:xfrm>
            <a:off x="1485900" y="1783080"/>
            <a:ext cx="3840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chemeClr val="accent2"/>
                </a:solidFill>
              </a:rPr>
              <a:t>Application Contract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pages · filters · measures · meaning</a:t>
            </a:r>
          </a:p>
        </p:txBody>
      </p:sp>
      <p:sp>
        <p:nvSpPr>
          <p:cNvPr id="6" name="Consumer The app"/>
          <p:cNvSpPr/>
          <p:nvPr/>
        </p:nvSpPr>
        <p:spPr>
          <a:xfrm>
            <a:off x="457200" y="3127248"/>
            <a:ext cx="1874519" cy="1207008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91440" rIns="109728" bIns="73152"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chemeClr val="tx2"/>
                </a:solidFill>
              </a:rPr>
              <a:t>The app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renders from it, so it cannot drift</a:t>
            </a:r>
          </a:p>
        </p:txBody>
      </p:sp>
      <p:cxnSp>
        <p:nvCxnSpPr>
          <p:cNvPr id="7" name="Hub arrow 1"/>
          <p:cNvCxnSpPr/>
          <p:nvPr/>
        </p:nvCxnSpPr>
        <p:spPr>
          <a:xfrm flipH="1">
            <a:off x="1394460" y="2697480"/>
            <a:ext cx="2011680" cy="429768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sumer The agent"/>
          <p:cNvSpPr/>
          <p:nvPr/>
        </p:nvSpPr>
        <p:spPr>
          <a:xfrm>
            <a:off x="2468880" y="3127248"/>
            <a:ext cx="1874519" cy="1207008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91440" rIns="109728" bIns="73152"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chemeClr val="tx2"/>
                </a:solidFill>
              </a:rPr>
              <a:t>The agent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acts only through it, so it cannot invent</a:t>
            </a:r>
          </a:p>
        </p:txBody>
      </p:sp>
      <p:cxnSp>
        <p:nvCxnSpPr>
          <p:cNvPr id="9" name="Hub arrow 2"/>
          <p:cNvCxnSpPr/>
          <p:nvPr/>
        </p:nvCxnSpPr>
        <p:spPr>
          <a:xfrm>
            <a:off x="3406140" y="2697480"/>
            <a:ext cx="0" cy="429768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sumer The scorer"/>
          <p:cNvSpPr/>
          <p:nvPr/>
        </p:nvSpPr>
        <p:spPr>
          <a:xfrm>
            <a:off x="4480560" y="3127248"/>
            <a:ext cx="1874519" cy="1207008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91440" rIns="109728" bIns="73152"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chemeClr val="tx2"/>
                </a:solidFill>
              </a:rPr>
              <a:t>The scorer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checks against it, so results are provable</a:t>
            </a:r>
          </a:p>
        </p:txBody>
      </p:sp>
      <p:cxnSp>
        <p:nvCxnSpPr>
          <p:cNvPr id="11" name="Hub arrow 3"/>
          <p:cNvCxnSpPr/>
          <p:nvPr/>
        </p:nvCxnSpPr>
        <p:spPr>
          <a:xfrm>
            <a:off x="3406140" y="2697480"/>
            <a:ext cx="2011680" cy="429768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bjectives header"/>
          <p:cNvSpPr txBox="1"/>
          <p:nvPr/>
        </p:nvSpPr>
        <p:spPr>
          <a:xfrm>
            <a:off x="6675120" y="1783080"/>
            <a:ext cx="505937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KEY OBJECTIVES  →  HOW WE MEASURE THEM</a:t>
            </a:r>
          </a:p>
        </p:txBody>
      </p:sp>
      <p:sp>
        <p:nvSpPr>
          <p:cNvPr id="13" name="Objective L1"/>
          <p:cNvSpPr txBox="1"/>
          <p:nvPr/>
        </p:nvSpPr>
        <p:spPr>
          <a:xfrm>
            <a:off x="6675120" y="2139696"/>
            <a:ext cx="22402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Right page</a:t>
            </a:r>
          </a:p>
        </p:txBody>
      </p:sp>
      <p:sp>
        <p:nvSpPr>
          <p:cNvPr id="14" name="Objective sep1"/>
          <p:cNvSpPr txBox="1"/>
          <p:nvPr/>
        </p:nvSpPr>
        <p:spPr>
          <a:xfrm>
            <a:off x="9006840" y="2139696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15" name="Objective R1"/>
          <p:cNvSpPr txBox="1"/>
          <p:nvPr/>
        </p:nvSpPr>
        <p:spPr>
          <a:xfrm>
            <a:off x="9336024" y="2139696"/>
            <a:ext cx="239847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Intent-to-destination accuracy</a:t>
            </a:r>
          </a:p>
        </p:txBody>
      </p:sp>
      <p:cxnSp>
        <p:nvCxnSpPr>
          <p:cNvPr id="16" name="Objective rule1"/>
          <p:cNvCxnSpPr/>
          <p:nvPr/>
        </p:nvCxnSpPr>
        <p:spPr>
          <a:xfrm>
            <a:off x="6675120" y="2670048"/>
            <a:ext cx="505937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bjective L2"/>
          <p:cNvSpPr txBox="1"/>
          <p:nvPr/>
        </p:nvSpPr>
        <p:spPr>
          <a:xfrm>
            <a:off x="6675120" y="2688336"/>
            <a:ext cx="22402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Right filters, dates, sort</a:t>
            </a:r>
          </a:p>
        </p:txBody>
      </p:sp>
      <p:sp>
        <p:nvSpPr>
          <p:cNvPr id="18" name="Objective sep2"/>
          <p:cNvSpPr txBox="1"/>
          <p:nvPr/>
        </p:nvSpPr>
        <p:spPr>
          <a:xfrm>
            <a:off x="9006840" y="2688336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19" name="Objective R2"/>
          <p:cNvSpPr txBox="1"/>
          <p:nvPr/>
        </p:nvSpPr>
        <p:spPr>
          <a:xfrm>
            <a:off x="9336024" y="2688336"/>
            <a:ext cx="239847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Final view matches exactly</a:t>
            </a:r>
          </a:p>
        </p:txBody>
      </p:sp>
      <p:cxnSp>
        <p:nvCxnSpPr>
          <p:cNvPr id="20" name="Objective rule2"/>
          <p:cNvCxnSpPr/>
          <p:nvPr/>
        </p:nvCxnSpPr>
        <p:spPr>
          <a:xfrm>
            <a:off x="6675120" y="3218688"/>
            <a:ext cx="505937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bjective L3"/>
          <p:cNvSpPr txBox="1"/>
          <p:nvPr/>
        </p:nvSpPr>
        <p:spPr>
          <a:xfrm>
            <a:off x="6675120" y="3236975"/>
            <a:ext cx="22402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Traceable answers</a:t>
            </a:r>
          </a:p>
        </p:txBody>
      </p:sp>
      <p:sp>
        <p:nvSpPr>
          <p:cNvPr id="22" name="Objective sep3"/>
          <p:cNvSpPr txBox="1"/>
          <p:nvPr/>
        </p:nvSpPr>
        <p:spPr>
          <a:xfrm>
            <a:off x="9006840" y="3236975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23" name="Objective R3"/>
          <p:cNvSpPr txBox="1"/>
          <p:nvPr/>
        </p:nvSpPr>
        <p:spPr>
          <a:xfrm>
            <a:off x="9336024" y="3236975"/>
            <a:ext cx="239847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Every number carries evidence</a:t>
            </a:r>
          </a:p>
        </p:txBody>
      </p:sp>
      <p:cxnSp>
        <p:nvCxnSpPr>
          <p:cNvPr id="24" name="Objective rule3"/>
          <p:cNvCxnSpPr/>
          <p:nvPr/>
        </p:nvCxnSpPr>
        <p:spPr>
          <a:xfrm>
            <a:off x="6675120" y="3767327"/>
            <a:ext cx="505937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bjective L4"/>
          <p:cNvSpPr txBox="1"/>
          <p:nvPr/>
        </p:nvSpPr>
        <p:spPr>
          <a:xfrm>
            <a:off x="6675120" y="3785615"/>
            <a:ext cx="22402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No invented actions</a:t>
            </a:r>
          </a:p>
        </p:txBody>
      </p:sp>
      <p:sp>
        <p:nvSpPr>
          <p:cNvPr id="26" name="Objective sep4"/>
          <p:cNvSpPr txBox="1"/>
          <p:nvPr/>
        </p:nvSpPr>
        <p:spPr>
          <a:xfrm>
            <a:off x="9006840" y="3785615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27" name="Objective R4"/>
          <p:cNvSpPr txBox="1"/>
          <p:nvPr/>
        </p:nvSpPr>
        <p:spPr>
          <a:xfrm>
            <a:off x="9336024" y="3785615"/>
            <a:ext cx="239847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Abstains when nothing fits</a:t>
            </a:r>
          </a:p>
        </p:txBody>
      </p:sp>
      <p:sp>
        <p:nvSpPr>
          <p:cNvPr id="28" name="Features header"/>
          <p:cNvSpPr txBox="1"/>
          <p:nvPr/>
        </p:nvSpPr>
        <p:spPr>
          <a:xfrm>
            <a:off x="457200" y="452628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CORE FEATURES</a:t>
            </a:r>
          </a:p>
        </p:txBody>
      </p:sp>
      <p:sp>
        <p:nvSpPr>
          <p:cNvPr id="29" name="Feature 1"/>
          <p:cNvSpPr/>
          <p:nvPr/>
        </p:nvSpPr>
        <p:spPr>
          <a:xfrm>
            <a:off x="457200" y="4846320"/>
            <a:ext cx="2273747" cy="914400"/>
          </a:xfrm>
          <a:prstGeom prst="homePlate">
            <a:avLst>
              <a:gd name="adj" fmla="val 28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eature 1 text"/>
          <p:cNvSpPr txBox="1"/>
          <p:nvPr/>
        </p:nvSpPr>
        <p:spPr>
          <a:xfrm>
            <a:off x="640080" y="4901184"/>
            <a:ext cx="1725107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bg1"/>
                </a:solidFill>
              </a:rPr>
              <a:t>Route by capability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Can say “none fits”</a:t>
            </a:r>
          </a:p>
        </p:txBody>
      </p:sp>
      <p:sp>
        <p:nvSpPr>
          <p:cNvPr id="31" name="Feature 2"/>
          <p:cNvSpPr/>
          <p:nvPr/>
        </p:nvSpPr>
        <p:spPr>
          <a:xfrm>
            <a:off x="2657795" y="4846320"/>
            <a:ext cx="2273747" cy="914400"/>
          </a:xfrm>
          <a:prstGeom prst="homePlate">
            <a:avLst>
              <a:gd name="adj" fmla="val 2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eature 2 text"/>
          <p:cNvSpPr txBox="1"/>
          <p:nvPr/>
        </p:nvSpPr>
        <p:spPr>
          <a:xfrm>
            <a:off x="2840675" y="4901184"/>
            <a:ext cx="1725107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bg1"/>
                </a:solidFill>
              </a:rPr>
              <a:t>One state change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Whole view in the URL</a:t>
            </a:r>
          </a:p>
        </p:txBody>
      </p:sp>
      <p:sp>
        <p:nvSpPr>
          <p:cNvPr id="33" name="Feature 3"/>
          <p:cNvSpPr/>
          <p:nvPr/>
        </p:nvSpPr>
        <p:spPr>
          <a:xfrm>
            <a:off x="4949830" y="4846320"/>
            <a:ext cx="2273747" cy="914400"/>
          </a:xfrm>
          <a:prstGeom prst="homePlate">
            <a:avLst>
              <a:gd name="adj" fmla="val 28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eature 3 text"/>
          <p:cNvSpPr txBox="1"/>
          <p:nvPr/>
        </p:nvSpPr>
        <p:spPr>
          <a:xfrm>
            <a:off x="5132710" y="4901184"/>
            <a:ext cx="1725107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bg1"/>
                </a:solidFill>
              </a:rPr>
              <a:t>Check twice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Refuse, then read back</a:t>
            </a:r>
          </a:p>
        </p:txBody>
      </p:sp>
      <p:sp>
        <p:nvSpPr>
          <p:cNvPr id="35" name="Feature 4"/>
          <p:cNvSpPr/>
          <p:nvPr/>
        </p:nvSpPr>
        <p:spPr>
          <a:xfrm>
            <a:off x="7241865" y="4846320"/>
            <a:ext cx="2273747" cy="914400"/>
          </a:xfrm>
          <a:prstGeom prst="homePlate">
            <a:avLst>
              <a:gd name="adj" fmla="val 2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eature 4 text"/>
          <p:cNvSpPr txBox="1"/>
          <p:nvPr/>
        </p:nvSpPr>
        <p:spPr>
          <a:xfrm>
            <a:off x="7424745" y="4901184"/>
            <a:ext cx="1725107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bg1"/>
                </a:solidFill>
              </a:rPr>
              <a:t>Named measures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Screen’s own query</a:t>
            </a:r>
          </a:p>
        </p:txBody>
      </p:sp>
      <p:sp>
        <p:nvSpPr>
          <p:cNvPr id="37" name="Feature 5"/>
          <p:cNvSpPr/>
          <p:nvPr/>
        </p:nvSpPr>
        <p:spPr>
          <a:xfrm>
            <a:off x="9533900" y="4846320"/>
            <a:ext cx="2109155" cy="914400"/>
          </a:xfrm>
          <a:prstGeom prst="homePlate">
            <a:avLst>
              <a:gd name="adj" fmla="val 28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eature 5 text"/>
          <p:cNvSpPr txBox="1"/>
          <p:nvPr/>
        </p:nvSpPr>
        <p:spPr>
          <a:xfrm>
            <a:off x="9716780" y="4901184"/>
            <a:ext cx="1725107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bg1"/>
                </a:solidFill>
              </a:rPr>
              <a:t>Score final state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bg1"/>
                </a:solidFill>
              </a:rPr>
              <a:t>Trace log → KPIs</a:t>
            </a:r>
          </a:p>
        </p:txBody>
      </p:sp>
      <p:sp>
        <p:nvSpPr>
          <p:cNvPr id="39" name="Benefits"/>
          <p:cNvSpPr txBox="1"/>
          <p:nvPr/>
        </p:nvSpPr>
        <p:spPr>
          <a:xfrm>
            <a:off x="457200" y="5870448"/>
            <a:ext cx="11277295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accent1"/>
                </a:solidFill>
              </a:rPr>
              <a:t>Benefits: </a:t>
            </a:r>
            <a:r>
              <a:rPr sz="1600" b="0">
                <a:solidFill>
                  <a:schemeClr val="tx1"/>
                </a:solidFill>
              </a:rPr>
              <a:t>no need to learn the app’s layout · every figure links to its view · only legal actions · one state change, not a click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Innovation and Existing Alternatives</a:t>
            </a:r>
          </a:p>
        </p:txBody>
      </p:sp>
      <p:sp>
        <p:nvSpPr>
          <p:cNvPr id="4" name="Evidence 1"/>
          <p:cNvSpPr/>
          <p:nvPr/>
        </p:nvSpPr>
        <p:spPr>
          <a:xfrm>
            <a:off x="457200" y="1005840"/>
            <a:ext cx="2780461" cy="1298448"/>
          </a:xfrm>
          <a:prstGeom prst="homePlate">
            <a:avLst>
              <a:gd name="adj" fmla="val 2112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vidence 1 text"/>
          <p:cNvSpPr txBox="1"/>
          <p:nvPr/>
        </p:nvSpPr>
        <p:spPr>
          <a:xfrm>
            <a:off x="621792" y="1042415"/>
            <a:ext cx="2231821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>
                <a:solidFill>
                  <a:schemeClr val="accent1"/>
                </a:solidFill>
              </a:rPr>
              <a:t>2–7%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of whole tasks finished on Mind2Web’s 137 real sites</a:t>
            </a:r>
          </a:p>
        </p:txBody>
      </p:sp>
      <p:sp>
        <p:nvSpPr>
          <p:cNvPr id="6" name="Evidence 2"/>
          <p:cNvSpPr/>
          <p:nvPr/>
        </p:nvSpPr>
        <p:spPr>
          <a:xfrm>
            <a:off x="3310813" y="1005840"/>
            <a:ext cx="2780461" cy="1298448"/>
          </a:xfrm>
          <a:prstGeom prst="homePlate">
            <a:avLst>
              <a:gd name="adj" fmla="val 2112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2 text"/>
          <p:cNvSpPr txBox="1"/>
          <p:nvPr/>
        </p:nvSpPr>
        <p:spPr>
          <a:xfrm>
            <a:off x="3475405" y="1042415"/>
            <a:ext cx="2231821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>
                <a:solidFill>
                  <a:schemeClr val="accent1"/>
                </a:solidFill>
              </a:rPr>
              <a:t>9–19%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on multi-step enterprise workflows (UI-CUBE)</a:t>
            </a:r>
          </a:p>
        </p:txBody>
      </p:sp>
      <p:sp>
        <p:nvSpPr>
          <p:cNvPr id="8" name="Evidence 3"/>
          <p:cNvSpPr/>
          <p:nvPr/>
        </p:nvSpPr>
        <p:spPr>
          <a:xfrm>
            <a:off x="6164427" y="1005840"/>
            <a:ext cx="2780461" cy="1298448"/>
          </a:xfrm>
          <a:prstGeom prst="homePlate">
            <a:avLst>
              <a:gd name="adj" fmla="val 2112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idence 3 text"/>
          <p:cNvSpPr txBox="1"/>
          <p:nvPr/>
        </p:nvSpPr>
        <p:spPr>
          <a:xfrm>
            <a:off x="6329019" y="1042415"/>
            <a:ext cx="2231821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>
                <a:solidFill>
                  <a:schemeClr val="accent1"/>
                </a:solidFill>
              </a:rPr>
              <a:t>51.1%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once the element to click is handed over (SeeAct)</a:t>
            </a:r>
          </a:p>
        </p:txBody>
      </p:sp>
      <p:sp>
        <p:nvSpPr>
          <p:cNvPr id="10" name="Evidence 4"/>
          <p:cNvSpPr/>
          <p:nvPr/>
        </p:nvSpPr>
        <p:spPr>
          <a:xfrm>
            <a:off x="9018041" y="1005840"/>
            <a:ext cx="2716453" cy="1298448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4 text"/>
          <p:cNvSpPr txBox="1"/>
          <p:nvPr/>
        </p:nvSpPr>
        <p:spPr>
          <a:xfrm>
            <a:off x="9182633" y="1042415"/>
            <a:ext cx="2167813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200" b="1">
                <a:solidFill>
                  <a:schemeClr val="tx2"/>
                </a:solidFill>
              </a:rPr>
              <a:t>Our move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Name everything in a contract, so there is nothing to find</a:t>
            </a:r>
          </a:p>
        </p:txBody>
      </p:sp>
      <p:sp>
        <p:nvSpPr>
          <p:cNvPr id="12" name="Existing header"/>
          <p:cNvSpPr txBox="1"/>
          <p:nvPr/>
        </p:nvSpPr>
        <p:spPr>
          <a:xfrm>
            <a:off x="457200" y="2487168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EXISTING APPROACHES AND THEIR LIMIT</a:t>
            </a:r>
          </a:p>
        </p:txBody>
      </p:sp>
      <p:sp>
        <p:nvSpPr>
          <p:cNvPr id="13" name="Existing L1"/>
          <p:cNvSpPr txBox="1"/>
          <p:nvPr/>
        </p:nvSpPr>
        <p:spPr>
          <a:xfrm>
            <a:off x="457200" y="2834640"/>
            <a:ext cx="214884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Browser, GUI agents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Playwright, BrowserOS</a:t>
            </a:r>
          </a:p>
        </p:txBody>
      </p:sp>
      <p:sp>
        <p:nvSpPr>
          <p:cNvPr id="14" name="Existing R1"/>
          <p:cNvSpPr txBox="1"/>
          <p:nvPr/>
        </p:nvSpPr>
        <p:spPr>
          <a:xfrm>
            <a:off x="2697480" y="2834640"/>
            <a:ext cx="320040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Must find and click; failures unseen</a:t>
            </a:r>
          </a:p>
        </p:txBody>
      </p:sp>
      <p:cxnSp>
        <p:nvCxnSpPr>
          <p:cNvPr id="15" name="Existing rule1"/>
          <p:cNvCxnSpPr/>
          <p:nvPr/>
        </p:nvCxnSpPr>
        <p:spPr>
          <a:xfrm>
            <a:off x="457200" y="3364992"/>
            <a:ext cx="544068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xisting L2"/>
          <p:cNvSpPr txBox="1"/>
          <p:nvPr/>
        </p:nvSpPr>
        <p:spPr>
          <a:xfrm>
            <a:off x="457200" y="3383280"/>
            <a:ext cx="214884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Embedded app agents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EmbeWebAgent, VACP</a:t>
            </a:r>
          </a:p>
        </p:txBody>
      </p:sp>
      <p:sp>
        <p:nvSpPr>
          <p:cNvPr id="17" name="Existing R2"/>
          <p:cNvSpPr txBox="1"/>
          <p:nvPr/>
        </p:nvSpPr>
        <p:spPr>
          <a:xfrm>
            <a:off x="2697480" y="3383280"/>
            <a:ext cx="320040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Declare functions, not meaning; numbers untraced</a:t>
            </a:r>
          </a:p>
        </p:txBody>
      </p:sp>
      <p:cxnSp>
        <p:nvCxnSpPr>
          <p:cNvPr id="18" name="Existing rule2"/>
          <p:cNvCxnSpPr/>
          <p:nvPr/>
        </p:nvCxnSpPr>
        <p:spPr>
          <a:xfrm>
            <a:off x="457200" y="3913632"/>
            <a:ext cx="544068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xisting L3"/>
          <p:cNvSpPr txBox="1"/>
          <p:nvPr/>
        </p:nvSpPr>
        <p:spPr>
          <a:xfrm>
            <a:off x="457200" y="3931920"/>
            <a:ext cx="214884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Typed-action proposals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Web verbs, Vector</a:t>
            </a:r>
          </a:p>
        </p:txBody>
      </p:sp>
      <p:sp>
        <p:nvSpPr>
          <p:cNvPr id="20" name="Existing R3"/>
          <p:cNvSpPr txBox="1"/>
          <p:nvPr/>
        </p:nvSpPr>
        <p:spPr>
          <a:xfrm>
            <a:off x="2697480" y="3931920"/>
            <a:ext cx="320040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Right direction; no prototype or KPIs</a:t>
            </a:r>
          </a:p>
        </p:txBody>
      </p:sp>
      <p:cxnSp>
        <p:nvCxnSpPr>
          <p:cNvPr id="21" name="Existing rule3"/>
          <p:cNvCxnSpPr/>
          <p:nvPr/>
        </p:nvCxnSpPr>
        <p:spPr>
          <a:xfrm>
            <a:off x="457200" y="4462272"/>
            <a:ext cx="544068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xisting L4"/>
          <p:cNvSpPr txBox="1"/>
          <p:nvPr/>
        </p:nvSpPr>
        <p:spPr>
          <a:xfrm>
            <a:off x="457200" y="4480559"/>
            <a:ext cx="214884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Text-to-SQL, chat-BI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Vanna, TA-SQL</a:t>
            </a:r>
          </a:p>
        </p:txBody>
      </p:sp>
      <p:sp>
        <p:nvSpPr>
          <p:cNvPr id="23" name="Existing R4"/>
          <p:cNvSpPr txBox="1"/>
          <p:nvPr/>
        </p:nvSpPr>
        <p:spPr>
          <a:xfrm>
            <a:off x="2697480" y="4480559"/>
            <a:ext cx="320040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Valid SQL, wrong meaning</a:t>
            </a:r>
          </a:p>
        </p:txBody>
      </p:sp>
      <p:cxnSp>
        <p:nvCxnSpPr>
          <p:cNvPr id="24" name="Existing rule4"/>
          <p:cNvCxnSpPr/>
          <p:nvPr/>
        </p:nvCxnSpPr>
        <p:spPr>
          <a:xfrm>
            <a:off x="457200" y="5010912"/>
            <a:ext cx="544068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xisting L5"/>
          <p:cNvSpPr txBox="1"/>
          <p:nvPr/>
        </p:nvSpPr>
        <p:spPr>
          <a:xfrm>
            <a:off x="457200" y="5029200"/>
            <a:ext cx="214884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Classic RPA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ECLAIR studies</a:t>
            </a:r>
          </a:p>
        </p:txBody>
      </p:sp>
      <p:sp>
        <p:nvSpPr>
          <p:cNvPr id="26" name="Existing R5"/>
          <p:cNvSpPr txBox="1"/>
          <p:nvPr/>
        </p:nvSpPr>
        <p:spPr>
          <a:xfrm>
            <a:off x="2697480" y="5029200"/>
            <a:ext cx="3200400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12–18 months to set up</a:t>
            </a:r>
          </a:p>
        </p:txBody>
      </p:sp>
      <p:sp>
        <p:nvSpPr>
          <p:cNvPr id="27" name="Fix header"/>
          <p:cNvSpPr txBox="1"/>
          <p:nvPr/>
        </p:nvSpPr>
        <p:spPr>
          <a:xfrm>
            <a:off x="6263640" y="2487168"/>
            <a:ext cx="54708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HOW WE FIX IT</a:t>
            </a:r>
          </a:p>
        </p:txBody>
      </p:sp>
      <p:sp>
        <p:nvSpPr>
          <p:cNvPr id="28" name="Fix L1"/>
          <p:cNvSpPr txBox="1"/>
          <p:nvPr/>
        </p:nvSpPr>
        <p:spPr>
          <a:xfrm>
            <a:off x="6263640" y="2834640"/>
            <a:ext cx="20116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Misreads the page</a:t>
            </a:r>
          </a:p>
        </p:txBody>
      </p:sp>
      <p:sp>
        <p:nvSpPr>
          <p:cNvPr id="29" name="Fix sep1"/>
          <p:cNvSpPr txBox="1"/>
          <p:nvPr/>
        </p:nvSpPr>
        <p:spPr>
          <a:xfrm>
            <a:off x="8366760" y="2834640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30" name="Fix R1"/>
          <p:cNvSpPr txBox="1"/>
          <p:nvPr/>
        </p:nvSpPr>
        <p:spPr>
          <a:xfrm>
            <a:off x="8695944" y="2834640"/>
            <a:ext cx="303855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Grain, unit declared; “none fits”</a:t>
            </a:r>
          </a:p>
        </p:txBody>
      </p:sp>
      <p:cxnSp>
        <p:nvCxnSpPr>
          <p:cNvPr id="31" name="Fix rule1"/>
          <p:cNvCxnSpPr/>
          <p:nvPr/>
        </p:nvCxnSpPr>
        <p:spPr>
          <a:xfrm>
            <a:off x="6263640" y="3364992"/>
            <a:ext cx="547085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ix L2"/>
          <p:cNvSpPr txBox="1"/>
          <p:nvPr/>
        </p:nvSpPr>
        <p:spPr>
          <a:xfrm>
            <a:off x="6263640" y="3383280"/>
            <a:ext cx="20116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Invents a filter</a:t>
            </a:r>
          </a:p>
        </p:txBody>
      </p:sp>
      <p:sp>
        <p:nvSpPr>
          <p:cNvPr id="33" name="Fix sep2"/>
          <p:cNvSpPr txBox="1"/>
          <p:nvPr/>
        </p:nvSpPr>
        <p:spPr>
          <a:xfrm>
            <a:off x="8366760" y="3383280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34" name="Fix R2"/>
          <p:cNvSpPr txBox="1"/>
          <p:nvPr/>
        </p:nvSpPr>
        <p:spPr>
          <a:xfrm>
            <a:off x="8695944" y="3383280"/>
            <a:ext cx="303855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Validator refuses illegal calls first</a:t>
            </a:r>
          </a:p>
        </p:txBody>
      </p:sp>
      <p:cxnSp>
        <p:nvCxnSpPr>
          <p:cNvPr id="35" name="Fix rule2"/>
          <p:cNvCxnSpPr/>
          <p:nvPr/>
        </p:nvCxnSpPr>
        <p:spPr>
          <a:xfrm>
            <a:off x="6263640" y="3913632"/>
            <a:ext cx="547085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ix L3"/>
          <p:cNvSpPr txBox="1"/>
          <p:nvPr/>
        </p:nvSpPr>
        <p:spPr>
          <a:xfrm>
            <a:off x="6263640" y="3931920"/>
            <a:ext cx="20116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Filter silently fails</a:t>
            </a:r>
          </a:p>
        </p:txBody>
      </p:sp>
      <p:sp>
        <p:nvSpPr>
          <p:cNvPr id="37" name="Fix sep3"/>
          <p:cNvSpPr txBox="1"/>
          <p:nvPr/>
        </p:nvSpPr>
        <p:spPr>
          <a:xfrm>
            <a:off x="8366760" y="3931920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38" name="Fix R3"/>
          <p:cNvSpPr txBox="1"/>
          <p:nvPr/>
        </p:nvSpPr>
        <p:spPr>
          <a:xfrm>
            <a:off x="8695944" y="3931920"/>
            <a:ext cx="303855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State read back, else undone</a:t>
            </a:r>
          </a:p>
        </p:txBody>
      </p:sp>
      <p:cxnSp>
        <p:nvCxnSpPr>
          <p:cNvPr id="39" name="Fix rule3"/>
          <p:cNvCxnSpPr/>
          <p:nvPr/>
        </p:nvCxnSpPr>
        <p:spPr>
          <a:xfrm>
            <a:off x="6263640" y="4462272"/>
            <a:ext cx="547085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ix L4"/>
          <p:cNvSpPr txBox="1"/>
          <p:nvPr/>
        </p:nvSpPr>
        <p:spPr>
          <a:xfrm>
            <a:off x="6263640" y="4480559"/>
            <a:ext cx="20116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Numbers contradict screen</a:t>
            </a:r>
          </a:p>
        </p:txBody>
      </p:sp>
      <p:sp>
        <p:nvSpPr>
          <p:cNvPr id="41" name="Fix sep4"/>
          <p:cNvSpPr txBox="1"/>
          <p:nvPr/>
        </p:nvSpPr>
        <p:spPr>
          <a:xfrm>
            <a:off x="8366760" y="4480559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42" name="Fix R4"/>
          <p:cNvSpPr txBox="1"/>
          <p:nvPr/>
        </p:nvSpPr>
        <p:spPr>
          <a:xfrm>
            <a:off x="8695944" y="4480559"/>
            <a:ext cx="303855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The screen’s own named query</a:t>
            </a:r>
          </a:p>
        </p:txBody>
      </p:sp>
      <p:cxnSp>
        <p:nvCxnSpPr>
          <p:cNvPr id="43" name="Fix rule4"/>
          <p:cNvCxnSpPr/>
          <p:nvPr/>
        </p:nvCxnSpPr>
        <p:spPr>
          <a:xfrm>
            <a:off x="6263640" y="5010912"/>
            <a:ext cx="5470855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ix L5"/>
          <p:cNvSpPr txBox="1"/>
          <p:nvPr/>
        </p:nvSpPr>
        <p:spPr>
          <a:xfrm>
            <a:off x="6263640" y="5029200"/>
            <a:ext cx="2011679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Untraceable figures</a:t>
            </a:r>
          </a:p>
        </p:txBody>
      </p:sp>
      <p:sp>
        <p:nvSpPr>
          <p:cNvPr id="45" name="Fix sep5"/>
          <p:cNvSpPr txBox="1"/>
          <p:nvPr/>
        </p:nvSpPr>
        <p:spPr>
          <a:xfrm>
            <a:off x="8366760" y="5029200"/>
            <a:ext cx="292608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46" name="Fix R5"/>
          <p:cNvSpPr txBox="1"/>
          <p:nvPr/>
        </p:nvSpPr>
        <p:spPr>
          <a:xfrm>
            <a:off x="8695944" y="5029200"/>
            <a:ext cx="3038551" cy="5120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Evidence ID on every number</a:t>
            </a:r>
          </a:p>
        </p:txBody>
      </p:sp>
      <p:cxnSp>
        <p:nvCxnSpPr>
          <p:cNvPr id="47" name="Column divider"/>
          <p:cNvCxnSpPr/>
          <p:nvPr/>
        </p:nvCxnSpPr>
        <p:spPr>
          <a:xfrm>
            <a:off x="6080760" y="2560320"/>
            <a:ext cx="0" cy="297180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unnel 1"/>
          <p:cNvSpPr txBox="1"/>
          <p:nvPr/>
        </p:nvSpPr>
        <p:spPr>
          <a:xfrm>
            <a:off x="457200" y="5669280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chemeClr val="accent1"/>
                </a:solidFill>
              </a:rPr>
              <a:t>1,506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papers cite Mind2Web</a:t>
            </a:r>
          </a:p>
        </p:txBody>
      </p:sp>
      <p:cxnSp>
        <p:nvCxnSpPr>
          <p:cNvPr id="49" name="Funnel arrow 1"/>
          <p:cNvCxnSpPr/>
          <p:nvPr/>
        </p:nvCxnSpPr>
        <p:spPr>
          <a:xfrm>
            <a:off x="2331720" y="5897880"/>
            <a:ext cx="228600" cy="0"/>
          </a:xfrm>
          <a:prstGeom prst="line">
            <a:avLst/>
          </a:prstGeom>
          <a:ln w="28575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unnel 2"/>
          <p:cNvSpPr txBox="1"/>
          <p:nvPr/>
        </p:nvSpPr>
        <p:spPr>
          <a:xfrm>
            <a:off x="2697479" y="5669280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chemeClr val="accent1"/>
                </a:solidFill>
              </a:rPr>
              <a:t>~40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touch enterprise apps</a:t>
            </a:r>
          </a:p>
        </p:txBody>
      </p:sp>
      <p:cxnSp>
        <p:nvCxnSpPr>
          <p:cNvPr id="51" name="Funnel arrow 2"/>
          <p:cNvCxnSpPr/>
          <p:nvPr/>
        </p:nvCxnSpPr>
        <p:spPr>
          <a:xfrm>
            <a:off x="4572000" y="5897880"/>
            <a:ext cx="228600" cy="0"/>
          </a:xfrm>
          <a:prstGeom prst="line">
            <a:avLst/>
          </a:prstGeom>
          <a:ln w="28575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unnel 3"/>
          <p:cNvSpPr txBox="1"/>
          <p:nvPr/>
        </p:nvSpPr>
        <p:spPr>
          <a:xfrm>
            <a:off x="4937759" y="5669280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chemeClr val="accent1"/>
                </a:solidFill>
              </a:rPr>
              <a:t>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mentions no-code</a:t>
            </a:r>
          </a:p>
        </p:txBody>
      </p:sp>
      <p:sp>
        <p:nvSpPr>
          <p:cNvPr id="53" name="Whitespace claim"/>
          <p:cNvSpPr/>
          <p:nvPr/>
        </p:nvSpPr>
        <p:spPr>
          <a:xfrm>
            <a:off x="6949440" y="5669280"/>
            <a:ext cx="478505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Each fix is published. The combination, for no-code apps, is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System Architecture and Workflow</a:t>
            </a:r>
          </a:p>
        </p:txBody>
      </p:sp>
      <p:pic>
        <p:nvPicPr>
          <p:cNvPr id="4" name="System architecture diagram" descr="System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071" y="987552"/>
            <a:ext cx="9623552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Technology Stack and Implementation Plan</a:t>
            </a:r>
          </a:p>
        </p:txBody>
      </p:sp>
      <p:sp>
        <p:nvSpPr>
          <p:cNvPr id="4" name="Stack header"/>
          <p:cNvSpPr txBox="1"/>
          <p:nvPr/>
        </p:nvSpPr>
        <p:spPr>
          <a:xfrm>
            <a:off x="457200" y="100584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TECHNOLOGY STACK  ·  WHY IT FITS</a:t>
            </a:r>
          </a:p>
        </p:txBody>
      </p:sp>
      <p:sp>
        <p:nvSpPr>
          <p:cNvPr id="5" name="Layer Interface label"/>
          <p:cNvSpPr/>
          <p:nvPr/>
        </p:nvSpPr>
        <p:spPr>
          <a:xfrm>
            <a:off x="457200" y="1371600"/>
            <a:ext cx="1325880" cy="7132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6" name="Layer Interface body"/>
          <p:cNvSpPr/>
          <p:nvPr/>
        </p:nvSpPr>
        <p:spPr>
          <a:xfrm>
            <a:off x="1783080" y="1371600"/>
            <a:ext cx="5074920" cy="7132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" rIns="137160" bIns="27432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React + Vite · Recharts · CopilotKit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Chat panel and live charts inside the app</a:t>
            </a:r>
          </a:p>
        </p:txBody>
      </p:sp>
      <p:sp>
        <p:nvSpPr>
          <p:cNvPr id="7" name="Layer Agent label"/>
          <p:cNvSpPr/>
          <p:nvPr/>
        </p:nvSpPr>
        <p:spPr>
          <a:xfrm>
            <a:off x="457200" y="2176272"/>
            <a:ext cx="1325880" cy="7132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Agent</a:t>
            </a:r>
          </a:p>
        </p:txBody>
      </p:sp>
      <p:sp>
        <p:nvSpPr>
          <p:cNvPr id="8" name="Layer Agent body"/>
          <p:cNvSpPr/>
          <p:nvPr/>
        </p:nvSpPr>
        <p:spPr>
          <a:xfrm>
            <a:off x="1783080" y="2176272"/>
            <a:ext cx="5074920" cy="7132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" rIns="137160" bIns="27432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LangGraph · Pydantic · RapidFuzz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Stateful tool loop; typed checks on every call</a:t>
            </a:r>
          </a:p>
        </p:txBody>
      </p:sp>
      <p:sp>
        <p:nvSpPr>
          <p:cNvPr id="9" name="Layer Data label"/>
          <p:cNvSpPr/>
          <p:nvPr/>
        </p:nvSpPr>
        <p:spPr>
          <a:xfrm>
            <a:off x="457200" y="2980944"/>
            <a:ext cx="1325880" cy="7132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0" name="Layer Data body"/>
          <p:cNvSpPr/>
          <p:nvPr/>
        </p:nvSpPr>
        <p:spPr>
          <a:xfrm>
            <a:off x="1783080" y="2980944"/>
            <a:ext cx="5074920" cy="7132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" rIns="137160" bIns="27432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SQL Server · sample tenant · pyodbc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Read-only; the same queries the screen uses</a:t>
            </a:r>
          </a:p>
        </p:txBody>
      </p:sp>
      <p:sp>
        <p:nvSpPr>
          <p:cNvPr id="11" name="Layer Model label"/>
          <p:cNvSpPr/>
          <p:nvPr/>
        </p:nvSpPr>
        <p:spPr>
          <a:xfrm>
            <a:off x="457200" y="3785616"/>
            <a:ext cx="1325880" cy="7132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2" name="Layer Model body"/>
          <p:cNvSpPr/>
          <p:nvPr/>
        </p:nvSpPr>
        <p:spPr>
          <a:xfrm>
            <a:off x="1783080" y="3785616"/>
            <a:ext cx="5074920" cy="7132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" rIns="137160" bIns="27432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Hosted LLM with tool calling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accent3"/>
                </a:solidFill>
              </a:rPr>
              <a:t>Structured output; our only paid service</a:t>
            </a:r>
          </a:p>
        </p:txBody>
      </p:sp>
      <p:sp>
        <p:nvSpPr>
          <p:cNvPr id="13" name="Team header"/>
          <p:cNvSpPr txBox="1"/>
          <p:nvPr/>
        </p:nvSpPr>
        <p:spPr>
          <a:xfrm>
            <a:off x="7178040" y="1005840"/>
            <a:ext cx="455645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TEAM  ·  FOUR ROLES IN PARALLEL</a:t>
            </a:r>
          </a:p>
        </p:txBody>
      </p:sp>
      <p:sp>
        <p:nvSpPr>
          <p:cNvPr id="14" name="Role A"/>
          <p:cNvSpPr/>
          <p:nvPr/>
        </p:nvSpPr>
        <p:spPr>
          <a:xfrm>
            <a:off x="7196327" y="1490472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Role A text"/>
          <p:cNvSpPr txBox="1"/>
          <p:nvPr/>
        </p:nvSpPr>
        <p:spPr>
          <a:xfrm>
            <a:off x="7818119" y="1371600"/>
            <a:ext cx="3916375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App and data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Contract, pages, URL state, queries</a:t>
            </a:r>
          </a:p>
        </p:txBody>
      </p:sp>
      <p:sp>
        <p:nvSpPr>
          <p:cNvPr id="16" name="Role B"/>
          <p:cNvSpPr/>
          <p:nvPr/>
        </p:nvSpPr>
        <p:spPr>
          <a:xfrm>
            <a:off x="7196327" y="2295144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7" name="Role B text"/>
          <p:cNvSpPr txBox="1"/>
          <p:nvPr/>
        </p:nvSpPr>
        <p:spPr>
          <a:xfrm>
            <a:off x="7818119" y="2176272"/>
            <a:ext cx="3916375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Agent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Router, validator, tools, context</a:t>
            </a:r>
          </a:p>
        </p:txBody>
      </p:sp>
      <p:sp>
        <p:nvSpPr>
          <p:cNvPr id="18" name="Role C"/>
          <p:cNvSpPr/>
          <p:nvPr/>
        </p:nvSpPr>
        <p:spPr>
          <a:xfrm>
            <a:off x="7196327" y="3099815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Role C text"/>
          <p:cNvSpPr txBox="1"/>
          <p:nvPr/>
        </p:nvSpPr>
        <p:spPr>
          <a:xfrm>
            <a:off x="7818119" y="2980944"/>
            <a:ext cx="3916375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Companion UI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Chat panel, fact labels, confirm card</a:t>
            </a:r>
          </a:p>
        </p:txBody>
      </p:sp>
      <p:sp>
        <p:nvSpPr>
          <p:cNvPr id="20" name="Role D"/>
          <p:cNvSpPr/>
          <p:nvPr/>
        </p:nvSpPr>
        <p:spPr>
          <a:xfrm>
            <a:off x="7196327" y="3904488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Role D text"/>
          <p:cNvSpPr txBox="1"/>
          <p:nvPr/>
        </p:nvSpPr>
        <p:spPr>
          <a:xfrm>
            <a:off x="7818119" y="3785616"/>
            <a:ext cx="3916375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Evaluation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Task file, runner, trace log, KPIs</a:t>
            </a:r>
          </a:p>
        </p:txBody>
      </p:sp>
      <p:sp>
        <p:nvSpPr>
          <p:cNvPr id="22" name="Timeline header"/>
          <p:cNvSpPr txBox="1"/>
          <p:nvPr/>
        </p:nvSpPr>
        <p:spPr>
          <a:xfrm>
            <a:off x="457200" y="468172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48-HOUR TIMELINE  ·  FORMATS AGREED IN HOUR ONE  ·  EVERY MILESTONE ENDS IN A DEMO</a:t>
            </a:r>
          </a:p>
        </p:txBody>
      </p:sp>
      <p:sp>
        <p:nvSpPr>
          <p:cNvPr id="23" name="Milestone M1"/>
          <p:cNvSpPr/>
          <p:nvPr/>
        </p:nvSpPr>
        <p:spPr>
          <a:xfrm>
            <a:off x="475488" y="5047488"/>
            <a:ext cx="2312860" cy="457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M1 · 0–10 h</a:t>
            </a:r>
          </a:p>
        </p:txBody>
      </p:sp>
      <p:sp>
        <p:nvSpPr>
          <p:cNvPr id="24" name="Milestone M1 text"/>
          <p:cNvSpPr txBox="1"/>
          <p:nvPr/>
        </p:nvSpPr>
        <p:spPr>
          <a:xfrm>
            <a:off x="512064" y="5596128"/>
            <a:ext cx="223970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Contract, pages, URL state</a:t>
            </a:r>
          </a:p>
        </p:txBody>
      </p:sp>
      <p:sp>
        <p:nvSpPr>
          <p:cNvPr id="25" name="Milestone M2"/>
          <p:cNvSpPr/>
          <p:nvPr/>
        </p:nvSpPr>
        <p:spPr>
          <a:xfrm>
            <a:off x="2824924" y="5047488"/>
            <a:ext cx="231286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M2 · 10–20 h</a:t>
            </a:r>
          </a:p>
        </p:txBody>
      </p:sp>
      <p:sp>
        <p:nvSpPr>
          <p:cNvPr id="26" name="Milestone M2 text"/>
          <p:cNvSpPr txBox="1"/>
          <p:nvPr/>
        </p:nvSpPr>
        <p:spPr>
          <a:xfrm>
            <a:off x="2861500" y="5596128"/>
            <a:ext cx="223970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Router, validator, set view</a:t>
            </a:r>
          </a:p>
        </p:txBody>
      </p:sp>
      <p:sp>
        <p:nvSpPr>
          <p:cNvPr id="27" name="Milestone M3"/>
          <p:cNvSpPr/>
          <p:nvPr/>
        </p:nvSpPr>
        <p:spPr>
          <a:xfrm>
            <a:off x="5174361" y="5047488"/>
            <a:ext cx="1842973" cy="457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M3 · 20–28 h</a:t>
            </a:r>
          </a:p>
        </p:txBody>
      </p:sp>
      <p:sp>
        <p:nvSpPr>
          <p:cNvPr id="28" name="Milestone M3 text"/>
          <p:cNvSpPr txBox="1"/>
          <p:nvPr/>
        </p:nvSpPr>
        <p:spPr>
          <a:xfrm>
            <a:off x="5210937" y="5596128"/>
            <a:ext cx="1769821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Context, names, ask or abstain</a:t>
            </a:r>
          </a:p>
        </p:txBody>
      </p:sp>
      <p:sp>
        <p:nvSpPr>
          <p:cNvPr id="29" name="Milestone M4"/>
          <p:cNvSpPr/>
          <p:nvPr/>
        </p:nvSpPr>
        <p:spPr>
          <a:xfrm>
            <a:off x="7053910" y="5047488"/>
            <a:ext cx="184297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M4 · 28–36 h</a:t>
            </a:r>
          </a:p>
        </p:txBody>
      </p:sp>
      <p:sp>
        <p:nvSpPr>
          <p:cNvPr id="30" name="Milestone M4 text"/>
          <p:cNvSpPr txBox="1"/>
          <p:nvPr/>
        </p:nvSpPr>
        <p:spPr>
          <a:xfrm>
            <a:off x="7090486" y="5596128"/>
            <a:ext cx="1769821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Comparisons, evidence IDs</a:t>
            </a:r>
          </a:p>
        </p:txBody>
      </p:sp>
      <p:sp>
        <p:nvSpPr>
          <p:cNvPr id="31" name="Milestone M5"/>
          <p:cNvSpPr/>
          <p:nvPr/>
        </p:nvSpPr>
        <p:spPr>
          <a:xfrm>
            <a:off x="8933459" y="5047488"/>
            <a:ext cx="1373085" cy="4572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M5 · 36–42 h</a:t>
            </a:r>
          </a:p>
        </p:txBody>
      </p:sp>
      <p:sp>
        <p:nvSpPr>
          <p:cNvPr id="32" name="Milestone M5 text"/>
          <p:cNvSpPr txBox="1"/>
          <p:nvPr/>
        </p:nvSpPr>
        <p:spPr>
          <a:xfrm>
            <a:off x="8970035" y="5596128"/>
            <a:ext cx="1299933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Runner, KPIs, ablation</a:t>
            </a:r>
          </a:p>
        </p:txBody>
      </p:sp>
      <p:sp>
        <p:nvSpPr>
          <p:cNvPr id="33" name="Milestone M6"/>
          <p:cNvSpPr/>
          <p:nvPr/>
        </p:nvSpPr>
        <p:spPr>
          <a:xfrm>
            <a:off x="10343121" y="5047488"/>
            <a:ext cx="137308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chemeClr val="bg1"/>
                </a:solidFill>
              </a:rPr>
              <a:t>M6 · 42–48 h</a:t>
            </a:r>
          </a:p>
        </p:txBody>
      </p:sp>
      <p:sp>
        <p:nvSpPr>
          <p:cNvPr id="34" name="Milestone M6 text"/>
          <p:cNvSpPr txBox="1"/>
          <p:nvPr/>
        </p:nvSpPr>
        <p:spPr>
          <a:xfrm>
            <a:off x="10379697" y="5596128"/>
            <a:ext cx="1299933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Rehearse, real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Expected Outcomes and Demo Plan</a:t>
            </a:r>
          </a:p>
        </p:txBody>
      </p:sp>
      <p:sp>
        <p:nvSpPr>
          <p:cNvPr id="4" name="Demo header"/>
          <p:cNvSpPr txBox="1"/>
          <p:nvPr/>
        </p:nvSpPr>
        <p:spPr>
          <a:xfrm>
            <a:off x="457200" y="987552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THE DEMO  ·  ONE INVESTIGATION, FOUR TURNS, NO MANUAL CLICKS</a:t>
            </a:r>
          </a:p>
        </p:txBody>
      </p:sp>
      <p:sp>
        <p:nvSpPr>
          <p:cNvPr id="5" name="Turn 1"/>
          <p:cNvSpPr/>
          <p:nvPr/>
        </p:nvSpPr>
        <p:spPr>
          <a:xfrm>
            <a:off x="457200" y="1325880"/>
            <a:ext cx="2780461" cy="1097280"/>
          </a:xfrm>
          <a:prstGeom prst="homePlate">
            <a:avLst>
              <a:gd name="adj" fmla="val 25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urn 1 text"/>
          <p:cNvSpPr txBox="1"/>
          <p:nvPr/>
        </p:nvSpPr>
        <p:spPr>
          <a:xfrm>
            <a:off x="640080" y="1371600"/>
            <a:ext cx="2213533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tx2"/>
                </a:solidFill>
              </a:rPr>
              <a:t>“Late deliveries in May”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Opens, filters checked</a:t>
            </a:r>
          </a:p>
        </p:txBody>
      </p:sp>
      <p:sp>
        <p:nvSpPr>
          <p:cNvPr id="7" name="Turn 2"/>
          <p:cNvSpPr/>
          <p:nvPr/>
        </p:nvSpPr>
        <p:spPr>
          <a:xfrm>
            <a:off x="3310813" y="1325880"/>
            <a:ext cx="2780461" cy="1097280"/>
          </a:xfrm>
          <a:prstGeom prst="homePlate">
            <a:avLst>
              <a:gd name="adj" fmla="val 25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urn 2 text"/>
          <p:cNvSpPr txBox="1"/>
          <p:nvPr/>
        </p:nvSpPr>
        <p:spPr>
          <a:xfrm>
            <a:off x="3493693" y="1371600"/>
            <a:ext cx="2213533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tx2"/>
                </a:solidFill>
              </a:rPr>
              <a:t>“Why up vs April?”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Ranked contributors</a:t>
            </a:r>
          </a:p>
        </p:txBody>
      </p:sp>
      <p:sp>
        <p:nvSpPr>
          <p:cNvPr id="9" name="Turn 3"/>
          <p:cNvSpPr/>
          <p:nvPr/>
        </p:nvSpPr>
        <p:spPr>
          <a:xfrm>
            <a:off x="6164427" y="1325880"/>
            <a:ext cx="2780461" cy="1097280"/>
          </a:xfrm>
          <a:prstGeom prst="homePlate">
            <a:avLst>
              <a:gd name="adj" fmla="val 25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urn 3 text"/>
          <p:cNvSpPr txBox="1"/>
          <p:nvPr/>
        </p:nvSpPr>
        <p:spPr>
          <a:xfrm>
            <a:off x="6347307" y="1371600"/>
            <a:ext cx="2213533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tx2"/>
                </a:solidFill>
              </a:rPr>
              <a:t>“Top item’s supplier”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Uses the current selection</a:t>
            </a:r>
          </a:p>
        </p:txBody>
      </p:sp>
      <p:sp>
        <p:nvSpPr>
          <p:cNvPr id="11" name="Turn 4"/>
          <p:cNvSpPr/>
          <p:nvPr/>
        </p:nvSpPr>
        <p:spPr>
          <a:xfrm>
            <a:off x="9018041" y="1325880"/>
            <a:ext cx="2716453" cy="109728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urn 4 text"/>
          <p:cNvSpPr txBox="1"/>
          <p:nvPr/>
        </p:nvSpPr>
        <p:spPr>
          <a:xfrm>
            <a:off x="9200921" y="1371600"/>
            <a:ext cx="2149525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tx2"/>
                </a:solidFill>
              </a:rPr>
              <a:t>“Open a case for it”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Confirms the exact action</a:t>
            </a:r>
          </a:p>
        </p:txBody>
      </p:sp>
      <p:sp>
        <p:nvSpPr>
          <p:cNvPr id="13" name="Deliverables header"/>
          <p:cNvSpPr txBox="1"/>
          <p:nvPr/>
        </p:nvSpPr>
        <p:spPr>
          <a:xfrm>
            <a:off x="457200" y="260604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HACKATHON DELIVERABLES</a:t>
            </a:r>
          </a:p>
        </p:txBody>
      </p:sp>
      <p:sp>
        <p:nvSpPr>
          <p:cNvPr id="14" name="Deliverables list"/>
          <p:cNvSpPr txBox="1"/>
          <p:nvPr/>
        </p:nvSpPr>
        <p:spPr>
          <a:xfrm>
            <a:off x="457200" y="29260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•  </a:t>
            </a:r>
            <a:r>
              <a:rPr sz="1600" b="0">
                <a:solidFill>
                  <a:schemeClr val="tx1"/>
                </a:solidFill>
              </a:rPr>
              <a:t>A working app rendered from one contract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•  </a:t>
            </a:r>
            <a:r>
              <a:rPr sz="1600" b="0">
                <a:solidFill>
                  <a:schemeClr val="tx1"/>
                </a:solidFill>
              </a:rPr>
              <a:t>The companion: navigates, filters, compares, cites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•  </a:t>
            </a:r>
            <a:r>
              <a:rPr sz="1600" b="0">
                <a:solidFill>
                  <a:schemeClr val="tx1"/>
                </a:solidFill>
              </a:rPr>
              <a:t>Task file and runner: one command, every KPI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•  </a:t>
            </a:r>
            <a:r>
              <a:rPr sz="1600" b="0">
                <a:solidFill>
                  <a:schemeClr val="tx1"/>
                </a:solidFill>
              </a:rPr>
              <a:t>Evidence pack: trace log, validator on/off run</a:t>
            </a:r>
          </a:p>
        </p:txBody>
      </p:sp>
      <p:cxnSp>
        <p:nvCxnSpPr>
          <p:cNvPr id="15" name="Scope divider"/>
          <p:cNvCxnSpPr/>
          <p:nvPr/>
        </p:nvCxnSpPr>
        <p:spPr>
          <a:xfrm>
            <a:off x="6172200" y="2670048"/>
            <a:ext cx="0" cy="1399032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uture header"/>
          <p:cNvSpPr txBox="1"/>
          <p:nvPr/>
        </p:nvSpPr>
        <p:spPr>
          <a:xfrm>
            <a:off x="6400800" y="2606040"/>
            <a:ext cx="53336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FUTURE ENHANCEMENTS</a:t>
            </a:r>
          </a:p>
        </p:txBody>
      </p:sp>
      <p:sp>
        <p:nvSpPr>
          <p:cNvPr id="17" name="Future list"/>
          <p:cNvSpPr txBox="1"/>
          <p:nvPr/>
        </p:nvSpPr>
        <p:spPr>
          <a:xfrm>
            <a:off x="6400800" y="2926080"/>
            <a:ext cx="533369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2"/>
                </a:solidFill>
              </a:rPr>
              <a:t>→  </a:t>
            </a:r>
            <a:r>
              <a:rPr sz="1600" b="0">
                <a:solidFill>
                  <a:schemeClr val="accent3"/>
                </a:solidFill>
              </a:rPr>
              <a:t>Any no-code platform, from its metadata export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2"/>
                </a:solidFill>
              </a:rPr>
              <a:t>→  </a:t>
            </a:r>
            <a:r>
              <a:rPr sz="1600" b="0">
                <a:solidFill>
                  <a:schemeClr val="accent3"/>
                </a:solidFill>
              </a:rPr>
              <a:t>Search across hundreds of pages and widgets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chemeClr val="accent2"/>
                </a:solidFill>
              </a:rPr>
              <a:t>→  </a:t>
            </a:r>
            <a:r>
              <a:rPr sz="1600" b="0">
                <a:solidFill>
                  <a:schemeClr val="accent3"/>
                </a:solidFill>
              </a:rPr>
              <a:t>More write actions, each with approval</a:t>
            </a:r>
          </a:p>
        </p:txBody>
      </p:sp>
      <p:sp>
        <p:nvSpPr>
          <p:cNvPr id="18" name="Scorecard"/>
          <p:cNvSpPr/>
          <p:nvPr/>
        </p:nvSpPr>
        <p:spPr>
          <a:xfrm>
            <a:off x="457200" y="4224528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" rIns="182880" bIns="27432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accent2"/>
                </a:solidFill>
              </a:rPr>
              <a:t>SUCCESS =  </a:t>
            </a:r>
            <a:r>
              <a:rPr sz="1600" b="1">
                <a:solidFill>
                  <a:schemeClr val="bg1"/>
                </a:solidFill>
              </a:rPr>
              <a:t>right page  ·  right filters  ·  correct numbers  ·  every number traced  ·  no made-up actions</a:t>
            </a:r>
          </a:p>
        </p:txBody>
      </p:sp>
      <p:sp>
        <p:nvSpPr>
          <p:cNvPr id="19" name="Needs header"/>
          <p:cNvSpPr txBox="1"/>
          <p:nvPr/>
        </p:nvSpPr>
        <p:spPr>
          <a:xfrm>
            <a:off x="457200" y="49377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chemeClr val="tx2"/>
                </a:solidFill>
              </a:rPr>
              <a:t>WHAT WE NEED  ·  AND THE RISKS</a:t>
            </a:r>
          </a:p>
        </p:txBody>
      </p:sp>
      <p:sp>
        <p:nvSpPr>
          <p:cNvPr id="20" name="Need 1"/>
          <p:cNvSpPr txBox="1"/>
          <p:nvPr/>
        </p:nvSpPr>
        <p:spPr>
          <a:xfrm>
            <a:off x="457200" y="5257800"/>
            <a:ext cx="2647873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accent1"/>
                </a:solidFill>
              </a:rPr>
              <a:t>Datasets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Wide World Importers sample (free); Mind2Web train split for a retrieval test</a:t>
            </a:r>
          </a:p>
        </p:txBody>
      </p:sp>
      <p:sp>
        <p:nvSpPr>
          <p:cNvPr id="21" name="Need 2"/>
          <p:cNvSpPr txBox="1"/>
          <p:nvPr/>
        </p:nvSpPr>
        <p:spPr>
          <a:xfrm>
            <a:off x="3333673" y="5257800"/>
            <a:ext cx="2647873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accent1"/>
                </a:solidFill>
              </a:rPr>
              <a:t>Equipment, paid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Team laptops; a hosted LLM API is the only paid service</a:t>
            </a:r>
          </a:p>
        </p:txBody>
      </p:sp>
      <p:sp>
        <p:nvSpPr>
          <p:cNvPr id="22" name="Need 3"/>
          <p:cNvSpPr txBox="1"/>
          <p:nvPr/>
        </p:nvSpPr>
        <p:spPr>
          <a:xfrm>
            <a:off x="6210147" y="5257800"/>
            <a:ext cx="2647873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accent1"/>
                </a:solidFill>
              </a:rPr>
              <a:t>External access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Model API only; EntWorld tasks if its licence allows</a:t>
            </a:r>
          </a:p>
        </p:txBody>
      </p:sp>
      <p:sp>
        <p:nvSpPr>
          <p:cNvPr id="23" name="Need 4"/>
          <p:cNvSpPr txBox="1"/>
          <p:nvPr/>
        </p:nvSpPr>
        <p:spPr>
          <a:xfrm>
            <a:off x="9086621" y="5257800"/>
            <a:ext cx="2647873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00" b="1">
                <a:solidFill>
                  <a:schemeClr val="accent5"/>
                </a:solidFill>
              </a:rPr>
              <a:t>Risks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</a:rPr>
              <a:t>No URL state means Playwright; outside testers counter our phrasing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iens">
  <a:themeElements>
    <a:clrScheme name="Sapiens">
      <a:dk1>
        <a:srgbClr val="1D2B33"/>
      </a:dk1>
      <a:lt1>
        <a:srgbClr val="FFFFFF"/>
      </a:lt1>
      <a:dk2>
        <a:srgbClr val="0E4D5A"/>
      </a:dk2>
      <a:lt2>
        <a:srgbClr val="EDF4F5"/>
      </a:lt2>
      <a:accent1>
        <a:srgbClr val="1A7F8E"/>
      </a:accent1>
      <a:accent2>
        <a:srgbClr val="E39B2D"/>
      </a:accent2>
      <a:accent3>
        <a:srgbClr val="5E6B73"/>
      </a:accent3>
      <a:accent4>
        <a:srgbClr val="C5D8DB"/>
      </a:accent4>
      <a:accent5>
        <a:srgbClr val="B5532F"/>
      </a:accent5>
      <a:accent6>
        <a:srgbClr val="8FB8BF"/>
      </a:accent6>
      <a:hlink>
        <a:srgbClr val="1A7F8E"/>
      </a:hlink>
      <a:folHlink>
        <a:srgbClr val="5E6B7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AI Agent for Enterprise Applications</dc:title>
  <dc:subject/>
  <dc:creator>Team Sapiens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