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9" r:id="rId20"/>
    <p:sldId id="259" r:id="rId5"/>
    <p:sldId id="260" r:id="rId6"/>
    <p:sldId id="261" r:id="rId7"/>
    <p:sldId id="274" r:id="rId25"/>
    <p:sldId id="275" r:id="rId26"/>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20</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20</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20</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20</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20</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team targets for the final prototype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Complete unseen</a:t>
                      </a:r>
                    </a:p>
                    <a:p>
                      <a:pPr>
                        <a:lnSpc>
                          <a:spcPct val="108000"/>
                        </a:lnSpc>
                        <a:buNone/>
                      </a:pPr>
                      <a:r>
                        <a:rPr sz="1725" b="0">
                          <a:solidFill>
                            <a:srgbClr val="17324A"/>
                          </a:solidFill>
                          <a:latin typeface="Arial"/>
                          <a:ea typeface="Arial"/>
                          <a:cs typeface="Arial"/>
                        </a:rPr>
                        <a:t>business tasks accurately</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WWI tasks satisfy</a:t>
                      </a:r>
                    </a:p>
                    <a:p>
                      <a:pPr>
                        <a:lnSpc>
                          <a:spcPct val="108000"/>
                        </a:lnSpc>
                        <a:buNone/>
                      </a:pPr>
                      <a:r>
                        <a:rPr sz="1725" b="0">
                          <a:solidFill>
                            <a:srgbClr val="17324A"/>
                          </a:solidFill>
                          <a:latin typeface="Arial"/>
                          <a:ea typeface="Arial"/>
                          <a:cs typeface="Arial"/>
                        </a:rPr>
                        <a:t>all required outcomes.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Provide faithful</a:t>
                      </a:r>
                    </a:p>
                    <a:p>
                      <a:pPr>
                        <a:lnSpc>
                          <a:spcPct val="108000"/>
                        </a:lnSpc>
                        <a:buNone/>
                      </a:pPr>
                      <a:r>
                        <a:rPr sz="1725" b="0">
                          <a:solidFill>
                            <a:srgbClr val="17324A"/>
                          </a:solidFill>
                          <a:latin typeface="Arial"/>
                          <a:ea typeface="Arial"/>
                          <a:cs typeface="Arial"/>
                        </a:rPr>
                        <a:t>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Numerical claims in accepted answers match</a:t>
                      </a:r>
                    </a:p>
                    <a:p>
                      <a:pPr>
                        <a:lnSpc>
                          <a:spcPct val="108000"/>
                        </a:lnSpc>
                        <a:buNone/>
                      </a:pPr>
                      <a:r>
                        <a:rPr sz="1725" b="0">
                          <a:solidFill>
                            <a:srgbClr val="17324A"/>
                          </a:solidFill>
                          <a:latin typeface="Arial"/>
                          <a:ea typeface="Arial"/>
                          <a:cs typeface="Arial"/>
                        </a:rPr>
                        <a:t>the correct value, unit, scope and source.</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Preserve context and</a:t>
                      </a:r>
                    </a:p>
                    <a:p>
                      <a:pPr>
                        <a:lnSpc>
                          <a:spcPct val="108000"/>
                        </a:lnSpc>
                        <a:buNone/>
                      </a:pPr>
                      <a:r>
                        <a:rPr sz="1725" b="0">
                          <a:solidFill>
                            <a:srgbClr val="17324A"/>
                          </a:solidFill>
                          <a:latin typeface="Arial"/>
                          <a:ea typeface="Arial"/>
                          <a:cs typeface="Arial"/>
                        </a:rPr>
                        <a:t>reach the intended view</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Completed follow-up, reload and navigation</a:t>
                      </a:r>
                    </a:p>
                    <a:p>
                      <a:pPr>
                        <a:lnSpc>
                          <a:spcPct val="108000"/>
                        </a:lnSpc>
                        <a:buNone/>
                      </a:pPr>
                      <a:r>
                        <a:rPr sz="1725" b="0">
                          <a:solidFill>
                            <a:srgbClr val="17324A"/>
                          </a:solidFill>
                          <a:latin typeface="Arial"/>
                          <a:ea typeface="Arial"/>
                          <a:cs typeface="Arial"/>
                        </a:rPr>
                        <a:t>cases retain scope and visible destination.</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Avoid false claims</a:t>
                      </a:r>
                    </a:p>
                    <a:p>
                      <a:pPr>
                        <a:lnSpc>
                          <a:spcPct val="108000"/>
                        </a:lnSpc>
                        <a:buNone/>
                      </a:pPr>
                      <a:r>
                        <a:rPr sz="1725" b="0">
                          <a:solidFill>
                            <a:srgbClr val="17324A"/>
                          </a:solidFill>
                          <a:latin typeface="Arial"/>
                          <a:ea typeface="Arial"/>
                          <a:cs typeface="Arial"/>
                        </a:rPr>
                        <a:t>of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and deliberately failed</a:t>
                      </a:r>
                    </a:p>
                    <a:p>
                      <a:pPr>
                        <a:lnSpc>
                          <a:spcPct val="108000"/>
                        </a:lnSpc>
                        <a:buNone/>
                      </a:pPr>
                      <a:r>
                        <a:rPr sz="1725" b="0">
                          <a:solidFill>
                            <a:srgbClr val="17324A"/>
                          </a:solidFill>
                          <a:latin typeface="Arial"/>
                          <a:ea typeface="Arial"/>
                          <a:cs typeface="Arial"/>
                        </a:rPr>
                        <a:t>cases never count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20</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api-label"/>
          <p:cNvSpPr/>
          <p:nvPr/>
        </p:nvSpPr>
        <p:spPr>
          <a:xfrm>
            <a:off x="640080" y="1280160"/>
            <a:ext cx="2148840" cy="1371600"/>
          </a:xfrm>
          <a:prstGeom prst="rect">
            <a:avLst/>
          </a:prstGeom>
          <a:solidFill>
            <a:srgbClr val="EAF2F1"/>
          </a:solidFill>
          <a:ln w="19050">
            <a:solidFill>
              <a:srgbClr val="006D77"/>
            </a:solidFill>
          </a:ln>
        </p:spPr>
      </p:sp>
      <p:sp>
        <p:nvSpPr>
          <p:cNvPr id="80" name="api-label-a"/>
          <p:cNvSpPr/>
          <p:nvPr/>
        </p:nvSpPr>
        <p:spPr>
          <a:xfrm>
            <a:off x="777240" y="138988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1</a:t>
            </a:r>
          </a:p>
        </p:txBody>
      </p:sp>
      <p:sp>
        <p:nvSpPr>
          <p:cNvPr id="81" name="api-label-b"/>
          <p:cNvSpPr/>
          <p:nvPr/>
        </p:nvSpPr>
        <p:spPr>
          <a:xfrm>
            <a:off x="777240" y="1691639"/>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API-based agent</a:t>
            </a:r>
          </a:p>
        </p:txBody>
      </p:sp>
      <p:sp>
        <p:nvSpPr>
          <p:cNvPr id="82" name="api-label-c"/>
          <p:cNvSpPr/>
          <p:nvPr/>
        </p:nvSpPr>
        <p:spPr>
          <a:xfrm>
            <a:off x="777240" y="230428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built first, measured</a:t>
            </a:r>
          </a:p>
        </p:txBody>
      </p:sp>
      <p:sp>
        <p:nvSpPr>
          <p:cNvPr id="83" name="api-user"/>
          <p:cNvSpPr/>
          <p:nvPr/>
        </p:nvSpPr>
        <p:spPr>
          <a:xfrm>
            <a:off x="3063240" y="1371600"/>
            <a:ext cx="1097280" cy="731520"/>
          </a:xfrm>
          <a:prstGeom prst="rect">
            <a:avLst/>
          </a:prstGeom>
          <a:solidFill>
            <a:srgbClr val="FFFFFF"/>
          </a:solidFill>
          <a:ln w="19050">
            <a:solidFill>
              <a:srgbClr val="006D77"/>
            </a:solidFill>
          </a:ln>
        </p:spPr>
      </p:sp>
      <p:sp>
        <p:nvSpPr>
          <p:cNvPr id="84" name="api-user-t"/>
          <p:cNvSpPr/>
          <p:nvPr/>
        </p:nvSpPr>
        <p:spPr>
          <a:xfrm>
            <a:off x="3191256" y="158991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85" name="api-a1"/>
          <p:cNvCxnSpPr/>
          <p:nvPr/>
        </p:nvCxnSpPr>
        <p:spPr>
          <a:xfrm>
            <a:off x="4160520" y="1737360"/>
            <a:ext cx="365760" cy="0"/>
          </a:xfrm>
          <a:prstGeom prst="straightConnector1">
            <a:avLst/>
          </a:prstGeom>
          <a:ln w="19050">
            <a:solidFill>
              <a:srgbClr val="006D77"/>
            </a:solidFill>
            <a:tailEnd type="triangle" w="med" len="med"/>
          </a:ln>
        </p:spPr>
      </p:cxnSp>
      <p:sp>
        <p:nvSpPr>
          <p:cNvPr id="86" name="api-agent"/>
          <p:cNvSpPr/>
          <p:nvPr/>
        </p:nvSpPr>
        <p:spPr>
          <a:xfrm>
            <a:off x="4526280" y="1325880"/>
            <a:ext cx="2743200" cy="914400"/>
          </a:xfrm>
          <a:prstGeom prst="rect">
            <a:avLst/>
          </a:prstGeom>
          <a:solidFill>
            <a:srgbClr val="EAF2F1"/>
          </a:solidFill>
          <a:ln w="19050">
            <a:solidFill>
              <a:srgbClr val="006D77"/>
            </a:solidFill>
          </a:ln>
        </p:spPr>
      </p:sp>
      <p:sp>
        <p:nvSpPr>
          <p:cNvPr id="87" name="api-agent-t"/>
          <p:cNvSpPr/>
          <p:nvPr/>
        </p:nvSpPr>
        <p:spPr>
          <a:xfrm>
            <a:off x="4654296" y="141732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88" name="api-agent-s"/>
          <p:cNvSpPr/>
          <p:nvPr/>
        </p:nvSpPr>
        <p:spPr>
          <a:xfrm>
            <a:off x="4654296" y="174879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Ledger, tools, harness</a:t>
            </a:r>
          </a:p>
        </p:txBody>
      </p:sp>
      <p:cxnSp>
        <p:nvCxnSpPr>
          <p:cNvPr id="89" name="api-a2"/>
          <p:cNvCxnSpPr/>
          <p:nvPr/>
        </p:nvCxnSpPr>
        <p:spPr>
          <a:xfrm>
            <a:off x="7269480" y="1783080"/>
            <a:ext cx="1280159" cy="0"/>
          </a:xfrm>
          <a:prstGeom prst="straightConnector1">
            <a:avLst/>
          </a:prstGeom>
          <a:ln w="19050">
            <a:solidFill>
              <a:srgbClr val="006D77"/>
            </a:solidFill>
            <a:tailEnd type="triangle" w="med" len="med"/>
          </a:ln>
        </p:spPr>
      </p:cxnSp>
      <p:sp>
        <p:nvSpPr>
          <p:cNvPr id="90" name="api-chan"/>
          <p:cNvSpPr/>
          <p:nvPr/>
        </p:nvSpPr>
        <p:spPr>
          <a:xfrm>
            <a:off x="7269480" y="1463039"/>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API calls</a:t>
            </a:r>
          </a:p>
        </p:txBody>
      </p:sp>
      <p:sp>
        <p:nvSpPr>
          <p:cNvPr id="91" name="api-target"/>
          <p:cNvSpPr/>
          <p:nvPr/>
        </p:nvSpPr>
        <p:spPr>
          <a:xfrm>
            <a:off x="8549640" y="1325880"/>
            <a:ext cx="3063240" cy="914400"/>
          </a:xfrm>
          <a:prstGeom prst="rect">
            <a:avLst/>
          </a:prstGeom>
          <a:solidFill>
            <a:srgbClr val="FFFFFF"/>
          </a:solidFill>
          <a:ln w="19050">
            <a:solidFill>
              <a:srgbClr val="006D77"/>
            </a:solidFill>
          </a:ln>
        </p:spPr>
      </p:sp>
      <p:sp>
        <p:nvSpPr>
          <p:cNvPr id="92" name="api-target-t"/>
          <p:cNvSpPr/>
          <p:nvPr/>
        </p:nvSpPr>
        <p:spPr>
          <a:xfrm>
            <a:off x="8677656" y="141732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Business API</a:t>
            </a:r>
          </a:p>
        </p:txBody>
      </p:sp>
      <p:sp>
        <p:nvSpPr>
          <p:cNvPr id="93" name="api-target-s"/>
          <p:cNvSpPr/>
          <p:nvPr/>
        </p:nvSpPr>
        <p:spPr>
          <a:xfrm>
            <a:off x="8677656" y="174879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data, ERPNext adapter</a:t>
            </a:r>
          </a:p>
        </p:txBody>
      </p:sp>
      <p:sp>
        <p:nvSpPr>
          <p:cNvPr id="94" name="api-ret-v1"/>
          <p:cNvSpPr/>
          <p:nvPr/>
        </p:nvSpPr>
        <p:spPr>
          <a:xfrm>
            <a:off x="10058400" y="2240280"/>
            <a:ext cx="0" cy="228600"/>
          </a:xfrm>
          <a:prstGeom prst="rect">
            <a:avLst/>
          </a:prstGeom>
          <a:noFill/>
          <a:ln w="19050">
            <a:solidFill>
              <a:srgbClr val="006D77"/>
            </a:solidFill>
          </a:ln>
        </p:spPr>
      </p:sp>
      <p:cxnSp>
        <p:nvCxnSpPr>
          <p:cNvPr id="95" name="api-ret-h"/>
          <p:cNvCxnSpPr/>
          <p:nvPr/>
        </p:nvCxnSpPr>
        <p:spPr>
          <a:xfrm flipH="1">
            <a:off x="3611880" y="2468880"/>
            <a:ext cx="6446520" cy="0"/>
          </a:xfrm>
          <a:prstGeom prst="straightConnector1">
            <a:avLst/>
          </a:prstGeom>
          <a:ln w="19050">
            <a:solidFill>
              <a:srgbClr val="006D77"/>
            </a:solidFill>
            <a:tailEnd type="triangle" w="med" len="med"/>
          </a:ln>
        </p:spPr>
      </p:cxnSp>
      <p:cxnSp>
        <p:nvCxnSpPr>
          <p:cNvPr id="96" name="api-ret-v2"/>
          <p:cNvCxnSpPr/>
          <p:nvPr/>
        </p:nvCxnSpPr>
        <p:spPr>
          <a:xfrm flipV="1">
            <a:off x="3611880" y="2121408"/>
            <a:ext cx="0" cy="347472"/>
          </a:xfrm>
          <a:prstGeom prst="straightConnector1">
            <a:avLst/>
          </a:prstGeom>
          <a:ln w="19050">
            <a:solidFill>
              <a:srgbClr val="006D77"/>
            </a:solidFill>
            <a:tailEnd type="triangle" w="med" len="med"/>
          </a:ln>
        </p:spPr>
      </p:cxnSp>
      <p:sp>
        <p:nvSpPr>
          <p:cNvPr id="97" name="vacp-label"/>
          <p:cNvSpPr/>
          <p:nvPr/>
        </p:nvSpPr>
        <p:spPr>
          <a:xfrm>
            <a:off x="640080" y="2788920"/>
            <a:ext cx="2148840" cy="1371600"/>
          </a:xfrm>
          <a:prstGeom prst="rect">
            <a:avLst/>
          </a:prstGeom>
          <a:solidFill>
            <a:srgbClr val="F1F6F6"/>
          </a:solidFill>
          <a:ln w="19050">
            <a:solidFill>
              <a:srgbClr val="006D77"/>
            </a:solidFill>
          </a:ln>
        </p:spPr>
      </p:sp>
      <p:sp>
        <p:nvSpPr>
          <p:cNvPr id="98" name="vacp-label-a"/>
          <p:cNvSpPr/>
          <p:nvPr/>
        </p:nvSpPr>
        <p:spPr>
          <a:xfrm>
            <a:off x="777240" y="289864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2</a:t>
            </a:r>
          </a:p>
        </p:txBody>
      </p:sp>
      <p:sp>
        <p:nvSpPr>
          <p:cNvPr id="99" name="vacp-label-b"/>
          <p:cNvSpPr/>
          <p:nvPr/>
        </p:nvSpPr>
        <p:spPr>
          <a:xfrm>
            <a:off x="777240" y="320040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VACP bridge</a:t>
            </a:r>
          </a:p>
        </p:txBody>
      </p:sp>
      <p:sp>
        <p:nvSpPr>
          <p:cNvPr id="100" name="vacp-label-c"/>
          <p:cNvSpPr/>
          <p:nvPr/>
        </p:nvSpPr>
        <p:spPr>
          <a:xfrm>
            <a:off x="777240" y="381304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verified separately</a:t>
            </a:r>
          </a:p>
        </p:txBody>
      </p:sp>
      <p:sp>
        <p:nvSpPr>
          <p:cNvPr id="101" name="vacp-user"/>
          <p:cNvSpPr/>
          <p:nvPr/>
        </p:nvSpPr>
        <p:spPr>
          <a:xfrm>
            <a:off x="3063240" y="2880360"/>
            <a:ext cx="1097280" cy="731520"/>
          </a:xfrm>
          <a:prstGeom prst="rect">
            <a:avLst/>
          </a:prstGeom>
          <a:solidFill>
            <a:srgbClr val="FFFFFF"/>
          </a:solidFill>
          <a:ln w="19050">
            <a:solidFill>
              <a:srgbClr val="006D77"/>
            </a:solidFill>
          </a:ln>
        </p:spPr>
      </p:sp>
      <p:sp>
        <p:nvSpPr>
          <p:cNvPr id="102" name="vacp-user-t"/>
          <p:cNvSpPr/>
          <p:nvPr/>
        </p:nvSpPr>
        <p:spPr>
          <a:xfrm>
            <a:off x="3191256" y="309867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03" name="vacp-a1"/>
          <p:cNvCxnSpPr/>
          <p:nvPr/>
        </p:nvCxnSpPr>
        <p:spPr>
          <a:xfrm>
            <a:off x="4160520" y="3246120"/>
            <a:ext cx="365760" cy="0"/>
          </a:xfrm>
          <a:prstGeom prst="straightConnector1">
            <a:avLst/>
          </a:prstGeom>
          <a:ln w="19050">
            <a:solidFill>
              <a:srgbClr val="006D77"/>
            </a:solidFill>
            <a:tailEnd type="triangle" w="med" len="med"/>
          </a:ln>
        </p:spPr>
      </p:cxnSp>
      <p:sp>
        <p:nvSpPr>
          <p:cNvPr id="104" name="vacp-agent"/>
          <p:cNvSpPr/>
          <p:nvPr/>
        </p:nvSpPr>
        <p:spPr>
          <a:xfrm>
            <a:off x="4526280" y="2834639"/>
            <a:ext cx="2743200" cy="914400"/>
          </a:xfrm>
          <a:prstGeom prst="rect">
            <a:avLst/>
          </a:prstGeom>
          <a:solidFill>
            <a:srgbClr val="F1F6F6"/>
          </a:solidFill>
          <a:ln w="19050">
            <a:solidFill>
              <a:srgbClr val="006D77"/>
            </a:solidFill>
          </a:ln>
        </p:spPr>
      </p:sp>
      <p:sp>
        <p:nvSpPr>
          <p:cNvPr id="105" name="vacp-agent-t"/>
          <p:cNvSpPr/>
          <p:nvPr/>
        </p:nvSpPr>
        <p:spPr>
          <a:xfrm>
            <a:off x="4654296" y="2926079"/>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106" name="vacp-agent-s"/>
          <p:cNvSpPr/>
          <p:nvPr/>
        </p:nvSpPr>
        <p:spPr>
          <a:xfrm>
            <a:off x="4654296" y="325755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Reads state, acts, re-reads</a:t>
            </a:r>
          </a:p>
        </p:txBody>
      </p:sp>
      <p:cxnSp>
        <p:nvCxnSpPr>
          <p:cNvPr id="107" name="vacp-a2"/>
          <p:cNvCxnSpPr/>
          <p:nvPr/>
        </p:nvCxnSpPr>
        <p:spPr>
          <a:xfrm>
            <a:off x="7269480" y="3291839"/>
            <a:ext cx="1280159" cy="0"/>
          </a:xfrm>
          <a:prstGeom prst="straightConnector1">
            <a:avLst/>
          </a:prstGeom>
          <a:ln w="19050">
            <a:solidFill>
              <a:srgbClr val="006D77"/>
            </a:solidFill>
            <a:tailEnd type="triangle" w="med" len="med"/>
          </a:ln>
        </p:spPr>
      </p:cxnSp>
      <p:sp>
        <p:nvSpPr>
          <p:cNvPr id="108" name="vacp-chan"/>
          <p:cNvSpPr/>
          <p:nvPr/>
        </p:nvSpPr>
        <p:spPr>
          <a:xfrm>
            <a:off x="7269480" y="297180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Declared actions</a:t>
            </a:r>
          </a:p>
        </p:txBody>
      </p:sp>
      <p:sp>
        <p:nvSpPr>
          <p:cNvPr id="109" name="vacp-target"/>
          <p:cNvSpPr/>
          <p:nvPr/>
        </p:nvSpPr>
        <p:spPr>
          <a:xfrm>
            <a:off x="8549640" y="2834639"/>
            <a:ext cx="3063240" cy="914400"/>
          </a:xfrm>
          <a:prstGeom prst="rect">
            <a:avLst/>
          </a:prstGeom>
          <a:solidFill>
            <a:srgbClr val="FFFFFF"/>
          </a:solidFill>
          <a:ln w="19050">
            <a:solidFill>
              <a:srgbClr val="006D77"/>
            </a:solidFill>
          </a:ln>
        </p:spPr>
      </p:sp>
      <p:sp>
        <p:nvSpPr>
          <p:cNvPr id="110" name="vacp-target-t"/>
          <p:cNvSpPr/>
          <p:nvPr/>
        </p:nvSpPr>
        <p:spPr>
          <a:xfrm>
            <a:off x="8677656" y="2926079"/>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ERPNext app</a:t>
            </a:r>
          </a:p>
        </p:txBody>
      </p:sp>
      <p:sp>
        <p:nvSpPr>
          <p:cNvPr id="111" name="vacp-target-s"/>
          <p:cNvSpPr/>
          <p:nvPr/>
        </p:nvSpPr>
        <p:spPr>
          <a:xfrm>
            <a:off x="8677656" y="325755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View, filters, records</a:t>
            </a:r>
          </a:p>
        </p:txBody>
      </p:sp>
      <p:sp>
        <p:nvSpPr>
          <p:cNvPr id="112" name="vacp-ret-v1"/>
          <p:cNvSpPr/>
          <p:nvPr/>
        </p:nvSpPr>
        <p:spPr>
          <a:xfrm>
            <a:off x="10058400" y="3749039"/>
            <a:ext cx="0" cy="228600"/>
          </a:xfrm>
          <a:prstGeom prst="rect">
            <a:avLst/>
          </a:prstGeom>
          <a:noFill/>
          <a:ln w="19050">
            <a:solidFill>
              <a:srgbClr val="006D77"/>
            </a:solidFill>
          </a:ln>
        </p:spPr>
      </p:sp>
      <p:cxnSp>
        <p:nvCxnSpPr>
          <p:cNvPr id="113" name="vacp-ret-h"/>
          <p:cNvCxnSpPr/>
          <p:nvPr/>
        </p:nvCxnSpPr>
        <p:spPr>
          <a:xfrm flipH="1">
            <a:off x="3611880" y="3977639"/>
            <a:ext cx="6446520" cy="0"/>
          </a:xfrm>
          <a:prstGeom prst="straightConnector1">
            <a:avLst/>
          </a:prstGeom>
          <a:ln w="19050">
            <a:solidFill>
              <a:srgbClr val="006D77"/>
            </a:solidFill>
            <a:tailEnd type="triangle" w="med" len="med"/>
          </a:ln>
        </p:spPr>
      </p:cxnSp>
      <p:cxnSp>
        <p:nvCxnSpPr>
          <p:cNvPr id="114" name="vacp-ret-v2"/>
          <p:cNvCxnSpPr/>
          <p:nvPr/>
        </p:nvCxnSpPr>
        <p:spPr>
          <a:xfrm flipV="1">
            <a:off x="3611880" y="3630168"/>
            <a:ext cx="0" cy="347471"/>
          </a:xfrm>
          <a:prstGeom prst="straightConnector1">
            <a:avLst/>
          </a:prstGeom>
          <a:ln w="19050">
            <a:solidFill>
              <a:srgbClr val="006D77"/>
            </a:solidFill>
            <a:tailEnd type="triangle" w="med" len="med"/>
          </a:ln>
        </p:spPr>
      </p:cxnSp>
      <p:sp>
        <p:nvSpPr>
          <p:cNvPr id="115" name="uni-label"/>
          <p:cNvSpPr/>
          <p:nvPr/>
        </p:nvSpPr>
        <p:spPr>
          <a:xfrm>
            <a:off x="640080" y="4297680"/>
            <a:ext cx="2148840" cy="1371600"/>
          </a:xfrm>
          <a:prstGeom prst="rect">
            <a:avLst/>
          </a:prstGeom>
          <a:solidFill>
            <a:srgbClr val="FFFFFF"/>
          </a:solidFill>
          <a:ln w="19050">
            <a:solidFill>
              <a:srgbClr val="006D77"/>
            </a:solidFill>
            <a:prstDash val="dash"/>
          </a:ln>
        </p:spPr>
      </p:sp>
      <p:sp>
        <p:nvSpPr>
          <p:cNvPr id="116" name="uni-label-a"/>
          <p:cNvSpPr/>
          <p:nvPr/>
        </p:nvSpPr>
        <p:spPr>
          <a:xfrm>
            <a:off x="777240" y="440740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Proposed</a:t>
            </a:r>
          </a:p>
        </p:txBody>
      </p:sp>
      <p:sp>
        <p:nvSpPr>
          <p:cNvPr id="117" name="uni-label-b"/>
          <p:cNvSpPr/>
          <p:nvPr/>
        </p:nvSpPr>
        <p:spPr>
          <a:xfrm>
            <a:off x="777240" y="470916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Unified agent</a:t>
            </a:r>
          </a:p>
        </p:txBody>
      </p:sp>
      <p:sp>
        <p:nvSpPr>
          <p:cNvPr id="118" name="uni-label-c"/>
          <p:cNvSpPr/>
          <p:nvPr/>
        </p:nvSpPr>
        <p:spPr>
          <a:xfrm>
            <a:off x="777240" y="532180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join pending</a:t>
            </a:r>
          </a:p>
        </p:txBody>
      </p:sp>
      <p:sp>
        <p:nvSpPr>
          <p:cNvPr id="119" name="uni-user"/>
          <p:cNvSpPr/>
          <p:nvPr/>
        </p:nvSpPr>
        <p:spPr>
          <a:xfrm>
            <a:off x="3063240" y="4389120"/>
            <a:ext cx="1097280" cy="731520"/>
          </a:xfrm>
          <a:prstGeom prst="rect">
            <a:avLst/>
          </a:prstGeom>
          <a:solidFill>
            <a:srgbClr val="FFFFFF"/>
          </a:solidFill>
          <a:ln w="19050">
            <a:solidFill>
              <a:srgbClr val="006D77"/>
            </a:solidFill>
            <a:prstDash val="dash"/>
          </a:ln>
        </p:spPr>
      </p:sp>
      <p:sp>
        <p:nvSpPr>
          <p:cNvPr id="120" name="uni-user-t"/>
          <p:cNvSpPr/>
          <p:nvPr/>
        </p:nvSpPr>
        <p:spPr>
          <a:xfrm>
            <a:off x="3191256" y="460743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21" name="uni-a1"/>
          <p:cNvCxnSpPr/>
          <p:nvPr/>
        </p:nvCxnSpPr>
        <p:spPr>
          <a:xfrm>
            <a:off x="4160520" y="4754880"/>
            <a:ext cx="365760" cy="0"/>
          </a:xfrm>
          <a:prstGeom prst="straightConnector1">
            <a:avLst/>
          </a:prstGeom>
          <a:ln w="19050">
            <a:solidFill>
              <a:srgbClr val="006D77"/>
            </a:solidFill>
            <a:prstDash val="dash"/>
            <a:tailEnd type="triangle" w="med" len="med"/>
          </a:ln>
        </p:spPr>
      </p:cxnSp>
      <p:sp>
        <p:nvSpPr>
          <p:cNvPr id="122" name="uni-agent"/>
          <p:cNvSpPr/>
          <p:nvPr/>
        </p:nvSpPr>
        <p:spPr>
          <a:xfrm>
            <a:off x="4526280" y="4343400"/>
            <a:ext cx="2743200" cy="914400"/>
          </a:xfrm>
          <a:prstGeom prst="rect">
            <a:avLst/>
          </a:prstGeom>
          <a:solidFill>
            <a:srgbClr val="FFFFFF"/>
          </a:solidFill>
          <a:ln w="19050">
            <a:solidFill>
              <a:srgbClr val="006D77"/>
            </a:solidFill>
            <a:prstDash val="dash"/>
          </a:ln>
        </p:spPr>
      </p:sp>
      <p:sp>
        <p:nvSpPr>
          <p:cNvPr id="123" name="uni-agent-t"/>
          <p:cNvSpPr/>
          <p:nvPr/>
        </p:nvSpPr>
        <p:spPr>
          <a:xfrm>
            <a:off x="4654296" y="443484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Shared agent core</a:t>
            </a:r>
          </a:p>
        </p:txBody>
      </p:sp>
      <p:sp>
        <p:nvSpPr>
          <p:cNvPr id="124" name="uni-agent-s"/>
          <p:cNvSpPr/>
          <p:nvPr/>
        </p:nvSpPr>
        <p:spPr>
          <a:xfrm>
            <a:off x="4654296" y="4766309"/>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API to know, VACP to do</a:t>
            </a:r>
          </a:p>
        </p:txBody>
      </p:sp>
      <p:cxnSp>
        <p:nvCxnSpPr>
          <p:cNvPr id="125" name="uni-a2"/>
          <p:cNvCxnSpPr/>
          <p:nvPr/>
        </p:nvCxnSpPr>
        <p:spPr>
          <a:xfrm>
            <a:off x="7269480" y="4800600"/>
            <a:ext cx="1280159" cy="0"/>
          </a:xfrm>
          <a:prstGeom prst="straightConnector1">
            <a:avLst/>
          </a:prstGeom>
          <a:ln w="19050">
            <a:solidFill>
              <a:srgbClr val="006D77"/>
            </a:solidFill>
            <a:prstDash val="dash"/>
            <a:tailEnd type="triangle" w="med" len="med"/>
          </a:ln>
        </p:spPr>
      </p:cxnSp>
      <p:sp>
        <p:nvSpPr>
          <p:cNvPr id="126" name="uni-chan"/>
          <p:cNvSpPr/>
          <p:nvPr/>
        </p:nvSpPr>
        <p:spPr>
          <a:xfrm>
            <a:off x="7269480" y="448056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Calls and actions</a:t>
            </a:r>
          </a:p>
        </p:txBody>
      </p:sp>
      <p:sp>
        <p:nvSpPr>
          <p:cNvPr id="127" name="uni-target"/>
          <p:cNvSpPr/>
          <p:nvPr/>
        </p:nvSpPr>
        <p:spPr>
          <a:xfrm>
            <a:off x="8549640" y="4343400"/>
            <a:ext cx="3063240" cy="914400"/>
          </a:xfrm>
          <a:prstGeom prst="rect">
            <a:avLst/>
          </a:prstGeom>
          <a:solidFill>
            <a:srgbClr val="FFFFFF"/>
          </a:solidFill>
          <a:ln w="19050">
            <a:solidFill>
              <a:srgbClr val="006D77"/>
            </a:solidFill>
            <a:prstDash val="dash"/>
          </a:ln>
        </p:spPr>
      </p:sp>
      <p:sp>
        <p:nvSpPr>
          <p:cNvPr id="128" name="uni-target-t"/>
          <p:cNvSpPr/>
          <p:nvPr/>
        </p:nvSpPr>
        <p:spPr>
          <a:xfrm>
            <a:off x="8677656" y="443484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Data and app</a:t>
            </a:r>
          </a:p>
        </p:txBody>
      </p:sp>
      <p:sp>
        <p:nvSpPr>
          <p:cNvPr id="129" name="uni-target-s"/>
          <p:cNvSpPr/>
          <p:nvPr/>
        </p:nvSpPr>
        <p:spPr>
          <a:xfrm>
            <a:off x="8677656" y="4766309"/>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Answer, then show the page</a:t>
            </a:r>
          </a:p>
        </p:txBody>
      </p:sp>
      <p:sp>
        <p:nvSpPr>
          <p:cNvPr id="130" name="uni-ret-v1"/>
          <p:cNvSpPr/>
          <p:nvPr/>
        </p:nvSpPr>
        <p:spPr>
          <a:xfrm>
            <a:off x="10058400" y="5257800"/>
            <a:ext cx="0" cy="228600"/>
          </a:xfrm>
          <a:prstGeom prst="rect">
            <a:avLst/>
          </a:prstGeom>
          <a:noFill/>
          <a:ln w="19050">
            <a:solidFill>
              <a:srgbClr val="006D77"/>
            </a:solidFill>
            <a:prstDash val="dash"/>
          </a:ln>
        </p:spPr>
      </p:sp>
      <p:cxnSp>
        <p:nvCxnSpPr>
          <p:cNvPr id="131" name="uni-ret-h"/>
          <p:cNvCxnSpPr/>
          <p:nvPr/>
        </p:nvCxnSpPr>
        <p:spPr>
          <a:xfrm flipH="1">
            <a:off x="3611880" y="5486400"/>
            <a:ext cx="6446520" cy="0"/>
          </a:xfrm>
          <a:prstGeom prst="straightConnector1">
            <a:avLst/>
          </a:prstGeom>
          <a:ln w="19050">
            <a:solidFill>
              <a:srgbClr val="006D77"/>
            </a:solidFill>
            <a:prstDash val="dash"/>
            <a:tailEnd type="triangle" w="med" len="med"/>
          </a:ln>
        </p:spPr>
      </p:cxnSp>
      <p:cxnSp>
        <p:nvCxnSpPr>
          <p:cNvPr id="132" name="uni-ret-v2"/>
          <p:cNvCxnSpPr/>
          <p:nvPr/>
        </p:nvCxnSpPr>
        <p:spPr>
          <a:xfrm flipV="1">
            <a:off x="3611880" y="5138928"/>
            <a:ext cx="0" cy="347471"/>
          </a:xfrm>
          <a:prstGeom prst="straightConnector1">
            <a:avLst/>
          </a:prstGeom>
          <a:ln w="19050">
            <a:solidFill>
              <a:srgbClr val="006D77"/>
            </a:solidFill>
            <a:prstDash val="dash"/>
            <a:tailEnd type="triangle" w="med" len="med"/>
          </a:ln>
        </p:spPr>
      </p:cxnSp>
      <p:sp>
        <p:nvSpPr>
          <p:cNvPr id="133" name="ov-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Loop after Beyond Browsing; ledger, tools and harness after LedgerAgent, Tool Illusion, Mingbird.</a:t>
            </a:r>
          </a:p>
        </p:txBody>
      </p:sp>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 name="Straight Arrow Connector 36">
            <a:extLst>
              <a:ext uri="{FF2B5EF4-FFF2-40B4-BE49-F238E27FC236}">
                <a16:creationId xmlns:a16="http://schemas.microsoft.com/office/drawing/2014/main" id="{E8CBCE22-91DF-43E7-B6C3-584A4374FC93}"/>
              </a:ext>
            </a:extLst>
          </p:cNvPr>
          <p:cNvCxnSpPr>
            <a:stCxn id="32" idx="3"/>
            <a:endCxn id="34" idx="1"/>
          </p:cNvCxnSpPr>
          <p:nvPr/>
        </p:nvCxnSpPr>
        <p:spPr>
          <a:xfrm>
            <a:off x="9705975" y="5767388"/>
            <a:ext cx="266700" cy="0"/>
          </a:xfrm>
          <a:prstGeom prst="straightConnector1">
            <a:avLst/>
          </a:prstGeom>
          <a:ln w="19050">
            <a:solidFill>
              <a:srgbClr val="315E87"/>
            </a:solidFill>
            <a:prstDash val="solid"/>
            <a:tailEnd type="triangle" w="med" len="med"/>
          </a:ln>
        </p:spPr>
      </p:cxnSp>
      <p:cxnSp>
        <p:nvCxnSpPr>
          <p:cNvPr id="36" name="Straight Arrow Connector 35">
            <a:extLst>
              <a:ext uri="{FF2B5EF4-FFF2-40B4-BE49-F238E27FC236}">
                <a16:creationId xmlns:a16="http://schemas.microsoft.com/office/drawing/2014/main" id="{EAD5943C-EAC0-4232-82D5-9FA9C88E7B0B}"/>
              </a:ext>
            </a:extLst>
          </p:cNvPr>
          <p:cNvCxnSpPr>
            <a:stCxn id="30" idx="3"/>
            <a:endCxn id="32" idx="1"/>
          </p:cNvCxnSpPr>
          <p:nvPr/>
        </p:nvCxnSpPr>
        <p:spPr>
          <a:xfrm>
            <a:off x="7839075" y="5767388"/>
            <a:ext cx="257175" cy="0"/>
          </a:xfrm>
          <a:prstGeom prst="straightConnector1">
            <a:avLst/>
          </a:prstGeom>
          <a:ln w="19050">
            <a:solidFill>
              <a:srgbClr val="315E87"/>
            </a:solidFill>
            <a:prstDash val="solid"/>
            <a:tailEnd type="triangle" w="med" len="med"/>
          </a:ln>
        </p:spPr>
      </p:cxnSp>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20</a:t>
            </a:r>
          </a:p>
        </p:txBody>
      </p:sp>
      <p:sp>
        <p:nvSpPr>
          <p:cNvPr id="7" name="text-183">
            <a:extLst>
              <a:ext uri="{FF2B5EF4-FFF2-40B4-BE49-F238E27FC236}">
                <a16:creationId xmlns:a16="http://schemas.microsoft.com/office/drawing/2014/main" id="{A0231EF7-6179-417D-92AA-EB6D0F2A4516}"/>
              </a:ext>
            </a:extLst>
          </p:cNvPr>
          <p:cNvSpPr>
            <a:spLocks noGrp="1"/>
          </p:cNvSpPr>
          <p:nvPr/>
        </p:nvSpPr>
        <p:spPr>
          <a:xfrm>
            <a:off x="609600" y="1381125"/>
            <a:ext cx="10972800" cy="552450"/>
          </a:xfrm>
          <a:prstGeom prst="rect">
            <a:avLst/>
          </a:prstGeom>
          <a:noFill/>
          <a:ln w="0">
            <a:noFill/>
          </a:ln>
        </p:spPr>
        <p:txBody>
          <a:bodyPr wrap="square" lIns="0" tIns="0" rIns="0" bIns="0" anchor="t">
            <a:noAutofit/>
          </a:bodyPr>
          <a:lstStyle>
            <a:defPPr algn="l">
              <a:defRPr sz="2700" b="1">
                <a:solidFill>
                  <a:srgbClr val="006D77"/>
                </a:solidFill>
                <a:latin typeface="Arial"/>
                <a:ea typeface="Arial"/>
                <a:cs typeface="Arial"/>
              </a:defRPr>
            </a:defPPr>
          </a:lstStyle>
          <a:p>
            <a:pPr algn="l">
              <a:lnSpc>
                <a:spcPct val="112000"/>
              </a:lnSpc>
              <a:buNone/>
              <a:defRPr sz="2700" b="1">
                <a:solidFill>
                  <a:srgbClr val="006D77"/>
                </a:solidFill>
                <a:latin typeface="Arial"/>
                <a:ea typeface="Arial"/>
                <a:cs typeface="Arial"/>
              </a:defRPr>
            </a:pPr>
            <a:r>
              <a:rPr sz="2700" b="1">
                <a:solidFill>
                  <a:srgbClr val="006D77"/>
                </a:solidFill>
                <a:latin typeface="Arial"/>
                <a:ea typeface="Arial"/>
                <a:cs typeface="Arial"/>
              </a:rPr>
              <a:t>“Compare total orders in April and May 2016.”</a:t>
            </a:r>
          </a:p>
        </p:txBody>
      </p:sp>
      <p:sp>
        <p:nvSpPr>
          <p:cNvPr id="8" name="text-184">
            <a:extLst>
              <a:ext uri="{FF2B5EF4-FFF2-40B4-BE49-F238E27FC236}">
                <a16:creationId xmlns:a16="http://schemas.microsoft.com/office/drawing/2014/main" id="{1AF28A4C-0A1C-4703-82E4-2B4654DE008E}"/>
              </a:ext>
            </a:extLst>
          </p:cNvPr>
          <p:cNvSpPr>
            <a:spLocks noGrp="1"/>
          </p:cNvSpPr>
          <p:nvPr/>
        </p:nvSpPr>
        <p:spPr>
          <a:xfrm>
            <a:off x="609600" y="22002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9" name="text-185">
            <a:extLst>
              <a:ext uri="{FF2B5EF4-FFF2-40B4-BE49-F238E27FC236}">
                <a16:creationId xmlns:a16="http://schemas.microsoft.com/office/drawing/2014/main" id="{46174C17-21BF-4E53-8D1C-C25E6511426A}"/>
              </a:ext>
            </a:extLst>
          </p:cNvPr>
          <p:cNvSpPr>
            <a:spLocks noGrp="1"/>
          </p:cNvSpPr>
          <p:nvPr/>
        </p:nvSpPr>
        <p:spPr>
          <a:xfrm>
            <a:off x="1438275" y="22002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Resolve the requested scope</a:t>
            </a:r>
          </a:p>
        </p:txBody>
      </p:sp>
      <p:sp>
        <p:nvSpPr>
          <p:cNvPr id="10" name="text-186">
            <a:extLst>
              <a:ext uri="{FF2B5EF4-FFF2-40B4-BE49-F238E27FC236}">
                <a16:creationId xmlns:a16="http://schemas.microsoft.com/office/drawing/2014/main" id="{BBB1E0C6-2CAD-48BF-B298-4137A7E181E8}"/>
              </a:ext>
            </a:extLst>
          </p:cNvPr>
          <p:cNvSpPr>
            <a:spLocks noGrp="1"/>
          </p:cNvSpPr>
          <p:nvPr/>
        </p:nvSpPr>
        <p:spPr>
          <a:xfrm>
            <a:off x="1438275" y="25527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Total orders, two periods, the same year</a:t>
            </a:r>
          </a:p>
        </p:txBody>
      </p:sp>
      <p:sp>
        <p:nvSpPr>
          <p:cNvPr id="11" name="text-187">
            <a:extLst>
              <a:ext uri="{FF2B5EF4-FFF2-40B4-BE49-F238E27FC236}">
                <a16:creationId xmlns:a16="http://schemas.microsoft.com/office/drawing/2014/main" id="{92957B3C-7C03-4D15-80FF-17F935915A68}"/>
              </a:ext>
            </a:extLst>
          </p:cNvPr>
          <p:cNvSpPr>
            <a:spLocks noGrp="1"/>
          </p:cNvSpPr>
          <p:nvPr/>
        </p:nvSpPr>
        <p:spPr>
          <a:xfrm>
            <a:off x="609600" y="29241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2" name="text-188">
            <a:extLst>
              <a:ext uri="{FF2B5EF4-FFF2-40B4-BE49-F238E27FC236}">
                <a16:creationId xmlns:a16="http://schemas.microsoft.com/office/drawing/2014/main" id="{7AF37933-1F05-4834-BDB3-EBD4773E7407}"/>
              </a:ext>
            </a:extLst>
          </p:cNvPr>
          <p:cNvSpPr>
            <a:spLocks noGrp="1"/>
          </p:cNvSpPr>
          <p:nvPr/>
        </p:nvSpPr>
        <p:spPr>
          <a:xfrm>
            <a:off x="1438275" y="29241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Obtain the business facts</a:t>
            </a:r>
          </a:p>
        </p:txBody>
      </p:sp>
      <p:sp>
        <p:nvSpPr>
          <p:cNvPr id="13" name="text-189">
            <a:extLst>
              <a:ext uri="{FF2B5EF4-FFF2-40B4-BE49-F238E27FC236}">
                <a16:creationId xmlns:a16="http://schemas.microsoft.com/office/drawing/2014/main" id="{EABE11C5-72A4-4A23-8A53-C3865E73E090}"/>
              </a:ext>
            </a:extLst>
          </p:cNvPr>
          <p:cNvSpPr>
            <a:spLocks noGrp="1"/>
          </p:cNvSpPr>
          <p:nvPr/>
        </p:nvSpPr>
        <p:spPr>
          <a:xfrm>
            <a:off x="1438275" y="32766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Run the supported comparison</a:t>
            </a:r>
          </a:p>
        </p:txBody>
      </p:sp>
      <p:sp>
        <p:nvSpPr>
          <p:cNvPr id="14" name="text-190">
            <a:extLst>
              <a:ext uri="{FF2B5EF4-FFF2-40B4-BE49-F238E27FC236}">
                <a16:creationId xmlns:a16="http://schemas.microsoft.com/office/drawing/2014/main" id="{4F28924C-3F66-454C-9BB8-915D9CADD022}"/>
              </a:ext>
            </a:extLst>
          </p:cNvPr>
          <p:cNvSpPr>
            <a:spLocks noGrp="1"/>
          </p:cNvSpPr>
          <p:nvPr/>
        </p:nvSpPr>
        <p:spPr>
          <a:xfrm>
            <a:off x="609600" y="36480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15" name="text-191">
            <a:extLst>
              <a:ext uri="{FF2B5EF4-FFF2-40B4-BE49-F238E27FC236}">
                <a16:creationId xmlns:a16="http://schemas.microsoft.com/office/drawing/2014/main" id="{B91E458B-006A-422B-B7D1-3F94DBE4E7A0}"/>
              </a:ext>
            </a:extLst>
          </p:cNvPr>
          <p:cNvSpPr>
            <a:spLocks noGrp="1"/>
          </p:cNvSpPr>
          <p:nvPr/>
        </p:nvSpPr>
        <p:spPr>
          <a:xfrm>
            <a:off x="1438275" y="36480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Verify the evidence</a:t>
            </a:r>
          </a:p>
        </p:txBody>
      </p:sp>
      <p:sp>
        <p:nvSpPr>
          <p:cNvPr id="16" name="text-192">
            <a:extLst>
              <a:ext uri="{FF2B5EF4-FFF2-40B4-BE49-F238E27FC236}">
                <a16:creationId xmlns:a16="http://schemas.microsoft.com/office/drawing/2014/main" id="{32F37BCF-3894-4115-B4E3-5F04411670D5}"/>
              </a:ext>
            </a:extLst>
          </p:cNvPr>
          <p:cNvSpPr>
            <a:spLocks noGrp="1"/>
          </p:cNvSpPr>
          <p:nvPr/>
        </p:nvSpPr>
        <p:spPr>
          <a:xfrm>
            <a:off x="1438275" y="40005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Check dates, coverage, units and arithmetic</a:t>
            </a:r>
          </a:p>
        </p:txBody>
      </p:sp>
      <p:sp>
        <p:nvSpPr>
          <p:cNvPr id="17" name="text-193">
            <a:extLst>
              <a:ext uri="{FF2B5EF4-FFF2-40B4-BE49-F238E27FC236}">
                <a16:creationId xmlns:a16="http://schemas.microsoft.com/office/drawing/2014/main" id="{FFACEDCD-D608-4CC3-A95E-A58E61B3F165}"/>
              </a:ext>
            </a:extLst>
          </p:cNvPr>
          <p:cNvSpPr>
            <a:spLocks noGrp="1"/>
          </p:cNvSpPr>
          <p:nvPr/>
        </p:nvSpPr>
        <p:spPr>
          <a:xfrm>
            <a:off x="609600" y="43719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04</a:t>
            </a:r>
          </a:p>
        </p:txBody>
      </p:sp>
      <p:sp>
        <p:nvSpPr>
          <p:cNvPr id="18" name="text-194">
            <a:extLst>
              <a:ext uri="{FF2B5EF4-FFF2-40B4-BE49-F238E27FC236}">
                <a16:creationId xmlns:a16="http://schemas.microsoft.com/office/drawing/2014/main" id="{EA8051DA-EA5A-48BB-BC69-775B662D7BB5}"/>
              </a:ext>
            </a:extLst>
          </p:cNvPr>
          <p:cNvSpPr>
            <a:spLocks noGrp="1"/>
          </p:cNvSpPr>
          <p:nvPr/>
        </p:nvSpPr>
        <p:spPr>
          <a:xfrm>
            <a:off x="1438275" y="43719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Explain the result</a:t>
            </a:r>
          </a:p>
        </p:txBody>
      </p:sp>
      <p:sp>
        <p:nvSpPr>
          <p:cNvPr id="19" name="text-195">
            <a:extLst>
              <a:ext uri="{FF2B5EF4-FFF2-40B4-BE49-F238E27FC236}">
                <a16:creationId xmlns:a16="http://schemas.microsoft.com/office/drawing/2014/main" id="{D358E61F-BDE1-4E1A-8CC3-6A029E20889E}"/>
              </a:ext>
            </a:extLst>
          </p:cNvPr>
          <p:cNvSpPr>
            <a:spLocks noGrp="1"/>
          </p:cNvSpPr>
          <p:nvPr/>
        </p:nvSpPr>
        <p:spPr>
          <a:xfrm>
            <a:off x="1438275" y="47244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Return the comparison with source records</a:t>
            </a:r>
          </a:p>
        </p:txBody>
      </p:sp>
      <p:sp>
        <p:nvSpPr>
          <p:cNvPr id="20" name="text-196">
            <a:extLst>
              <a:ext uri="{FF2B5EF4-FFF2-40B4-BE49-F238E27FC236}">
                <a16:creationId xmlns:a16="http://schemas.microsoft.com/office/drawing/2014/main" id="{747110CF-0354-4B0F-927D-C29111CAE9DD}"/>
              </a:ext>
            </a:extLst>
          </p:cNvPr>
          <p:cNvSpPr>
            <a:spLocks noGrp="1"/>
          </p:cNvSpPr>
          <p:nvPr/>
        </p:nvSpPr>
        <p:spPr>
          <a:xfrm>
            <a:off x="7905750" y="2152650"/>
            <a:ext cx="3676650" cy="333375"/>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Verified data example</a:t>
            </a:r>
          </a:p>
        </p:txBody>
      </p:sp>
      <p:sp>
        <p:nvSpPr>
          <p:cNvPr id="21" name="text-197">
            <a:extLst>
              <a:ext uri="{FF2B5EF4-FFF2-40B4-BE49-F238E27FC236}">
                <a16:creationId xmlns:a16="http://schemas.microsoft.com/office/drawing/2014/main" id="{EBB86C7D-9B2C-4A33-8E1C-9A2C47845F22}"/>
              </a:ext>
            </a:extLst>
          </p:cNvPr>
          <p:cNvSpPr>
            <a:spLocks noGrp="1"/>
          </p:cNvSpPr>
          <p:nvPr/>
        </p:nvSpPr>
        <p:spPr>
          <a:xfrm>
            <a:off x="7905750" y="2647950"/>
            <a:ext cx="1619250"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April</a:t>
            </a:r>
          </a:p>
        </p:txBody>
      </p:sp>
      <p:sp>
        <p:nvSpPr>
          <p:cNvPr id="22" name="text-198">
            <a:extLst>
              <a:ext uri="{FF2B5EF4-FFF2-40B4-BE49-F238E27FC236}">
                <a16:creationId xmlns:a16="http://schemas.microsoft.com/office/drawing/2014/main" id="{A01E17B8-B069-4515-B4E6-F6798587897F}"/>
              </a:ext>
            </a:extLst>
          </p:cNvPr>
          <p:cNvSpPr>
            <a:spLocks noGrp="1"/>
          </p:cNvSpPr>
          <p:nvPr/>
        </p:nvSpPr>
        <p:spPr>
          <a:xfrm>
            <a:off x="9915525" y="2647950"/>
            <a:ext cx="1666875"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May</a:t>
            </a:r>
          </a:p>
        </p:txBody>
      </p:sp>
      <p:sp>
        <p:nvSpPr>
          <p:cNvPr id="23" name="text-199">
            <a:extLst>
              <a:ext uri="{FF2B5EF4-FFF2-40B4-BE49-F238E27FC236}">
                <a16:creationId xmlns:a16="http://schemas.microsoft.com/office/drawing/2014/main" id="{3B2C672D-4B0A-441C-B320-EC64BF738673}"/>
              </a:ext>
            </a:extLst>
          </p:cNvPr>
          <p:cNvSpPr>
            <a:spLocks noGrp="1"/>
          </p:cNvSpPr>
          <p:nvPr/>
        </p:nvSpPr>
        <p:spPr>
          <a:xfrm>
            <a:off x="7877175" y="3048000"/>
            <a:ext cx="1733550" cy="619125"/>
          </a:xfrm>
          <a:prstGeom prst="rect">
            <a:avLst/>
          </a:prstGeom>
          <a:noFill/>
          <a:ln w="0">
            <a:noFill/>
          </a:ln>
        </p:spPr>
        <p:txBody>
          <a:bodyPr wrap="square" lIns="0" tIns="0" rIns="0" bIns="0" anchor="t">
            <a:noAutofit/>
          </a:bodyPr>
          <a:lstStyle>
            <a:defPPr algn="l">
              <a:defRPr sz="3900" b="1">
                <a:solidFill>
                  <a:srgbClr val="17324A"/>
                </a:solidFill>
                <a:latin typeface="Arial"/>
                <a:ea typeface="Arial"/>
                <a:cs typeface="Arial"/>
              </a:defRPr>
            </a:defPPr>
          </a:lstStyle>
          <a:p>
            <a:pPr algn="l">
              <a:lnSpc>
                <a:spcPct val="112000"/>
              </a:lnSpc>
              <a:buNone/>
              <a:defRPr sz="3900" b="1">
                <a:solidFill>
                  <a:srgbClr val="17324A"/>
                </a:solidFill>
                <a:latin typeface="Arial"/>
                <a:ea typeface="Arial"/>
                <a:cs typeface="Arial"/>
              </a:defRPr>
            </a:pPr>
            <a:r>
              <a:rPr sz="3900" b="1">
                <a:solidFill>
                  <a:srgbClr val="17324A"/>
                </a:solidFill>
                <a:latin typeface="Arial"/>
                <a:ea typeface="Arial"/>
                <a:cs typeface="Arial"/>
              </a:rPr>
              <a:t>1,951</a:t>
            </a:r>
          </a:p>
        </p:txBody>
      </p:sp>
      <p:sp>
        <p:nvSpPr>
          <p:cNvPr id="24" name="text-200">
            <a:extLst>
              <a:ext uri="{FF2B5EF4-FFF2-40B4-BE49-F238E27FC236}">
                <a16:creationId xmlns:a16="http://schemas.microsoft.com/office/drawing/2014/main" id="{A5CB7662-AEF3-45C4-8D12-466B0AAE8C05}"/>
              </a:ext>
            </a:extLst>
          </p:cNvPr>
          <p:cNvSpPr>
            <a:spLocks noGrp="1"/>
          </p:cNvSpPr>
          <p:nvPr/>
        </p:nvSpPr>
        <p:spPr>
          <a:xfrm>
            <a:off x="9877425" y="3048000"/>
            <a:ext cx="1704975" cy="619125"/>
          </a:xfrm>
          <a:prstGeom prst="rect">
            <a:avLst/>
          </a:prstGeom>
          <a:noFill/>
          <a:ln w="0">
            <a:noFill/>
          </a:ln>
        </p:spPr>
        <p:txBody>
          <a:bodyPr wrap="square" lIns="0" tIns="0" rIns="0" bIns="0" anchor="t">
            <a:noAutofit/>
          </a:bodyPr>
          <a:lstStyle>
            <a:defPPr algn="l">
              <a:defRPr sz="3900" b="1">
                <a:solidFill>
                  <a:srgbClr val="006D77"/>
                </a:solidFill>
                <a:latin typeface="Arial"/>
                <a:ea typeface="Arial"/>
                <a:cs typeface="Arial"/>
              </a:defRPr>
            </a:defPPr>
          </a:lstStyle>
          <a:p>
            <a:pPr algn="l">
              <a:lnSpc>
                <a:spcPct val="112000"/>
              </a:lnSpc>
              <a:buNone/>
              <a:defRPr sz="3900" b="1">
                <a:solidFill>
                  <a:srgbClr val="006D77"/>
                </a:solidFill>
                <a:latin typeface="Arial"/>
                <a:ea typeface="Arial"/>
                <a:cs typeface="Arial"/>
              </a:defRPr>
            </a:pPr>
            <a:r>
              <a:rPr sz="3900" b="1">
                <a:solidFill>
                  <a:srgbClr val="006D77"/>
                </a:solidFill>
                <a:latin typeface="Arial"/>
                <a:ea typeface="Arial"/>
                <a:cs typeface="Arial"/>
              </a:rPr>
              <a:t>2,047</a:t>
            </a:r>
          </a:p>
        </p:txBody>
      </p:sp>
      <p:sp>
        <p:nvSpPr>
          <p:cNvPr id="25" name="shape-201">
            <a:extLst>
              <a:ext uri="{FF2B5EF4-FFF2-40B4-BE49-F238E27FC236}">
                <a16:creationId xmlns:a16="http://schemas.microsoft.com/office/drawing/2014/main" id="{B55C4EC8-102D-4B95-AFB7-C7BB36AB94CB}"/>
              </a:ext>
            </a:extLst>
          </p:cNvPr>
          <p:cNvSpPr>
            <a:spLocks noGrp="1"/>
          </p:cNvSpPr>
          <p:nvPr/>
        </p:nvSpPr>
        <p:spPr>
          <a:xfrm>
            <a:off x="7905750" y="3848100"/>
            <a:ext cx="3676650" cy="14288"/>
          </a:xfrm>
          <a:prstGeom prst="rect">
            <a:avLst/>
          </a:prstGeom>
          <a:solidFill>
            <a:srgbClr val="CDD7D9"/>
          </a:solidFill>
          <a:ln w="0">
            <a:noFill/>
          </a:ln>
        </p:spPr>
      </p:sp>
      <p:sp>
        <p:nvSpPr>
          <p:cNvPr id="26" name="text-202">
            <a:extLst>
              <a:ext uri="{FF2B5EF4-FFF2-40B4-BE49-F238E27FC236}">
                <a16:creationId xmlns:a16="http://schemas.microsoft.com/office/drawing/2014/main" id="{2BE72091-00CC-4A12-8368-165540255BF6}"/>
              </a:ext>
            </a:extLst>
          </p:cNvPr>
          <p:cNvSpPr>
            <a:spLocks noGrp="1"/>
          </p:cNvSpPr>
          <p:nvPr/>
        </p:nvSpPr>
        <p:spPr>
          <a:xfrm>
            <a:off x="7905750" y="4086225"/>
            <a:ext cx="3676650" cy="40005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96 more orders</a:t>
            </a:r>
          </a:p>
        </p:txBody>
      </p:sp>
      <p:sp>
        <p:nvSpPr>
          <p:cNvPr id="27" name="text-203">
            <a:extLst>
              <a:ext uri="{FF2B5EF4-FFF2-40B4-BE49-F238E27FC236}">
                <a16:creationId xmlns:a16="http://schemas.microsoft.com/office/drawing/2014/main" id="{7C44DBE1-C64D-4CC4-978E-D9E88968228E}"/>
              </a:ext>
            </a:extLst>
          </p:cNvPr>
          <p:cNvSpPr>
            <a:spLocks noGrp="1"/>
          </p:cNvSpPr>
          <p:nvPr/>
        </p:nvSpPr>
        <p:spPr>
          <a:xfrm>
            <a:off x="7905750" y="4552950"/>
            <a:ext cx="3676650" cy="361950"/>
          </a:xfrm>
          <a:prstGeom prst="rect">
            <a:avLst/>
          </a:prstGeom>
          <a:noFill/>
          <a:ln w="0">
            <a:noFill/>
          </a:ln>
        </p:spPr>
        <p:txBody>
          <a:bodyPr wrap="square" lIns="0" tIns="0" rIns="0" bIns="0" anchor="t">
            <a:noAutofit/>
          </a:bodyPr>
          <a:lstStyle>
            <a:defPPr algn="l">
              <a:defRPr sz="2025" b="0">
                <a:solidFill>
                  <a:srgbClr val="4D6270"/>
                </a:solidFill>
                <a:latin typeface="Arial"/>
                <a:ea typeface="Arial"/>
                <a:cs typeface="Arial"/>
              </a:defRPr>
            </a:defPPr>
          </a:lstStyle>
          <a:p>
            <a:pPr algn="l">
              <a:lnSpc>
                <a:spcPct val="112000"/>
              </a:lnSpc>
              <a:buNone/>
              <a:defRPr sz="2025" b="0">
                <a:solidFill>
                  <a:srgbClr val="4D6270"/>
                </a:solidFill>
                <a:latin typeface="Arial"/>
                <a:ea typeface="Arial"/>
                <a:cs typeface="Arial"/>
              </a:defRPr>
            </a:pPr>
            <a:r>
              <a:rPr sz="2025" b="0">
                <a:solidFill>
                  <a:srgbClr val="4D6270"/>
                </a:solidFill>
                <a:latin typeface="Arial"/>
                <a:ea typeface="Arial"/>
                <a:cs typeface="Arial"/>
              </a:rPr>
              <a:t>4.92% increase</a:t>
            </a:r>
          </a:p>
        </p:txBody>
      </p:sp>
      <p:sp>
        <p:nvSpPr>
          <p:cNvPr id="28" name="shape-204">
            <a:extLst>
              <a:ext uri="{FF2B5EF4-FFF2-40B4-BE49-F238E27FC236}">
                <a16:creationId xmlns:a16="http://schemas.microsoft.com/office/drawing/2014/main" id="{33302FAA-3B38-4F06-B9BD-6E7D83F0E27E}"/>
              </a:ext>
            </a:extLst>
          </p:cNvPr>
          <p:cNvSpPr>
            <a:spLocks noGrp="1"/>
          </p:cNvSpPr>
          <p:nvPr/>
        </p:nvSpPr>
        <p:spPr>
          <a:xfrm>
            <a:off x="609600" y="5305425"/>
            <a:ext cx="10972800" cy="14288"/>
          </a:xfrm>
          <a:prstGeom prst="rect">
            <a:avLst/>
          </a:prstGeom>
          <a:solidFill>
            <a:srgbClr val="006D77"/>
          </a:solidFill>
          <a:ln w="0">
            <a:noFill/>
          </a:ln>
        </p:spPr>
      </p:sp>
      <p:sp>
        <p:nvSpPr>
          <p:cNvPr id="29" name="text-205">
            <a:extLst>
              <a:ext uri="{FF2B5EF4-FFF2-40B4-BE49-F238E27FC236}">
                <a16:creationId xmlns:a16="http://schemas.microsoft.com/office/drawing/2014/main" id="{26A3CA39-3E43-48DC-8C2D-3F9FD648FA56}"/>
              </a:ext>
            </a:extLst>
          </p:cNvPr>
          <p:cNvSpPr>
            <a:spLocks noGrp="1"/>
          </p:cNvSpPr>
          <p:nvPr/>
        </p:nvSpPr>
        <p:spPr>
          <a:xfrm>
            <a:off x="609600" y="5591175"/>
            <a:ext cx="4914900" cy="438150"/>
          </a:xfrm>
          <a:prstGeom prst="rect">
            <a:avLst/>
          </a:prstGeom>
          <a:noFill/>
          <a:ln w="0">
            <a:noFill/>
          </a:ln>
        </p:spPr>
        <p:txBody>
          <a:bodyPr wrap="square" lIns="0" tIns="0" rIns="0" bIns="0" anchor="t">
            <a:noAutofit/>
          </a:bodyPr>
          <a:lstStyle>
            <a:defPPr algn="l">
              <a:defRPr sz="2250" b="1">
                <a:solidFill>
                  <a:srgbClr val="17324A"/>
                </a:solidFill>
                <a:latin typeface="Arial"/>
                <a:ea typeface="Arial"/>
                <a:cs typeface="Arial"/>
              </a:defRPr>
            </a:defPPr>
          </a:lstStyle>
          <a:p>
            <a:pPr algn="l">
              <a:lnSpc>
                <a:spcPct val="112000"/>
              </a:lnSpc>
              <a:buNone/>
              <a:defRPr sz="2250" b="1">
                <a:solidFill>
                  <a:srgbClr val="17324A"/>
                </a:solidFill>
                <a:latin typeface="Arial"/>
                <a:ea typeface="Arial"/>
                <a:cs typeface="Arial"/>
              </a:defRPr>
            </a:pPr>
            <a:r>
              <a:rPr sz="2250" b="1">
                <a:solidFill>
                  <a:srgbClr val="17324A"/>
                </a:solidFill>
                <a:latin typeface="Arial"/>
                <a:ea typeface="Arial"/>
                <a:cs typeface="Arial"/>
              </a:rPr>
              <a:t>“Show me May’s orders.”</a:t>
            </a:r>
          </a:p>
        </p:txBody>
      </p:sp>
      <p:sp>
        <p:nvSpPr>
          <p:cNvPr id="30" name="shape-206">
            <a:extLst>
              <a:ext uri="{FF2B5EF4-FFF2-40B4-BE49-F238E27FC236}">
                <a16:creationId xmlns:a16="http://schemas.microsoft.com/office/drawing/2014/main" id="{F40E70B6-C4C4-4DE7-AD36-3E7E03EC78DC}"/>
              </a:ext>
            </a:extLst>
          </p:cNvPr>
          <p:cNvSpPr>
            <a:spLocks noGrp="1"/>
          </p:cNvSpPr>
          <p:nvPr/>
        </p:nvSpPr>
        <p:spPr>
          <a:xfrm>
            <a:off x="6229350" y="5505450"/>
            <a:ext cx="1609725" cy="523875"/>
          </a:xfrm>
          <a:prstGeom prst="rect">
            <a:avLst/>
          </a:prstGeom>
          <a:solidFill>
            <a:srgbClr val="FFFFFF"/>
          </a:solidFill>
          <a:ln w="15240">
            <a:solidFill>
              <a:srgbClr val="006D77"/>
            </a:solidFill>
          </a:ln>
        </p:spPr>
      </p:sp>
      <p:sp>
        <p:nvSpPr>
          <p:cNvPr id="31" name="text-207">
            <a:extLst>
              <a:ext uri="{FF2B5EF4-FFF2-40B4-BE49-F238E27FC236}">
                <a16:creationId xmlns:a16="http://schemas.microsoft.com/office/drawing/2014/main" id="{F83D363C-DA9E-44EC-ABC4-0F26058AB4B5}"/>
              </a:ext>
            </a:extLst>
          </p:cNvPr>
          <p:cNvSpPr>
            <a:spLocks noGrp="1"/>
          </p:cNvSpPr>
          <p:nvPr/>
        </p:nvSpPr>
        <p:spPr>
          <a:xfrm>
            <a:off x="63817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Open view</a:t>
            </a:r>
          </a:p>
        </p:txBody>
      </p:sp>
      <p:sp>
        <p:nvSpPr>
          <p:cNvPr id="32" name="shape-208">
            <a:extLst>
              <a:ext uri="{FF2B5EF4-FFF2-40B4-BE49-F238E27FC236}">
                <a16:creationId xmlns:a16="http://schemas.microsoft.com/office/drawing/2014/main" id="{678A4208-D856-420F-8052-5EB8B55AB5FA}"/>
              </a:ext>
            </a:extLst>
          </p:cNvPr>
          <p:cNvSpPr>
            <a:spLocks noGrp="1"/>
          </p:cNvSpPr>
          <p:nvPr/>
        </p:nvSpPr>
        <p:spPr>
          <a:xfrm>
            <a:off x="8096250" y="5505450"/>
            <a:ext cx="1609725" cy="523875"/>
          </a:xfrm>
          <a:prstGeom prst="rect">
            <a:avLst/>
          </a:prstGeom>
          <a:solidFill>
            <a:srgbClr val="FFFFFF"/>
          </a:solidFill>
          <a:ln w="15240">
            <a:solidFill>
              <a:srgbClr val="006D77"/>
            </a:solidFill>
          </a:ln>
        </p:spPr>
      </p:sp>
      <p:sp>
        <p:nvSpPr>
          <p:cNvPr id="33" name="text-209">
            <a:extLst>
              <a:ext uri="{FF2B5EF4-FFF2-40B4-BE49-F238E27FC236}">
                <a16:creationId xmlns:a16="http://schemas.microsoft.com/office/drawing/2014/main" id="{3A8C8382-2A32-46C2-82E2-C596C1FEF584}"/>
              </a:ext>
            </a:extLst>
          </p:cNvPr>
          <p:cNvSpPr>
            <a:spLocks noGrp="1"/>
          </p:cNvSpPr>
          <p:nvPr/>
        </p:nvSpPr>
        <p:spPr>
          <a:xfrm>
            <a:off x="82486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Observe</a:t>
            </a:r>
          </a:p>
        </p:txBody>
      </p:sp>
      <p:sp>
        <p:nvSpPr>
          <p:cNvPr id="34" name="shape-210">
            <a:extLst>
              <a:ext uri="{FF2B5EF4-FFF2-40B4-BE49-F238E27FC236}">
                <a16:creationId xmlns:a16="http://schemas.microsoft.com/office/drawing/2014/main" id="{3BFE6690-E296-414C-A4BC-EBAB15CA8BDE}"/>
              </a:ext>
            </a:extLst>
          </p:cNvPr>
          <p:cNvSpPr>
            <a:spLocks noGrp="1"/>
          </p:cNvSpPr>
          <p:nvPr/>
        </p:nvSpPr>
        <p:spPr>
          <a:xfrm>
            <a:off x="9972675" y="5505450"/>
            <a:ext cx="1609725" cy="523875"/>
          </a:xfrm>
          <a:prstGeom prst="rect">
            <a:avLst/>
          </a:prstGeom>
          <a:solidFill>
            <a:srgbClr val="FFFFFF"/>
          </a:solidFill>
          <a:ln w="15240">
            <a:solidFill>
              <a:srgbClr val="006D77"/>
            </a:solidFill>
          </a:ln>
        </p:spPr>
      </p:sp>
      <p:sp>
        <p:nvSpPr>
          <p:cNvPr id="35" name="text-211">
            <a:extLst>
              <a:ext uri="{FF2B5EF4-FFF2-40B4-BE49-F238E27FC236}">
                <a16:creationId xmlns:a16="http://schemas.microsoft.com/office/drawing/2014/main" id="{4BBE9719-6443-43EC-AACE-BC42FFA4197D}"/>
              </a:ext>
            </a:extLst>
          </p:cNvPr>
          <p:cNvSpPr>
            <a:spLocks noGrp="1"/>
          </p:cNvSpPr>
          <p:nvPr/>
        </p:nvSpPr>
        <p:spPr>
          <a:xfrm>
            <a:off x="10125075"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Confirm</a:t>
            </a:r>
          </a:p>
        </p:txBody>
      </p:sp>
      <p:sp>
        <p:nvSpPr>
          <p:cNvPr id="38" name="text-212">
            <a:extLst>
              <a:ext uri="{FF2B5EF4-FFF2-40B4-BE49-F238E27FC236}">
                <a16:creationId xmlns:a16="http://schemas.microsoft.com/office/drawing/2014/main" id="{C29C955B-D990-47FA-9942-F8F1A86C200E}"/>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Counts are verified data controls. The integrated assistant workflow remains proposed.</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readback"/>
          <p:cNvSpPr/>
          <p:nvPr/>
        </p:nvSpPr>
        <p:spPr>
          <a:xfrm>
            <a:off x="7863840" y="4919472"/>
            <a:ext cx="374903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April's 1,951 read back from ERPNext</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20</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20</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16.</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20</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20</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20</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20 / 20</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We built the API agent first, then added VACP for the half with no endpoint.</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That VACP closes the gap is our hypothesis,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Development-set 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on 31 development chains (87 steps), one run</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383280"/>
                <a:gridCol w="3108960"/>
                <a:gridCol w="4480560"/>
              </a:tblGrid>
              <a:tr h="384048">
                <a:tc>
                  <a:txBody>
                    <a:bodyPr wrap="square"/>
                    <a:lstStyle/>
                    <a:p>
                      <a:pPr>
                        <a:lnSpc>
                          <a:spcPct val="108000"/>
                        </a:lnSpc>
                      </a:pPr>
                      <a:r>
                        <a:rPr sz="1725"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Result</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 accuracy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 (69 of 87)</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and sort match the key</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 (18 of 31)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steps alone 77.0%</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2.8 steps per chain; p95 39 s</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the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Every number traced to a tool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over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 hit@5 77.9%</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140 queries; hit@1 61.4%</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 of steps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 of 87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yet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single run, tuned on these chains. Held-out chains not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Same-code rerun, R1-32B emits the calls: 38.7% of chains.</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Held-out chains not run.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874519"/>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03703"/>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6517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298094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42900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375818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a:t>
            </a:r>
          </a:p>
        </p:txBody>
      </p:sp>
      <p:sp>
        <p:nvSpPr>
          <p:cNvPr id="21" name="lead-Sapien"/>
          <p:cNvSpPr/>
          <p:nvPr/>
        </p:nvSpPr>
        <p:spPr>
          <a:xfrm>
            <a:off x="868680" y="420624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Sapience workspace build</a:t>
            </a:r>
          </a:p>
        </p:txBody>
      </p:sp>
      <p:sp>
        <p:nvSpPr>
          <p:cNvPr id="22" name="det-Sapien"/>
          <p:cNvSpPr/>
          <p:nvPr/>
        </p:nvSpPr>
        <p:spPr>
          <a:xfrm>
            <a:off x="868680" y="453542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API, ERP-style UI, model transport; 65 tests pass</a:t>
            </a:r>
          </a:p>
        </p:txBody>
      </p:sp>
      <p:sp>
        <p:nvSpPr>
          <p:cNvPr id="23" name="card-todo"/>
          <p:cNvSpPr/>
          <p:nvPr/>
        </p:nvSpPr>
        <p:spPr>
          <a:xfrm>
            <a:off x="7772400" y="1371600"/>
            <a:ext cx="3840480" cy="3611880"/>
          </a:xfrm>
          <a:prstGeom prst="rect">
            <a:avLst/>
          </a:prstGeom>
          <a:solidFill>
            <a:srgbClr val="EAF2F1"/>
          </a:solidFill>
          <a:ln w="15240">
            <a:solidFill>
              <a:srgbClr val="006D77"/>
            </a:solidFill>
          </a:ln>
        </p:spPr>
      </p:sp>
      <p:sp>
        <p:nvSpPr>
          <p:cNvPr id="24"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5" name="todo-Held-o"/>
          <p:cNvSpPr/>
          <p:nvPr/>
        </p:nvSpPr>
        <p:spPr>
          <a:xfrm>
            <a:off x="8001000" y="196596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Held-out run, 15 chains</a:t>
            </a:r>
          </a:p>
        </p:txBody>
      </p:sp>
      <p:sp>
        <p:nvSpPr>
          <p:cNvPr id="26" name="todo-Joined"/>
          <p:cNvSpPr/>
          <p:nvPr/>
        </p:nvSpPr>
        <p:spPr>
          <a:xfrm>
            <a:off x="8001000" y="24688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7" name="todo-Live h"/>
          <p:cNvSpPr/>
          <p:nvPr/>
        </p:nvSpPr>
        <p:spPr>
          <a:xfrm>
            <a:off x="8001000" y="297180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Live hosted-model loop</a:t>
            </a:r>
          </a:p>
        </p:txBody>
      </p:sp>
      <p:sp>
        <p:nvSpPr>
          <p:cNvPr id="28" name="todo-Durabl"/>
          <p:cNvSpPr/>
          <p:nvPr/>
        </p:nvSpPr>
        <p:spPr>
          <a:xfrm>
            <a:off x="8001000" y="347472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9" name="todo-Assist"/>
          <p:cNvSpPr/>
          <p:nvPr/>
        </p:nvSpPr>
        <p:spPr>
          <a:xfrm>
            <a:off x="8001000" y="397763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30" name="todo-WebAre"/>
          <p:cNvSpPr/>
          <p:nvPr/>
        </p:nvSpPr>
        <p:spPr>
          <a:xfrm>
            <a:off x="8001000" y="448055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31"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32"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19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1: API-based agent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Typed tools, a state ledger and a code-checked finish</a:t>
            </a:r>
          </a:p>
        </p:txBody>
      </p:sp>
      <p:sp>
        <p:nvSpPr>
          <p:cNvPr id="14" name="step0"/>
          <p:cNvSpPr/>
          <p:nvPr/>
        </p:nvSpPr>
        <p:spPr>
          <a:xfrm>
            <a:off x="640080" y="1783080"/>
            <a:ext cx="2011680" cy="914400"/>
          </a:xfrm>
          <a:prstGeom prst="rect">
            <a:avLst/>
          </a:prstGeom>
          <a:solidFill>
            <a:srgbClr val="FFFFFF"/>
          </a:solidFill>
          <a:ln w="19050">
            <a:solidFill>
              <a:srgbClr val="006D77"/>
            </a:solidFill>
          </a:ln>
        </p:spPr>
      </p:sp>
      <p:sp>
        <p:nvSpPr>
          <p:cNvPr id="15" name="step0-t"/>
          <p:cNvSpPr/>
          <p:nvPr/>
        </p:nvSpPr>
        <p:spPr>
          <a:xfrm>
            <a:off x="76809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16" name="step0-s"/>
          <p:cNvSpPr/>
          <p:nvPr/>
        </p:nvSpPr>
        <p:spPr>
          <a:xfrm>
            <a:off x="76809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17" name="stepa0"/>
          <p:cNvCxnSpPr/>
          <p:nvPr/>
        </p:nvCxnSpPr>
        <p:spPr>
          <a:xfrm>
            <a:off x="2651760" y="2240280"/>
            <a:ext cx="228600" cy="0"/>
          </a:xfrm>
          <a:prstGeom prst="straightConnector1">
            <a:avLst/>
          </a:prstGeom>
          <a:ln w="19050">
            <a:solidFill>
              <a:srgbClr val="006D77"/>
            </a:solidFill>
            <a:tailEnd type="triangle" w="med" len="med"/>
          </a:ln>
        </p:spPr>
      </p:cxnSp>
      <p:sp>
        <p:nvSpPr>
          <p:cNvPr id="18" name="step1"/>
          <p:cNvSpPr/>
          <p:nvPr/>
        </p:nvSpPr>
        <p:spPr>
          <a:xfrm>
            <a:off x="2880360" y="1783080"/>
            <a:ext cx="2011680" cy="914400"/>
          </a:xfrm>
          <a:prstGeom prst="rect">
            <a:avLst/>
          </a:prstGeom>
          <a:solidFill>
            <a:srgbClr val="FFFFFF"/>
          </a:solidFill>
          <a:ln w="19050">
            <a:solidFill>
              <a:srgbClr val="006D77"/>
            </a:solidFill>
          </a:ln>
        </p:spPr>
      </p:sp>
      <p:sp>
        <p:nvSpPr>
          <p:cNvPr id="19" name="step1-t"/>
          <p:cNvSpPr/>
          <p:nvPr/>
        </p:nvSpPr>
        <p:spPr>
          <a:xfrm>
            <a:off x="300837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20" name="step1-s"/>
          <p:cNvSpPr/>
          <p:nvPr/>
        </p:nvSpPr>
        <p:spPr>
          <a:xfrm>
            <a:off x="300837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21" name="stepa1"/>
          <p:cNvCxnSpPr/>
          <p:nvPr/>
        </p:nvCxnSpPr>
        <p:spPr>
          <a:xfrm>
            <a:off x="4892040" y="2240280"/>
            <a:ext cx="228600" cy="0"/>
          </a:xfrm>
          <a:prstGeom prst="straightConnector1">
            <a:avLst/>
          </a:prstGeom>
          <a:ln w="19050">
            <a:solidFill>
              <a:srgbClr val="006D77"/>
            </a:solidFill>
            <a:tailEnd type="triangle" w="med" len="med"/>
          </a:ln>
        </p:spPr>
      </p:cxnSp>
      <p:sp>
        <p:nvSpPr>
          <p:cNvPr id="22" name="step2"/>
          <p:cNvSpPr/>
          <p:nvPr/>
        </p:nvSpPr>
        <p:spPr>
          <a:xfrm>
            <a:off x="5120640" y="1783080"/>
            <a:ext cx="2011680" cy="914400"/>
          </a:xfrm>
          <a:prstGeom prst="rect">
            <a:avLst/>
          </a:prstGeom>
          <a:solidFill>
            <a:srgbClr val="EAF2F1"/>
          </a:solidFill>
          <a:ln w="19050">
            <a:solidFill>
              <a:srgbClr val="006D77"/>
            </a:solidFill>
          </a:ln>
        </p:spPr>
      </p:sp>
      <p:sp>
        <p:nvSpPr>
          <p:cNvPr id="23" name="step2-t"/>
          <p:cNvSpPr/>
          <p:nvPr/>
        </p:nvSpPr>
        <p:spPr>
          <a:xfrm>
            <a:off x="524865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24" name="step2-s"/>
          <p:cNvSpPr/>
          <p:nvPr/>
        </p:nvSpPr>
        <p:spPr>
          <a:xfrm>
            <a:off x="524865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tool calls</a:t>
            </a:r>
          </a:p>
        </p:txBody>
      </p:sp>
      <p:cxnSp>
        <p:nvCxnSpPr>
          <p:cNvPr id="25" name="stepa2"/>
          <p:cNvCxnSpPr/>
          <p:nvPr/>
        </p:nvCxnSpPr>
        <p:spPr>
          <a:xfrm>
            <a:off x="7132320" y="2240280"/>
            <a:ext cx="228600" cy="0"/>
          </a:xfrm>
          <a:prstGeom prst="straightConnector1">
            <a:avLst/>
          </a:prstGeom>
          <a:ln w="19050">
            <a:solidFill>
              <a:srgbClr val="006D77"/>
            </a:solidFill>
            <a:tailEnd type="triangle" w="med" len="med"/>
          </a:ln>
        </p:spPr>
      </p:cxnSp>
      <p:sp>
        <p:nvSpPr>
          <p:cNvPr id="26" name="step3"/>
          <p:cNvSpPr/>
          <p:nvPr/>
        </p:nvSpPr>
        <p:spPr>
          <a:xfrm>
            <a:off x="7360920" y="1783080"/>
            <a:ext cx="2011680" cy="914400"/>
          </a:xfrm>
          <a:prstGeom prst="rect">
            <a:avLst/>
          </a:prstGeom>
          <a:solidFill>
            <a:srgbClr val="EAF2F1"/>
          </a:solidFill>
          <a:ln w="19050">
            <a:solidFill>
              <a:srgbClr val="006D77"/>
            </a:solidFill>
          </a:ln>
        </p:spPr>
      </p:sp>
      <p:sp>
        <p:nvSpPr>
          <p:cNvPr id="27" name="step3-t"/>
          <p:cNvSpPr/>
          <p:nvPr/>
        </p:nvSpPr>
        <p:spPr>
          <a:xfrm>
            <a:off x="748893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28" name="step3-s"/>
          <p:cNvSpPr/>
          <p:nvPr/>
        </p:nvSpPr>
        <p:spPr>
          <a:xfrm>
            <a:off x="748893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29" name="stepa3"/>
          <p:cNvCxnSpPr/>
          <p:nvPr/>
        </p:nvCxnSpPr>
        <p:spPr>
          <a:xfrm>
            <a:off x="9372600" y="2240280"/>
            <a:ext cx="228600" cy="0"/>
          </a:xfrm>
          <a:prstGeom prst="straightConnector1">
            <a:avLst/>
          </a:prstGeom>
          <a:ln w="19050">
            <a:solidFill>
              <a:srgbClr val="006D77"/>
            </a:solidFill>
            <a:tailEnd type="triangle" w="med" len="med"/>
          </a:ln>
        </p:spPr>
      </p:cxnSp>
      <p:sp>
        <p:nvSpPr>
          <p:cNvPr id="30" name="step4"/>
          <p:cNvSpPr/>
          <p:nvPr/>
        </p:nvSpPr>
        <p:spPr>
          <a:xfrm>
            <a:off x="9601200" y="1783080"/>
            <a:ext cx="2011680" cy="914400"/>
          </a:xfrm>
          <a:prstGeom prst="rect">
            <a:avLst/>
          </a:prstGeom>
          <a:solidFill>
            <a:srgbClr val="FFFFFF"/>
          </a:solidFill>
          <a:ln w="19050">
            <a:solidFill>
              <a:srgbClr val="006D77"/>
            </a:solidFill>
          </a:ln>
        </p:spPr>
      </p:sp>
      <p:sp>
        <p:nvSpPr>
          <p:cNvPr id="31" name="step4-t"/>
          <p:cNvSpPr/>
          <p:nvPr/>
        </p:nvSpPr>
        <p:spPr>
          <a:xfrm>
            <a:off x="972921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32" name="step4-s"/>
          <p:cNvSpPr/>
          <p:nvPr/>
        </p:nvSpPr>
        <p:spPr>
          <a:xfrm>
            <a:off x="972921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figures traced</a:t>
            </a:r>
          </a:p>
        </p:txBody>
      </p:sp>
      <p:sp>
        <p:nvSpPr>
          <p:cNvPr id="33" name="concepts"/>
          <p:cNvSpPr/>
          <p:nvPr/>
        </p:nvSpPr>
        <p:spPr>
          <a:xfrm>
            <a:off x="640080" y="2880360"/>
            <a:ext cx="1097280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Concepts the agent is built on</a:t>
            </a:r>
          </a:p>
        </p:txBody>
      </p:sp>
      <p:sp>
        <p:nvSpPr>
          <p:cNvPr id="34" name="c0"/>
          <p:cNvSpPr/>
          <p:nvPr/>
        </p:nvSpPr>
        <p:spPr>
          <a:xfrm>
            <a:off x="640080" y="3246120"/>
            <a:ext cx="3520440" cy="1783080"/>
          </a:xfrm>
          <a:prstGeom prst="rect">
            <a:avLst/>
          </a:prstGeom>
          <a:solidFill>
            <a:srgbClr val="FFFFFF"/>
          </a:solidFill>
          <a:ln w="19050">
            <a:solidFill>
              <a:srgbClr val="006D77"/>
            </a:solidFill>
          </a:ln>
        </p:spPr>
      </p:sp>
      <p:sp>
        <p:nvSpPr>
          <p:cNvPr id="35" name="c0-t"/>
          <p:cNvSpPr/>
          <p:nvPr/>
        </p:nvSpPr>
        <p:spPr>
          <a:xfrm>
            <a:off x="804671"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LedgerAgent</a:t>
            </a:r>
            <a:r>
              <a:rPr lang="en-US" sz="1500" b="1" baseline="30000">
                <a:solidFill>
                  <a:srgbClr val="006D77"/>
                </a:solidFill>
                <a:latin typeface="Arial"/>
                <a:ea typeface="Arial"/>
                <a:cs typeface="Arial"/>
              </a:rPr>
              <a:t>4,5</a:t>
            </a:r>
          </a:p>
        </p:txBody>
      </p:sp>
      <p:sp>
        <p:nvSpPr>
          <p:cNvPr id="36" name="c0-b"/>
          <p:cNvSpPr/>
          <p:nvPr/>
        </p:nvSpPr>
        <p:spPr>
          <a:xfrm>
            <a:off x="804671"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State ledger: every result gets an id, every figure traces to one, read before any change.</a:t>
            </a:r>
          </a:p>
        </p:txBody>
      </p:sp>
      <p:sp>
        <p:nvSpPr>
          <p:cNvPr id="37" name="c1"/>
          <p:cNvSpPr/>
          <p:nvPr/>
        </p:nvSpPr>
        <p:spPr>
          <a:xfrm>
            <a:off x="4366260" y="3246120"/>
            <a:ext cx="3520440" cy="1783080"/>
          </a:xfrm>
          <a:prstGeom prst="rect">
            <a:avLst/>
          </a:prstGeom>
          <a:solidFill>
            <a:srgbClr val="FFFFFF"/>
          </a:solidFill>
          <a:ln w="19050">
            <a:solidFill>
              <a:srgbClr val="006D77"/>
            </a:solidFill>
          </a:ln>
        </p:spPr>
      </p:sp>
      <p:sp>
        <p:nvSpPr>
          <p:cNvPr id="38" name="c1-t"/>
          <p:cNvSpPr/>
          <p:nvPr/>
        </p:nvSpPr>
        <p:spPr>
          <a:xfrm>
            <a:off x="453085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The Tool Illusion</a:t>
            </a:r>
            <a:r>
              <a:rPr lang="en-US" sz="1500" b="1" baseline="30000">
                <a:solidFill>
                  <a:srgbClr val="006D77"/>
                </a:solidFill>
                <a:latin typeface="Arial"/>
                <a:ea typeface="Arial"/>
                <a:cs typeface="Arial"/>
              </a:rPr>
              <a:t>6,7</a:t>
            </a:r>
          </a:p>
        </p:txBody>
      </p:sp>
      <p:sp>
        <p:nvSpPr>
          <p:cNvPr id="39" name="c1-b"/>
          <p:cNvSpPr/>
          <p:nvPr/>
        </p:nvSpPr>
        <p:spPr>
          <a:xfrm>
            <a:off x="453085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small typed tools, not raw tables: lookup, resolve, analyze, records, related, open_page.</a:t>
            </a:r>
          </a:p>
        </p:txBody>
      </p:sp>
      <p:sp>
        <p:nvSpPr>
          <p:cNvPr id="40" name="c2"/>
          <p:cNvSpPr/>
          <p:nvPr/>
        </p:nvSpPr>
        <p:spPr>
          <a:xfrm>
            <a:off x="8092440" y="3246120"/>
            <a:ext cx="3520440" cy="1783080"/>
          </a:xfrm>
          <a:prstGeom prst="rect">
            <a:avLst/>
          </a:prstGeom>
          <a:solidFill>
            <a:srgbClr val="FFFFFF"/>
          </a:solidFill>
          <a:ln w="19050">
            <a:solidFill>
              <a:srgbClr val="006D77"/>
            </a:solidFill>
          </a:ln>
        </p:spPr>
      </p:sp>
      <p:sp>
        <p:nvSpPr>
          <p:cNvPr id="41" name="c2-t"/>
          <p:cNvSpPr/>
          <p:nvPr/>
        </p:nvSpPr>
        <p:spPr>
          <a:xfrm>
            <a:off x="825703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Mingbird</a:t>
            </a:r>
            <a:r>
              <a:rPr lang="en-US" sz="1500" b="1" baseline="30000">
                <a:solidFill>
                  <a:srgbClr val="006D77"/>
                </a:solidFill>
                <a:latin typeface="Arial"/>
                <a:ea typeface="Arial"/>
                <a:cs typeface="Arial"/>
              </a:rPr>
              <a:t>8</a:t>
            </a:r>
          </a:p>
        </p:txBody>
      </p:sp>
      <p:sp>
        <p:nvSpPr>
          <p:cNvPr id="42" name="c2-b"/>
          <p:cNvSpPr/>
          <p:nvPr/>
        </p:nvSpPr>
        <p:spPr>
          <a:xfrm>
            <a:off x="825703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Harness: one dispatcher, repeated-call check, step budget and explicit finish conditions.</a:t>
            </a:r>
          </a:p>
        </p:txBody>
      </p:sp>
      <p:sp>
        <p:nvSpPr>
          <p:cNvPr id="43" name="rule"/>
          <p:cNvSpPr/>
          <p:nvPr/>
        </p:nvSpPr>
        <p:spPr>
          <a:xfrm>
            <a:off x="640080" y="5193792"/>
            <a:ext cx="10972800" cy="14630"/>
          </a:xfrm>
          <a:prstGeom prst="rect">
            <a:avLst/>
          </a:prstGeom>
          <a:solidFill>
            <a:srgbClr val="CDD7D9"/>
          </a:solidFill>
          <a:ln w="0">
            <a:noFill/>
          </a:ln>
        </p:spPr>
      </p:sp>
      <p:sp>
        <p:nvSpPr>
          <p:cNvPr id="44" name="data"/>
          <p:cNvSpPr/>
          <p:nvPr/>
        </p:nvSpPr>
        <p:spPr>
          <a:xfrm>
            <a:off x="640080" y="5303520"/>
            <a:ext cx="5120640" cy="64008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Data: WWI read-only API.</a:t>
            </a:r>
          </a:p>
          <a:p>
            <a:pPr algn="l">
              <a:lnSpc>
                <a:spcPct val="112000"/>
              </a:lnSpc>
              <a:buNone/>
            </a:pPr>
            <a:r>
              <a:rPr lang="en-US" sz="1575" b="0">
                <a:solidFill>
                  <a:srgbClr val="17324A"/>
                </a:solidFill>
                <a:latin typeface="Arial"/>
                <a:ea typeface="Arial"/>
                <a:cs typeface="Arial"/>
              </a:rPr>
              <a:t>Built and measured on 31 dev chains.</a:t>
            </a:r>
          </a:p>
        </p:txBody>
      </p:sp>
      <p:sp>
        <p:nvSpPr>
          <p:cNvPr id="45" name="model"/>
          <p:cNvSpPr/>
          <p:nvPr/>
        </p:nvSpPr>
        <p:spPr>
          <a:xfrm>
            <a:off x="6126480" y="5303520"/>
            <a:ext cx="5486400" cy="64008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model configured: Nemotron-3 Nano 30B on OpenRouter, not run live yet. Results used DeepSeek-R1-32B.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2: VACP, in-app actions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Declared in-app actions where no endpoint exists</a:t>
            </a:r>
          </a:p>
        </p:txBody>
      </p:sp>
      <p:sp>
        <p:nvSpPr>
          <p:cNvPr id="14" name="band-task"/>
          <p:cNvSpPr/>
          <p:nvPr/>
        </p:nvSpPr>
        <p:spPr>
          <a:xfrm>
            <a:off x="640080" y="1783080"/>
            <a:ext cx="10972800" cy="731520"/>
          </a:xfrm>
          <a:prstGeom prst="rect">
            <a:avLst/>
          </a:prstGeom>
          <a:solidFill>
            <a:srgbClr val="F1F6F6"/>
          </a:solidFill>
          <a:ln w="19050">
            <a:solidFill>
              <a:srgbClr val="CDD7D9"/>
            </a:solidFill>
          </a:ln>
        </p:spPr>
      </p:sp>
      <p:sp>
        <p:nvSpPr>
          <p:cNvPr id="15" name="task-l"/>
          <p:cNvSpPr/>
          <p:nvPr/>
        </p:nvSpPr>
        <p:spPr>
          <a:xfrm>
            <a:off x="822960" y="190195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Task</a:t>
            </a:r>
          </a:p>
        </p:txBody>
      </p:sp>
      <p:sp>
        <p:nvSpPr>
          <p:cNvPr id="16" name="task-b"/>
          <p:cNvSpPr/>
          <p:nvPr/>
        </p:nvSpPr>
        <p:spPr>
          <a:xfrm>
            <a:off x="2194560" y="1920240"/>
            <a:ext cx="923544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Agent loop: choose one declared action, run it, read the new state, repeat.</a:t>
            </a:r>
          </a:p>
        </p:txBody>
      </p:sp>
      <p:cxnSp>
        <p:nvCxnSpPr>
          <p:cNvPr id="17" name="a-task"/>
          <p:cNvCxnSpPr/>
          <p:nvPr/>
        </p:nvCxnSpPr>
        <p:spPr>
          <a:xfrm>
            <a:off x="6080760" y="2514600"/>
            <a:ext cx="0" cy="182880"/>
          </a:xfrm>
          <a:prstGeom prst="straightConnector1">
            <a:avLst/>
          </a:prstGeom>
          <a:ln w="19050">
            <a:solidFill>
              <a:srgbClr val="006D77"/>
            </a:solidFill>
            <a:headEnd type="triangle" w="med" len="med"/>
            <a:tailEnd type="triangle" w="med" len="med"/>
          </a:ln>
        </p:spPr>
      </p:cxnSp>
      <p:sp>
        <p:nvSpPr>
          <p:cNvPr id="18" name="band-vacp"/>
          <p:cNvSpPr/>
          <p:nvPr/>
        </p:nvSpPr>
        <p:spPr>
          <a:xfrm>
            <a:off x="640080" y="2697480"/>
            <a:ext cx="10972800" cy="2011680"/>
          </a:xfrm>
          <a:prstGeom prst="rect">
            <a:avLst/>
          </a:prstGeom>
          <a:solidFill>
            <a:srgbClr val="EAF2F1"/>
          </a:solidFill>
          <a:ln w="19050">
            <a:solidFill>
              <a:srgbClr val="006D77"/>
            </a:solidFill>
          </a:ln>
        </p:spPr>
      </p:sp>
      <p:sp>
        <p:nvSpPr>
          <p:cNvPr id="19" name="vacp-l"/>
          <p:cNvSpPr/>
          <p:nvPr/>
        </p:nvSpPr>
        <p:spPr>
          <a:xfrm>
            <a:off x="822960" y="277063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006D77"/>
                </a:solidFill>
                <a:latin typeface="Arial"/>
                <a:ea typeface="Arial"/>
                <a:cs typeface="Arial"/>
              </a:rPr>
              <a:t>VACP</a:t>
            </a:r>
          </a:p>
        </p:txBody>
      </p:sp>
      <p:sp>
        <p:nvSpPr>
          <p:cNvPr id="20" name="transport"/>
          <p:cNvSpPr/>
          <p:nvPr/>
        </p:nvSpPr>
        <p:spPr>
          <a:xfrm>
            <a:off x="2194560" y="2770632"/>
            <a:ext cx="9235440" cy="347472"/>
          </a:xfrm>
          <a:prstGeom prst="rect">
            <a:avLst/>
          </a:prstGeom>
          <a:solidFill>
            <a:srgbClr val="FFFFFF"/>
          </a:solidFill>
          <a:ln w="12700">
            <a:solidFill>
              <a:srgbClr val="006D77"/>
            </a:solidFill>
            <a:prstDash val="dash"/>
          </a:ln>
        </p:spPr>
      </p:sp>
      <p:sp>
        <p:nvSpPr>
          <p:cNvPr id="21" name="transport-t"/>
          <p:cNvSpPr/>
          <p:nvPr/>
        </p:nvSpPr>
        <p:spPr>
          <a:xfrm>
            <a:off x="2331720" y="2807208"/>
            <a:ext cx="89611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Transport: getCapabilities, getState, execute (window.__vacp)</a:t>
            </a:r>
          </a:p>
        </p:txBody>
      </p:sp>
      <p:sp>
        <p:nvSpPr>
          <p:cNvPr id="22" name="cap0"/>
          <p:cNvSpPr/>
          <p:nvPr/>
        </p:nvSpPr>
        <p:spPr>
          <a:xfrm>
            <a:off x="822960" y="3246120"/>
            <a:ext cx="3383280" cy="868680"/>
          </a:xfrm>
          <a:prstGeom prst="rect">
            <a:avLst/>
          </a:prstGeom>
          <a:solidFill>
            <a:srgbClr val="FFFFFF"/>
          </a:solidFill>
          <a:ln w="19050">
            <a:solidFill>
              <a:srgbClr val="006D77"/>
            </a:solidFill>
          </a:ln>
        </p:spPr>
      </p:sp>
      <p:sp>
        <p:nvSpPr>
          <p:cNvPr id="23" name="cap0-t"/>
          <p:cNvSpPr/>
          <p:nvPr/>
        </p:nvSpPr>
        <p:spPr>
          <a:xfrm>
            <a:off x="95097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Observation</a:t>
            </a:r>
          </a:p>
        </p:txBody>
      </p:sp>
      <p:sp>
        <p:nvSpPr>
          <p:cNvPr id="24" name="cap0-s"/>
          <p:cNvSpPr/>
          <p:nvPr/>
        </p:nvSpPr>
        <p:spPr>
          <a:xfrm>
            <a:off x="95097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 view state; query exact totals</a:t>
            </a:r>
          </a:p>
        </p:txBody>
      </p:sp>
      <p:sp>
        <p:nvSpPr>
          <p:cNvPr id="25" name="cap1"/>
          <p:cNvSpPr/>
          <p:nvPr/>
        </p:nvSpPr>
        <p:spPr>
          <a:xfrm>
            <a:off x="4434840" y="3246120"/>
            <a:ext cx="3383280" cy="868680"/>
          </a:xfrm>
          <a:prstGeom prst="rect">
            <a:avLst/>
          </a:prstGeom>
          <a:solidFill>
            <a:srgbClr val="FFFFFF"/>
          </a:solidFill>
          <a:ln w="19050">
            <a:solidFill>
              <a:srgbClr val="006D77"/>
            </a:solidFill>
          </a:ln>
        </p:spPr>
      </p:sp>
      <p:sp>
        <p:nvSpPr>
          <p:cNvPr id="26" name="cap1-t"/>
          <p:cNvSpPr/>
          <p:nvPr/>
        </p:nvSpPr>
        <p:spPr>
          <a:xfrm>
            <a:off x="456285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Configuration</a:t>
            </a:r>
          </a:p>
        </p:txBody>
      </p:sp>
      <p:sp>
        <p:nvSpPr>
          <p:cNvPr id="27" name="cap1-s"/>
          <p:cNvSpPr/>
          <p:nvPr/>
        </p:nvSpPr>
        <p:spPr>
          <a:xfrm>
            <a:off x="456285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Set period; set and clear filters</a:t>
            </a:r>
          </a:p>
        </p:txBody>
      </p:sp>
      <p:sp>
        <p:nvSpPr>
          <p:cNvPr id="28" name="cap2"/>
          <p:cNvSpPr/>
          <p:nvPr/>
        </p:nvSpPr>
        <p:spPr>
          <a:xfrm>
            <a:off x="8046720" y="3246120"/>
            <a:ext cx="3383280" cy="868680"/>
          </a:xfrm>
          <a:prstGeom prst="rect">
            <a:avLst/>
          </a:prstGeom>
          <a:solidFill>
            <a:srgbClr val="FFFFFF"/>
          </a:solidFill>
          <a:ln w="19050">
            <a:solidFill>
              <a:srgbClr val="006D77"/>
            </a:solidFill>
          </a:ln>
        </p:spPr>
      </p:sp>
      <p:sp>
        <p:nvSpPr>
          <p:cNvPr id="29" name="cap2-t"/>
          <p:cNvSpPr/>
          <p:nvPr/>
        </p:nvSpPr>
        <p:spPr>
          <a:xfrm>
            <a:off x="817473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Interaction</a:t>
            </a:r>
          </a:p>
        </p:txBody>
      </p:sp>
      <p:sp>
        <p:nvSpPr>
          <p:cNvPr id="30" name="cap2-s"/>
          <p:cNvSpPr/>
          <p:nvPr/>
        </p:nvSpPr>
        <p:spPr>
          <a:xfrm>
            <a:off x="817473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Navigate; open a record</a:t>
            </a:r>
          </a:p>
        </p:txBody>
      </p:sp>
      <p:sp>
        <p:nvSpPr>
          <p:cNvPr id="31" name="state"/>
          <p:cNvSpPr/>
          <p:nvPr/>
        </p:nvSpPr>
        <p:spPr>
          <a:xfrm>
            <a:off x="822960" y="4251960"/>
            <a:ext cx="1060704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Application state: route, period, filters and records, exactly as the user sees them.</a:t>
            </a:r>
          </a:p>
        </p:txBody>
      </p:sp>
      <p:cxnSp>
        <p:nvCxnSpPr>
          <p:cNvPr id="32" name="a-app"/>
          <p:cNvCxnSpPr/>
          <p:nvPr/>
        </p:nvCxnSpPr>
        <p:spPr>
          <a:xfrm>
            <a:off x="6080760" y="4709160"/>
            <a:ext cx="0" cy="182879"/>
          </a:xfrm>
          <a:prstGeom prst="straightConnector1">
            <a:avLst/>
          </a:prstGeom>
          <a:ln w="19050">
            <a:solidFill>
              <a:srgbClr val="006D77"/>
            </a:solidFill>
            <a:headEnd type="triangle" w="med" len="med"/>
            <a:tailEnd type="triangle" w="med" len="med"/>
          </a:ln>
        </p:spPr>
      </p:cxnSp>
      <p:sp>
        <p:nvSpPr>
          <p:cNvPr id="33" name="band-app"/>
          <p:cNvSpPr/>
          <p:nvPr/>
        </p:nvSpPr>
        <p:spPr>
          <a:xfrm>
            <a:off x="640080" y="4892040"/>
            <a:ext cx="10972800" cy="777240"/>
          </a:xfrm>
          <a:prstGeom prst="rect">
            <a:avLst/>
          </a:prstGeom>
          <a:solidFill>
            <a:srgbClr val="FFFFFF"/>
          </a:solidFill>
          <a:ln w="19050">
            <a:solidFill>
              <a:srgbClr val="006D77"/>
            </a:solidFill>
            <a:prstDash val="dash"/>
          </a:ln>
        </p:spPr>
      </p:sp>
      <p:sp>
        <p:nvSpPr>
          <p:cNvPr id="34" name="app-l"/>
          <p:cNvSpPr/>
          <p:nvPr/>
        </p:nvSpPr>
        <p:spPr>
          <a:xfrm>
            <a:off x="822960" y="501091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Application</a:t>
            </a:r>
          </a:p>
        </p:txBody>
      </p:sp>
      <p:sp>
        <p:nvSpPr>
          <p:cNvPr id="35" name="app-b"/>
          <p:cNvSpPr/>
          <p:nvPr/>
        </p:nvSpPr>
        <p:spPr>
          <a:xfrm>
            <a:off x="2926080" y="5029200"/>
            <a:ext cx="850392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ERPNext Desk: lists, filters and records, stock app, no rebuild.</a:t>
            </a:r>
          </a:p>
        </p:txBody>
      </p:sp>
      <p:sp>
        <p:nvSpPr>
          <p:cNvPr id="36" name="vacp-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Our own window.__vacp prototype, 23 of 23 checks against SQL; joining it to the agent is pending.</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