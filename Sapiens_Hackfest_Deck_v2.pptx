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LE Technological University logo" descr="KLE Technological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292608"/>
            <a:ext cx="1920240" cy="360045"/>
          </a:xfrm>
          <a:prstGeom prst="rect">
            <a:avLst/>
          </a:prstGeom>
        </p:spPr>
      </p:pic>
      <p:pic>
        <p:nvPicPr>
          <p:cNvPr id="3" name="KLE Tech Hackfest 2026 banner" descr="KLE Tech Hackfest 2026 bann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874" y="274320"/>
            <a:ext cx="2815945" cy="713232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457200" y="1069848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200" b="1" i="0">
                <a:solidFill>
                  <a:schemeClr val="tx2"/>
                </a:solidFill>
              </a:rPr>
              <a:t>Context-Aware AI Agent for Enterprise Applications</a:t>
            </a:r>
          </a:p>
        </p:txBody>
      </p:sp>
      <p:sp>
        <p:nvSpPr>
          <p:cNvPr id="5" name="Tagline"/>
          <p:cNvSpPr txBox="1"/>
          <p:nvPr/>
        </p:nvSpPr>
        <p:spPr>
          <a:xfrm>
            <a:off x="457200" y="1645920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000" b="1" i="0">
                <a:solidFill>
                  <a:schemeClr val="accent1"/>
                </a:solidFill>
              </a:rPr>
              <a:t>Automated navigation and analysis of business web apps, driven by plain-language questions</a:t>
            </a:r>
          </a:p>
        </p:txBody>
      </p:sp>
      <p:sp>
        <p:nvSpPr>
          <p:cNvPr id="6" name="Domain"/>
          <p:cNvSpPr txBox="1"/>
          <p:nvPr/>
        </p:nvSpPr>
        <p:spPr>
          <a:xfrm>
            <a:off x="457200" y="2075688"/>
            <a:ext cx="1127455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500" b="1" i="0">
                <a:solidFill>
                  <a:schemeClr val="accent3"/>
                </a:solidFill>
              </a:rPr>
              <a:t>Domain 5: </a:t>
            </a:r>
            <a:r>
              <a:rPr sz="1500" b="0" i="0">
                <a:solidFill>
                  <a:schemeClr val="accent3"/>
                </a:solidFill>
              </a:rPr>
              <a:t>Enterprise Applications, Agentic AI &amp; Dynamic Pricing   ·   </a:t>
            </a:r>
            <a:r>
              <a:rPr sz="1500" b="1" i="0">
                <a:solidFill>
                  <a:schemeClr val="accent3"/>
                </a:solidFill>
              </a:rPr>
              <a:t>Problem 5A: </a:t>
            </a:r>
            <a:r>
              <a:rPr sz="1500" b="0" i="0">
                <a:solidFill>
                  <a:schemeClr val="accent3"/>
                </a:solidFill>
              </a:rPr>
              <a:t>Context-Aware Application Agent</a:t>
            </a:r>
          </a:p>
        </p:txBody>
      </p:sp>
      <p:sp>
        <p:nvSpPr>
          <p:cNvPr id="7" name="Header TEAM SAPIENS"/>
          <p:cNvSpPr txBox="1"/>
          <p:nvPr/>
        </p:nvSpPr>
        <p:spPr>
          <a:xfrm>
            <a:off x="457200" y="245059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chemeClr val="accent1"/>
                </a:solidFill>
              </a:rPr>
              <a:t>TEAM SAPIENS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24912"/>
            <a:ext cx="5486400" cy="31089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24912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 i="0">
                <a:solidFill>
                  <a:schemeClr val="bg1"/>
                </a:solidFill>
              </a:rPr>
              <a:t>Sl. 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2491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 i="0">
                <a:solidFill>
                  <a:schemeClr val="bg1"/>
                </a:solidFill>
              </a:rPr>
              <a:t>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724912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 i="0">
                <a:solidFill>
                  <a:schemeClr val="bg1"/>
                </a:solidFill>
              </a:rPr>
              <a:t>USN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35808"/>
            <a:ext cx="5486400" cy="31089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35808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035808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chemeClr val="tx1"/>
                </a:solidFill>
              </a:rPr>
              <a:t>Karthik NHM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30358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chemeClr val="tx1"/>
                </a:solidFill>
              </a:rPr>
              <a:t>01FE24BCI072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46704"/>
            <a:ext cx="5486400" cy="3108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346704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346704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chemeClr val="tx1"/>
                </a:solidFill>
              </a:rPr>
              <a:t>Rakshita Kulkarni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346704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chemeClr val="tx1"/>
                </a:solidFill>
              </a:rPr>
              <a:t>01FE23BCS155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57600"/>
            <a:ext cx="5486400" cy="31089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657600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657600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chemeClr val="tx1"/>
                </a:solidFill>
              </a:rPr>
              <a:t>Vikas U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3657600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chemeClr val="tx1"/>
                </a:solidFill>
              </a:rPr>
              <a:t>01FE23BCI094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68496"/>
            <a:ext cx="5486400" cy="3108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968496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968496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chemeClr val="tx1"/>
                </a:solidFill>
              </a:rPr>
              <a:t>Yashas A 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3968496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chemeClr val="tx1"/>
                </a:solidFill>
              </a:rPr>
              <a:t>01FE23BCS026</a:t>
            </a:r>
          </a:p>
        </p:txBody>
      </p:sp>
      <p:sp>
        <p:nvSpPr>
          <p:cNvPr id="28" name="Users card"/>
          <p:cNvSpPr/>
          <p:nvPr/>
        </p:nvSpPr>
        <p:spPr>
          <a:xfrm>
            <a:off x="6263640" y="2450592"/>
            <a:ext cx="5468112" cy="2057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9" name="Header TARGET USERS"/>
          <p:cNvSpPr txBox="1"/>
          <p:nvPr/>
        </p:nvSpPr>
        <p:spPr>
          <a:xfrm>
            <a:off x="6492240" y="2542032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chemeClr val="accent1"/>
                </a:solidFill>
              </a:rPr>
              <a:t>TARGET USERS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2871216"/>
            <a:ext cx="1591056" cy="420624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chemeClr val="tx2"/>
                </a:solidFill>
              </a:rPr>
              <a:t>Operations staff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93023" y="2871216"/>
            <a:ext cx="1591056" cy="420624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chemeClr val="tx2"/>
                </a:solidFill>
              </a:rPr>
              <a:t>Managers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93808" y="2871216"/>
            <a:ext cx="1591056" cy="420624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chemeClr val="tx2"/>
                </a:solidFill>
              </a:rPr>
              <a:t>Analysts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401568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chemeClr val="tx1"/>
                </a:solidFill>
              </a:rPr>
              <a:t>People who run daily work in a no-code business app: sales, operations, finance, support. They know the business, not every screen or query, and ask in everyday words.</a:t>
            </a:r>
          </a:p>
        </p:txBody>
      </p:sp>
      <p:sp>
        <p:nvSpPr>
          <p:cNvPr id="34" name="Header THE PROBLEM WE SOLVE"/>
          <p:cNvSpPr txBox="1"/>
          <p:nvPr/>
        </p:nvSpPr>
        <p:spPr>
          <a:xfrm>
            <a:off x="457200" y="4443984"/>
            <a:ext cx="1127455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chemeClr val="accent1"/>
                </a:solidFill>
              </a:rPr>
              <a:t>THE PROBLEM WE SOLVE</a:t>
            </a:r>
          </a:p>
        </p:txBody>
      </p:sp>
      <p:sp>
        <p:nvSpPr>
          <p:cNvPr id="35" name="Index 1"/>
          <p:cNvSpPr txBox="1"/>
          <p:nvPr/>
        </p:nvSpPr>
        <p:spPr>
          <a:xfrm>
            <a:off x="457200" y="472744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chemeClr val="accent2"/>
                </a:solidFill>
              </a:rPr>
              <a:t>01</a:t>
            </a:r>
          </a:p>
        </p:txBody>
      </p:sp>
      <p:sp>
        <p:nvSpPr>
          <p:cNvPr id="36" name="Problem 1"/>
          <p:cNvSpPr txBox="1"/>
          <p:nvPr/>
        </p:nvSpPr>
        <p:spPr>
          <a:xfrm>
            <a:off x="1005840" y="4754880"/>
            <a:ext cx="10725912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chemeClr val="tx2"/>
                </a:solidFill>
              </a:rPr>
              <a:t>Navigation is manual. </a:t>
            </a:r>
            <a:r>
              <a:rPr sz="1500" b="0" i="0">
                <a:solidFill>
                  <a:schemeClr val="tx1"/>
                </a:solidFill>
              </a:rPr>
              <a:t>One business question must be translated into app terms (page, filters, date range, sort) and stitched together across several views by hand.</a:t>
            </a:r>
          </a:p>
        </p:txBody>
      </p:sp>
      <p:sp>
        <p:nvSpPr>
          <p:cNvPr id="37" name="Index 2"/>
          <p:cNvSpPr txBox="1"/>
          <p:nvPr/>
        </p:nvSpPr>
        <p:spPr>
          <a:xfrm>
            <a:off x="457200" y="523036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chemeClr val="accent2"/>
                </a:solidFill>
              </a:rPr>
              <a:t>02</a:t>
            </a:r>
          </a:p>
        </p:txBody>
      </p:sp>
      <p:sp>
        <p:nvSpPr>
          <p:cNvPr id="38" name="Problem 2"/>
          <p:cNvSpPr txBox="1"/>
          <p:nvPr/>
        </p:nvSpPr>
        <p:spPr>
          <a:xfrm>
            <a:off x="1005840" y="5257800"/>
            <a:ext cx="10725912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chemeClr val="tx2"/>
                </a:solidFill>
              </a:rPr>
              <a:t>Screen-clicking agents are brittle. </a:t>
            </a:r>
            <a:r>
              <a:rPr sz="1500" b="0" i="0">
                <a:solidFill>
                  <a:schemeClr val="tx1"/>
                </a:solidFill>
              </a:rPr>
              <a:t>Only 9–19% of multi-step enterprise workflows succeed (UI-CUBE, 2025): they must locate every element on the page (grounding), and errors compound with each step.</a:t>
            </a:r>
          </a:p>
        </p:txBody>
      </p:sp>
      <p:sp>
        <p:nvSpPr>
          <p:cNvPr id="39" name="Index 3"/>
          <p:cNvSpPr txBox="1"/>
          <p:nvPr/>
        </p:nvSpPr>
        <p:spPr>
          <a:xfrm>
            <a:off x="457200" y="573328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chemeClr val="accent2"/>
                </a:solidFill>
              </a:rPr>
              <a:t>03</a:t>
            </a:r>
          </a:p>
        </p:txBody>
      </p:sp>
      <p:sp>
        <p:nvSpPr>
          <p:cNvPr id="40" name="Problem 3"/>
          <p:cNvSpPr txBox="1"/>
          <p:nvPr/>
        </p:nvSpPr>
        <p:spPr>
          <a:xfrm>
            <a:off x="1005840" y="5760720"/>
            <a:ext cx="10725912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chemeClr val="tx2"/>
                </a:solidFill>
              </a:rPr>
              <a:t>Answers are not verifiable. </a:t>
            </a:r>
            <a:r>
              <a:rPr sz="1500" b="0" i="0">
                <a:solidFill>
                  <a:schemeClr val="tx1"/>
                </a:solidFill>
              </a:rPr>
              <a:t>Agents report a filter as applied without checking it, and AI-written SQL can mix units, levels of detail or periods, with no trace back to the view.</a:t>
            </a:r>
          </a:p>
        </p:txBody>
      </p:sp>
      <p:sp>
        <p:nvSpPr>
          <p:cNvPr id="41" name="Index 4"/>
          <p:cNvSpPr txBox="1"/>
          <p:nvPr/>
        </p:nvSpPr>
        <p:spPr>
          <a:xfrm>
            <a:off x="457200" y="623620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chemeClr val="accent2"/>
                </a:solidFill>
              </a:rPr>
              <a:t>04</a:t>
            </a:r>
          </a:p>
        </p:txBody>
      </p:sp>
      <p:sp>
        <p:nvSpPr>
          <p:cNvPr id="42" name="Problem 4"/>
          <p:cNvSpPr txBox="1"/>
          <p:nvPr/>
        </p:nvSpPr>
        <p:spPr>
          <a:xfrm>
            <a:off x="1005840" y="6263640"/>
            <a:ext cx="10725912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chemeClr val="tx2"/>
                </a:solidFill>
              </a:rPr>
              <a:t>Context is lost between turns. </a:t>
            </a:r>
            <a:r>
              <a:rPr sz="1500" b="0" i="0">
                <a:solidFill>
                  <a:schemeClr val="tx1"/>
                </a:solidFill>
              </a:rPr>
              <a:t>Follow-ups like “this item” or “same period” depend on live page state that a stateless chatbot does not track.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LE Technological University logo" descr="KLE Technological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292608"/>
            <a:ext cx="1920240" cy="360045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57200" y="274320"/>
            <a:ext cx="9079992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600" b="1" i="0">
                <a:solidFill>
                  <a:schemeClr val="tx2"/>
                </a:solidFill>
              </a:rPr>
              <a:t>Proposed Solution and Objectives</a:t>
            </a:r>
          </a:p>
        </p:txBody>
      </p:sp>
      <p:sp>
        <p:nvSpPr>
          <p:cNvPr id="4" name="Idea banner"/>
          <p:cNvSpPr/>
          <p:nvPr/>
        </p:nvSpPr>
        <p:spPr>
          <a:xfrm>
            <a:off x="457200" y="960120"/>
            <a:ext cx="11274552" cy="4572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/>
            <a:r>
              <a:rPr sz="1500" b="1" i="0">
                <a:solidFill>
                  <a:schemeClr val="accent2"/>
                </a:solidFill>
              </a:rPr>
              <a:t>Our idea: </a:t>
            </a:r>
            <a:r>
              <a:rPr sz="1500" b="0" i="0">
                <a:solidFill>
                  <a:schemeClr val="bg1"/>
                </a:solidFill>
              </a:rPr>
              <a:t>ask in plain words; the agent opens the right page, sets filters, reads data and answers with sources.</a:t>
            </a:r>
          </a:p>
        </p:txBody>
      </p:sp>
      <p:sp>
        <p:nvSpPr>
          <p:cNvPr id="5" name="Card Application Contract"/>
          <p:cNvSpPr/>
          <p:nvPr/>
        </p:nvSpPr>
        <p:spPr>
          <a:xfrm>
            <a:off x="457200" y="1554480"/>
            <a:ext cx="5559552" cy="1078992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/>
            <a:r>
              <a:rPr sz="1600" b="1" i="0">
                <a:solidFill>
                  <a:schemeClr val="tx2"/>
                </a:solidFill>
              </a:rPr>
              <a:t>Application Contract</a:t>
            </a:r>
            <a:r>
              <a:rPr sz="1500" b="0" i="1">
                <a:solidFill>
                  <a:schemeClr val="accent3"/>
                </a:solidFill>
              </a:rPr>
              <a:t>   prepared once per app, as JSON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chemeClr val="tx1"/>
                </a:solidFill>
              </a:rPr>
              <a:t>Every page and filter with its allowed values, and each measure as one named query with its unit, level of detail and time period.</a:t>
            </a:r>
          </a:p>
        </p:txBody>
      </p:sp>
      <p:sp>
        <p:nvSpPr>
          <p:cNvPr id="6" name="Card Live page (DOM)"/>
          <p:cNvSpPr/>
          <p:nvPr/>
        </p:nvSpPr>
        <p:spPr>
          <a:xfrm>
            <a:off x="6172200" y="1554480"/>
            <a:ext cx="5559552" cy="1078992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/>
            <a:r>
              <a:rPr sz="1600" b="1" i="0">
                <a:solidFill>
                  <a:schemeClr val="tx2"/>
                </a:solidFill>
              </a:rPr>
              <a:t>Live page (DOM)</a:t>
            </a:r>
            <a:r>
              <a:rPr sz="1500" b="0" i="1">
                <a:solidFill>
                  <a:schemeClr val="accent3"/>
                </a:solidFill>
              </a:rPr>
              <a:t>   read at every step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chemeClr val="tx1"/>
                </a:solidFill>
              </a:rPr>
              <a:t>What is actually on screen now: the open page, the applied filters and the selected row. Used to verify that each action took effect.</a:t>
            </a:r>
          </a:p>
        </p:txBody>
      </p:sp>
      <p:sp>
        <p:nvSpPr>
          <p:cNvPr id="7" name="Header OUR OBJECTIVES  ·  H"/>
          <p:cNvSpPr txBox="1"/>
          <p:nvPr/>
        </p:nvSpPr>
        <p:spPr>
          <a:xfrm>
            <a:off x="457200" y="2743200"/>
            <a:ext cx="1127455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chemeClr val="accent1"/>
                </a:solidFill>
              </a:rPr>
              <a:t>OUR OBJECTIVES  ·  HOW WE ACHIEVE THEM  ·  HOW WE MEASURE THEM</a:t>
            </a:r>
          </a:p>
        </p:txBody>
      </p:sp>
      <p:graphicFrame>
        <p:nvGraphicFramePr>
          <p:cNvPr id="8" name="Objectives table"/>
          <p:cNvGraphicFramePr>
            <a:graphicFrameLocks noGrp="1"/>
          </p:cNvGraphicFramePr>
          <p:nvPr/>
        </p:nvGraphicFramePr>
        <p:xfrm>
          <a:off x="457200" y="3054096"/>
          <a:ext cx="11274552" cy="33649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14600"/>
                <a:gridCol w="6355080"/>
                <a:gridCol w="2404872"/>
              </a:tblGrid>
              <a:tr h="34747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bg1"/>
                          </a:solidFill>
                        </a:rPr>
                        <a:t>Objective</a:t>
                      </a:r>
                    </a:p>
                  </a:txBody>
                  <a:tcPr marL="91440" marR="91440" marT="27432" marB="27432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bg1"/>
                          </a:solidFill>
                        </a:rPr>
                        <a:t>How we achieve it</a:t>
                      </a:r>
                    </a:p>
                  </a:txBody>
                  <a:tcPr marL="91440" marR="91440" marT="27432" marB="27432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bg1"/>
                          </a:solidFill>
                        </a:rPr>
                        <a:t>How we measure it</a:t>
                      </a:r>
                    </a:p>
                  </a:txBody>
                  <a:tcPr marL="91440" marR="91440" marT="27432" marB="27432" anchor="ctr">
                    <a:solidFill>
                      <a:schemeClr val="tx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accent2"/>
                          </a:solidFill>
                        </a:rPr>
                        <a:t>1  </a:t>
                      </a:r>
                      <a:r>
                        <a:rPr sz="1500" b="1">
                          <a:solidFill>
                            <a:schemeClr val="tx2"/>
                          </a:solidFill>
                        </a:rPr>
                        <a:t>Reach the right page</a:t>
                      </a:r>
                    </a:p>
                  </a:txBody>
                  <a:tcPr marL="91440" marR="91440"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Parse intent and slots (entity, measure, period, filters); shortlist only pages whose filters accept them; otherwise say “none fits”.</a:t>
                      </a:r>
                    </a:p>
                  </a:txBody>
                  <a:tcPr marL="91440" marR="91440"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accent1"/>
                          </a:solidFill>
                        </a:rPr>
                        <a:t>Top-1 page accuracy on unseen questions</a:t>
                      </a:r>
                    </a:p>
                  </a:txBody>
                  <a:tcPr marL="91440" marR="91440" marT="27432" marB="27432" anchor="ctr"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accent2"/>
                          </a:solidFill>
                        </a:rPr>
                        <a:t>2  </a:t>
                      </a:r>
                      <a:r>
                        <a:rPr sz="1500" b="1">
                          <a:solidFill>
                            <a:schemeClr val="tx2"/>
                          </a:solidFill>
                        </a:rPr>
                        <a:t>Set the exact view</a:t>
                      </a:r>
                    </a:p>
                  </a:txBody>
                  <a:tcPr marL="91440" marR="91440" marT="27432" marB="27432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Apply page, filters, dates and sort as one validated URL state change, then read the live page back; retry once, else undo.</a:t>
                      </a:r>
                    </a:p>
                  </a:txBody>
                  <a:tcPr marL="91440" marR="91440" marT="27432" marB="27432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accent1"/>
                          </a:solidFill>
                        </a:rPr>
                        <a:t>Requested vs applied state: exact match</a:t>
                      </a:r>
                    </a:p>
                  </a:txBody>
                  <a:tcPr marL="91440" marR="91440" marT="27432" marB="27432" anchor="ctr"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accent2"/>
                          </a:solidFill>
                        </a:rPr>
                        <a:t>3  </a:t>
                      </a:r>
                      <a:r>
                        <a:rPr sz="1500" b="1">
                          <a:solidFill>
                            <a:schemeClr val="tx2"/>
                          </a:solidFill>
                        </a:rPr>
                        <a:t>Give faithful figures</a:t>
                      </a:r>
                    </a:p>
                  </a:txBody>
                  <a:tcPr marL="91440" marR="91440"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Compute only through the Contract’s named measures (no free-form SQL); bind each figure to its measure, filters and period.</a:t>
                      </a:r>
                    </a:p>
                  </a:txBody>
                  <a:tcPr marL="91440" marR="91440"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accent1"/>
                          </a:solidFill>
                        </a:rPr>
                        <a:t>Figures correct; 100% carry a source</a:t>
                      </a:r>
                    </a:p>
                  </a:txBody>
                  <a:tcPr marL="91440" marR="91440" marT="27432" marB="27432" anchor="ctr"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accent2"/>
                          </a:solidFill>
                        </a:rPr>
                        <a:t>4  </a:t>
                      </a:r>
                      <a:r>
                        <a:rPr sz="1500" b="1">
                          <a:solidFill>
                            <a:schemeClr val="tx2"/>
                          </a:solidFill>
                        </a:rPr>
                        <a:t>Keep context across turns</a:t>
                      </a:r>
                    </a:p>
                  </a:txBody>
                  <a:tcPr marL="91440" marR="91440" marT="27432" marB="27432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Checkpoint the page, filters, selection and past results per conversation, so “this item” resolves to a real record.</a:t>
                      </a:r>
                    </a:p>
                  </a:txBody>
                  <a:tcPr marL="91440" marR="91440" marT="27432" marB="27432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accent1"/>
                          </a:solidFill>
                        </a:rPr>
                        <a:t>Follow-up tasks solved correctly</a:t>
                      </a:r>
                    </a:p>
                  </a:txBody>
                  <a:tcPr marL="91440" marR="91440" marT="27432" marB="27432" anchor="ctr"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accent2"/>
                          </a:solidFill>
                        </a:rPr>
                        <a:t>5  </a:t>
                      </a:r>
                      <a:r>
                        <a:rPr sz="1500" b="1">
                          <a:solidFill>
                            <a:schemeClr val="tx2"/>
                          </a:solidFill>
                        </a:rPr>
                        <a:t>Never invent an action</a:t>
                      </a:r>
                    </a:p>
                  </a:txBody>
                  <a:tcPr marL="91440" marR="91440"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Validate every call against the Contract’s allowed pages, values and dependencies; confirm any write against the exact pending change.</a:t>
                      </a:r>
                    </a:p>
                  </a:txBody>
                  <a:tcPr marL="91440" marR="91440"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accent1"/>
                          </a:solidFill>
                        </a:rPr>
                        <a:t>Invalid actions ≈ 0; no false “success”</a:t>
                      </a:r>
                    </a:p>
                  </a:txBody>
                  <a:tcPr marL="91440" marR="91440" marT="27432" marB="27432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Measure definition"/>
          <p:cNvSpPr txBox="1"/>
          <p:nvPr/>
        </p:nvSpPr>
        <p:spPr>
          <a:xfrm>
            <a:off x="457200" y="6455664"/>
            <a:ext cx="1127455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 i="0">
                <a:solidFill>
                  <a:schemeClr val="tx2"/>
                </a:solidFill>
              </a:rPr>
              <a:t>Measure</a:t>
            </a:r>
            <a:r>
              <a:rPr sz="1500" b="0" i="0">
                <a:solidFill>
                  <a:schemeClr val="accent3"/>
                </a:solidFill>
              </a:rPr>
              <a:t> = a named calculation over business data, e.g. </a:t>
            </a:r>
            <a:r>
              <a:rPr sz="1500" b="1" i="0">
                <a:solidFill>
                  <a:schemeClr val="accent3"/>
                </a:solidFill>
              </a:rPr>
              <a:t>late deliveries</a:t>
            </a:r>
            <a:r>
              <a:rPr sz="1500" b="0" i="0">
                <a:solidFill>
                  <a:schemeClr val="accent3"/>
                </a:solidFill>
              </a:rPr>
              <a:t> = deliveries that arrived after the promised 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LE Technological University logo" descr="KLE Technological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292608"/>
            <a:ext cx="1920240" cy="360045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57200" y="274320"/>
            <a:ext cx="9079992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600" b="1" i="0">
                <a:solidFill>
                  <a:schemeClr val="tx2"/>
                </a:solidFill>
              </a:rPr>
              <a:t>Innovation and Existing Alternatives</a:t>
            </a:r>
          </a:p>
        </p:txBody>
      </p:sp>
      <p:sp>
        <p:nvSpPr>
          <p:cNvPr id="4" name="Stat 1"/>
          <p:cNvSpPr/>
          <p:nvPr/>
        </p:nvSpPr>
        <p:spPr>
          <a:xfrm>
            <a:off x="457200" y="960120"/>
            <a:ext cx="2647188" cy="1170432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96696"/>
            <a:ext cx="2372868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chemeClr val="accent2"/>
                </a:solidFill>
              </a:rPr>
              <a:t>9–19%</a:t>
            </a:r>
          </a:p>
          <a:p>
            <a:pPr algn="l"/>
            <a:r>
              <a:rPr sz="1500" b="0" i="0">
                <a:solidFill>
                  <a:schemeClr val="tx1"/>
                </a:solidFill>
              </a:rPr>
              <a:t>enterprise workflows finished by clicking agents (UI‑CUBE)</a:t>
            </a:r>
          </a:p>
        </p:txBody>
      </p:sp>
      <p:sp>
        <p:nvSpPr>
          <p:cNvPr id="6" name="Stat 2"/>
          <p:cNvSpPr/>
          <p:nvPr/>
        </p:nvSpPr>
        <p:spPr>
          <a:xfrm>
            <a:off x="3332988" y="960120"/>
            <a:ext cx="2647188" cy="1170432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0148" y="996696"/>
            <a:ext cx="2372868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chemeClr val="accent2"/>
                </a:solidFill>
              </a:rPr>
              <a:t>61%</a:t>
            </a:r>
          </a:p>
          <a:p>
            <a:pPr algn="l"/>
            <a:r>
              <a:rPr sz="1500" b="0" i="0">
                <a:solidFill>
                  <a:schemeClr val="tx1"/>
                </a:solidFill>
              </a:rPr>
              <a:t>complex tasks finished by people new to the app (UI‑CUBE)</a:t>
            </a:r>
          </a:p>
        </p:txBody>
      </p:sp>
      <p:sp>
        <p:nvSpPr>
          <p:cNvPr id="8" name="Stat 3"/>
          <p:cNvSpPr/>
          <p:nvPr/>
        </p:nvSpPr>
        <p:spPr>
          <a:xfrm>
            <a:off x="6208776" y="960120"/>
            <a:ext cx="2647188" cy="1170432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5936" y="996696"/>
            <a:ext cx="2372868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chemeClr val="accent1"/>
                </a:solidFill>
              </a:rPr>
              <a:t>14.8% → 38.9%</a:t>
            </a:r>
          </a:p>
          <a:p>
            <a:pPr algn="l"/>
            <a:r>
              <a:rPr sz="1500" b="0" i="0">
                <a:solidFill>
                  <a:schemeClr val="tx1"/>
                </a:solidFill>
              </a:rPr>
              <a:t>when agents call the app directly, not just click (WebArena)</a:t>
            </a:r>
          </a:p>
        </p:txBody>
      </p:sp>
      <p:sp>
        <p:nvSpPr>
          <p:cNvPr id="10" name="Stat 4"/>
          <p:cNvSpPr/>
          <p:nvPr/>
        </p:nvSpPr>
        <p:spPr>
          <a:xfrm>
            <a:off x="9084564" y="960120"/>
            <a:ext cx="2647188" cy="1170432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21724" y="996696"/>
            <a:ext cx="2372868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chemeClr val="accent1"/>
                </a:solidFill>
              </a:rPr>
              <a:t>~72%</a:t>
            </a:r>
          </a:p>
          <a:p>
            <a:pPr algn="l"/>
            <a:r>
              <a:rPr sz="1500" b="0" i="0">
                <a:solidFill>
                  <a:schemeClr val="tx1"/>
                </a:solidFill>
              </a:rPr>
              <a:t>best clicking agents today, but on generic websites</a:t>
            </a:r>
          </a:p>
        </p:txBody>
      </p:sp>
      <p:sp>
        <p:nvSpPr>
          <p:cNvPr id="12" name="Header HOW EXISTING APPROAC"/>
          <p:cNvSpPr txBox="1"/>
          <p:nvPr/>
        </p:nvSpPr>
        <p:spPr>
          <a:xfrm>
            <a:off x="457200" y="2240280"/>
            <a:ext cx="1127455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chemeClr val="accent1"/>
                </a:solidFill>
              </a:rPr>
              <a:t>HOW EXISTING APPROACHES COMPARE</a:t>
            </a:r>
          </a:p>
        </p:txBody>
      </p:sp>
      <p:graphicFrame>
        <p:nvGraphicFramePr>
          <p:cNvPr id="13" name="Comparison matrix"/>
          <p:cNvGraphicFramePr>
            <a:graphicFrameLocks noGrp="1"/>
          </p:cNvGraphicFramePr>
          <p:nvPr/>
        </p:nvGraphicFramePr>
        <p:xfrm>
          <a:off x="457200" y="2560320"/>
          <a:ext cx="11274552" cy="23957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/>
                <a:gridCol w="1376172"/>
                <a:gridCol w="1376172"/>
                <a:gridCol w="1376172"/>
                <a:gridCol w="1376172"/>
                <a:gridCol w="1376172"/>
                <a:gridCol w="1376172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chemeClr val="bg1"/>
                          </a:solidFill>
                        </a:rPr>
                        <a:t>Approach</a:t>
                      </a:r>
                    </a:p>
                  </a:txBody>
                  <a:tcPr marL="73152" marR="73152" marT="18288" marB="18288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chemeClr val="bg1"/>
                          </a:solidFill>
                        </a:rPr>
                        <a:t>Operates the app</a:t>
                      </a:r>
                    </a:p>
                  </a:txBody>
                  <a:tcPr marL="73152" marR="73152" marT="18288" marB="18288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chemeClr val="bg1"/>
                          </a:solidFill>
                        </a:rPr>
                        <a:t>No per-app setup</a:t>
                      </a:r>
                    </a:p>
                  </a:txBody>
                  <a:tcPr marL="73152" marR="73152" marT="18288" marB="18288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chemeClr val="bg1"/>
                          </a:solidFill>
                        </a:rPr>
                        <a:t>Understands measures</a:t>
                      </a:r>
                    </a:p>
                  </a:txBody>
                  <a:tcPr marL="73152" marR="73152" marT="18288" marB="18288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chemeClr val="bg1"/>
                          </a:solidFill>
                        </a:rPr>
                        <a:t>Checks the result</a:t>
                      </a:r>
                    </a:p>
                  </a:txBody>
                  <a:tcPr marL="73152" marR="73152" marT="18288" marB="18288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chemeClr val="bg1"/>
                          </a:solidFill>
                        </a:rPr>
                        <a:t>Figures traced to source</a:t>
                      </a:r>
                    </a:p>
                  </a:txBody>
                  <a:tcPr marL="73152" marR="73152" marT="18288" marB="18288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chemeClr val="bg1"/>
                          </a:solidFill>
                        </a:rPr>
                        <a:t>Keeps context</a:t>
                      </a:r>
                    </a:p>
                  </a:txBody>
                  <a:tcPr marL="73152" marR="73152" marT="18288" marB="18288" anchor="ctr"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chemeClr val="tx2"/>
                          </a:solidFill>
                        </a:rPr>
                        <a:t>Chat-BI, text-to-SQL</a:t>
                      </a:r>
                    </a:p>
                  </a:txBody>
                  <a:tcPr marL="73152" marR="73152" marT="18288" marB="1828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E6B73"/>
                          </a:solidFill>
                        </a:rPr>
                        <a:t>No</a:t>
                      </a:r>
                    </a:p>
                  </a:txBody>
                  <a:tcPr marL="73152" marR="73152" marT="18288" marB="18288" anchor="ctr">
                    <a:solidFill>
                      <a:srgbClr val="E9EC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B33"/>
                          </a:solidFill>
                        </a:rPr>
                        <a:t>Partly</a:t>
                      </a:r>
                    </a:p>
                  </a:txBody>
                  <a:tcPr marL="73152" marR="73152" marT="18288" marB="18288" anchor="ctr">
                    <a:solidFill>
                      <a:srgbClr val="F7DE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B33"/>
                          </a:solidFill>
                        </a:rPr>
                        <a:t>Partly</a:t>
                      </a:r>
                    </a:p>
                  </a:txBody>
                  <a:tcPr marL="73152" marR="73152" marT="18288" marB="18288" anchor="ctr">
                    <a:solidFill>
                      <a:srgbClr val="F7DE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E6B73"/>
                          </a:solidFill>
                        </a:rPr>
                        <a:t>No</a:t>
                      </a:r>
                    </a:p>
                  </a:txBody>
                  <a:tcPr marL="73152" marR="73152" marT="18288" marB="18288" anchor="ctr">
                    <a:solidFill>
                      <a:srgbClr val="E9EC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B33"/>
                          </a:solidFill>
                        </a:rPr>
                        <a:t>Partly</a:t>
                      </a:r>
                    </a:p>
                  </a:txBody>
                  <a:tcPr marL="73152" marR="73152" marT="18288" marB="18288" anchor="ctr">
                    <a:solidFill>
                      <a:srgbClr val="F7DE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B33"/>
                          </a:solidFill>
                        </a:rPr>
                        <a:t>Partly</a:t>
                      </a:r>
                    </a:p>
                  </a:txBody>
                  <a:tcPr marL="73152" marR="73152" marT="18288" marB="18288" anchor="ctr">
                    <a:solidFill>
                      <a:srgbClr val="F7DE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chemeClr val="tx2"/>
                          </a:solidFill>
                        </a:rPr>
                        <a:t>Screen-clicking agents</a:t>
                      </a:r>
                    </a:p>
                  </a:txBody>
                  <a:tcPr marL="73152" marR="73152" marT="18288" marB="1828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1A7F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1A7F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E6B73"/>
                          </a:solidFill>
                        </a:rPr>
                        <a:t>No</a:t>
                      </a:r>
                    </a:p>
                  </a:txBody>
                  <a:tcPr marL="73152" marR="73152" marT="18288" marB="18288" anchor="ctr">
                    <a:solidFill>
                      <a:srgbClr val="E9EC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B33"/>
                          </a:solidFill>
                        </a:rPr>
                        <a:t>Partly</a:t>
                      </a:r>
                    </a:p>
                  </a:txBody>
                  <a:tcPr marL="73152" marR="73152" marT="18288" marB="18288" anchor="ctr">
                    <a:solidFill>
                      <a:srgbClr val="F7DE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E6B73"/>
                          </a:solidFill>
                        </a:rPr>
                        <a:t>No</a:t>
                      </a:r>
                    </a:p>
                  </a:txBody>
                  <a:tcPr marL="73152" marR="73152" marT="18288" marB="18288" anchor="ctr">
                    <a:solidFill>
                      <a:srgbClr val="E9EC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B33"/>
                          </a:solidFill>
                        </a:rPr>
                        <a:t>Partly</a:t>
                      </a:r>
                    </a:p>
                  </a:txBody>
                  <a:tcPr marL="73152" marR="73152" marT="18288" marB="18288" anchor="ctr">
                    <a:solidFill>
                      <a:srgbClr val="F7DE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chemeClr val="tx2"/>
                          </a:solidFill>
                        </a:rPr>
                        <a:t>Embedded (EmbeWebAgent)</a:t>
                      </a:r>
                    </a:p>
                  </a:txBody>
                  <a:tcPr marL="73152" marR="73152" marT="18288" marB="1828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1A7F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E6B73"/>
                          </a:solidFill>
                        </a:rPr>
                        <a:t>No</a:t>
                      </a:r>
                    </a:p>
                  </a:txBody>
                  <a:tcPr marL="73152" marR="73152" marT="18288" marB="18288" anchor="ctr">
                    <a:solidFill>
                      <a:srgbClr val="E9EC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E6B73"/>
                          </a:solidFill>
                        </a:rPr>
                        <a:t>No</a:t>
                      </a:r>
                    </a:p>
                  </a:txBody>
                  <a:tcPr marL="73152" marR="73152" marT="18288" marB="18288" anchor="ctr">
                    <a:solidFill>
                      <a:srgbClr val="E9EC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B33"/>
                          </a:solidFill>
                        </a:rPr>
                        <a:t>Partly</a:t>
                      </a:r>
                    </a:p>
                  </a:txBody>
                  <a:tcPr marL="73152" marR="73152" marT="18288" marB="18288" anchor="ctr">
                    <a:solidFill>
                      <a:srgbClr val="F7DE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E6B73"/>
                          </a:solidFill>
                        </a:rPr>
                        <a:t>No</a:t>
                      </a:r>
                    </a:p>
                  </a:txBody>
                  <a:tcPr marL="73152" marR="73152" marT="18288" marB="18288" anchor="ctr">
                    <a:solidFill>
                      <a:srgbClr val="E9EC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B33"/>
                          </a:solidFill>
                        </a:rPr>
                        <a:t>Partly</a:t>
                      </a:r>
                    </a:p>
                  </a:txBody>
                  <a:tcPr marL="73152" marR="73152" marT="18288" marB="18288" anchor="ctr">
                    <a:solidFill>
                      <a:srgbClr val="F7DE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chemeClr val="tx2"/>
                          </a:solidFill>
                        </a:rPr>
                        <a:t>App-state protocol (VACP)</a:t>
                      </a:r>
                    </a:p>
                  </a:txBody>
                  <a:tcPr marL="73152" marR="73152" marT="18288" marB="1828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1A7F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E6B73"/>
                          </a:solidFill>
                        </a:rPr>
                        <a:t>No</a:t>
                      </a:r>
                    </a:p>
                  </a:txBody>
                  <a:tcPr marL="73152" marR="73152" marT="18288" marB="18288" anchor="ctr">
                    <a:solidFill>
                      <a:srgbClr val="E9EC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B33"/>
                          </a:solidFill>
                        </a:rPr>
                        <a:t>Partly</a:t>
                      </a:r>
                    </a:p>
                  </a:txBody>
                  <a:tcPr marL="73152" marR="73152" marT="18288" marB="18288" anchor="ctr">
                    <a:solidFill>
                      <a:srgbClr val="F7DE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1A7F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D2B33"/>
                          </a:solidFill>
                        </a:rPr>
                        <a:t>Partly</a:t>
                      </a:r>
                    </a:p>
                  </a:txBody>
                  <a:tcPr marL="73152" marR="73152" marT="18288" marB="18288" anchor="ctr">
                    <a:solidFill>
                      <a:srgbClr val="F7DE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1A7F8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chemeClr val="bg1"/>
                          </a:solidFill>
                        </a:rPr>
                        <a:t>Ours</a:t>
                      </a:r>
                    </a:p>
                  </a:txBody>
                  <a:tcPr marL="73152" marR="73152" marT="18288" marB="1828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1A7F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5E6B73"/>
                          </a:solidFill>
                        </a:rPr>
                        <a:t>No</a:t>
                      </a:r>
                    </a:p>
                  </a:txBody>
                  <a:tcPr marL="73152" marR="73152" marT="18288" marB="18288" anchor="ctr">
                    <a:solidFill>
                      <a:srgbClr val="E9EC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1A7F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1A7F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1A7F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1A7F8E"/>
                    </a:solidFill>
                  </a:tcPr>
                </a:tc>
              </a:tr>
            </a:tbl>
          </a:graphicData>
        </a:graphic>
      </p:graphicFrame>
      <p:sp>
        <p:nvSpPr>
          <p:cNvPr id="14" name="Header WHAT IS NEW IN OURS"/>
          <p:cNvSpPr txBox="1"/>
          <p:nvPr/>
        </p:nvSpPr>
        <p:spPr>
          <a:xfrm>
            <a:off x="457200" y="5138928"/>
            <a:ext cx="1127455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chemeClr val="accent1"/>
                </a:solidFill>
              </a:rPr>
              <a:t>WHAT IS NEW IN OURS</a:t>
            </a:r>
          </a:p>
        </p:txBody>
      </p:sp>
      <p:sp>
        <p:nvSpPr>
          <p:cNvPr id="15" name="New 1"/>
          <p:cNvSpPr/>
          <p:nvPr/>
        </p:nvSpPr>
        <p:spPr>
          <a:xfrm>
            <a:off x="457200" y="5440680"/>
            <a:ext cx="3605784" cy="932688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4360" y="5513832"/>
            <a:ext cx="347472" cy="34747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5504688"/>
            <a:ext cx="2919984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chemeClr val="tx2"/>
                </a:solidFill>
              </a:rPr>
              <a:t>Meaning is written 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897880"/>
            <a:ext cx="3331464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chemeClr val="tx1"/>
                </a:solidFill>
              </a:rPr>
              <a:t>Each measure’s unit, level of detail and period is declared.</a:t>
            </a:r>
          </a:p>
        </p:txBody>
      </p:sp>
      <p:sp>
        <p:nvSpPr>
          <p:cNvPr id="19" name="New 2"/>
          <p:cNvSpPr/>
          <p:nvPr/>
        </p:nvSpPr>
        <p:spPr>
          <a:xfrm>
            <a:off x="4291584" y="5440680"/>
            <a:ext cx="3605784" cy="932688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28744" y="5513832"/>
            <a:ext cx="347472" cy="34747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8512" y="5504688"/>
            <a:ext cx="2919984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chemeClr val="tx2"/>
                </a:solidFill>
              </a:rPr>
              <a:t>Checked before and after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8744" y="5897880"/>
            <a:ext cx="3331464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chemeClr val="tx1"/>
                </a:solidFill>
              </a:rPr>
              <a:t>Checked against the Contract, then confirmed on the live page.</a:t>
            </a:r>
          </a:p>
        </p:txBody>
      </p:sp>
      <p:sp>
        <p:nvSpPr>
          <p:cNvPr id="23" name="New 3"/>
          <p:cNvSpPr/>
          <p:nvPr/>
        </p:nvSpPr>
        <p:spPr>
          <a:xfrm>
            <a:off x="8125968" y="5440680"/>
            <a:ext cx="3605784" cy="932688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63128" y="5513832"/>
            <a:ext cx="347472" cy="34747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92896" y="5504688"/>
            <a:ext cx="2919984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chemeClr val="tx2"/>
                </a:solidFill>
              </a:rPr>
              <a:t>Every figure has a source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3128" y="5897880"/>
            <a:ext cx="3331464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chemeClr val="tx1"/>
                </a:solidFill>
              </a:rPr>
              <a:t>Each figure names its measure, filters and period.</a:t>
            </a:r>
          </a:p>
        </p:txBody>
      </p:sp>
      <p:sp>
        <p:nvSpPr>
          <p:cNvPr id="27" name="Honest note"/>
          <p:cNvSpPr txBox="1"/>
          <p:nvPr/>
        </p:nvSpPr>
        <p:spPr>
          <a:xfrm>
            <a:off x="457200" y="6455664"/>
            <a:ext cx="1127455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1">
                <a:solidFill>
                  <a:schemeClr val="accent3"/>
                </a:solidFill>
              </a:rPr>
              <a:t>Each mechanism has published precedent; our claim is the combination for business apps, tested with our checks on vs off.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LE Technological University logo" descr="KLE Technological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292608"/>
            <a:ext cx="1920240" cy="360045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57200" y="274320"/>
            <a:ext cx="9082735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chemeClr val="tx2"/>
                </a:solidFill>
              </a:rPr>
              <a:t>System Architecture and Workflow</a:t>
            </a:r>
          </a:p>
        </p:txBody>
      </p:sp>
      <p:sp>
        <p:nvSpPr>
          <p:cNvPr id="4" name="PHASE 1 band"/>
          <p:cNvSpPr/>
          <p:nvPr/>
        </p:nvSpPr>
        <p:spPr>
          <a:xfrm>
            <a:off x="868680" y="1024128"/>
            <a:ext cx="10863072" cy="1298448"/>
          </a:xfrm>
          <a:prstGeom prst="rect">
            <a:avLst/>
          </a:prstGeom>
          <a:solidFill>
            <a:srgbClr val="F2F6FF"/>
          </a:solidFill>
          <a:ln w="25400">
            <a:solidFill>
              <a:srgbClr val="2563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5" name="PHASE 1 tab"/>
          <p:cNvSpPr/>
          <p:nvPr/>
        </p:nvSpPr>
        <p:spPr>
          <a:xfrm>
            <a:off x="457200" y="1024128"/>
            <a:ext cx="384048" cy="12984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 vert="vert270"/>
          <a:lstStyle/>
          <a:p>
            <a:pPr algn="ctr"/>
            <a:r>
              <a:rPr sz="1500" b="1" i="0">
                <a:solidFill>
                  <a:schemeClr val="bg1"/>
                </a:solidFill>
              </a:rPr>
              <a:t>PHASE 1</a:t>
            </a:r>
          </a:p>
        </p:txBody>
      </p:sp>
      <p:sp>
        <p:nvSpPr>
          <p:cNvPr id="6" name="PHASE 1 heading"/>
          <p:cNvSpPr txBox="1"/>
          <p:nvPr/>
        </p:nvSpPr>
        <p:spPr>
          <a:xfrm>
            <a:off x="1005840" y="1060704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2563EB"/>
                </a:solidFill>
              </a:rPr>
              <a:t>Prepare the Contract  ·  offline, once per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371600"/>
            <a:ext cx="24414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500" b="1" i="0">
                <a:solidFill>
                  <a:schemeClr val="tx2"/>
                </a:solidFill>
              </a:rPr>
              <a:t>Platform metadata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pages, widgets,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filters, routes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47288" y="1792224"/>
            <a:ext cx="274320" cy="0"/>
          </a:xfrm>
          <a:prstGeom prst="line">
            <a:avLst/>
          </a:prstGeom>
          <a:ln w="2540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21608" y="1371600"/>
            <a:ext cx="24414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500" b="1" i="0">
                <a:solidFill>
                  <a:schemeClr val="tx2"/>
                </a:solidFill>
              </a:rPr>
              <a:t>Contract builder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adds unit, level of detail,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period (AI draft + review)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63056" y="1792224"/>
            <a:ext cx="274320" cy="0"/>
          </a:xfrm>
          <a:prstGeom prst="line">
            <a:avLst/>
          </a:prstGeom>
          <a:ln w="2540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37375" y="1371600"/>
            <a:ext cx="24414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500" b="1" i="0">
                <a:solidFill>
                  <a:schemeClr val="tx2"/>
                </a:solidFill>
              </a:rPr>
              <a:t>Claim checks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SQL tests that each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definition holds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78824" y="1792224"/>
            <a:ext cx="274320" cy="0"/>
          </a:xfrm>
          <a:prstGeom prst="line">
            <a:avLst/>
          </a:prstGeom>
          <a:ln w="2540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53144" y="1371600"/>
            <a:ext cx="2441448" cy="841248"/>
          </a:xfrm>
          <a:prstGeom prst="roundRect">
            <a:avLst>
              <a:gd name="adj" fmla="val 12000"/>
            </a:avLst>
          </a:prstGeom>
          <a:solidFill>
            <a:srgbClr val="FFF1E6"/>
          </a:solidFill>
          <a:ln w="2857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500" b="1" i="0">
                <a:solidFill>
                  <a:srgbClr val="9A3412"/>
                </a:solidFill>
              </a:rPr>
              <a:t>★ Application Contract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allowed pages and filters;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measures as named queries</a:t>
            </a:r>
          </a:p>
        </p:txBody>
      </p:sp>
      <p:sp>
        <p:nvSpPr>
          <p:cNvPr id="14" name="PHASE 2 band"/>
          <p:cNvSpPr/>
          <p:nvPr/>
        </p:nvSpPr>
        <p:spPr>
          <a:xfrm>
            <a:off x="868680" y="2414016"/>
            <a:ext cx="10863072" cy="2679192"/>
          </a:xfrm>
          <a:prstGeom prst="rect">
            <a:avLst/>
          </a:prstGeom>
          <a:solidFill>
            <a:srgbClr val="F8F5FF"/>
          </a:solidFill>
          <a:ln w="25400">
            <a:solidFill>
              <a:srgbClr val="6D28D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5" name="PHASE 2 tab"/>
          <p:cNvSpPr/>
          <p:nvPr/>
        </p:nvSpPr>
        <p:spPr>
          <a:xfrm>
            <a:off x="457200" y="2414016"/>
            <a:ext cx="384048" cy="26791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 vert="vert270"/>
          <a:lstStyle/>
          <a:p>
            <a:pPr algn="ctr"/>
            <a:r>
              <a:rPr sz="1500" b="1" i="0">
                <a:solidFill>
                  <a:schemeClr val="bg1"/>
                </a:solidFill>
              </a:rPr>
              <a:t>PHASE 2</a:t>
            </a:r>
          </a:p>
        </p:txBody>
      </p:sp>
      <p:sp>
        <p:nvSpPr>
          <p:cNvPr id="16" name="PHASE 2 heading"/>
          <p:cNvSpPr txBox="1"/>
          <p:nvPr/>
        </p:nvSpPr>
        <p:spPr>
          <a:xfrm>
            <a:off x="1005840" y="245059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6D28D9"/>
                </a:solidFill>
              </a:rPr>
              <a:t>Answer a request  ·  online, for every question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246120"/>
            <a:ext cx="1388059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500" b="1" i="0">
                <a:solidFill>
                  <a:schemeClr val="tx2"/>
                </a:solidFill>
              </a:rPr>
              <a:t>1 Understand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intent, slots;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names → IDs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85339" y="3246120"/>
            <a:ext cx="1388059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500" b="1" i="0">
                <a:solidFill>
                  <a:schemeClr val="tx2"/>
                </a:solidFill>
              </a:rPr>
              <a:t>2 Route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matching pages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or “none fits”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64838" y="3310128"/>
            <a:ext cx="1005840" cy="822960"/>
          </a:xfrm>
          <a:prstGeom prst="roundRect">
            <a:avLst>
              <a:gd name="adj" fmla="val 12000"/>
            </a:avLst>
          </a:prstGeom>
          <a:solidFill>
            <a:srgbClr val="FFF1E6"/>
          </a:solidFill>
          <a:ln w="2857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500" b="1" i="0">
                <a:solidFill>
                  <a:srgbClr val="9A3412"/>
                </a:solidFill>
              </a:rPr>
              <a:t>Valid?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else ask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62118" y="3246120"/>
            <a:ext cx="1388059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500" b="1" i="0">
                <a:solidFill>
                  <a:schemeClr val="tx2"/>
                </a:solidFill>
              </a:rPr>
              <a:t>3 Act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set view: one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URL change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41617" y="3310128"/>
            <a:ext cx="1005840" cy="822960"/>
          </a:xfrm>
          <a:prstGeom prst="roundRect">
            <a:avLst>
              <a:gd name="adj" fmla="val 12000"/>
            </a:avLst>
          </a:prstGeom>
          <a:solidFill>
            <a:srgbClr val="FFF1E6"/>
          </a:solidFill>
          <a:ln w="2857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500" b="1" i="0">
                <a:solidFill>
                  <a:srgbClr val="9A3412"/>
                </a:solidFill>
              </a:rPr>
              <a:t>Applied?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else undo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8897" y="3246120"/>
            <a:ext cx="1388059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500" b="1" i="0">
                <a:solidFill>
                  <a:schemeClr val="tx2"/>
                </a:solidFill>
              </a:rPr>
              <a:t>4 Analyse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named measures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+ comparisons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18396" y="3310128"/>
            <a:ext cx="1005840" cy="822960"/>
          </a:xfrm>
          <a:prstGeom prst="roundRect">
            <a:avLst>
              <a:gd name="adj" fmla="val 12000"/>
            </a:avLst>
          </a:prstGeom>
          <a:solidFill>
            <a:srgbClr val="FFF1E6"/>
          </a:solidFill>
          <a:ln w="2857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500" b="1" i="0">
                <a:solidFill>
                  <a:srgbClr val="9A3412"/>
                </a:solidFill>
              </a:rPr>
              <a:t>Traced?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else redo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15676" y="3246120"/>
            <a:ext cx="1388059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500" b="1" i="0">
                <a:solidFill>
                  <a:schemeClr val="tx2"/>
                </a:solidFill>
              </a:rPr>
              <a:t>5 Answer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labelled facts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+ deep link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393899" y="3721608"/>
            <a:ext cx="91440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873398" y="3721608"/>
            <a:ext cx="91440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970678" y="3721608"/>
            <a:ext cx="91440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450177" y="3721608"/>
            <a:ext cx="91440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547457" y="3721608"/>
            <a:ext cx="91440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026956" y="3721608"/>
            <a:ext cx="91440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124236" y="3721608"/>
            <a:ext cx="91440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tract bar"/>
          <p:cNvSpPr/>
          <p:nvPr/>
        </p:nvSpPr>
        <p:spPr>
          <a:xfrm>
            <a:off x="2485339" y="2724912"/>
            <a:ext cx="7638897" cy="365760"/>
          </a:xfrm>
          <a:prstGeom prst="roundRect">
            <a:avLst>
              <a:gd name="adj" fmla="val 12000"/>
            </a:avLst>
          </a:prstGeom>
          <a:solidFill>
            <a:srgbClr val="FFF1E6"/>
          </a:solidFill>
          <a:ln w="1587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9A3412"/>
                </a:solidFill>
              </a:rPr>
              <a:t>★ reads the Application Contract: </a:t>
            </a:r>
            <a:r>
              <a:rPr sz="1500" b="0" i="0">
                <a:solidFill>
                  <a:schemeClr val="tx1"/>
                </a:solidFill>
              </a:rPr>
              <a:t>allowed pages, filters and values · named measures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01200" y="2212848"/>
            <a:ext cx="0" cy="512064"/>
          </a:xfrm>
          <a:prstGeom prst="line">
            <a:avLst/>
          </a:prstGeom>
          <a:ln w="25400">
            <a:solidFill>
              <a:srgbClr val="C2410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179368" y="3090672"/>
            <a:ext cx="0" cy="155448"/>
          </a:xfrm>
          <a:prstGeom prst="line">
            <a:avLst/>
          </a:prstGeom>
          <a:ln w="22225">
            <a:solidFill>
              <a:srgbClr val="C241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467758" y="3090672"/>
            <a:ext cx="0" cy="219456"/>
          </a:xfrm>
          <a:prstGeom prst="line">
            <a:avLst/>
          </a:prstGeom>
          <a:ln w="22225">
            <a:solidFill>
              <a:srgbClr val="C241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332927" y="3090672"/>
            <a:ext cx="0" cy="155448"/>
          </a:xfrm>
          <a:prstGeom prst="line">
            <a:avLst/>
          </a:prstGeom>
          <a:ln w="22225">
            <a:solidFill>
              <a:srgbClr val="C241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tore Conversation"/>
          <p:cNvSpPr/>
          <p:nvPr/>
        </p:nvSpPr>
        <p:spPr>
          <a:xfrm>
            <a:off x="1005840" y="4425696"/>
            <a:ext cx="286755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chemeClr val="tx2"/>
                </a:solidFill>
              </a:rPr>
              <a:t>Conversation state (checkpointed)</a:t>
            </a:r>
          </a:p>
        </p:txBody>
      </p:sp>
      <p:sp>
        <p:nvSpPr>
          <p:cNvPr id="38" name="Store Live page: D"/>
          <p:cNvSpPr/>
          <p:nvPr/>
        </p:nvSpPr>
        <p:spPr>
          <a:xfrm>
            <a:off x="5062118" y="4425696"/>
            <a:ext cx="2485339" cy="45720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chemeClr val="tx2"/>
                </a:solidFill>
              </a:rPr>
              <a:t>Live page: DOM / app hooks</a:t>
            </a:r>
          </a:p>
        </p:txBody>
      </p:sp>
      <p:sp>
        <p:nvSpPr>
          <p:cNvPr id="39" name="Store Business dat"/>
          <p:cNvSpPr/>
          <p:nvPr/>
        </p:nvSpPr>
        <p:spPr>
          <a:xfrm>
            <a:off x="7638897" y="4425696"/>
            <a:ext cx="1388059" cy="45720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chemeClr val="tx2"/>
                </a:solidFill>
              </a:rPr>
              <a:t>Business data</a:t>
            </a:r>
          </a:p>
        </p:txBody>
      </p:sp>
      <p:sp>
        <p:nvSpPr>
          <p:cNvPr id="40" name="Store Evidence led"/>
          <p:cNvSpPr/>
          <p:nvPr/>
        </p:nvSpPr>
        <p:spPr>
          <a:xfrm>
            <a:off x="9118396" y="4425696"/>
            <a:ext cx="2485339" cy="45720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chemeClr val="tx2"/>
                </a:solidFill>
              </a:rPr>
              <a:t>Evidence ledger + trace log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699869" y="4206240"/>
            <a:ext cx="0" cy="219456"/>
          </a:xfrm>
          <a:prstGeom prst="line">
            <a:avLst/>
          </a:prstGeom>
          <a:ln w="19050">
            <a:solidFill>
              <a:srgbClr val="334155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756148" y="4206240"/>
            <a:ext cx="0" cy="219456"/>
          </a:xfrm>
          <a:prstGeom prst="line">
            <a:avLst/>
          </a:prstGeom>
          <a:ln w="19050">
            <a:solidFill>
              <a:srgbClr val="334155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044537" y="4133087"/>
            <a:ext cx="0" cy="292609"/>
          </a:xfrm>
          <a:prstGeom prst="line">
            <a:avLst/>
          </a:prstGeom>
          <a:ln w="19050">
            <a:solidFill>
              <a:srgbClr val="334155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32927" y="4206240"/>
            <a:ext cx="0" cy="219456"/>
          </a:xfrm>
          <a:prstGeom prst="line">
            <a:avLst/>
          </a:prstGeom>
          <a:ln w="19050">
            <a:solidFill>
              <a:srgbClr val="334155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621316" y="4133087"/>
            <a:ext cx="0" cy="292609"/>
          </a:xfrm>
          <a:prstGeom prst="line">
            <a:avLst/>
          </a:prstGeom>
          <a:ln w="19050">
            <a:solidFill>
              <a:srgbClr val="334155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909706" y="4206240"/>
            <a:ext cx="0" cy="219456"/>
          </a:xfrm>
          <a:prstGeom prst="line">
            <a:avLst/>
          </a:prstGeom>
          <a:ln w="19050">
            <a:solidFill>
              <a:srgbClr val="334155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PHASE 3 band"/>
          <p:cNvSpPr/>
          <p:nvPr/>
        </p:nvSpPr>
        <p:spPr>
          <a:xfrm>
            <a:off x="868680" y="5184648"/>
            <a:ext cx="10863072" cy="1554480"/>
          </a:xfrm>
          <a:prstGeom prst="rect">
            <a:avLst/>
          </a:prstGeom>
          <a:solidFill>
            <a:srgbClr val="EFFAF5"/>
          </a:solidFill>
          <a:ln w="25400">
            <a:solidFill>
              <a:srgbClr val="0478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48" name="PHASE 3 tab"/>
          <p:cNvSpPr/>
          <p:nvPr/>
        </p:nvSpPr>
        <p:spPr>
          <a:xfrm>
            <a:off x="457200" y="5184648"/>
            <a:ext cx="384048" cy="155448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 vert="vert270"/>
          <a:lstStyle/>
          <a:p>
            <a:pPr algn="ctr"/>
            <a:r>
              <a:rPr sz="1500" b="1" i="0">
                <a:solidFill>
                  <a:schemeClr val="bg1"/>
                </a:solidFill>
              </a:rPr>
              <a:t>PHASE 3</a:t>
            </a:r>
          </a:p>
        </p:txBody>
      </p:sp>
      <p:sp>
        <p:nvSpPr>
          <p:cNvPr id="49" name="PHASE 3 heading"/>
          <p:cNvSpPr txBox="1"/>
          <p:nvPr/>
        </p:nvSpPr>
        <p:spPr>
          <a:xfrm>
            <a:off x="1005840" y="5221224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047857"/>
                </a:solidFill>
              </a:rPr>
              <a:t>Prove it works  ·  evaluation on the trace log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5840" y="5522976"/>
            <a:ext cx="324612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500" b="1" i="0">
                <a:solidFill>
                  <a:srgbClr val="047857"/>
                </a:solidFill>
              </a:rPr>
              <a:t>Test set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~30 questions with expected page,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view and figures; unseen and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“no-fit” cases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0" y="5522976"/>
            <a:ext cx="3246120" cy="1115568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1905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500" b="1" i="0">
                <a:solidFill>
                  <a:srgbClr val="047857"/>
                </a:solidFill>
              </a:rPr>
              <a:t>★ Runner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replays every task with our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checks ON vs OFF, scoring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from the trace log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38160" y="5522976"/>
            <a:ext cx="3465576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500" b="1" i="0">
                <a:solidFill>
                  <a:srgbClr val="047857"/>
                </a:solidFill>
              </a:rPr>
              <a:t>Scorecard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page accuracy · view match ·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figure correctness · false</a:t>
            </a:r>
          </a:p>
          <a:p>
            <a:pPr algn="ctr"/>
            <a:r>
              <a:rPr sz="1500" b="0" i="0">
                <a:solidFill>
                  <a:schemeClr val="tx1"/>
                </a:solidFill>
              </a:rPr>
              <a:t>“success” rate · steps, latency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251960" y="6080760"/>
            <a:ext cx="320040" cy="0"/>
          </a:xfrm>
          <a:prstGeom prst="line">
            <a:avLst/>
          </a:prstGeom>
          <a:ln w="2540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818120" y="6080760"/>
            <a:ext cx="320040" cy="0"/>
          </a:xfrm>
          <a:prstGeom prst="line">
            <a:avLst/>
          </a:prstGeom>
          <a:ln w="2540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LE Technological University logo" descr="KLE Technological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292608"/>
            <a:ext cx="1920240" cy="360045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57200" y="274320"/>
            <a:ext cx="9079992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600" b="1" i="0">
                <a:solidFill>
                  <a:schemeClr val="tx2"/>
                </a:solidFill>
              </a:rPr>
              <a:t>Technology Stack and Implementation Plan</a:t>
            </a:r>
          </a:p>
        </p:txBody>
      </p:sp>
      <p:sp>
        <p:nvSpPr>
          <p:cNvPr id="4" name="Header TECHNOLOGY STACK  · "/>
          <p:cNvSpPr txBox="1"/>
          <p:nvPr/>
        </p:nvSpPr>
        <p:spPr>
          <a:xfrm>
            <a:off x="457200" y="100584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chemeClr val="accent1"/>
                </a:solidFill>
              </a:rPr>
              <a:t>TECHNOLOGY STACK  ·  WHY IT 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325880" cy="67665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chemeClr val="bg1"/>
                </a:solidFill>
              </a:rPr>
              <a:t>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83080" y="1325880"/>
            <a:ext cx="5074920" cy="67665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/>
            <a:r>
              <a:rPr sz="1500" b="1" i="0">
                <a:solidFill>
                  <a:schemeClr val="tx2"/>
                </a:solidFill>
              </a:rPr>
              <a:t>React + Vite · Recharts · CopilotKit</a:t>
            </a:r>
          </a:p>
          <a:p>
            <a:pPr algn="l"/>
            <a:r>
              <a:rPr sz="1500" b="0" i="0">
                <a:solidFill>
                  <a:schemeClr val="accent3"/>
                </a:solidFill>
              </a:rPr>
              <a:t>Chat panel and live charts inside the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75688"/>
            <a:ext cx="1325880" cy="67665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chemeClr val="bg1"/>
                </a:solidFill>
              </a:rPr>
              <a:t>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783080" y="2075688"/>
            <a:ext cx="5074920" cy="67665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/>
            <a:r>
              <a:rPr sz="1500" b="1" i="0">
                <a:solidFill>
                  <a:schemeClr val="tx2"/>
                </a:solidFill>
              </a:rPr>
              <a:t>LangGraph · Pydantic · RapidFuzz</a:t>
            </a:r>
          </a:p>
          <a:p>
            <a:pPr algn="l"/>
            <a:r>
              <a:rPr sz="1500" b="0" i="0">
                <a:solidFill>
                  <a:schemeClr val="accent3"/>
                </a:solidFill>
              </a:rPr>
              <a:t>Step-by-step tool loop; typed checks on every call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25496"/>
            <a:ext cx="1325880" cy="67665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chemeClr val="bg1"/>
                </a:solidFill>
              </a:rPr>
              <a:t>Live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2825496"/>
            <a:ext cx="5074920" cy="67665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/>
            <a:r>
              <a:rPr sz="1500" b="1" i="0">
                <a:solidFill>
                  <a:schemeClr val="tx2"/>
                </a:solidFill>
              </a:rPr>
              <a:t>Playwright or app hooks</a:t>
            </a:r>
          </a:p>
          <a:p>
            <a:pPr algn="l"/>
            <a:r>
              <a:rPr sz="1500" b="0" i="0">
                <a:solidFill>
                  <a:schemeClr val="accent3"/>
                </a:solidFill>
              </a:rPr>
              <a:t>Reads the open page to confirm each 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75304"/>
            <a:ext cx="1325880" cy="67665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83080" y="3575304"/>
            <a:ext cx="5074920" cy="67665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/>
            <a:r>
              <a:rPr sz="1500" b="1" i="0">
                <a:solidFill>
                  <a:schemeClr val="tx2"/>
                </a:solidFill>
              </a:rPr>
              <a:t>SQL Server · sample tenant · Contract (JSON)</a:t>
            </a:r>
          </a:p>
          <a:p>
            <a:pPr algn="l"/>
            <a:r>
              <a:rPr sz="1500" b="0" i="0">
                <a:solidFill>
                  <a:schemeClr val="accent3"/>
                </a:solidFill>
              </a:rPr>
              <a:t>Read-only; the same queries the screen uses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25112"/>
            <a:ext cx="1325880" cy="67665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chemeClr val="bg1"/>
                </a:solidFill>
              </a:rPr>
              <a:t>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4325112"/>
            <a:ext cx="5074920" cy="67665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/>
            <a:r>
              <a:rPr sz="1500" b="1" i="0">
                <a:solidFill>
                  <a:schemeClr val="tx2"/>
                </a:solidFill>
              </a:rPr>
              <a:t>Hosted LLM with tool calling</a:t>
            </a:r>
          </a:p>
          <a:p>
            <a:pPr algn="l"/>
            <a:r>
              <a:rPr sz="1500" b="0" i="0">
                <a:solidFill>
                  <a:schemeClr val="accent3"/>
                </a:solidFill>
              </a:rPr>
              <a:t>Structured output; our only paid service</a:t>
            </a:r>
          </a:p>
        </p:txBody>
      </p:sp>
      <p:sp>
        <p:nvSpPr>
          <p:cNvPr id="15" name="Header TEAM  ·  FOUR ROLES "/>
          <p:cNvSpPr txBox="1"/>
          <p:nvPr/>
        </p:nvSpPr>
        <p:spPr>
          <a:xfrm>
            <a:off x="7178040" y="1005840"/>
            <a:ext cx="455371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chemeClr val="accent1"/>
                </a:solidFill>
              </a:rPr>
              <a:t>TEAM  ·  FOUR ROLES IN PARALLEL</a:t>
            </a:r>
          </a:p>
        </p:txBody>
      </p:sp>
      <p:sp>
        <p:nvSpPr>
          <p:cNvPr id="16" name="Oval 15"/>
          <p:cNvSpPr/>
          <p:nvPr/>
        </p:nvSpPr>
        <p:spPr>
          <a:xfrm>
            <a:off x="7196328" y="1435607"/>
            <a:ext cx="475488" cy="47548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i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1325880"/>
            <a:ext cx="3913632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 i="0">
                <a:solidFill>
                  <a:schemeClr val="tx2"/>
                </a:solidFill>
              </a:rPr>
              <a:t>App and data</a:t>
            </a:r>
          </a:p>
          <a:p>
            <a:pPr algn="l"/>
            <a:r>
              <a:rPr sz="1500" b="0" i="0">
                <a:solidFill>
                  <a:schemeClr val="tx1"/>
                </a:solidFill>
              </a:rPr>
              <a:t>Contract, pages, URL state, queries</a:t>
            </a:r>
          </a:p>
        </p:txBody>
      </p:sp>
      <p:sp>
        <p:nvSpPr>
          <p:cNvPr id="18" name="Oval 17"/>
          <p:cNvSpPr/>
          <p:nvPr/>
        </p:nvSpPr>
        <p:spPr>
          <a:xfrm>
            <a:off x="7196328" y="2377440"/>
            <a:ext cx="475488" cy="47548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i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2267712"/>
            <a:ext cx="3913632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 i="0">
                <a:solidFill>
                  <a:schemeClr val="tx2"/>
                </a:solidFill>
              </a:rPr>
              <a:t>Agent</a:t>
            </a:r>
          </a:p>
          <a:p>
            <a:pPr algn="l"/>
            <a:r>
              <a:rPr sz="1500" b="0" i="0">
                <a:solidFill>
                  <a:schemeClr val="tx1"/>
                </a:solidFill>
              </a:rPr>
              <a:t>Router, checks, tools, context</a:t>
            </a:r>
          </a:p>
        </p:txBody>
      </p:sp>
      <p:sp>
        <p:nvSpPr>
          <p:cNvPr id="20" name="Oval 19"/>
          <p:cNvSpPr/>
          <p:nvPr/>
        </p:nvSpPr>
        <p:spPr>
          <a:xfrm>
            <a:off x="7196328" y="3319272"/>
            <a:ext cx="475488" cy="47548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i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209544"/>
            <a:ext cx="3913632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 i="0">
                <a:solidFill>
                  <a:schemeClr val="tx2"/>
                </a:solidFill>
              </a:rPr>
              <a:t>Companion UI</a:t>
            </a:r>
          </a:p>
          <a:p>
            <a:pPr algn="l"/>
            <a:r>
              <a:rPr sz="1500" b="0" i="0">
                <a:solidFill>
                  <a:schemeClr val="tx1"/>
                </a:solidFill>
              </a:rPr>
              <a:t>Chat panel, fact labels, confirm card</a:t>
            </a:r>
          </a:p>
        </p:txBody>
      </p:sp>
      <p:sp>
        <p:nvSpPr>
          <p:cNvPr id="22" name="Oval 21"/>
          <p:cNvSpPr/>
          <p:nvPr/>
        </p:nvSpPr>
        <p:spPr>
          <a:xfrm>
            <a:off x="7196328" y="4261104"/>
            <a:ext cx="475488" cy="47548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i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151376"/>
            <a:ext cx="3913632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 i="0">
                <a:solidFill>
                  <a:schemeClr val="tx2"/>
                </a:solidFill>
              </a:rPr>
              <a:t>Evaluation</a:t>
            </a:r>
          </a:p>
          <a:p>
            <a:pPr algn="l"/>
            <a:r>
              <a:rPr sz="1500" b="0" i="0">
                <a:solidFill>
                  <a:schemeClr val="tx1"/>
                </a:solidFill>
              </a:rPr>
              <a:t>Test questions, runner, trace log, KPIs</a:t>
            </a:r>
          </a:p>
        </p:txBody>
      </p:sp>
      <p:sp>
        <p:nvSpPr>
          <p:cNvPr id="24" name="Header 48-HOUR TIMELINE  · "/>
          <p:cNvSpPr txBox="1"/>
          <p:nvPr/>
        </p:nvSpPr>
        <p:spPr>
          <a:xfrm>
            <a:off x="457200" y="5166360"/>
            <a:ext cx="1127455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chemeClr val="accent1"/>
                </a:solidFill>
              </a:rPr>
              <a:t>48-HOUR TIMELINE  ·  EVERY MILESTONE ENDS IN A WORKING DEMO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486400"/>
            <a:ext cx="1802892" cy="38404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chemeClr val="bg1"/>
                </a:solidFill>
              </a:rPr>
              <a:t>M1 · 0–10 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5943600"/>
            <a:ext cx="1748028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0" i="0">
                <a:solidFill>
                  <a:schemeClr val="tx1"/>
                </a:solidFill>
              </a:rPr>
              <a:t>Contract, pages; hour-4 gate: set and read back a filter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51532" y="5486400"/>
            <a:ext cx="1802892" cy="3840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chemeClr val="bg1"/>
                </a:solidFill>
              </a:rPr>
              <a:t>M2 · 10–20 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8964" y="5943600"/>
            <a:ext cx="1748028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0" i="0">
                <a:solidFill>
                  <a:schemeClr val="tx1"/>
                </a:solidFill>
              </a:rPr>
              <a:t>Router, checks, set 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45864" y="5486400"/>
            <a:ext cx="1802892" cy="38404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chemeClr val="bg1"/>
                </a:solidFill>
              </a:rPr>
              <a:t>M3 · 20–28 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3296" y="5943600"/>
            <a:ext cx="1748028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0" i="0">
                <a:solidFill>
                  <a:schemeClr val="tx1"/>
                </a:solidFill>
              </a:rPr>
              <a:t>Context, names, ask or abstain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0196" y="5486400"/>
            <a:ext cx="1802892" cy="3840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chemeClr val="bg1"/>
                </a:solidFill>
              </a:rPr>
              <a:t>M4 · 28–36 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67628" y="5943600"/>
            <a:ext cx="1748028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0" i="0">
                <a:solidFill>
                  <a:schemeClr val="tx1"/>
                </a:solidFill>
              </a:rPr>
              <a:t>Comparisons, sources on figures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34528" y="5486400"/>
            <a:ext cx="1802892" cy="38404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chemeClr val="bg1"/>
                </a:solidFill>
              </a:rPr>
              <a:t>M5 · 36–42 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1960" y="5943600"/>
            <a:ext cx="1748028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0" i="0">
                <a:solidFill>
                  <a:schemeClr val="tx1"/>
                </a:solidFill>
              </a:rPr>
              <a:t>Runner, KPIs, checks on/off run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28860" y="5486400"/>
            <a:ext cx="1802892" cy="3840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chemeClr val="bg1"/>
                </a:solidFill>
              </a:rPr>
              <a:t>M6 · 42–48 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56292" y="5943600"/>
            <a:ext cx="1748028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0" i="0">
                <a:solidFill>
                  <a:schemeClr val="tx1"/>
                </a:solidFill>
              </a:rPr>
              <a:t>Rehearse; real numbers into the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LE Technological University logo" descr="KLE Technological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292608"/>
            <a:ext cx="1920240" cy="360045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57200" y="274320"/>
            <a:ext cx="9079992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600" b="1" i="0">
                <a:solidFill>
                  <a:schemeClr val="tx2"/>
                </a:solidFill>
              </a:rPr>
              <a:t>Expected Outcomes and Demo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27455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chemeClr val="accent1"/>
                </a:solidFill>
              </a:rPr>
              <a:t>THE DEMO  ·  ONE INVESTIGATION, FOUR TURNS, NO MANUAL CLICKS   </a:t>
            </a:r>
            <a:r>
              <a:rPr sz="1500" b="0" i="1">
                <a:solidFill>
                  <a:schemeClr val="accent3"/>
                </a:solidFill>
              </a:rPr>
              <a:t>(scenario seeded in the sample data)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2612898" cy="82296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/>
            <a:r>
              <a:rPr sz="1500" b="1" i="0">
                <a:solidFill>
                  <a:schemeClr val="tx2"/>
                </a:solidFill>
              </a:rPr>
              <a:t>“Late deliveries in May”</a:t>
            </a:r>
          </a:p>
          <a:p>
            <a:pPr algn="l"/>
            <a:r>
              <a:rPr sz="1500" b="0" i="0">
                <a:solidFill>
                  <a:schemeClr val="tx1"/>
                </a:solidFill>
              </a:rPr>
              <a:t>Opens the page; filters checked</a:t>
            </a:r>
          </a:p>
        </p:txBody>
      </p:sp>
      <p:sp>
        <p:nvSpPr>
          <p:cNvPr id="6" name="Chevron 5"/>
          <p:cNvSpPr/>
          <p:nvPr/>
        </p:nvSpPr>
        <p:spPr>
          <a:xfrm>
            <a:off x="3134106" y="1627632"/>
            <a:ext cx="146304" cy="219456"/>
          </a:xfrm>
          <a:prstGeom prst="chevron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44418" y="1325880"/>
            <a:ext cx="2612898" cy="82296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/>
            <a:r>
              <a:rPr sz="1500" b="1" i="0">
                <a:solidFill>
                  <a:schemeClr val="tx2"/>
                </a:solidFill>
              </a:rPr>
              <a:t>“Why up vs April?”</a:t>
            </a:r>
          </a:p>
          <a:p>
            <a:pPr algn="l"/>
            <a:r>
              <a:rPr sz="1500" b="0" i="0">
                <a:solidFill>
                  <a:schemeClr val="tx1"/>
                </a:solidFill>
              </a:rPr>
              <a:t>Ranked contributors, with sources</a:t>
            </a:r>
          </a:p>
        </p:txBody>
      </p:sp>
      <p:sp>
        <p:nvSpPr>
          <p:cNvPr id="8" name="Chevron 7"/>
          <p:cNvSpPr/>
          <p:nvPr/>
        </p:nvSpPr>
        <p:spPr>
          <a:xfrm>
            <a:off x="6021324" y="1627632"/>
            <a:ext cx="146304" cy="219456"/>
          </a:xfrm>
          <a:prstGeom prst="chevron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31636" y="1325880"/>
            <a:ext cx="2612898" cy="82296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/>
            <a:r>
              <a:rPr sz="1500" b="1" i="0">
                <a:solidFill>
                  <a:schemeClr val="tx2"/>
                </a:solidFill>
              </a:rPr>
              <a:t>“Top item’s supplier”</a:t>
            </a:r>
          </a:p>
          <a:p>
            <a:pPr algn="l"/>
            <a:r>
              <a:rPr sz="1500" b="0" i="0">
                <a:solidFill>
                  <a:schemeClr val="tx1"/>
                </a:solidFill>
              </a:rPr>
              <a:t>Uses the current selection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908542" y="1627632"/>
            <a:ext cx="146304" cy="219456"/>
          </a:xfrm>
          <a:prstGeom prst="chevron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18854" y="1325880"/>
            <a:ext cx="2612898" cy="822960"/>
          </a:xfrm>
          <a:prstGeom prst="roundRect">
            <a:avLst>
              <a:gd name="adj" fmla="val 12000"/>
            </a:avLst>
          </a:prstGeom>
          <a:solidFill>
            <a:srgbClr val="F7D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/>
            <a:r>
              <a:rPr sz="1500" b="1" i="0">
                <a:solidFill>
                  <a:schemeClr val="tx2"/>
                </a:solidFill>
              </a:rPr>
              <a:t>“Open a case for it”</a:t>
            </a:r>
          </a:p>
          <a:p>
            <a:pPr algn="l"/>
            <a:r>
              <a:rPr sz="1500" b="0" i="0">
                <a:solidFill>
                  <a:schemeClr val="tx1"/>
                </a:solidFill>
              </a:rPr>
              <a:t>Confirms the exact action first</a:t>
            </a:r>
          </a:p>
        </p:txBody>
      </p:sp>
      <p:sp>
        <p:nvSpPr>
          <p:cNvPr id="12" name="Header HACKATHON DELIVERABL"/>
          <p:cNvSpPr txBox="1"/>
          <p:nvPr/>
        </p:nvSpPr>
        <p:spPr>
          <a:xfrm>
            <a:off x="457200" y="233172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chemeClr val="accent1"/>
                </a:solidFill>
              </a:rPr>
              <a:t>HACKATHON DELIVERABLES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chemeClr val="tx1"/>
                </a:solidFill>
              </a:rPr>
              <a:t>•  A working app built from one Application Contract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chemeClr val="tx1"/>
                </a:solidFill>
              </a:rPr>
              <a:t>•  The companion: navigates, filters, compares and cites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chemeClr val="tx1"/>
                </a:solidFill>
              </a:rPr>
              <a:t>•  Test questions and runner: one command prints every KPI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chemeClr val="tx1"/>
                </a:solidFill>
              </a:rPr>
              <a:t>•  Evidence pack: trace log and a checks-on vs checks-off run</a:t>
            </a:r>
          </a:p>
        </p:txBody>
      </p:sp>
      <p:sp>
        <p:nvSpPr>
          <p:cNvPr id="14" name="Header FUTURE ENHANCEMENTS"/>
          <p:cNvSpPr txBox="1"/>
          <p:nvPr/>
        </p:nvSpPr>
        <p:spPr>
          <a:xfrm>
            <a:off x="6309360" y="2331720"/>
            <a:ext cx="542239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chemeClr val="accent1"/>
                </a:solidFill>
              </a:rPr>
              <a:t>FUTURE ENHANCEMENTS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651760"/>
            <a:ext cx="5422392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chemeClr val="accent2"/>
                </a:solidFill>
              </a:rPr>
              <a:t>→  </a:t>
            </a:r>
            <a:r>
              <a:rPr sz="1500" b="0" i="0">
                <a:solidFill>
                  <a:schemeClr val="tx1"/>
                </a:solidFill>
              </a:rPr>
              <a:t>Draft the Contract automatically from the platform’s metadata export and the live page</a:t>
            </a:r>
          </a:p>
          <a:p>
            <a:pPr algn="l">
              <a:spcBef>
                <a:spcPts val="400"/>
              </a:spcBef>
            </a:pPr>
            <a:r>
              <a:rPr sz="1500" b="1" i="0">
                <a:solidFill>
                  <a:schemeClr val="accent2"/>
                </a:solidFill>
              </a:rPr>
              <a:t>→  </a:t>
            </a:r>
            <a:r>
              <a:rPr sz="1500" b="0" i="0">
                <a:solidFill>
                  <a:schemeClr val="tx1"/>
                </a:solidFill>
              </a:rPr>
              <a:t>Search across hundreds of pages and widgets</a:t>
            </a:r>
          </a:p>
          <a:p>
            <a:pPr algn="l">
              <a:spcBef>
                <a:spcPts val="400"/>
              </a:spcBef>
            </a:pPr>
            <a:r>
              <a:rPr sz="1500" b="1" i="0">
                <a:solidFill>
                  <a:schemeClr val="accent2"/>
                </a:solidFill>
              </a:rPr>
              <a:t>→  </a:t>
            </a:r>
            <a:r>
              <a:rPr sz="1500" b="0" i="0">
                <a:solidFill>
                  <a:schemeClr val="tx1"/>
                </a:solidFill>
              </a:rPr>
              <a:t>More write actions, each needing approval</a:t>
            </a:r>
          </a:p>
        </p:txBody>
      </p:sp>
      <p:sp>
        <p:nvSpPr>
          <p:cNvPr id="16" name="Success strip"/>
          <p:cNvSpPr/>
          <p:nvPr/>
        </p:nvSpPr>
        <p:spPr>
          <a:xfrm>
            <a:off x="457200" y="4114800"/>
            <a:ext cx="11274552" cy="713232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/>
            <a:r>
              <a:rPr sz="1500" b="1" i="0">
                <a:solidFill>
                  <a:schemeClr val="accent2"/>
                </a:solidFill>
              </a:rPr>
              <a:t>SUCCESS =  </a:t>
            </a:r>
            <a:r>
              <a:rPr sz="1500" b="1" i="0">
                <a:solidFill>
                  <a:schemeClr val="bg1"/>
                </a:solidFill>
              </a:rPr>
              <a:t>right page  ·  right view  ·  traced figures  ·  no made-up actions</a:t>
            </a:r>
          </a:p>
          <a:p>
            <a:pPr algn="l"/>
            <a:r>
              <a:rPr sz="1500" b="1" i="0">
                <a:solidFill>
                  <a:schemeClr val="accent2"/>
                </a:solidFill>
              </a:rPr>
              <a:t>Targets: </a:t>
            </a:r>
            <a:r>
              <a:rPr sz="1500" b="0" i="0">
                <a:solidFill>
                  <a:schemeClr val="bg1"/>
                </a:solidFill>
              </a:rPr>
              <a:t>at least 15 of 18 unseen test tasks fully correct  ·  zero false “success” on deliberately broken cases</a:t>
            </a:r>
          </a:p>
        </p:txBody>
      </p:sp>
      <p:sp>
        <p:nvSpPr>
          <p:cNvPr id="17" name="Header WHAT WE NEED  ·  AND"/>
          <p:cNvSpPr txBox="1"/>
          <p:nvPr/>
        </p:nvSpPr>
        <p:spPr>
          <a:xfrm>
            <a:off x="457200" y="5029200"/>
            <a:ext cx="1127455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chemeClr val="accent1"/>
                </a:solidFill>
              </a:rPr>
              <a:t>WHAT WE NEED  ·  AND THE RISKS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49240"/>
            <a:ext cx="2647188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chemeClr val="tx2"/>
                </a:solidFill>
              </a:rPr>
              <a:t>Datasets</a:t>
            </a:r>
          </a:p>
          <a:p>
            <a:pPr algn="l"/>
            <a:r>
              <a:rPr sz="1500" b="0" i="0">
                <a:solidFill>
                  <a:schemeClr val="tx1"/>
                </a:solidFill>
              </a:rPr>
              <a:t>Wide World Importers sample (free); ~30 test questions, some written by outsiders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2988" y="5349240"/>
            <a:ext cx="2647188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chemeClr val="tx2"/>
                </a:solidFill>
              </a:rPr>
              <a:t>Equipment, paid</a:t>
            </a:r>
          </a:p>
          <a:p>
            <a:pPr algn="l"/>
            <a:r>
              <a:rPr sz="1500" b="0" i="0">
                <a:solidFill>
                  <a:schemeClr val="tx1"/>
                </a:solidFill>
              </a:rPr>
              <a:t>Team laptops; a hosted LLM API is the only paid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5349240"/>
            <a:ext cx="2647188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chemeClr val="tx2"/>
                </a:solidFill>
              </a:rPr>
              <a:t>External access</a:t>
            </a:r>
          </a:p>
          <a:p>
            <a:pPr algn="l"/>
            <a:r>
              <a:rPr sz="1500" b="0" i="0">
                <a:solidFill>
                  <a:schemeClr val="tx1"/>
                </a:solidFill>
              </a:rPr>
              <a:t>LLM API key; EntWorld tasks if its licence allows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4564" y="5349240"/>
            <a:ext cx="2647188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B5532F"/>
                </a:solidFill>
              </a:rPr>
              <a:t>Risks</a:t>
            </a:r>
          </a:p>
          <a:p>
            <a:pPr algn="l"/>
            <a:r>
              <a:rPr sz="1500" b="0" i="0">
                <a:solidFill>
                  <a:schemeClr val="tx1"/>
                </a:solidFill>
              </a:rPr>
              <a:t>Contract effort per app; no URL state means Playwright; our own phrasing bias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iens">
  <a:themeElements>
    <a:clrScheme name="Sapiens">
      <a:dk1>
        <a:srgbClr val="1D2B33"/>
      </a:dk1>
      <a:lt1>
        <a:srgbClr val="FFFFFF"/>
      </a:lt1>
      <a:dk2>
        <a:srgbClr val="0E4D5A"/>
      </a:dk2>
      <a:lt2>
        <a:srgbClr val="EDF4F5"/>
      </a:lt2>
      <a:accent1>
        <a:srgbClr val="1A7F8E"/>
      </a:accent1>
      <a:accent2>
        <a:srgbClr val="E39B2D"/>
      </a:accent2>
      <a:accent3>
        <a:srgbClr val="5E6B73"/>
      </a:accent3>
      <a:accent4>
        <a:srgbClr val="C5D8DB"/>
      </a:accent4>
      <a:accent5>
        <a:srgbClr val="B5532F"/>
      </a:accent5>
      <a:accent6>
        <a:srgbClr val="8FB8BF"/>
      </a:accent6>
      <a:hlink>
        <a:srgbClr val="1A7F8E"/>
      </a:hlink>
      <a:folHlink>
        <a:srgbClr val="5E6B7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Context-Aware AI Agent for Enterprise Applications</dc:title>
  <dc:subject/>
  <dc:creator>Team Sapiens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