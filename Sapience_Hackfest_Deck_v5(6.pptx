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9" r:id="rId20"/>
    <p:sldId id="259" r:id="rId5"/>
    <p:sldId id="260" r:id="rId6"/>
    <p:sldId id="276" r:id="rId27"/>
    <p:sldId id="261" r:id="rId7"/>
    <p:sldId id="274" r:id="rId25"/>
    <p:sldId id="275" r:id="rId26"/>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21</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21</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21</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21</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21</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targets and acceptance criteria for the final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Reliable multi-step task completion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tasks meet every required outcome: operation, scope, destination and values.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Faithful 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Each reported figure matches its source value, unit, scope and stated caveat.</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Context continuity and correct destination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Follow-ups, reloads and navigation keep scope and reach the intended view.</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No false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or failed requests are never reported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21</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
        <p:nvSpPr>
          <p:cNvPr id="79" name="api-label"/>
          <p:cNvSpPr/>
          <p:nvPr/>
        </p:nvSpPr>
        <p:spPr>
          <a:xfrm>
            <a:off x="640080" y="1280160"/>
            <a:ext cx="2148840" cy="1371600"/>
          </a:xfrm>
          <a:prstGeom prst="rect">
            <a:avLst/>
          </a:prstGeom>
          <a:solidFill>
            <a:srgbClr val="EAF2F1"/>
          </a:solidFill>
          <a:ln w="19050">
            <a:solidFill>
              <a:srgbClr val="006D77"/>
            </a:solidFill>
          </a:ln>
        </p:spPr>
      </p:sp>
      <p:sp>
        <p:nvSpPr>
          <p:cNvPr id="80" name="api-label-a"/>
          <p:cNvSpPr/>
          <p:nvPr/>
        </p:nvSpPr>
        <p:spPr>
          <a:xfrm>
            <a:off x="777240" y="138988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Approach 1</a:t>
            </a:r>
          </a:p>
        </p:txBody>
      </p:sp>
      <p:sp>
        <p:nvSpPr>
          <p:cNvPr id="81" name="api-label-b"/>
          <p:cNvSpPr/>
          <p:nvPr/>
        </p:nvSpPr>
        <p:spPr>
          <a:xfrm>
            <a:off x="777240" y="1691639"/>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API-based agent</a:t>
            </a:r>
          </a:p>
        </p:txBody>
      </p:sp>
      <p:sp>
        <p:nvSpPr>
          <p:cNvPr id="82" name="api-label-c"/>
          <p:cNvSpPr/>
          <p:nvPr/>
        </p:nvSpPr>
        <p:spPr>
          <a:xfrm>
            <a:off x="777240" y="230428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built first, measured</a:t>
            </a:r>
          </a:p>
        </p:txBody>
      </p:sp>
      <p:sp>
        <p:nvSpPr>
          <p:cNvPr id="83" name="api-user"/>
          <p:cNvSpPr/>
          <p:nvPr/>
        </p:nvSpPr>
        <p:spPr>
          <a:xfrm>
            <a:off x="3063240" y="1371600"/>
            <a:ext cx="1097280" cy="731520"/>
          </a:xfrm>
          <a:prstGeom prst="rect">
            <a:avLst/>
          </a:prstGeom>
          <a:solidFill>
            <a:srgbClr val="FFFFFF"/>
          </a:solidFill>
          <a:ln w="19050">
            <a:solidFill>
              <a:srgbClr val="006D77"/>
            </a:solidFill>
          </a:ln>
        </p:spPr>
      </p:sp>
      <p:sp>
        <p:nvSpPr>
          <p:cNvPr id="84" name="api-user-t"/>
          <p:cNvSpPr/>
          <p:nvPr/>
        </p:nvSpPr>
        <p:spPr>
          <a:xfrm>
            <a:off x="3191256" y="158991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85" name="api-a1"/>
          <p:cNvCxnSpPr/>
          <p:nvPr/>
        </p:nvCxnSpPr>
        <p:spPr>
          <a:xfrm>
            <a:off x="4160520" y="1737360"/>
            <a:ext cx="365760" cy="0"/>
          </a:xfrm>
          <a:prstGeom prst="straightConnector1">
            <a:avLst/>
          </a:prstGeom>
          <a:ln w="19050">
            <a:solidFill>
              <a:srgbClr val="006D77"/>
            </a:solidFill>
            <a:tailEnd type="triangle" w="med" len="med"/>
          </a:ln>
        </p:spPr>
      </p:cxnSp>
      <p:sp>
        <p:nvSpPr>
          <p:cNvPr id="86" name="api-agent"/>
          <p:cNvSpPr/>
          <p:nvPr/>
        </p:nvSpPr>
        <p:spPr>
          <a:xfrm>
            <a:off x="4526280" y="1325880"/>
            <a:ext cx="2743200" cy="914400"/>
          </a:xfrm>
          <a:prstGeom prst="rect">
            <a:avLst/>
          </a:prstGeom>
          <a:solidFill>
            <a:srgbClr val="EAF2F1"/>
          </a:solidFill>
          <a:ln w="19050">
            <a:solidFill>
              <a:srgbClr val="006D77"/>
            </a:solidFill>
          </a:ln>
        </p:spPr>
      </p:sp>
      <p:sp>
        <p:nvSpPr>
          <p:cNvPr id="87" name="api-agent-t"/>
          <p:cNvSpPr/>
          <p:nvPr/>
        </p:nvSpPr>
        <p:spPr>
          <a:xfrm>
            <a:off x="4654296" y="1417320"/>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 loop</a:t>
            </a:r>
          </a:p>
        </p:txBody>
      </p:sp>
      <p:sp>
        <p:nvSpPr>
          <p:cNvPr id="88" name="api-agent-s"/>
          <p:cNvSpPr/>
          <p:nvPr/>
        </p:nvSpPr>
        <p:spPr>
          <a:xfrm>
            <a:off x="4654296" y="1748790"/>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Ledger, tools, harness</a:t>
            </a:r>
          </a:p>
        </p:txBody>
      </p:sp>
      <p:cxnSp>
        <p:nvCxnSpPr>
          <p:cNvPr id="89" name="api-a2"/>
          <p:cNvCxnSpPr/>
          <p:nvPr/>
        </p:nvCxnSpPr>
        <p:spPr>
          <a:xfrm>
            <a:off x="7269480" y="1783080"/>
            <a:ext cx="1280159" cy="0"/>
          </a:xfrm>
          <a:prstGeom prst="straightConnector1">
            <a:avLst/>
          </a:prstGeom>
          <a:ln w="19050">
            <a:solidFill>
              <a:srgbClr val="006D77"/>
            </a:solidFill>
            <a:tailEnd type="triangle" w="med" len="med"/>
          </a:ln>
        </p:spPr>
      </p:cxnSp>
      <p:sp>
        <p:nvSpPr>
          <p:cNvPr id="90" name="api-chan"/>
          <p:cNvSpPr/>
          <p:nvPr/>
        </p:nvSpPr>
        <p:spPr>
          <a:xfrm>
            <a:off x="7269480" y="1463039"/>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API calls</a:t>
            </a:r>
          </a:p>
        </p:txBody>
      </p:sp>
      <p:sp>
        <p:nvSpPr>
          <p:cNvPr id="91" name="api-target"/>
          <p:cNvSpPr/>
          <p:nvPr/>
        </p:nvSpPr>
        <p:spPr>
          <a:xfrm>
            <a:off x="8549640" y="1325880"/>
            <a:ext cx="3063240" cy="914400"/>
          </a:xfrm>
          <a:prstGeom prst="rect">
            <a:avLst/>
          </a:prstGeom>
          <a:solidFill>
            <a:srgbClr val="FFFFFF"/>
          </a:solidFill>
          <a:ln w="19050">
            <a:solidFill>
              <a:srgbClr val="006D77"/>
            </a:solidFill>
          </a:ln>
        </p:spPr>
      </p:sp>
      <p:sp>
        <p:nvSpPr>
          <p:cNvPr id="92" name="api-target-t"/>
          <p:cNvSpPr/>
          <p:nvPr/>
        </p:nvSpPr>
        <p:spPr>
          <a:xfrm>
            <a:off x="8677656" y="1417320"/>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Business API</a:t>
            </a:r>
          </a:p>
        </p:txBody>
      </p:sp>
      <p:sp>
        <p:nvSpPr>
          <p:cNvPr id="93" name="api-target-s"/>
          <p:cNvSpPr/>
          <p:nvPr/>
        </p:nvSpPr>
        <p:spPr>
          <a:xfrm>
            <a:off x="8677656" y="1748790"/>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data, ERPNext adapter</a:t>
            </a:r>
          </a:p>
        </p:txBody>
      </p:sp>
      <p:sp>
        <p:nvSpPr>
          <p:cNvPr id="94" name="api-ret-v1"/>
          <p:cNvSpPr/>
          <p:nvPr/>
        </p:nvSpPr>
        <p:spPr>
          <a:xfrm>
            <a:off x="10058400" y="2240280"/>
            <a:ext cx="0" cy="228600"/>
          </a:xfrm>
          <a:prstGeom prst="rect">
            <a:avLst/>
          </a:prstGeom>
          <a:noFill/>
          <a:ln w="19050">
            <a:solidFill>
              <a:srgbClr val="006D77"/>
            </a:solidFill>
          </a:ln>
        </p:spPr>
      </p:sp>
      <p:cxnSp>
        <p:nvCxnSpPr>
          <p:cNvPr id="95" name="api-ret-h"/>
          <p:cNvCxnSpPr/>
          <p:nvPr/>
        </p:nvCxnSpPr>
        <p:spPr>
          <a:xfrm flipH="1">
            <a:off x="3611880" y="2468880"/>
            <a:ext cx="6446520" cy="0"/>
          </a:xfrm>
          <a:prstGeom prst="straightConnector1">
            <a:avLst/>
          </a:prstGeom>
          <a:ln w="19050">
            <a:solidFill>
              <a:srgbClr val="006D77"/>
            </a:solidFill>
            <a:tailEnd type="triangle" w="med" len="med"/>
          </a:ln>
        </p:spPr>
      </p:cxnSp>
      <p:cxnSp>
        <p:nvCxnSpPr>
          <p:cNvPr id="96" name="api-ret-v2"/>
          <p:cNvCxnSpPr/>
          <p:nvPr/>
        </p:nvCxnSpPr>
        <p:spPr>
          <a:xfrm flipV="1">
            <a:off x="3611880" y="2121408"/>
            <a:ext cx="0" cy="347472"/>
          </a:xfrm>
          <a:prstGeom prst="straightConnector1">
            <a:avLst/>
          </a:prstGeom>
          <a:ln w="19050">
            <a:solidFill>
              <a:srgbClr val="006D77"/>
            </a:solidFill>
            <a:tailEnd type="triangle" w="med" len="med"/>
          </a:ln>
        </p:spPr>
      </p:cxnSp>
      <p:sp>
        <p:nvSpPr>
          <p:cNvPr id="97" name="vacp-label"/>
          <p:cNvSpPr/>
          <p:nvPr/>
        </p:nvSpPr>
        <p:spPr>
          <a:xfrm>
            <a:off x="640080" y="2788920"/>
            <a:ext cx="2148840" cy="1371600"/>
          </a:xfrm>
          <a:prstGeom prst="rect">
            <a:avLst/>
          </a:prstGeom>
          <a:solidFill>
            <a:srgbClr val="F1F6F6"/>
          </a:solidFill>
          <a:ln w="19050">
            <a:solidFill>
              <a:srgbClr val="006D77"/>
            </a:solidFill>
          </a:ln>
        </p:spPr>
      </p:sp>
      <p:sp>
        <p:nvSpPr>
          <p:cNvPr id="98" name="vacp-label-a"/>
          <p:cNvSpPr/>
          <p:nvPr/>
        </p:nvSpPr>
        <p:spPr>
          <a:xfrm>
            <a:off x="777240" y="289864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Approach 2</a:t>
            </a:r>
          </a:p>
        </p:txBody>
      </p:sp>
      <p:sp>
        <p:nvSpPr>
          <p:cNvPr id="99" name="vacp-label-b"/>
          <p:cNvSpPr/>
          <p:nvPr/>
        </p:nvSpPr>
        <p:spPr>
          <a:xfrm>
            <a:off x="777240" y="3200400"/>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VACP bridge</a:t>
            </a:r>
          </a:p>
        </p:txBody>
      </p:sp>
      <p:sp>
        <p:nvSpPr>
          <p:cNvPr id="100" name="vacp-label-c"/>
          <p:cNvSpPr/>
          <p:nvPr/>
        </p:nvSpPr>
        <p:spPr>
          <a:xfrm>
            <a:off x="777240" y="381304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verified separately</a:t>
            </a:r>
          </a:p>
        </p:txBody>
      </p:sp>
      <p:sp>
        <p:nvSpPr>
          <p:cNvPr id="101" name="vacp-user"/>
          <p:cNvSpPr/>
          <p:nvPr/>
        </p:nvSpPr>
        <p:spPr>
          <a:xfrm>
            <a:off x="3063240" y="2880360"/>
            <a:ext cx="1097280" cy="731520"/>
          </a:xfrm>
          <a:prstGeom prst="rect">
            <a:avLst/>
          </a:prstGeom>
          <a:solidFill>
            <a:srgbClr val="FFFFFF"/>
          </a:solidFill>
          <a:ln w="19050">
            <a:solidFill>
              <a:srgbClr val="006D77"/>
            </a:solidFill>
          </a:ln>
        </p:spPr>
      </p:sp>
      <p:sp>
        <p:nvSpPr>
          <p:cNvPr id="102" name="vacp-user-t"/>
          <p:cNvSpPr/>
          <p:nvPr/>
        </p:nvSpPr>
        <p:spPr>
          <a:xfrm>
            <a:off x="3191256" y="309867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103" name="vacp-a1"/>
          <p:cNvCxnSpPr/>
          <p:nvPr/>
        </p:nvCxnSpPr>
        <p:spPr>
          <a:xfrm>
            <a:off x="4160520" y="3246120"/>
            <a:ext cx="365760" cy="0"/>
          </a:xfrm>
          <a:prstGeom prst="straightConnector1">
            <a:avLst/>
          </a:prstGeom>
          <a:ln w="19050">
            <a:solidFill>
              <a:srgbClr val="006D77"/>
            </a:solidFill>
            <a:tailEnd type="triangle" w="med" len="med"/>
          </a:ln>
        </p:spPr>
      </p:cxnSp>
      <p:sp>
        <p:nvSpPr>
          <p:cNvPr id="104" name="vacp-agent"/>
          <p:cNvSpPr/>
          <p:nvPr/>
        </p:nvSpPr>
        <p:spPr>
          <a:xfrm>
            <a:off x="4526280" y="2834639"/>
            <a:ext cx="2743200" cy="914400"/>
          </a:xfrm>
          <a:prstGeom prst="rect">
            <a:avLst/>
          </a:prstGeom>
          <a:solidFill>
            <a:srgbClr val="F1F6F6"/>
          </a:solidFill>
          <a:ln w="19050">
            <a:solidFill>
              <a:srgbClr val="006D77"/>
            </a:solidFill>
          </a:ln>
        </p:spPr>
      </p:sp>
      <p:sp>
        <p:nvSpPr>
          <p:cNvPr id="105" name="vacp-agent-t"/>
          <p:cNvSpPr/>
          <p:nvPr/>
        </p:nvSpPr>
        <p:spPr>
          <a:xfrm>
            <a:off x="4654296" y="2926079"/>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 loop</a:t>
            </a:r>
          </a:p>
        </p:txBody>
      </p:sp>
      <p:sp>
        <p:nvSpPr>
          <p:cNvPr id="106" name="vacp-agent-s"/>
          <p:cNvSpPr/>
          <p:nvPr/>
        </p:nvSpPr>
        <p:spPr>
          <a:xfrm>
            <a:off x="4654296" y="3257550"/>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Reads state, acts, re-reads</a:t>
            </a:r>
          </a:p>
        </p:txBody>
      </p:sp>
      <p:cxnSp>
        <p:nvCxnSpPr>
          <p:cNvPr id="107" name="vacp-a2"/>
          <p:cNvCxnSpPr/>
          <p:nvPr/>
        </p:nvCxnSpPr>
        <p:spPr>
          <a:xfrm>
            <a:off x="7269480" y="3291839"/>
            <a:ext cx="1280159" cy="0"/>
          </a:xfrm>
          <a:prstGeom prst="straightConnector1">
            <a:avLst/>
          </a:prstGeom>
          <a:ln w="19050">
            <a:solidFill>
              <a:srgbClr val="006D77"/>
            </a:solidFill>
            <a:tailEnd type="triangle" w="med" len="med"/>
          </a:ln>
        </p:spPr>
      </p:cxnSp>
      <p:sp>
        <p:nvSpPr>
          <p:cNvPr id="108" name="vacp-chan"/>
          <p:cNvSpPr/>
          <p:nvPr/>
        </p:nvSpPr>
        <p:spPr>
          <a:xfrm>
            <a:off x="7269480" y="2971800"/>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Declared actions</a:t>
            </a:r>
          </a:p>
        </p:txBody>
      </p:sp>
      <p:sp>
        <p:nvSpPr>
          <p:cNvPr id="109" name="vacp-target"/>
          <p:cNvSpPr/>
          <p:nvPr/>
        </p:nvSpPr>
        <p:spPr>
          <a:xfrm>
            <a:off x="8549640" y="2834639"/>
            <a:ext cx="3063240" cy="914400"/>
          </a:xfrm>
          <a:prstGeom prst="rect">
            <a:avLst/>
          </a:prstGeom>
          <a:solidFill>
            <a:srgbClr val="FFFFFF"/>
          </a:solidFill>
          <a:ln w="19050">
            <a:solidFill>
              <a:srgbClr val="006D77"/>
            </a:solidFill>
          </a:ln>
        </p:spPr>
      </p:sp>
      <p:sp>
        <p:nvSpPr>
          <p:cNvPr id="110" name="vacp-target-t"/>
          <p:cNvSpPr/>
          <p:nvPr/>
        </p:nvSpPr>
        <p:spPr>
          <a:xfrm>
            <a:off x="8677656" y="2926079"/>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ERPNext app</a:t>
            </a:r>
          </a:p>
        </p:txBody>
      </p:sp>
      <p:sp>
        <p:nvSpPr>
          <p:cNvPr id="111" name="vacp-target-s"/>
          <p:cNvSpPr/>
          <p:nvPr/>
        </p:nvSpPr>
        <p:spPr>
          <a:xfrm>
            <a:off x="8677656" y="3257550"/>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View, filters, records</a:t>
            </a:r>
          </a:p>
        </p:txBody>
      </p:sp>
      <p:sp>
        <p:nvSpPr>
          <p:cNvPr id="112" name="vacp-ret-v1"/>
          <p:cNvSpPr/>
          <p:nvPr/>
        </p:nvSpPr>
        <p:spPr>
          <a:xfrm>
            <a:off x="10058400" y="3749039"/>
            <a:ext cx="0" cy="228600"/>
          </a:xfrm>
          <a:prstGeom prst="rect">
            <a:avLst/>
          </a:prstGeom>
          <a:noFill/>
          <a:ln w="19050">
            <a:solidFill>
              <a:srgbClr val="006D77"/>
            </a:solidFill>
          </a:ln>
        </p:spPr>
      </p:sp>
      <p:cxnSp>
        <p:nvCxnSpPr>
          <p:cNvPr id="113" name="vacp-ret-h"/>
          <p:cNvCxnSpPr/>
          <p:nvPr/>
        </p:nvCxnSpPr>
        <p:spPr>
          <a:xfrm flipH="1">
            <a:off x="3611880" y="3977639"/>
            <a:ext cx="6446520" cy="0"/>
          </a:xfrm>
          <a:prstGeom prst="straightConnector1">
            <a:avLst/>
          </a:prstGeom>
          <a:ln w="19050">
            <a:solidFill>
              <a:srgbClr val="006D77"/>
            </a:solidFill>
            <a:tailEnd type="triangle" w="med" len="med"/>
          </a:ln>
        </p:spPr>
      </p:cxnSp>
      <p:cxnSp>
        <p:nvCxnSpPr>
          <p:cNvPr id="114" name="vacp-ret-v2"/>
          <p:cNvCxnSpPr/>
          <p:nvPr/>
        </p:nvCxnSpPr>
        <p:spPr>
          <a:xfrm flipV="1">
            <a:off x="3611880" y="3630168"/>
            <a:ext cx="0" cy="347471"/>
          </a:xfrm>
          <a:prstGeom prst="straightConnector1">
            <a:avLst/>
          </a:prstGeom>
          <a:ln w="19050">
            <a:solidFill>
              <a:srgbClr val="006D77"/>
            </a:solidFill>
            <a:tailEnd type="triangle" w="med" len="med"/>
          </a:ln>
        </p:spPr>
      </p:cxnSp>
      <p:sp>
        <p:nvSpPr>
          <p:cNvPr id="115" name="uni-label"/>
          <p:cNvSpPr/>
          <p:nvPr/>
        </p:nvSpPr>
        <p:spPr>
          <a:xfrm>
            <a:off x="640080" y="4297680"/>
            <a:ext cx="2148840" cy="1371600"/>
          </a:xfrm>
          <a:prstGeom prst="rect">
            <a:avLst/>
          </a:prstGeom>
          <a:solidFill>
            <a:srgbClr val="FFFFFF"/>
          </a:solidFill>
          <a:ln w="19050">
            <a:solidFill>
              <a:srgbClr val="006D77"/>
            </a:solidFill>
            <a:prstDash val="dash"/>
          </a:ln>
        </p:spPr>
      </p:sp>
      <p:sp>
        <p:nvSpPr>
          <p:cNvPr id="116" name="uni-label-a"/>
          <p:cNvSpPr/>
          <p:nvPr/>
        </p:nvSpPr>
        <p:spPr>
          <a:xfrm>
            <a:off x="777240" y="440740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Proposed</a:t>
            </a:r>
          </a:p>
        </p:txBody>
      </p:sp>
      <p:sp>
        <p:nvSpPr>
          <p:cNvPr id="117" name="uni-label-b"/>
          <p:cNvSpPr/>
          <p:nvPr/>
        </p:nvSpPr>
        <p:spPr>
          <a:xfrm>
            <a:off x="777240" y="4709160"/>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Unified agent</a:t>
            </a:r>
          </a:p>
        </p:txBody>
      </p:sp>
      <p:sp>
        <p:nvSpPr>
          <p:cNvPr id="118" name="uni-label-c"/>
          <p:cNvSpPr/>
          <p:nvPr/>
        </p:nvSpPr>
        <p:spPr>
          <a:xfrm>
            <a:off x="777240" y="532180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join pending</a:t>
            </a:r>
          </a:p>
        </p:txBody>
      </p:sp>
      <p:sp>
        <p:nvSpPr>
          <p:cNvPr id="119" name="uni-user"/>
          <p:cNvSpPr/>
          <p:nvPr/>
        </p:nvSpPr>
        <p:spPr>
          <a:xfrm>
            <a:off x="3063240" y="4389120"/>
            <a:ext cx="1097280" cy="731520"/>
          </a:xfrm>
          <a:prstGeom prst="rect">
            <a:avLst/>
          </a:prstGeom>
          <a:solidFill>
            <a:srgbClr val="FFFFFF"/>
          </a:solidFill>
          <a:ln w="19050">
            <a:solidFill>
              <a:srgbClr val="006D77"/>
            </a:solidFill>
            <a:prstDash val="dash"/>
          </a:ln>
        </p:spPr>
      </p:sp>
      <p:sp>
        <p:nvSpPr>
          <p:cNvPr id="120" name="uni-user-t"/>
          <p:cNvSpPr/>
          <p:nvPr/>
        </p:nvSpPr>
        <p:spPr>
          <a:xfrm>
            <a:off x="3191256" y="460743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121" name="uni-a1"/>
          <p:cNvCxnSpPr/>
          <p:nvPr/>
        </p:nvCxnSpPr>
        <p:spPr>
          <a:xfrm>
            <a:off x="4160520" y="4754880"/>
            <a:ext cx="365760" cy="0"/>
          </a:xfrm>
          <a:prstGeom prst="straightConnector1">
            <a:avLst/>
          </a:prstGeom>
          <a:ln w="19050">
            <a:solidFill>
              <a:srgbClr val="006D77"/>
            </a:solidFill>
            <a:prstDash val="dash"/>
            <a:tailEnd type="triangle" w="med" len="med"/>
          </a:ln>
        </p:spPr>
      </p:cxnSp>
      <p:sp>
        <p:nvSpPr>
          <p:cNvPr id="122" name="uni-agent"/>
          <p:cNvSpPr/>
          <p:nvPr/>
        </p:nvSpPr>
        <p:spPr>
          <a:xfrm>
            <a:off x="4526280" y="4343400"/>
            <a:ext cx="2743200" cy="914400"/>
          </a:xfrm>
          <a:prstGeom prst="rect">
            <a:avLst/>
          </a:prstGeom>
          <a:solidFill>
            <a:srgbClr val="FFFFFF"/>
          </a:solidFill>
          <a:ln w="19050">
            <a:solidFill>
              <a:srgbClr val="006D77"/>
            </a:solidFill>
            <a:prstDash val="dash"/>
          </a:ln>
        </p:spPr>
      </p:sp>
      <p:sp>
        <p:nvSpPr>
          <p:cNvPr id="123" name="uni-agent-t"/>
          <p:cNvSpPr/>
          <p:nvPr/>
        </p:nvSpPr>
        <p:spPr>
          <a:xfrm>
            <a:off x="4654296" y="4434840"/>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Shared agent core</a:t>
            </a:r>
          </a:p>
        </p:txBody>
      </p:sp>
      <p:sp>
        <p:nvSpPr>
          <p:cNvPr id="124" name="uni-agent-s"/>
          <p:cNvSpPr/>
          <p:nvPr/>
        </p:nvSpPr>
        <p:spPr>
          <a:xfrm>
            <a:off x="4654296" y="4766309"/>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API to know, VACP to do</a:t>
            </a:r>
          </a:p>
        </p:txBody>
      </p:sp>
      <p:cxnSp>
        <p:nvCxnSpPr>
          <p:cNvPr id="125" name="uni-a2"/>
          <p:cNvCxnSpPr/>
          <p:nvPr/>
        </p:nvCxnSpPr>
        <p:spPr>
          <a:xfrm>
            <a:off x="7269480" y="4800600"/>
            <a:ext cx="1280159" cy="0"/>
          </a:xfrm>
          <a:prstGeom prst="straightConnector1">
            <a:avLst/>
          </a:prstGeom>
          <a:ln w="19050">
            <a:solidFill>
              <a:srgbClr val="006D77"/>
            </a:solidFill>
            <a:prstDash val="dash"/>
            <a:tailEnd type="triangle" w="med" len="med"/>
          </a:ln>
        </p:spPr>
      </p:cxnSp>
      <p:sp>
        <p:nvSpPr>
          <p:cNvPr id="126" name="uni-chan"/>
          <p:cNvSpPr/>
          <p:nvPr/>
        </p:nvSpPr>
        <p:spPr>
          <a:xfrm>
            <a:off x="7269480" y="4480560"/>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Calls and actions</a:t>
            </a:r>
          </a:p>
        </p:txBody>
      </p:sp>
      <p:sp>
        <p:nvSpPr>
          <p:cNvPr id="127" name="uni-target"/>
          <p:cNvSpPr/>
          <p:nvPr/>
        </p:nvSpPr>
        <p:spPr>
          <a:xfrm>
            <a:off x="8549640" y="4343400"/>
            <a:ext cx="3063240" cy="914400"/>
          </a:xfrm>
          <a:prstGeom prst="rect">
            <a:avLst/>
          </a:prstGeom>
          <a:solidFill>
            <a:srgbClr val="FFFFFF"/>
          </a:solidFill>
          <a:ln w="19050">
            <a:solidFill>
              <a:srgbClr val="006D77"/>
            </a:solidFill>
            <a:prstDash val="dash"/>
          </a:ln>
        </p:spPr>
      </p:sp>
      <p:sp>
        <p:nvSpPr>
          <p:cNvPr id="128" name="uni-target-t"/>
          <p:cNvSpPr/>
          <p:nvPr/>
        </p:nvSpPr>
        <p:spPr>
          <a:xfrm>
            <a:off x="8677656" y="4434840"/>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Data and app</a:t>
            </a:r>
          </a:p>
        </p:txBody>
      </p:sp>
      <p:sp>
        <p:nvSpPr>
          <p:cNvPr id="129" name="uni-target-s"/>
          <p:cNvSpPr/>
          <p:nvPr/>
        </p:nvSpPr>
        <p:spPr>
          <a:xfrm>
            <a:off x="8677656" y="4766309"/>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Answer, then show the page</a:t>
            </a:r>
          </a:p>
        </p:txBody>
      </p:sp>
      <p:sp>
        <p:nvSpPr>
          <p:cNvPr id="130" name="uni-ret-v1"/>
          <p:cNvSpPr/>
          <p:nvPr/>
        </p:nvSpPr>
        <p:spPr>
          <a:xfrm>
            <a:off x="10058400" y="5257800"/>
            <a:ext cx="0" cy="228600"/>
          </a:xfrm>
          <a:prstGeom prst="rect">
            <a:avLst/>
          </a:prstGeom>
          <a:noFill/>
          <a:ln w="19050">
            <a:solidFill>
              <a:srgbClr val="006D77"/>
            </a:solidFill>
            <a:prstDash val="dash"/>
          </a:ln>
        </p:spPr>
      </p:sp>
      <p:cxnSp>
        <p:nvCxnSpPr>
          <p:cNvPr id="131" name="uni-ret-h"/>
          <p:cNvCxnSpPr/>
          <p:nvPr/>
        </p:nvCxnSpPr>
        <p:spPr>
          <a:xfrm flipH="1">
            <a:off x="3611880" y="5486400"/>
            <a:ext cx="6446520" cy="0"/>
          </a:xfrm>
          <a:prstGeom prst="straightConnector1">
            <a:avLst/>
          </a:prstGeom>
          <a:ln w="19050">
            <a:solidFill>
              <a:srgbClr val="006D77"/>
            </a:solidFill>
            <a:prstDash val="dash"/>
            <a:tailEnd type="triangle" w="med" len="med"/>
          </a:ln>
        </p:spPr>
      </p:cxnSp>
      <p:cxnSp>
        <p:nvCxnSpPr>
          <p:cNvPr id="132" name="uni-ret-v2"/>
          <p:cNvCxnSpPr/>
          <p:nvPr/>
        </p:nvCxnSpPr>
        <p:spPr>
          <a:xfrm flipV="1">
            <a:off x="3611880" y="5138928"/>
            <a:ext cx="0" cy="347471"/>
          </a:xfrm>
          <a:prstGeom prst="straightConnector1">
            <a:avLst/>
          </a:prstGeom>
          <a:ln w="19050">
            <a:solidFill>
              <a:srgbClr val="006D77"/>
            </a:solidFill>
            <a:prstDash val="dash"/>
            <a:tailEnd type="triangle" w="med" len="med"/>
          </a:ln>
        </p:spPr>
      </p:cxnSp>
      <p:sp>
        <p:nvSpPr>
          <p:cNvPr id="133" name="ov-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Loop after Beyond Browsing; ledger, tools and harness after LedgerAgent, Tool Illusion, Mingbird.</a:t>
            </a:r>
          </a:p>
        </p:txBody>
      </p:sp>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21</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subtitle"/>
          <p:cNvSpPr/>
          <p:nvPr/>
        </p:nvSpPr>
        <p:spPr>
          <a:xfrm>
            <a:off x="640080" y="1280160"/>
            <a:ext cx="10972800" cy="41148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Example: “Compare total orders in April and May 2016.”</a:t>
            </a:r>
          </a:p>
        </p:txBody>
      </p:sp>
      <p:sp>
        <p:nvSpPr>
          <p:cNvPr id="42" name="tl-solid"/>
          <p:cNvSpPr/>
          <p:nvPr/>
        </p:nvSpPr>
        <p:spPr>
          <a:xfrm>
            <a:off x="822960" y="3520440"/>
            <a:ext cx="5877763" cy="0"/>
          </a:xfrm>
          <a:prstGeom prst="rect">
            <a:avLst/>
          </a:prstGeom>
          <a:noFill/>
          <a:ln w="28575">
            <a:solidFill>
              <a:srgbClr val="006D77"/>
            </a:solidFill>
          </a:ln>
        </p:spPr>
      </p:sp>
      <p:sp>
        <p:nvSpPr>
          <p:cNvPr id="43" name="tl-dash"/>
          <p:cNvSpPr/>
          <p:nvPr/>
        </p:nvSpPr>
        <p:spPr>
          <a:xfrm>
            <a:off x="6700723" y="3520440"/>
            <a:ext cx="4637836" cy="0"/>
          </a:xfrm>
          <a:prstGeom prst="rect">
            <a:avLst/>
          </a:prstGeom>
          <a:noFill/>
          <a:ln w="28575">
            <a:solidFill>
              <a:srgbClr val="006D77"/>
            </a:solidFill>
            <a:prstDash val="dash"/>
          </a:ln>
        </p:spPr>
      </p:sp>
      <p:sp>
        <p:nvSpPr>
          <p:cNvPr id="44" name="halo0"/>
          <p:cNvSpPr/>
          <p:nvPr/>
        </p:nvSpPr>
        <p:spPr>
          <a:xfrm>
            <a:off x="1499616" y="3282696"/>
            <a:ext cx="475488" cy="475488"/>
          </a:xfrm>
          <a:prstGeom prst="ellipse">
            <a:avLst/>
          </a:prstGeom>
          <a:solidFill>
            <a:srgbClr val="EAF2F1"/>
          </a:solidFill>
          <a:ln w="0">
            <a:noFill/>
          </a:ln>
        </p:spPr>
      </p:sp>
      <p:sp>
        <p:nvSpPr>
          <p:cNvPr id="45" name="dot0"/>
          <p:cNvSpPr/>
          <p:nvPr/>
        </p:nvSpPr>
        <p:spPr>
          <a:xfrm>
            <a:off x="1636775" y="3419856"/>
            <a:ext cx="201168" cy="201168"/>
          </a:xfrm>
          <a:prstGeom prst="ellipse">
            <a:avLst/>
          </a:prstGeom>
          <a:solidFill>
            <a:srgbClr val="006D77"/>
          </a:solidFill>
          <a:ln w="22225">
            <a:solidFill>
              <a:srgbClr val="006D77"/>
            </a:solidFill>
          </a:ln>
        </p:spPr>
      </p:sp>
      <p:sp>
        <p:nvSpPr>
          <p:cNvPr id="46" name="n0"/>
          <p:cNvSpPr/>
          <p:nvPr/>
        </p:nvSpPr>
        <p:spPr>
          <a:xfrm>
            <a:off x="594359"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01</a:t>
            </a:r>
          </a:p>
        </p:txBody>
      </p:sp>
      <p:sp>
        <p:nvSpPr>
          <p:cNvPr id="47" name="t0"/>
          <p:cNvSpPr/>
          <p:nvPr/>
        </p:nvSpPr>
        <p:spPr>
          <a:xfrm>
            <a:off x="594359"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Ask</a:t>
            </a:r>
          </a:p>
        </p:txBody>
      </p:sp>
      <p:sp>
        <p:nvSpPr>
          <p:cNvPr id="48" name="d0"/>
          <p:cNvSpPr/>
          <p:nvPr/>
        </p:nvSpPr>
        <p:spPr>
          <a:xfrm>
            <a:off x="594359"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Compare orders</a:t>
            </a:r>
          </a:p>
        </p:txBody>
      </p:sp>
      <p:sp>
        <p:nvSpPr>
          <p:cNvPr id="49" name="halo1"/>
          <p:cNvSpPr/>
          <p:nvPr/>
        </p:nvSpPr>
        <p:spPr>
          <a:xfrm>
            <a:off x="2740456" y="3282696"/>
            <a:ext cx="475488" cy="475488"/>
          </a:xfrm>
          <a:prstGeom prst="ellipse">
            <a:avLst/>
          </a:prstGeom>
          <a:solidFill>
            <a:srgbClr val="EAF2F1"/>
          </a:solidFill>
          <a:ln w="0">
            <a:noFill/>
          </a:ln>
        </p:spPr>
      </p:sp>
      <p:sp>
        <p:nvSpPr>
          <p:cNvPr id="50" name="dot1"/>
          <p:cNvSpPr/>
          <p:nvPr/>
        </p:nvSpPr>
        <p:spPr>
          <a:xfrm>
            <a:off x="2877616" y="3419856"/>
            <a:ext cx="201168" cy="201168"/>
          </a:xfrm>
          <a:prstGeom prst="ellipse">
            <a:avLst/>
          </a:prstGeom>
          <a:solidFill>
            <a:srgbClr val="006D77"/>
          </a:solidFill>
          <a:ln w="22225">
            <a:solidFill>
              <a:srgbClr val="006D77"/>
            </a:solidFill>
          </a:ln>
        </p:spPr>
      </p:sp>
      <p:sp>
        <p:nvSpPr>
          <p:cNvPr id="51" name="n1"/>
          <p:cNvSpPr/>
          <p:nvPr/>
        </p:nvSpPr>
        <p:spPr>
          <a:xfrm>
            <a:off x="1835200"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02</a:t>
            </a:r>
          </a:p>
        </p:txBody>
      </p:sp>
      <p:sp>
        <p:nvSpPr>
          <p:cNvPr id="52" name="t1"/>
          <p:cNvSpPr/>
          <p:nvPr/>
        </p:nvSpPr>
        <p:spPr>
          <a:xfrm>
            <a:off x="1835200"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Resolve scope</a:t>
            </a:r>
          </a:p>
        </p:txBody>
      </p:sp>
      <p:sp>
        <p:nvSpPr>
          <p:cNvPr id="53" name="d1"/>
          <p:cNvSpPr/>
          <p:nvPr/>
        </p:nvSpPr>
        <p:spPr>
          <a:xfrm>
            <a:off x="1835200"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Two periods</a:t>
            </a:r>
          </a:p>
        </p:txBody>
      </p:sp>
      <p:sp>
        <p:nvSpPr>
          <p:cNvPr id="54" name="halo2"/>
          <p:cNvSpPr/>
          <p:nvPr/>
        </p:nvSpPr>
        <p:spPr>
          <a:xfrm>
            <a:off x="3981297" y="3282696"/>
            <a:ext cx="475488" cy="475488"/>
          </a:xfrm>
          <a:prstGeom prst="ellipse">
            <a:avLst/>
          </a:prstGeom>
          <a:solidFill>
            <a:srgbClr val="EAF2F1"/>
          </a:solidFill>
          <a:ln w="0">
            <a:noFill/>
          </a:ln>
        </p:spPr>
      </p:sp>
      <p:sp>
        <p:nvSpPr>
          <p:cNvPr id="55" name="dot2"/>
          <p:cNvSpPr/>
          <p:nvPr/>
        </p:nvSpPr>
        <p:spPr>
          <a:xfrm>
            <a:off x="4118457" y="3419856"/>
            <a:ext cx="201168" cy="201168"/>
          </a:xfrm>
          <a:prstGeom prst="ellipse">
            <a:avLst/>
          </a:prstGeom>
          <a:solidFill>
            <a:srgbClr val="006D77"/>
          </a:solidFill>
          <a:ln w="22225">
            <a:solidFill>
              <a:srgbClr val="006D77"/>
            </a:solidFill>
          </a:ln>
        </p:spPr>
      </p:sp>
      <p:sp>
        <p:nvSpPr>
          <p:cNvPr id="56" name="n2"/>
          <p:cNvSpPr/>
          <p:nvPr/>
        </p:nvSpPr>
        <p:spPr>
          <a:xfrm>
            <a:off x="3076041"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03</a:t>
            </a:r>
          </a:p>
        </p:txBody>
      </p:sp>
      <p:sp>
        <p:nvSpPr>
          <p:cNvPr id="57" name="t2"/>
          <p:cNvSpPr/>
          <p:nvPr/>
        </p:nvSpPr>
        <p:spPr>
          <a:xfrm>
            <a:off x="3076041"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Get the facts</a:t>
            </a:r>
          </a:p>
        </p:txBody>
      </p:sp>
      <p:sp>
        <p:nvSpPr>
          <p:cNvPr id="58" name="d2"/>
          <p:cNvSpPr/>
          <p:nvPr/>
        </p:nvSpPr>
        <p:spPr>
          <a:xfrm>
            <a:off x="3076041"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Run comparison</a:t>
            </a:r>
          </a:p>
        </p:txBody>
      </p:sp>
      <p:sp>
        <p:nvSpPr>
          <p:cNvPr id="59" name="halo3"/>
          <p:cNvSpPr/>
          <p:nvPr/>
        </p:nvSpPr>
        <p:spPr>
          <a:xfrm>
            <a:off x="5222138" y="3282696"/>
            <a:ext cx="475488" cy="475488"/>
          </a:xfrm>
          <a:prstGeom prst="ellipse">
            <a:avLst/>
          </a:prstGeom>
          <a:solidFill>
            <a:srgbClr val="EAF2F1"/>
          </a:solidFill>
          <a:ln w="0">
            <a:noFill/>
          </a:ln>
        </p:spPr>
      </p:sp>
      <p:sp>
        <p:nvSpPr>
          <p:cNvPr id="60" name="dot3"/>
          <p:cNvSpPr/>
          <p:nvPr/>
        </p:nvSpPr>
        <p:spPr>
          <a:xfrm>
            <a:off x="5359298" y="3419856"/>
            <a:ext cx="201168" cy="201168"/>
          </a:xfrm>
          <a:prstGeom prst="ellipse">
            <a:avLst/>
          </a:prstGeom>
          <a:solidFill>
            <a:srgbClr val="006D77"/>
          </a:solidFill>
          <a:ln w="22225">
            <a:solidFill>
              <a:srgbClr val="006D77"/>
            </a:solidFill>
          </a:ln>
        </p:spPr>
      </p:sp>
      <p:sp>
        <p:nvSpPr>
          <p:cNvPr id="61" name="n3"/>
          <p:cNvSpPr/>
          <p:nvPr/>
        </p:nvSpPr>
        <p:spPr>
          <a:xfrm>
            <a:off x="4316882"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04</a:t>
            </a:r>
          </a:p>
        </p:txBody>
      </p:sp>
      <p:sp>
        <p:nvSpPr>
          <p:cNvPr id="62" name="t3"/>
          <p:cNvSpPr/>
          <p:nvPr/>
        </p:nvSpPr>
        <p:spPr>
          <a:xfrm>
            <a:off x="4316882"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Verify</a:t>
            </a:r>
          </a:p>
        </p:txBody>
      </p:sp>
      <p:sp>
        <p:nvSpPr>
          <p:cNvPr id="63" name="d3"/>
          <p:cNvSpPr/>
          <p:nvPr/>
        </p:nvSpPr>
        <p:spPr>
          <a:xfrm>
            <a:off x="4316882"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Check figures</a:t>
            </a:r>
          </a:p>
        </p:txBody>
      </p:sp>
      <p:sp>
        <p:nvSpPr>
          <p:cNvPr id="64" name="halo4"/>
          <p:cNvSpPr/>
          <p:nvPr/>
        </p:nvSpPr>
        <p:spPr>
          <a:xfrm>
            <a:off x="6462979" y="3282696"/>
            <a:ext cx="475488" cy="475488"/>
          </a:xfrm>
          <a:prstGeom prst="ellipse">
            <a:avLst/>
          </a:prstGeom>
          <a:solidFill>
            <a:srgbClr val="EAF2F1"/>
          </a:solidFill>
          <a:ln w="0">
            <a:noFill/>
          </a:ln>
        </p:spPr>
      </p:sp>
      <p:sp>
        <p:nvSpPr>
          <p:cNvPr id="65" name="dot4"/>
          <p:cNvSpPr/>
          <p:nvPr/>
        </p:nvSpPr>
        <p:spPr>
          <a:xfrm>
            <a:off x="6600139" y="3419856"/>
            <a:ext cx="201168" cy="201168"/>
          </a:xfrm>
          <a:prstGeom prst="ellipse">
            <a:avLst/>
          </a:prstGeom>
          <a:solidFill>
            <a:srgbClr val="006D77"/>
          </a:solidFill>
          <a:ln w="22225">
            <a:solidFill>
              <a:srgbClr val="006D77"/>
            </a:solidFill>
          </a:ln>
        </p:spPr>
      </p:sp>
      <p:sp>
        <p:nvSpPr>
          <p:cNvPr id="66" name="n4"/>
          <p:cNvSpPr/>
          <p:nvPr/>
        </p:nvSpPr>
        <p:spPr>
          <a:xfrm>
            <a:off x="5557723"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05</a:t>
            </a:r>
          </a:p>
        </p:txBody>
      </p:sp>
      <p:sp>
        <p:nvSpPr>
          <p:cNvPr id="67" name="t4"/>
          <p:cNvSpPr/>
          <p:nvPr/>
        </p:nvSpPr>
        <p:spPr>
          <a:xfrm>
            <a:off x="5557723" y="2441448"/>
            <a:ext cx="2286000" cy="310896"/>
          </a:xfrm>
          <a:prstGeom prst="rect">
            <a:avLst/>
          </a:prstGeom>
          <a:noFill/>
          <a:ln w="0">
            <a:noFill/>
          </a:ln>
        </p:spPr>
        <p:txBody>
          <a:bodyPr wrap="square" lIns="0" tIns="0" rIns="0" bIns="0" anchor="t">
            <a:noAutofit/>
          </a:bodyPr>
          <a:lstStyle/>
          <a:p>
            <a:pPr algn="ctr">
              <a:lnSpc>
                <a:spcPct val="112000"/>
              </a:lnSpc>
              <a:buNone/>
            </a:pPr>
            <a:r>
              <a:rPr lang="en-US" sz="1875" b="1">
                <a:solidFill>
                  <a:srgbClr val="006D77"/>
                </a:solidFill>
                <a:latin typeface="Arial"/>
                <a:ea typeface="Arial"/>
                <a:cs typeface="Arial"/>
              </a:rPr>
              <a:t>Explain</a:t>
            </a:r>
          </a:p>
        </p:txBody>
      </p:sp>
      <p:sp>
        <p:nvSpPr>
          <p:cNvPr id="68" name="d4"/>
          <p:cNvSpPr/>
          <p:nvPr/>
        </p:nvSpPr>
        <p:spPr>
          <a:xfrm>
            <a:off x="5557723"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+96 orders</a:t>
            </a:r>
          </a:p>
        </p:txBody>
      </p:sp>
      <p:sp>
        <p:nvSpPr>
          <p:cNvPr id="69" name="halo5"/>
          <p:cNvSpPr/>
          <p:nvPr/>
        </p:nvSpPr>
        <p:spPr>
          <a:xfrm>
            <a:off x="7703820" y="3282696"/>
            <a:ext cx="475488" cy="475488"/>
          </a:xfrm>
          <a:prstGeom prst="ellipse">
            <a:avLst/>
          </a:prstGeom>
          <a:solidFill>
            <a:srgbClr val="EAF2F1"/>
          </a:solidFill>
          <a:ln w="0">
            <a:noFill/>
          </a:ln>
        </p:spPr>
      </p:sp>
      <p:sp>
        <p:nvSpPr>
          <p:cNvPr id="70" name="dot5"/>
          <p:cNvSpPr/>
          <p:nvPr/>
        </p:nvSpPr>
        <p:spPr>
          <a:xfrm>
            <a:off x="7840980" y="3419856"/>
            <a:ext cx="201168" cy="201168"/>
          </a:xfrm>
          <a:prstGeom prst="ellipse">
            <a:avLst/>
          </a:prstGeom>
          <a:solidFill>
            <a:srgbClr val="006D77"/>
          </a:solidFill>
          <a:ln w="22225">
            <a:solidFill>
              <a:srgbClr val="006D77"/>
            </a:solidFill>
          </a:ln>
        </p:spPr>
      </p:sp>
      <p:sp>
        <p:nvSpPr>
          <p:cNvPr id="71" name="n5"/>
          <p:cNvSpPr/>
          <p:nvPr/>
        </p:nvSpPr>
        <p:spPr>
          <a:xfrm>
            <a:off x="6798564"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06</a:t>
            </a:r>
          </a:p>
        </p:txBody>
      </p:sp>
      <p:sp>
        <p:nvSpPr>
          <p:cNvPr id="72" name="t5"/>
          <p:cNvSpPr/>
          <p:nvPr/>
        </p:nvSpPr>
        <p:spPr>
          <a:xfrm>
            <a:off x="6798564"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Follow up</a:t>
            </a:r>
          </a:p>
        </p:txBody>
      </p:sp>
      <p:sp>
        <p:nvSpPr>
          <p:cNvPr id="73" name="d5"/>
          <p:cNvSpPr/>
          <p:nvPr/>
        </p:nvSpPr>
        <p:spPr>
          <a:xfrm>
            <a:off x="6798564"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May orders</a:t>
            </a:r>
          </a:p>
        </p:txBody>
      </p:sp>
      <p:sp>
        <p:nvSpPr>
          <p:cNvPr id="74" name="halo6"/>
          <p:cNvSpPr/>
          <p:nvPr/>
        </p:nvSpPr>
        <p:spPr>
          <a:xfrm>
            <a:off x="8944660" y="3282696"/>
            <a:ext cx="475488" cy="475488"/>
          </a:xfrm>
          <a:prstGeom prst="ellipse">
            <a:avLst/>
          </a:prstGeom>
          <a:solidFill>
            <a:srgbClr val="EAF2F1"/>
          </a:solidFill>
          <a:ln w="0">
            <a:noFill/>
          </a:ln>
        </p:spPr>
      </p:sp>
      <p:sp>
        <p:nvSpPr>
          <p:cNvPr id="75" name="dot6"/>
          <p:cNvSpPr/>
          <p:nvPr/>
        </p:nvSpPr>
        <p:spPr>
          <a:xfrm>
            <a:off x="9081820" y="3419856"/>
            <a:ext cx="201168" cy="201168"/>
          </a:xfrm>
          <a:prstGeom prst="ellipse">
            <a:avLst/>
          </a:prstGeom>
          <a:solidFill>
            <a:srgbClr val="006D77"/>
          </a:solidFill>
          <a:ln w="22225">
            <a:solidFill>
              <a:srgbClr val="006D77"/>
            </a:solidFill>
          </a:ln>
        </p:spPr>
      </p:sp>
      <p:sp>
        <p:nvSpPr>
          <p:cNvPr id="76" name="n6"/>
          <p:cNvSpPr/>
          <p:nvPr/>
        </p:nvSpPr>
        <p:spPr>
          <a:xfrm>
            <a:off x="8039404"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07</a:t>
            </a:r>
          </a:p>
        </p:txBody>
      </p:sp>
      <p:sp>
        <p:nvSpPr>
          <p:cNvPr id="77" name="t6"/>
          <p:cNvSpPr/>
          <p:nvPr/>
        </p:nvSpPr>
        <p:spPr>
          <a:xfrm>
            <a:off x="8039404"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Open view</a:t>
            </a:r>
          </a:p>
        </p:txBody>
      </p:sp>
      <p:sp>
        <p:nvSpPr>
          <p:cNvPr id="78" name="d6"/>
          <p:cNvSpPr/>
          <p:nvPr/>
        </p:nvSpPr>
        <p:spPr>
          <a:xfrm>
            <a:off x="8039404"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Matching page</a:t>
            </a:r>
          </a:p>
        </p:txBody>
      </p:sp>
      <p:sp>
        <p:nvSpPr>
          <p:cNvPr id="79" name="halo7"/>
          <p:cNvSpPr/>
          <p:nvPr/>
        </p:nvSpPr>
        <p:spPr>
          <a:xfrm>
            <a:off x="10185501" y="3282696"/>
            <a:ext cx="475488" cy="475488"/>
          </a:xfrm>
          <a:prstGeom prst="ellipse">
            <a:avLst/>
          </a:prstGeom>
          <a:solidFill>
            <a:srgbClr val="EAF2F1"/>
          </a:solidFill>
          <a:ln w="0">
            <a:noFill/>
          </a:ln>
        </p:spPr>
      </p:sp>
      <p:sp>
        <p:nvSpPr>
          <p:cNvPr id="80" name="dot7"/>
          <p:cNvSpPr/>
          <p:nvPr/>
        </p:nvSpPr>
        <p:spPr>
          <a:xfrm>
            <a:off x="10322661" y="3419856"/>
            <a:ext cx="201168" cy="201168"/>
          </a:xfrm>
          <a:prstGeom prst="ellipse">
            <a:avLst/>
          </a:prstGeom>
          <a:solidFill>
            <a:srgbClr val="006D77"/>
          </a:solidFill>
          <a:ln w="22225">
            <a:solidFill>
              <a:srgbClr val="006D77"/>
            </a:solidFill>
          </a:ln>
        </p:spPr>
      </p:sp>
      <p:sp>
        <p:nvSpPr>
          <p:cNvPr id="81" name="n7"/>
          <p:cNvSpPr/>
          <p:nvPr/>
        </p:nvSpPr>
        <p:spPr>
          <a:xfrm>
            <a:off x="9280245"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08</a:t>
            </a:r>
          </a:p>
        </p:txBody>
      </p:sp>
      <p:sp>
        <p:nvSpPr>
          <p:cNvPr id="82" name="t7"/>
          <p:cNvSpPr/>
          <p:nvPr/>
        </p:nvSpPr>
        <p:spPr>
          <a:xfrm>
            <a:off x="9280245"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Confirm</a:t>
            </a:r>
          </a:p>
        </p:txBody>
      </p:sp>
      <p:sp>
        <p:nvSpPr>
          <p:cNvPr id="83" name="d7"/>
          <p:cNvSpPr/>
          <p:nvPr/>
        </p:nvSpPr>
        <p:spPr>
          <a:xfrm>
            <a:off x="9280245"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 answer</a:t>
            </a:r>
          </a:p>
        </p:txBody>
      </p:sp>
      <p:sp>
        <p:nvSpPr>
          <p:cNvPr id="84" name="data-strip"/>
          <p:cNvSpPr/>
          <p:nvPr/>
        </p:nvSpPr>
        <p:spPr>
          <a:xfrm>
            <a:off x="640080" y="5257800"/>
            <a:ext cx="10972800" cy="502920"/>
          </a:xfrm>
          <a:prstGeom prst="rect">
            <a:avLst/>
          </a:prstGeom>
          <a:solidFill>
            <a:srgbClr val="EAF2F1"/>
          </a:solidFill>
          <a:ln w="19050">
            <a:solidFill>
              <a:srgbClr val="006D77"/>
            </a:solidFill>
          </a:ln>
        </p:spPr>
      </p:sp>
      <p:sp>
        <p:nvSpPr>
          <p:cNvPr id="85" name="data-text"/>
          <p:cNvSpPr/>
          <p:nvPr/>
        </p:nvSpPr>
        <p:spPr>
          <a:xfrm>
            <a:off x="822960" y="5340096"/>
            <a:ext cx="1060704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Verified data: April 1,951 · May 2,047 · 96 more orders · 4.92% · April’s 1,951 read back from the ERPNext page</a:t>
            </a:r>
          </a:p>
        </p:txBody>
      </p:sp>
      <p:sp>
        <p:nvSpPr>
          <p:cNvPr id="86" name="w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line turns dashed after step 5: those steps need the joined runtime, which remains proposed.</a:t>
            </a:r>
          </a:p>
        </p:txBody>
      </p:sp>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21</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21</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17.</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21</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21</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19 / 21</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21 / 21</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21</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We built the API agent first, then added VACP for the half with no endpoint.</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That VACP closes the gap is our hypothesis, not yet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Development-set 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21</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on 31 development chains (87 steps), one run</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383280"/>
                <a:gridCol w="3108960"/>
                <a:gridCol w="4480560"/>
              </a:tblGrid>
              <a:tr h="384048">
                <a:tc>
                  <a:txBody>
                    <a:bodyPr wrap="square"/>
                    <a:lstStyle/>
                    <a:p>
                      <a:pPr>
                        <a:lnSpc>
                          <a:spcPct val="108000"/>
                        </a:lnSpc>
                      </a:pPr>
                      <a:r>
                        <a:rPr sz="1725"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Result</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 accuracy</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 (69 of 87)</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and sort match the key</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 (18 of 31)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steps alone 77.0%</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2.8 steps per chain; p95 39 s</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the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Every number traced to a tool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over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 hit@5 77.9%</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140 queries; hit@1 61.4%</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 of steps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 of 87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yet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single run, tuned on these chains. Held-out chains not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21</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Same-code rerun, R1-32B emits the calls: 38.7% of chains.</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Held-out chains not run. Row 2 latency excludes the written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21</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611880"/>
          </a:xfrm>
          <a:prstGeom prst="rect">
            <a:avLst/>
          </a:prstGeom>
          <a:solidFill>
            <a:srgbClr val="FFFFFF"/>
          </a:solidFill>
          <a:ln w="15240">
            <a:solidFill>
              <a:srgbClr val="006D77"/>
            </a:solidFill>
          </a:ln>
        </p:spPr>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874519"/>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03703"/>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65176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298094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42900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(window.__vacp)</a:t>
            </a:r>
          </a:p>
        </p:txBody>
      </p:sp>
      <p:sp>
        <p:nvSpPr>
          <p:cNvPr id="20" name="det-ERPNex"/>
          <p:cNvSpPr/>
          <p:nvPr/>
        </p:nvSpPr>
        <p:spPr>
          <a:xfrm>
            <a:off x="868680" y="375818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23 of 23 checks against SQL on the stock Desk</a:t>
            </a:r>
          </a:p>
        </p:txBody>
      </p:sp>
      <p:sp>
        <p:nvSpPr>
          <p:cNvPr id="21" name="lead-Sapien"/>
          <p:cNvSpPr/>
          <p:nvPr/>
        </p:nvSpPr>
        <p:spPr>
          <a:xfrm>
            <a:off x="868680" y="420624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Sapience workspace build</a:t>
            </a:r>
          </a:p>
        </p:txBody>
      </p:sp>
      <p:sp>
        <p:nvSpPr>
          <p:cNvPr id="22" name="det-Sapien"/>
          <p:cNvSpPr/>
          <p:nvPr/>
        </p:nvSpPr>
        <p:spPr>
          <a:xfrm>
            <a:off x="868680" y="453542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API, ERP-style UI, model transport; 65 tests pass</a:t>
            </a:r>
          </a:p>
        </p:txBody>
      </p:sp>
      <p:sp>
        <p:nvSpPr>
          <p:cNvPr id="23" name="card-todo"/>
          <p:cNvSpPr/>
          <p:nvPr/>
        </p:nvSpPr>
        <p:spPr>
          <a:xfrm>
            <a:off x="7772400" y="1371600"/>
            <a:ext cx="3840480" cy="3611880"/>
          </a:xfrm>
          <a:prstGeom prst="rect">
            <a:avLst/>
          </a:prstGeom>
          <a:solidFill>
            <a:srgbClr val="EAF2F1"/>
          </a:solidFill>
          <a:ln w="15240">
            <a:solidFill>
              <a:srgbClr val="006D77"/>
            </a:solidFill>
          </a:ln>
        </p:spPr>
      </p:sp>
      <p:sp>
        <p:nvSpPr>
          <p:cNvPr id="24"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5" name="todo-Held-o"/>
          <p:cNvSpPr/>
          <p:nvPr/>
        </p:nvSpPr>
        <p:spPr>
          <a:xfrm>
            <a:off x="8001000" y="196596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Held-out run, 15 chains</a:t>
            </a:r>
          </a:p>
        </p:txBody>
      </p:sp>
      <p:sp>
        <p:nvSpPr>
          <p:cNvPr id="26" name="todo-Joined"/>
          <p:cNvSpPr/>
          <p:nvPr/>
        </p:nvSpPr>
        <p:spPr>
          <a:xfrm>
            <a:off x="8001000" y="24688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7" name="todo-Live h"/>
          <p:cNvSpPr/>
          <p:nvPr/>
        </p:nvSpPr>
        <p:spPr>
          <a:xfrm>
            <a:off x="8001000" y="297180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Live hosted-model loop</a:t>
            </a:r>
          </a:p>
        </p:txBody>
      </p:sp>
      <p:sp>
        <p:nvSpPr>
          <p:cNvPr id="28" name="todo-Durabl"/>
          <p:cNvSpPr/>
          <p:nvPr/>
        </p:nvSpPr>
        <p:spPr>
          <a:xfrm>
            <a:off x="8001000" y="347472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Durable session state</a:t>
            </a:r>
          </a:p>
        </p:txBody>
      </p:sp>
      <p:sp>
        <p:nvSpPr>
          <p:cNvPr id="29" name="todo-Assist"/>
          <p:cNvSpPr/>
          <p:nvPr/>
        </p:nvSpPr>
        <p:spPr>
          <a:xfrm>
            <a:off x="8001000" y="397763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Assistant panel in the app</a:t>
            </a:r>
          </a:p>
        </p:txBody>
      </p:sp>
      <p:sp>
        <p:nvSpPr>
          <p:cNvPr id="30" name="todo-WebAre"/>
          <p:cNvSpPr/>
          <p:nvPr/>
        </p:nvSpPr>
        <p:spPr>
          <a:xfrm>
            <a:off x="8001000" y="448055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31" name="status-line"/>
          <p:cNvSpPr/>
          <p:nvPr/>
        </p:nvSpPr>
        <p:spPr>
          <a:xfrm>
            <a:off x="640080" y="52120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32" name="status-note"/>
          <p:cNvSpPr/>
          <p:nvPr/>
        </p:nvSpPr>
        <p:spPr>
          <a:xfrm>
            <a:off x="640080" y="5650992"/>
            <a:ext cx="10972800" cy="59436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our own window.__vacp, tested in headless Chromium on the Sales Order and Sales Invoice lists, not VACP's kit. ERPNext invoices stop at 24 Feb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20 / 21</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1: API-based agent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21</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Typed tools, a state ledger and a code-checked finish</a:t>
            </a:r>
          </a:p>
        </p:txBody>
      </p:sp>
      <p:sp>
        <p:nvSpPr>
          <p:cNvPr id="14" name="step0"/>
          <p:cNvSpPr/>
          <p:nvPr/>
        </p:nvSpPr>
        <p:spPr>
          <a:xfrm>
            <a:off x="640080" y="1783080"/>
            <a:ext cx="2011680" cy="914400"/>
          </a:xfrm>
          <a:prstGeom prst="rect">
            <a:avLst/>
          </a:prstGeom>
          <a:solidFill>
            <a:srgbClr val="FFFFFF"/>
          </a:solidFill>
          <a:ln w="19050">
            <a:solidFill>
              <a:srgbClr val="006D77"/>
            </a:solidFill>
          </a:ln>
        </p:spPr>
      </p:sp>
      <p:sp>
        <p:nvSpPr>
          <p:cNvPr id="15" name="step0-t"/>
          <p:cNvSpPr/>
          <p:nvPr/>
        </p:nvSpPr>
        <p:spPr>
          <a:xfrm>
            <a:off x="76809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16" name="step0-s"/>
          <p:cNvSpPr/>
          <p:nvPr/>
        </p:nvSpPr>
        <p:spPr>
          <a:xfrm>
            <a:off x="76809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17" name="stepa0"/>
          <p:cNvCxnSpPr/>
          <p:nvPr/>
        </p:nvCxnSpPr>
        <p:spPr>
          <a:xfrm>
            <a:off x="2651760" y="2240280"/>
            <a:ext cx="228600" cy="0"/>
          </a:xfrm>
          <a:prstGeom prst="straightConnector1">
            <a:avLst/>
          </a:prstGeom>
          <a:ln w="19050">
            <a:solidFill>
              <a:srgbClr val="006D77"/>
            </a:solidFill>
            <a:tailEnd type="triangle" w="med" len="med"/>
          </a:ln>
        </p:spPr>
      </p:cxnSp>
      <p:sp>
        <p:nvSpPr>
          <p:cNvPr id="18" name="step1"/>
          <p:cNvSpPr/>
          <p:nvPr/>
        </p:nvSpPr>
        <p:spPr>
          <a:xfrm>
            <a:off x="2880360" y="1783080"/>
            <a:ext cx="2011680" cy="914400"/>
          </a:xfrm>
          <a:prstGeom prst="rect">
            <a:avLst/>
          </a:prstGeom>
          <a:solidFill>
            <a:srgbClr val="FFFFFF"/>
          </a:solidFill>
          <a:ln w="19050">
            <a:solidFill>
              <a:srgbClr val="006D77"/>
            </a:solidFill>
          </a:ln>
        </p:spPr>
      </p:sp>
      <p:sp>
        <p:nvSpPr>
          <p:cNvPr id="19" name="step1-t"/>
          <p:cNvSpPr/>
          <p:nvPr/>
        </p:nvSpPr>
        <p:spPr>
          <a:xfrm>
            <a:off x="300837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20" name="step1-s"/>
          <p:cNvSpPr/>
          <p:nvPr/>
        </p:nvSpPr>
        <p:spPr>
          <a:xfrm>
            <a:off x="300837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21" name="stepa1"/>
          <p:cNvCxnSpPr/>
          <p:nvPr/>
        </p:nvCxnSpPr>
        <p:spPr>
          <a:xfrm>
            <a:off x="4892040" y="2240280"/>
            <a:ext cx="228600" cy="0"/>
          </a:xfrm>
          <a:prstGeom prst="straightConnector1">
            <a:avLst/>
          </a:prstGeom>
          <a:ln w="19050">
            <a:solidFill>
              <a:srgbClr val="006D77"/>
            </a:solidFill>
            <a:tailEnd type="triangle" w="med" len="med"/>
          </a:ln>
        </p:spPr>
      </p:cxnSp>
      <p:sp>
        <p:nvSpPr>
          <p:cNvPr id="22" name="step2"/>
          <p:cNvSpPr/>
          <p:nvPr/>
        </p:nvSpPr>
        <p:spPr>
          <a:xfrm>
            <a:off x="5120640" y="1783080"/>
            <a:ext cx="2011680" cy="914400"/>
          </a:xfrm>
          <a:prstGeom prst="rect">
            <a:avLst/>
          </a:prstGeom>
          <a:solidFill>
            <a:srgbClr val="EAF2F1"/>
          </a:solidFill>
          <a:ln w="19050">
            <a:solidFill>
              <a:srgbClr val="006D77"/>
            </a:solidFill>
          </a:ln>
        </p:spPr>
      </p:sp>
      <p:sp>
        <p:nvSpPr>
          <p:cNvPr id="23" name="step2-t"/>
          <p:cNvSpPr/>
          <p:nvPr/>
        </p:nvSpPr>
        <p:spPr>
          <a:xfrm>
            <a:off x="524865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24" name="step2-s"/>
          <p:cNvSpPr/>
          <p:nvPr/>
        </p:nvSpPr>
        <p:spPr>
          <a:xfrm>
            <a:off x="524865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tool calls</a:t>
            </a:r>
          </a:p>
        </p:txBody>
      </p:sp>
      <p:cxnSp>
        <p:nvCxnSpPr>
          <p:cNvPr id="25" name="stepa2"/>
          <p:cNvCxnSpPr/>
          <p:nvPr/>
        </p:nvCxnSpPr>
        <p:spPr>
          <a:xfrm>
            <a:off x="7132320" y="2240280"/>
            <a:ext cx="228600" cy="0"/>
          </a:xfrm>
          <a:prstGeom prst="straightConnector1">
            <a:avLst/>
          </a:prstGeom>
          <a:ln w="19050">
            <a:solidFill>
              <a:srgbClr val="006D77"/>
            </a:solidFill>
            <a:tailEnd type="triangle" w="med" len="med"/>
          </a:ln>
        </p:spPr>
      </p:cxnSp>
      <p:sp>
        <p:nvSpPr>
          <p:cNvPr id="26" name="step3"/>
          <p:cNvSpPr/>
          <p:nvPr/>
        </p:nvSpPr>
        <p:spPr>
          <a:xfrm>
            <a:off x="7360920" y="1783080"/>
            <a:ext cx="2011680" cy="914400"/>
          </a:xfrm>
          <a:prstGeom prst="rect">
            <a:avLst/>
          </a:prstGeom>
          <a:solidFill>
            <a:srgbClr val="EAF2F1"/>
          </a:solidFill>
          <a:ln w="19050">
            <a:solidFill>
              <a:srgbClr val="006D77"/>
            </a:solidFill>
          </a:ln>
        </p:spPr>
      </p:sp>
      <p:sp>
        <p:nvSpPr>
          <p:cNvPr id="27" name="step3-t"/>
          <p:cNvSpPr/>
          <p:nvPr/>
        </p:nvSpPr>
        <p:spPr>
          <a:xfrm>
            <a:off x="748893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28" name="step3-s"/>
          <p:cNvSpPr/>
          <p:nvPr/>
        </p:nvSpPr>
        <p:spPr>
          <a:xfrm>
            <a:off x="748893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29" name="stepa3"/>
          <p:cNvCxnSpPr/>
          <p:nvPr/>
        </p:nvCxnSpPr>
        <p:spPr>
          <a:xfrm>
            <a:off x="9372600" y="2240280"/>
            <a:ext cx="228600" cy="0"/>
          </a:xfrm>
          <a:prstGeom prst="straightConnector1">
            <a:avLst/>
          </a:prstGeom>
          <a:ln w="19050">
            <a:solidFill>
              <a:srgbClr val="006D77"/>
            </a:solidFill>
            <a:tailEnd type="triangle" w="med" len="med"/>
          </a:ln>
        </p:spPr>
      </p:cxnSp>
      <p:sp>
        <p:nvSpPr>
          <p:cNvPr id="30" name="step4"/>
          <p:cNvSpPr/>
          <p:nvPr/>
        </p:nvSpPr>
        <p:spPr>
          <a:xfrm>
            <a:off x="9601200" y="1783080"/>
            <a:ext cx="2011680" cy="914400"/>
          </a:xfrm>
          <a:prstGeom prst="rect">
            <a:avLst/>
          </a:prstGeom>
          <a:solidFill>
            <a:srgbClr val="FFFFFF"/>
          </a:solidFill>
          <a:ln w="19050">
            <a:solidFill>
              <a:srgbClr val="006D77"/>
            </a:solidFill>
          </a:ln>
        </p:spPr>
      </p:sp>
      <p:sp>
        <p:nvSpPr>
          <p:cNvPr id="31" name="step4-t"/>
          <p:cNvSpPr/>
          <p:nvPr/>
        </p:nvSpPr>
        <p:spPr>
          <a:xfrm>
            <a:off x="972921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32" name="step4-s"/>
          <p:cNvSpPr/>
          <p:nvPr/>
        </p:nvSpPr>
        <p:spPr>
          <a:xfrm>
            <a:off x="972921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figures traced</a:t>
            </a:r>
          </a:p>
        </p:txBody>
      </p:sp>
      <p:sp>
        <p:nvSpPr>
          <p:cNvPr id="33" name="concepts"/>
          <p:cNvSpPr/>
          <p:nvPr/>
        </p:nvSpPr>
        <p:spPr>
          <a:xfrm>
            <a:off x="640080" y="2880360"/>
            <a:ext cx="1097280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Concepts the agent is built on</a:t>
            </a:r>
          </a:p>
        </p:txBody>
      </p:sp>
      <p:sp>
        <p:nvSpPr>
          <p:cNvPr id="34" name="c0"/>
          <p:cNvSpPr/>
          <p:nvPr/>
        </p:nvSpPr>
        <p:spPr>
          <a:xfrm>
            <a:off x="640080" y="3246120"/>
            <a:ext cx="3520440" cy="1783080"/>
          </a:xfrm>
          <a:prstGeom prst="rect">
            <a:avLst/>
          </a:prstGeom>
          <a:solidFill>
            <a:srgbClr val="FFFFFF"/>
          </a:solidFill>
          <a:ln w="19050">
            <a:solidFill>
              <a:srgbClr val="006D77"/>
            </a:solidFill>
          </a:ln>
        </p:spPr>
      </p:sp>
      <p:sp>
        <p:nvSpPr>
          <p:cNvPr id="35" name="c0-t"/>
          <p:cNvSpPr/>
          <p:nvPr/>
        </p:nvSpPr>
        <p:spPr>
          <a:xfrm>
            <a:off x="804671"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LedgerAgent</a:t>
            </a:r>
            <a:r>
              <a:rPr lang="en-US" sz="1500" b="1" baseline="30000">
                <a:solidFill>
                  <a:srgbClr val="006D77"/>
                </a:solidFill>
                <a:latin typeface="Arial"/>
                <a:ea typeface="Arial"/>
                <a:cs typeface="Arial"/>
              </a:rPr>
              <a:t>4,5</a:t>
            </a:r>
          </a:p>
        </p:txBody>
      </p:sp>
      <p:sp>
        <p:nvSpPr>
          <p:cNvPr id="36" name="c0-b"/>
          <p:cNvSpPr/>
          <p:nvPr/>
        </p:nvSpPr>
        <p:spPr>
          <a:xfrm>
            <a:off x="804671"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State ledger: every result gets an id, every figure traces to one, read before any change.</a:t>
            </a:r>
          </a:p>
        </p:txBody>
      </p:sp>
      <p:sp>
        <p:nvSpPr>
          <p:cNvPr id="37" name="c1"/>
          <p:cNvSpPr/>
          <p:nvPr/>
        </p:nvSpPr>
        <p:spPr>
          <a:xfrm>
            <a:off x="4366260" y="3246120"/>
            <a:ext cx="3520440" cy="1783080"/>
          </a:xfrm>
          <a:prstGeom prst="rect">
            <a:avLst/>
          </a:prstGeom>
          <a:solidFill>
            <a:srgbClr val="FFFFFF"/>
          </a:solidFill>
          <a:ln w="19050">
            <a:solidFill>
              <a:srgbClr val="006D77"/>
            </a:solidFill>
          </a:ln>
        </p:spPr>
      </p:sp>
      <p:sp>
        <p:nvSpPr>
          <p:cNvPr id="38" name="c1-t"/>
          <p:cNvSpPr/>
          <p:nvPr/>
        </p:nvSpPr>
        <p:spPr>
          <a:xfrm>
            <a:off x="453085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The Tool Illusion</a:t>
            </a:r>
            <a:r>
              <a:rPr lang="en-US" sz="1500" b="1" baseline="30000">
                <a:solidFill>
                  <a:srgbClr val="006D77"/>
                </a:solidFill>
                <a:latin typeface="Arial"/>
                <a:ea typeface="Arial"/>
                <a:cs typeface="Arial"/>
              </a:rPr>
              <a:t>6,7</a:t>
            </a:r>
          </a:p>
        </p:txBody>
      </p:sp>
      <p:sp>
        <p:nvSpPr>
          <p:cNvPr id="39" name="c1-b"/>
          <p:cNvSpPr/>
          <p:nvPr/>
        </p:nvSpPr>
        <p:spPr>
          <a:xfrm>
            <a:off x="453085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Six small typed tools, not raw tables: lookup, resolve, analyze, records, related, open_page.</a:t>
            </a:r>
          </a:p>
        </p:txBody>
      </p:sp>
      <p:sp>
        <p:nvSpPr>
          <p:cNvPr id="40" name="c2"/>
          <p:cNvSpPr/>
          <p:nvPr/>
        </p:nvSpPr>
        <p:spPr>
          <a:xfrm>
            <a:off x="8092440" y="3246120"/>
            <a:ext cx="3520440" cy="1783080"/>
          </a:xfrm>
          <a:prstGeom prst="rect">
            <a:avLst/>
          </a:prstGeom>
          <a:solidFill>
            <a:srgbClr val="FFFFFF"/>
          </a:solidFill>
          <a:ln w="19050">
            <a:solidFill>
              <a:srgbClr val="006D77"/>
            </a:solidFill>
          </a:ln>
        </p:spPr>
      </p:sp>
      <p:sp>
        <p:nvSpPr>
          <p:cNvPr id="41" name="c2-t"/>
          <p:cNvSpPr/>
          <p:nvPr/>
        </p:nvSpPr>
        <p:spPr>
          <a:xfrm>
            <a:off x="825703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Mingbird</a:t>
            </a:r>
            <a:r>
              <a:rPr lang="en-US" sz="1500" b="1" baseline="30000">
                <a:solidFill>
                  <a:srgbClr val="006D77"/>
                </a:solidFill>
                <a:latin typeface="Arial"/>
                <a:ea typeface="Arial"/>
                <a:cs typeface="Arial"/>
              </a:rPr>
              <a:t>8</a:t>
            </a:r>
          </a:p>
        </p:txBody>
      </p:sp>
      <p:sp>
        <p:nvSpPr>
          <p:cNvPr id="42" name="c2-b"/>
          <p:cNvSpPr/>
          <p:nvPr/>
        </p:nvSpPr>
        <p:spPr>
          <a:xfrm>
            <a:off x="825703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Harness: one dispatcher, repeated-call check, step budget and explicit finish conditions.</a:t>
            </a:r>
          </a:p>
        </p:txBody>
      </p:sp>
      <p:sp>
        <p:nvSpPr>
          <p:cNvPr id="43" name="rule"/>
          <p:cNvSpPr/>
          <p:nvPr/>
        </p:nvSpPr>
        <p:spPr>
          <a:xfrm>
            <a:off x="640080" y="5193792"/>
            <a:ext cx="10972800" cy="14630"/>
          </a:xfrm>
          <a:prstGeom prst="rect">
            <a:avLst/>
          </a:prstGeom>
          <a:solidFill>
            <a:srgbClr val="CDD7D9"/>
          </a:solidFill>
          <a:ln w="0">
            <a:noFill/>
          </a:ln>
        </p:spPr>
      </p:sp>
      <p:sp>
        <p:nvSpPr>
          <p:cNvPr id="44" name="data"/>
          <p:cNvSpPr/>
          <p:nvPr/>
        </p:nvSpPr>
        <p:spPr>
          <a:xfrm>
            <a:off x="640080" y="5303520"/>
            <a:ext cx="5120640" cy="64008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Data: WWI read-only API.</a:t>
            </a:r>
          </a:p>
          <a:p>
            <a:pPr algn="l">
              <a:lnSpc>
                <a:spcPct val="112000"/>
              </a:lnSpc>
              <a:buNone/>
            </a:pPr>
            <a:r>
              <a:rPr lang="en-US" sz="1575" b="0">
                <a:solidFill>
                  <a:srgbClr val="17324A"/>
                </a:solidFill>
                <a:latin typeface="Arial"/>
                <a:ea typeface="Arial"/>
                <a:cs typeface="Arial"/>
              </a:rPr>
              <a:t>Built and measured on 31 dev chains.</a:t>
            </a:r>
          </a:p>
        </p:txBody>
      </p:sp>
      <p:sp>
        <p:nvSpPr>
          <p:cNvPr id="45" name="model"/>
          <p:cNvSpPr/>
          <p:nvPr/>
        </p:nvSpPr>
        <p:spPr>
          <a:xfrm>
            <a:off x="6126480" y="5303520"/>
            <a:ext cx="5486400" cy="64008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Hosted model configured: Nemotron-3 Nano 30B on OpenRouter, not run live yet. Results used DeepSeek-R1-32B.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2: VACP, in-app actions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21</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Declared in-app actions where no endpoint exists</a:t>
            </a:r>
          </a:p>
        </p:txBody>
      </p:sp>
      <p:sp>
        <p:nvSpPr>
          <p:cNvPr id="14" name="band-task"/>
          <p:cNvSpPr/>
          <p:nvPr/>
        </p:nvSpPr>
        <p:spPr>
          <a:xfrm>
            <a:off x="640080" y="1783080"/>
            <a:ext cx="10972800" cy="731520"/>
          </a:xfrm>
          <a:prstGeom prst="rect">
            <a:avLst/>
          </a:prstGeom>
          <a:solidFill>
            <a:srgbClr val="F1F6F6"/>
          </a:solidFill>
          <a:ln w="19050">
            <a:solidFill>
              <a:srgbClr val="CDD7D9"/>
            </a:solidFill>
          </a:ln>
        </p:spPr>
      </p:sp>
      <p:sp>
        <p:nvSpPr>
          <p:cNvPr id="15" name="task-l"/>
          <p:cNvSpPr/>
          <p:nvPr/>
        </p:nvSpPr>
        <p:spPr>
          <a:xfrm>
            <a:off x="822960" y="190195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Task</a:t>
            </a:r>
          </a:p>
        </p:txBody>
      </p:sp>
      <p:sp>
        <p:nvSpPr>
          <p:cNvPr id="16" name="task-b"/>
          <p:cNvSpPr/>
          <p:nvPr/>
        </p:nvSpPr>
        <p:spPr>
          <a:xfrm>
            <a:off x="2194560" y="1920240"/>
            <a:ext cx="923544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Agent loop: choose one declared action, run it, read the new state, repeat.</a:t>
            </a:r>
          </a:p>
        </p:txBody>
      </p:sp>
      <p:cxnSp>
        <p:nvCxnSpPr>
          <p:cNvPr id="17" name="a-task"/>
          <p:cNvCxnSpPr/>
          <p:nvPr/>
        </p:nvCxnSpPr>
        <p:spPr>
          <a:xfrm>
            <a:off x="6080760" y="2514600"/>
            <a:ext cx="0" cy="182880"/>
          </a:xfrm>
          <a:prstGeom prst="straightConnector1">
            <a:avLst/>
          </a:prstGeom>
          <a:ln w="19050">
            <a:solidFill>
              <a:srgbClr val="006D77"/>
            </a:solidFill>
            <a:headEnd type="triangle" w="med" len="med"/>
            <a:tailEnd type="triangle" w="med" len="med"/>
          </a:ln>
        </p:spPr>
      </p:cxnSp>
      <p:sp>
        <p:nvSpPr>
          <p:cNvPr id="18" name="band-vacp"/>
          <p:cNvSpPr/>
          <p:nvPr/>
        </p:nvSpPr>
        <p:spPr>
          <a:xfrm>
            <a:off x="640080" y="2697480"/>
            <a:ext cx="10972800" cy="2011680"/>
          </a:xfrm>
          <a:prstGeom prst="rect">
            <a:avLst/>
          </a:prstGeom>
          <a:solidFill>
            <a:srgbClr val="EAF2F1"/>
          </a:solidFill>
          <a:ln w="19050">
            <a:solidFill>
              <a:srgbClr val="006D77"/>
            </a:solidFill>
          </a:ln>
        </p:spPr>
      </p:sp>
      <p:sp>
        <p:nvSpPr>
          <p:cNvPr id="19" name="vacp-l"/>
          <p:cNvSpPr/>
          <p:nvPr/>
        </p:nvSpPr>
        <p:spPr>
          <a:xfrm>
            <a:off x="822960" y="277063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006D77"/>
                </a:solidFill>
                <a:latin typeface="Arial"/>
                <a:ea typeface="Arial"/>
                <a:cs typeface="Arial"/>
              </a:rPr>
              <a:t>VACP</a:t>
            </a:r>
          </a:p>
        </p:txBody>
      </p:sp>
      <p:sp>
        <p:nvSpPr>
          <p:cNvPr id="20" name="transport"/>
          <p:cNvSpPr/>
          <p:nvPr/>
        </p:nvSpPr>
        <p:spPr>
          <a:xfrm>
            <a:off x="2194560" y="2770632"/>
            <a:ext cx="9235440" cy="347472"/>
          </a:xfrm>
          <a:prstGeom prst="rect">
            <a:avLst/>
          </a:prstGeom>
          <a:solidFill>
            <a:srgbClr val="FFFFFF"/>
          </a:solidFill>
          <a:ln w="12700">
            <a:solidFill>
              <a:srgbClr val="006D77"/>
            </a:solidFill>
            <a:prstDash val="dash"/>
          </a:ln>
        </p:spPr>
      </p:sp>
      <p:sp>
        <p:nvSpPr>
          <p:cNvPr id="21" name="transport-t"/>
          <p:cNvSpPr/>
          <p:nvPr/>
        </p:nvSpPr>
        <p:spPr>
          <a:xfrm>
            <a:off x="2331720" y="2807208"/>
            <a:ext cx="89611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Transport: getCapabilities, getState, execute (window.__vacp)</a:t>
            </a:r>
          </a:p>
        </p:txBody>
      </p:sp>
      <p:sp>
        <p:nvSpPr>
          <p:cNvPr id="22" name="cap0"/>
          <p:cNvSpPr/>
          <p:nvPr/>
        </p:nvSpPr>
        <p:spPr>
          <a:xfrm>
            <a:off x="822960" y="3246120"/>
            <a:ext cx="3383280" cy="868680"/>
          </a:xfrm>
          <a:prstGeom prst="rect">
            <a:avLst/>
          </a:prstGeom>
          <a:solidFill>
            <a:srgbClr val="FFFFFF"/>
          </a:solidFill>
          <a:ln w="19050">
            <a:solidFill>
              <a:srgbClr val="006D77"/>
            </a:solidFill>
          </a:ln>
        </p:spPr>
      </p:sp>
      <p:sp>
        <p:nvSpPr>
          <p:cNvPr id="23" name="cap0-t"/>
          <p:cNvSpPr/>
          <p:nvPr/>
        </p:nvSpPr>
        <p:spPr>
          <a:xfrm>
            <a:off x="95097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Observation</a:t>
            </a:r>
          </a:p>
        </p:txBody>
      </p:sp>
      <p:sp>
        <p:nvSpPr>
          <p:cNvPr id="24" name="cap0-s"/>
          <p:cNvSpPr/>
          <p:nvPr/>
        </p:nvSpPr>
        <p:spPr>
          <a:xfrm>
            <a:off x="95097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 view state; query exact totals</a:t>
            </a:r>
          </a:p>
        </p:txBody>
      </p:sp>
      <p:sp>
        <p:nvSpPr>
          <p:cNvPr id="25" name="cap1"/>
          <p:cNvSpPr/>
          <p:nvPr/>
        </p:nvSpPr>
        <p:spPr>
          <a:xfrm>
            <a:off x="4434840" y="3246120"/>
            <a:ext cx="3383280" cy="868680"/>
          </a:xfrm>
          <a:prstGeom prst="rect">
            <a:avLst/>
          </a:prstGeom>
          <a:solidFill>
            <a:srgbClr val="FFFFFF"/>
          </a:solidFill>
          <a:ln w="19050">
            <a:solidFill>
              <a:srgbClr val="006D77"/>
            </a:solidFill>
          </a:ln>
        </p:spPr>
      </p:sp>
      <p:sp>
        <p:nvSpPr>
          <p:cNvPr id="26" name="cap1-t"/>
          <p:cNvSpPr/>
          <p:nvPr/>
        </p:nvSpPr>
        <p:spPr>
          <a:xfrm>
            <a:off x="456285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Configuration</a:t>
            </a:r>
          </a:p>
        </p:txBody>
      </p:sp>
      <p:sp>
        <p:nvSpPr>
          <p:cNvPr id="27" name="cap1-s"/>
          <p:cNvSpPr/>
          <p:nvPr/>
        </p:nvSpPr>
        <p:spPr>
          <a:xfrm>
            <a:off x="456285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Set period; set and clear filters</a:t>
            </a:r>
          </a:p>
        </p:txBody>
      </p:sp>
      <p:sp>
        <p:nvSpPr>
          <p:cNvPr id="28" name="cap2"/>
          <p:cNvSpPr/>
          <p:nvPr/>
        </p:nvSpPr>
        <p:spPr>
          <a:xfrm>
            <a:off x="8046720" y="3246120"/>
            <a:ext cx="3383280" cy="868680"/>
          </a:xfrm>
          <a:prstGeom prst="rect">
            <a:avLst/>
          </a:prstGeom>
          <a:solidFill>
            <a:srgbClr val="FFFFFF"/>
          </a:solidFill>
          <a:ln w="19050">
            <a:solidFill>
              <a:srgbClr val="006D77"/>
            </a:solidFill>
          </a:ln>
        </p:spPr>
      </p:sp>
      <p:sp>
        <p:nvSpPr>
          <p:cNvPr id="29" name="cap2-t"/>
          <p:cNvSpPr/>
          <p:nvPr/>
        </p:nvSpPr>
        <p:spPr>
          <a:xfrm>
            <a:off x="817473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Interaction</a:t>
            </a:r>
          </a:p>
        </p:txBody>
      </p:sp>
      <p:sp>
        <p:nvSpPr>
          <p:cNvPr id="30" name="cap2-s"/>
          <p:cNvSpPr/>
          <p:nvPr/>
        </p:nvSpPr>
        <p:spPr>
          <a:xfrm>
            <a:off x="817473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Navigate; open a record</a:t>
            </a:r>
          </a:p>
        </p:txBody>
      </p:sp>
      <p:sp>
        <p:nvSpPr>
          <p:cNvPr id="31" name="state"/>
          <p:cNvSpPr/>
          <p:nvPr/>
        </p:nvSpPr>
        <p:spPr>
          <a:xfrm>
            <a:off x="822960" y="4251960"/>
            <a:ext cx="1060704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Application state: route, period, filters and records, exactly as the user sees them.</a:t>
            </a:r>
          </a:p>
        </p:txBody>
      </p:sp>
      <p:cxnSp>
        <p:nvCxnSpPr>
          <p:cNvPr id="32" name="a-app"/>
          <p:cNvCxnSpPr/>
          <p:nvPr/>
        </p:nvCxnSpPr>
        <p:spPr>
          <a:xfrm>
            <a:off x="6080760" y="4709160"/>
            <a:ext cx="0" cy="182879"/>
          </a:xfrm>
          <a:prstGeom prst="straightConnector1">
            <a:avLst/>
          </a:prstGeom>
          <a:ln w="19050">
            <a:solidFill>
              <a:srgbClr val="006D77"/>
            </a:solidFill>
            <a:headEnd type="triangle" w="med" len="med"/>
            <a:tailEnd type="triangle" w="med" len="med"/>
          </a:ln>
        </p:spPr>
      </p:cxnSp>
      <p:sp>
        <p:nvSpPr>
          <p:cNvPr id="33" name="band-app"/>
          <p:cNvSpPr/>
          <p:nvPr/>
        </p:nvSpPr>
        <p:spPr>
          <a:xfrm>
            <a:off x="640080" y="4892040"/>
            <a:ext cx="10972800" cy="777240"/>
          </a:xfrm>
          <a:prstGeom prst="rect">
            <a:avLst/>
          </a:prstGeom>
          <a:solidFill>
            <a:srgbClr val="FFFFFF"/>
          </a:solidFill>
          <a:ln w="19050">
            <a:solidFill>
              <a:srgbClr val="006D77"/>
            </a:solidFill>
            <a:prstDash val="dash"/>
          </a:ln>
        </p:spPr>
      </p:sp>
      <p:sp>
        <p:nvSpPr>
          <p:cNvPr id="34" name="app-l"/>
          <p:cNvSpPr/>
          <p:nvPr/>
        </p:nvSpPr>
        <p:spPr>
          <a:xfrm>
            <a:off x="822960" y="5010912"/>
            <a:ext cx="201168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Application</a:t>
            </a:r>
          </a:p>
        </p:txBody>
      </p:sp>
      <p:sp>
        <p:nvSpPr>
          <p:cNvPr id="35" name="app-b"/>
          <p:cNvSpPr/>
          <p:nvPr/>
        </p:nvSpPr>
        <p:spPr>
          <a:xfrm>
            <a:off x="2926080" y="5029200"/>
            <a:ext cx="850392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ERPNext Desk: lists, filters and records, stock app, no rebuild.</a:t>
            </a:r>
          </a:p>
        </p:txBody>
      </p:sp>
      <p:sp>
        <p:nvSpPr>
          <p:cNvPr id="36" name="vacp-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Our own window.__vacp prototype, 23 of 23 checks against SQL; joining it to the agent is pending.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Innovations accomplished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21</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inn0"/>
          <p:cNvSpPr/>
          <p:nvPr/>
        </p:nvSpPr>
        <p:spPr>
          <a:xfrm>
            <a:off x="640080" y="1325880"/>
            <a:ext cx="5394960" cy="1371600"/>
          </a:xfrm>
          <a:prstGeom prst="rect">
            <a:avLst/>
          </a:prstGeom>
          <a:solidFill>
            <a:srgbClr val="FFFFFF"/>
          </a:solidFill>
          <a:ln w="19050">
            <a:solidFill>
              <a:srgbClr val="006D77"/>
            </a:solidFill>
          </a:ln>
        </p:spPr>
      </p:sp>
      <p:sp>
        <p:nvSpPr>
          <p:cNvPr id="14" name="inn0-n"/>
          <p:cNvSpPr/>
          <p:nvPr/>
        </p:nvSpPr>
        <p:spPr>
          <a:xfrm>
            <a:off x="804671"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01</a:t>
            </a:r>
          </a:p>
        </p:txBody>
      </p:sp>
      <p:sp>
        <p:nvSpPr>
          <p:cNvPr id="15" name="inn0-t"/>
          <p:cNvSpPr/>
          <p:nvPr/>
        </p:nvSpPr>
        <p:spPr>
          <a:xfrm>
            <a:off x="132588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Slots-first execution</a:t>
            </a:r>
          </a:p>
        </p:txBody>
      </p:sp>
      <p:sp>
        <p:nvSpPr>
          <p:cNvPr id="16" name="inn0-b"/>
          <p:cNvSpPr/>
          <p:nvPr/>
        </p:nvSpPr>
        <p:spPr>
          <a:xfrm>
            <a:off x="132588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The model extracts intent; code carries context and builds the calls.</a:t>
            </a:r>
          </a:p>
        </p:txBody>
      </p:sp>
      <p:sp>
        <p:nvSpPr>
          <p:cNvPr id="17" name="inn0-g"/>
          <p:cNvSpPr/>
          <p:nvPr/>
        </p:nvSpPr>
        <p:spPr>
          <a:xfrm>
            <a:off x="132588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Dev set: 77.0% of steps pass</a:t>
            </a:r>
          </a:p>
        </p:txBody>
      </p:sp>
      <p:sp>
        <p:nvSpPr>
          <p:cNvPr id="18" name="inn1"/>
          <p:cNvSpPr/>
          <p:nvPr/>
        </p:nvSpPr>
        <p:spPr>
          <a:xfrm>
            <a:off x="6217920" y="1325880"/>
            <a:ext cx="5394960" cy="1371600"/>
          </a:xfrm>
          <a:prstGeom prst="rect">
            <a:avLst/>
          </a:prstGeom>
          <a:solidFill>
            <a:srgbClr val="FFFFFF"/>
          </a:solidFill>
          <a:ln w="19050">
            <a:solidFill>
              <a:srgbClr val="006D77"/>
            </a:solidFill>
          </a:ln>
        </p:spPr>
      </p:sp>
      <p:sp>
        <p:nvSpPr>
          <p:cNvPr id="19" name="inn1-n"/>
          <p:cNvSpPr/>
          <p:nvPr/>
        </p:nvSpPr>
        <p:spPr>
          <a:xfrm>
            <a:off x="6382512"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02</a:t>
            </a:r>
          </a:p>
        </p:txBody>
      </p:sp>
      <p:sp>
        <p:nvSpPr>
          <p:cNvPr id="20" name="inn1-t"/>
          <p:cNvSpPr/>
          <p:nvPr/>
        </p:nvSpPr>
        <p:spPr>
          <a:xfrm>
            <a:off x="690372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Grounded, gated tool calls</a:t>
            </a:r>
          </a:p>
        </p:txBody>
      </p:sp>
      <p:sp>
        <p:nvSpPr>
          <p:cNvPr id="21" name="inn1-b"/>
          <p:cNvSpPr/>
          <p:nvPr/>
        </p:nvSpPr>
        <p:spPr>
          <a:xfrm>
            <a:off x="690372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Schema and grounding gates reject invented ids and invalid combinations.</a:t>
            </a:r>
          </a:p>
        </p:txBody>
      </p:sp>
      <p:sp>
        <p:nvSpPr>
          <p:cNvPr id="22" name="inn1-g"/>
          <p:cNvSpPr/>
          <p:nvPr/>
        </p:nvSpPr>
        <p:spPr>
          <a:xfrm>
            <a:off x="690372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16 unit tests pass</a:t>
            </a:r>
          </a:p>
        </p:txBody>
      </p:sp>
      <p:sp>
        <p:nvSpPr>
          <p:cNvPr id="23" name="inn2"/>
          <p:cNvSpPr/>
          <p:nvPr/>
        </p:nvSpPr>
        <p:spPr>
          <a:xfrm>
            <a:off x="640080" y="2788920"/>
            <a:ext cx="5394960" cy="1371600"/>
          </a:xfrm>
          <a:prstGeom prst="rect">
            <a:avLst/>
          </a:prstGeom>
          <a:solidFill>
            <a:srgbClr val="FFFFFF"/>
          </a:solidFill>
          <a:ln w="19050">
            <a:solidFill>
              <a:srgbClr val="006D77"/>
            </a:solidFill>
          </a:ln>
        </p:spPr>
      </p:sp>
      <p:sp>
        <p:nvSpPr>
          <p:cNvPr id="24" name="inn2-n"/>
          <p:cNvSpPr/>
          <p:nvPr/>
        </p:nvSpPr>
        <p:spPr>
          <a:xfrm>
            <a:off x="804671"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03</a:t>
            </a:r>
          </a:p>
        </p:txBody>
      </p:sp>
      <p:sp>
        <p:nvSpPr>
          <p:cNvPr id="25" name="inn2-t"/>
          <p:cNvSpPr/>
          <p:nvPr/>
        </p:nvSpPr>
        <p:spPr>
          <a:xfrm>
            <a:off x="132588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Code-checked completion</a:t>
            </a:r>
          </a:p>
        </p:txBody>
      </p:sp>
      <p:sp>
        <p:nvSpPr>
          <p:cNvPr id="26" name="inn2-b"/>
          <p:cNvSpPr/>
          <p:nvPr/>
        </p:nvSpPr>
        <p:spPr>
          <a:xfrm>
            <a:off x="132588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 finish gate, not an LLM judge, checks state, numbers and loops.</a:t>
            </a:r>
          </a:p>
        </p:txBody>
      </p:sp>
      <p:sp>
        <p:nvSpPr>
          <p:cNvPr id="27" name="inn2-g"/>
          <p:cNvSpPr/>
          <p:nvPr/>
        </p:nvSpPr>
        <p:spPr>
          <a:xfrm>
            <a:off x="132588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Faithfulness 100% on dev</a:t>
            </a:r>
          </a:p>
        </p:txBody>
      </p:sp>
      <p:sp>
        <p:nvSpPr>
          <p:cNvPr id="28" name="inn3"/>
          <p:cNvSpPr/>
          <p:nvPr/>
        </p:nvSpPr>
        <p:spPr>
          <a:xfrm>
            <a:off x="6217920" y="2788920"/>
            <a:ext cx="5394960" cy="1371600"/>
          </a:xfrm>
          <a:prstGeom prst="rect">
            <a:avLst/>
          </a:prstGeom>
          <a:solidFill>
            <a:srgbClr val="FFFFFF"/>
          </a:solidFill>
          <a:ln w="19050">
            <a:solidFill>
              <a:srgbClr val="006D77"/>
            </a:solidFill>
          </a:ln>
        </p:spPr>
      </p:sp>
      <p:sp>
        <p:nvSpPr>
          <p:cNvPr id="29" name="inn3-n"/>
          <p:cNvSpPr/>
          <p:nvPr/>
        </p:nvSpPr>
        <p:spPr>
          <a:xfrm>
            <a:off x="6382512"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04</a:t>
            </a:r>
          </a:p>
        </p:txBody>
      </p:sp>
      <p:sp>
        <p:nvSpPr>
          <p:cNvPr id="30" name="inn3-t"/>
          <p:cNvSpPr/>
          <p:nvPr/>
        </p:nvSpPr>
        <p:spPr>
          <a:xfrm>
            <a:off x="690372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Page retrieval at scale</a:t>
            </a:r>
          </a:p>
        </p:txBody>
      </p:sp>
      <p:sp>
        <p:nvSpPr>
          <p:cNvPr id="31" name="inn3-b"/>
          <p:cNvSpPr/>
          <p:nvPr/>
        </p:nvSpPr>
        <p:spPr>
          <a:xfrm>
            <a:off x="690372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Two-stage retrieval over 293 pages; decoy pages can never be opened.</a:t>
            </a:r>
          </a:p>
        </p:txBody>
      </p:sp>
      <p:sp>
        <p:nvSpPr>
          <p:cNvPr id="32" name="inn3-g"/>
          <p:cNvSpPr/>
          <p:nvPr/>
        </p:nvSpPr>
        <p:spPr>
          <a:xfrm>
            <a:off x="690372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MRR 0.677, hit@5 77.9%</a:t>
            </a:r>
          </a:p>
        </p:txBody>
      </p:sp>
      <p:sp>
        <p:nvSpPr>
          <p:cNvPr id="33" name="inn4"/>
          <p:cNvSpPr/>
          <p:nvPr/>
        </p:nvSpPr>
        <p:spPr>
          <a:xfrm>
            <a:off x="640080" y="4251960"/>
            <a:ext cx="5394960" cy="1371600"/>
          </a:xfrm>
          <a:prstGeom prst="rect">
            <a:avLst/>
          </a:prstGeom>
          <a:solidFill>
            <a:srgbClr val="FFFFFF"/>
          </a:solidFill>
          <a:ln w="19050">
            <a:solidFill>
              <a:srgbClr val="006D77"/>
            </a:solidFill>
          </a:ln>
        </p:spPr>
      </p:sp>
      <p:sp>
        <p:nvSpPr>
          <p:cNvPr id="34" name="inn4-n"/>
          <p:cNvSpPr/>
          <p:nvPr/>
        </p:nvSpPr>
        <p:spPr>
          <a:xfrm>
            <a:off x="804671"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05</a:t>
            </a:r>
          </a:p>
        </p:txBody>
      </p:sp>
      <p:sp>
        <p:nvSpPr>
          <p:cNvPr id="35" name="inn4-t"/>
          <p:cNvSpPr/>
          <p:nvPr/>
        </p:nvSpPr>
        <p:spPr>
          <a:xfrm>
            <a:off x="132588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Bridge on stock ERPNext</a:t>
            </a:r>
          </a:p>
        </p:txBody>
      </p:sp>
      <p:sp>
        <p:nvSpPr>
          <p:cNvPr id="36" name="inn4-b"/>
          <p:cNvSpPr/>
          <p:nvPr/>
        </p:nvSpPr>
        <p:spPr>
          <a:xfrm>
            <a:off x="132588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In-app actions injected with no rebuild; invalid calls are refused.</a:t>
            </a:r>
          </a:p>
        </p:txBody>
      </p:sp>
      <p:sp>
        <p:nvSpPr>
          <p:cNvPr id="37" name="inn4-g"/>
          <p:cNvSpPr/>
          <p:nvPr/>
        </p:nvSpPr>
        <p:spPr>
          <a:xfrm>
            <a:off x="132588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23 of 23 checks against SQL</a:t>
            </a:r>
          </a:p>
        </p:txBody>
      </p:sp>
      <p:sp>
        <p:nvSpPr>
          <p:cNvPr id="38" name="inn5"/>
          <p:cNvSpPr/>
          <p:nvPr/>
        </p:nvSpPr>
        <p:spPr>
          <a:xfrm>
            <a:off x="6217920" y="4251960"/>
            <a:ext cx="5394960" cy="1371600"/>
          </a:xfrm>
          <a:prstGeom prst="rect">
            <a:avLst/>
          </a:prstGeom>
          <a:solidFill>
            <a:srgbClr val="FFFFFF"/>
          </a:solidFill>
          <a:ln w="19050">
            <a:solidFill>
              <a:srgbClr val="006D77"/>
            </a:solidFill>
          </a:ln>
        </p:spPr>
      </p:sp>
      <p:sp>
        <p:nvSpPr>
          <p:cNvPr id="39" name="inn5-n"/>
          <p:cNvSpPr/>
          <p:nvPr/>
        </p:nvSpPr>
        <p:spPr>
          <a:xfrm>
            <a:off x="6382512"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06</a:t>
            </a:r>
          </a:p>
        </p:txBody>
      </p:sp>
      <p:sp>
        <p:nvSpPr>
          <p:cNvPr id="40" name="inn5-t"/>
          <p:cNvSpPr/>
          <p:nvPr/>
        </p:nvSpPr>
        <p:spPr>
          <a:xfrm>
            <a:off x="690372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Independent evaluation</a:t>
            </a:r>
          </a:p>
        </p:txBody>
      </p:sp>
      <p:sp>
        <p:nvSpPr>
          <p:cNvPr id="41" name="inn5-b"/>
          <p:cNvSpPr/>
          <p:nvPr/>
        </p:nvSpPr>
        <p:spPr>
          <a:xfrm>
            <a:off x="690372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Each step scored against an oracle on operation, destination, state and values.</a:t>
            </a:r>
          </a:p>
        </p:txBody>
      </p:sp>
      <p:sp>
        <p:nvSpPr>
          <p:cNvPr id="42" name="inn5-g"/>
          <p:cNvSpPr/>
          <p:nvPr/>
        </p:nvSpPr>
        <p:spPr>
          <a:xfrm>
            <a:off x="690372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31 dev chains, 87 steps</a:t>
            </a:r>
          </a:p>
        </p:txBody>
      </p:sp>
      <p:sp>
        <p:nvSpPr>
          <p:cNvPr id="43" name="inn-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Patterns adapted from the cited work and engineered for this application. Development-set evidence only.</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