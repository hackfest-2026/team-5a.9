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5"/>
  </p:notesMasterIdLst>
  <p:sldIdLst>
    <p:sldId id="256" r:id="rId2"/>
    <p:sldId id="257" r:id="rId3"/>
    <p:sldId id="258" r:id="rId4"/>
    <p:sldId id="269" r:id="rId20"/>
    <p:sldId id="259" r:id="rId5"/>
    <p:sldId id="260" r:id="rId6"/>
    <p:sldId id="261" r:id="rId7"/>
    <p:sldId id="262" r:id="rId8"/>
    <p:sldId id="263" r:id="rId9"/>
    <p:sldId id="264" r:id="rId10"/>
    <p:sldId id="265" r:id="rId11"/>
    <p:sldId id="266" r:id="rId12"/>
    <p:sldId id="270" r:id="rId21"/>
    <p:sldId id="271" r:id="rId22"/>
    <p:sldId id="272" r:id="rId23"/>
    <p:sldId id="267" r:id="rId13"/>
    <p:sldId id="273" r:id="rId24"/>
    <p:sldId id="268"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Share of tasks</c:v>
                </c:pt>
              </c:strCache>
            </c:strRef>
          </c:tx>
          <c:spPr>
            <a:solidFill>
              <a:srgbClr val="CDD7D9"/>
            </a:solidFill>
          </c:spPr>
          <c:invertIfNegative val="0"/>
          <c:dPt>
            <c:idx val="1"/>
            <c:spPr>
              <a:solidFill>
                <a:srgbClr val="006D77"/>
              </a:solidFill>
            </c:spPr>
          </c:dPt>
          <c:dPt>
            <c:idx val="0"/>
            <c:spPr>
              <a:solidFill>
                <a:srgbClr val="17324A"/>
              </a:solidFill>
            </c:spPr>
          </c:dPt>
          <c:dPt>
            <c:idx val="2"/>
            <c:spPr>
              <a:solidFill>
                <a:srgbClr val="4D6270"/>
              </a:solidFill>
            </c:spPr>
          </c:dPt>
          <c:dPt>
            <c:idx val="3"/>
            <c:spPr>
              <a:solidFill>
                <a:srgbClr val="4D6270"/>
              </a:solidFill>
            </c:spPr>
          </c:dPt>
          <c:cat>
            <c:strRef>
              <c:f>Sheet1!$A$2:$A$5</c:f>
              <c:strCache>
                <c:ptCount val="4"/>
                <c:pt idx="0">
                  <c:v>Correct</c:v>
                </c:pt>
                <c:pt idx="1">
                  <c:v>No endpoint exists</c:v>
                </c:pt>
                <c:pt idx="2">
                  <c:v>API-usage error</c:v>
                </c:pt>
                <c:pt idx="3">
                  <c:v>Task misunderstood</c:v>
                </c:pt>
              </c:strCache>
            </c:strRef>
          </c:cat>
          <c:val>
            <c:numRef>
              <c:f>Sheet1!$B$2:$B$5</c:f>
              <c:numCache>
                <c:formatCode>General</c:formatCode>
                <c:ptCount val="4"/>
                <c:pt idx="0">
                  <c:v>33</c:v>
                </c:pt>
                <c:pt idx="1">
                  <c:v>50</c:v>
                </c:pt>
                <c:pt idx="2">
                  <c:v>11</c:v>
                </c:pt>
                <c:pt idx="3">
                  <c:v>6</c:v>
                </c:pt>
              </c:numCache>
            </c:numRef>
          </c:val>
        </c:ser>
        <c:dLbls>
          <c:numFmt formatCode="0&quot;%&quot;" sourceLinked="0"/>
          <c:txPr>
            <a:bodyPr/>
            <a:lstStyle/>
            <a:p>
              <a:pPr>
                <a:defRPr sz="1500" b="1"/>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axMin"/>
        </c:scaling>
        <c:delete val="0"/>
        <c:axPos val="l"/>
        <c:majorTickMark val="out"/>
        <c:minorTickMark val="none"/>
        <c:tickLblPos val="nextTo"/>
        <c:spPr>
          <a:ln>
            <a:solidFill>
              <a:srgbClr val="CDD7D9"/>
            </a:solidFill>
          </a:ln>
        </c:spPr>
        <c:txPr>
          <a:bodyPr/>
          <a:lstStyle/>
          <a:p>
            <a:pPr>
              <a:defRPr sz="1500"/>
            </a:pPr>
          </a:p>
        </c:txPr>
        <c:crossAx val="-2113994440"/>
        <c:crosses val="autoZero"/>
        <c:auto val="1"/>
        <c:lblAlgn val="ctr"/>
        <c:lblOffset val="100"/>
        <c:noMultiLvlLbl val="0"/>
      </c:catAx>
      <c:valAx>
        <c:axId val="-2113994440"/>
        <c:scaling>
          <c:max val="65.0"/>
          <c:min val="0.0"/>
        </c:scaling>
        <c:delete/>
        <c:axPos val="b"/>
        <c:majorTickMark val="out"/>
        <c:minorTickMark val="none"/>
        <c:tickLblPos val="nextTo"/>
        <c:crossAx val="-2068027336"/>
        <c:crosses val="autoZero"/>
      </c:valAx>
    </c:plotArea>
    <c:dispBlanksAs val="gap"/>
  </c:chart>
  <c:txPr>
    <a:bodyPr/>
    <a:lstStyle/>
    <a:p>
      <a:pPr>
        <a:defRPr sz="1500">
          <a:solidFill>
            <a:srgbClr val="17324A"/>
          </a:solidFill>
          <a:latin typeface="Arial"/>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Success</c:v>
                </c:pt>
              </c:strCache>
            </c:strRef>
          </c:tx>
          <c:spPr>
            <a:solidFill>
              <a:srgbClr val="CDD7D9"/>
            </a:solidFill>
          </c:spPr>
          <c:invertIfNegative val="0"/>
          <c:dPt>
            <c:idx val="0"/>
            <c:spPr>
              <a:solidFill>
                <a:srgbClr val="4D6270"/>
              </a:solidFill>
            </c:spPr>
          </c:dPt>
          <c:dPt>
            <c:idx val="1"/>
            <c:spPr>
              <a:solidFill>
                <a:srgbClr val="17324A"/>
              </a:solidFill>
            </c:spPr>
          </c:dPt>
          <c:dPt>
            <c:idx val="2"/>
            <c:spPr>
              <a:solidFill>
                <a:srgbClr val="006D77"/>
              </a:solidFill>
            </c:spPr>
          </c:dPt>
          <c:cat>
            <c:strRef>
              <c:f>Sheet1!$A$2:$A$4</c:f>
              <c:strCache>
                <c:ptCount val="3"/>
                <c:pt idx="0">
                  <c:v>Browsing only</c:v>
                </c:pt>
                <c:pt idx="1">
                  <c:v>API only</c:v>
                </c:pt>
                <c:pt idx="2">
                  <c:v>API + browsing</c:v>
                </c:pt>
              </c:strCache>
            </c:strRef>
          </c:cat>
          <c:val>
            <c:numRef>
              <c:f>Sheet1!$B$2:$B$4</c:f>
              <c:numCache>
                <c:formatCode>General</c:formatCode>
                <c:ptCount val="3"/>
                <c:pt idx="0">
                  <c:v>14.8</c:v>
                </c:pt>
                <c:pt idx="1">
                  <c:v>29.2</c:v>
                </c:pt>
                <c:pt idx="2">
                  <c:v>38.9</c:v>
                </c:pt>
              </c:numCache>
            </c:numRef>
          </c:val>
        </c:ser>
        <c:dLbls>
          <c:numFmt formatCode="0.0&quot;%&quot;" sourceLinked="0"/>
          <c:txPr>
            <a:bodyPr/>
            <a:lstStyle/>
            <a:p>
              <a:pPr>
                <a:defRPr sz="1500" b="1"/>
              </a:pPr>
            </a:p>
          </c:txPr>
          <c:dLblPos val="outEnd"/>
          <c:showLegendKey val="0"/>
          <c:showVal val="1"/>
          <c:showCatName val="0"/>
          <c:showSerName val="0"/>
          <c:showPercent val="0"/>
          <c:showBubbleSize val="0"/>
          <c:showLeaderLines val="1"/>
        </c:dLbls>
        <c:gapWidth val="45"/>
        <c:axId val="-2068027336"/>
        <c:axId val="-2113994440"/>
      </c:barChart>
      <c:catAx>
        <c:axId val="-2068027336"/>
        <c:scaling>
          <c:orientation val="maxMin"/>
        </c:scaling>
        <c:delete val="0"/>
        <c:axPos val="l"/>
        <c:majorTickMark val="out"/>
        <c:minorTickMark val="none"/>
        <c:tickLblPos val="nextTo"/>
        <c:spPr>
          <a:ln>
            <a:solidFill>
              <a:srgbClr val="CDD7D9"/>
            </a:solidFill>
          </a:ln>
        </c:spPr>
        <c:txPr>
          <a:bodyPr/>
          <a:lstStyle/>
          <a:p>
            <a:pPr>
              <a:defRPr sz="1500"/>
            </a:pPr>
          </a:p>
        </c:txPr>
        <c:crossAx val="-2113994440"/>
        <c:crosses val="autoZero"/>
        <c:auto val="1"/>
        <c:lblAlgn val="ctr"/>
        <c:lblOffset val="100"/>
        <c:noMultiLvlLbl val="0"/>
      </c:catAx>
      <c:valAx>
        <c:axId val="-2113994440"/>
        <c:scaling>
          <c:max val="52.0"/>
          <c:min val="0.0"/>
        </c:scaling>
        <c:delete/>
        <c:axPos val="b"/>
        <c:majorTickMark val="out"/>
        <c:minorTickMark val="none"/>
        <c:tickLblPos val="nextTo"/>
        <c:crossAx val="-2068027336"/>
        <c:crosses val="autoZero"/>
      </c:valAx>
    </c:plotArea>
    <c:dispBlanksAs val="gap"/>
  </c:chart>
  <c:txPr>
    <a:bodyPr/>
    <a:lstStyle/>
    <a:p>
      <a:pPr>
        <a:defRPr sz="1500">
          <a:solidFill>
            <a:srgbClr val="17324A"/>
          </a:solidFill>
          <a:latin typeface="Arial"/>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Chain success</c:v>
                </c:pt>
              </c:strCache>
            </c:strRef>
          </c:tx>
          <c:spPr>
            <a:solidFill>
              <a:srgbClr val="17324A"/>
            </a:solidFill>
          </c:spPr>
          <c:invertIfNegative val="0"/>
          <c:cat>
            <c:strRef>
              <c:f>Sheet1!$A$2:$A$4</c:f>
              <c:strCache>
                <c:ptCount val="3"/>
                <c:pt idx="0">
                  <c:v>R1-32B emits calls</c:v>
                </c:pt>
                <c:pt idx="1">
                  <c:v>R1-32B slots, older code</c:v>
                </c:pt>
                <c:pt idx="2">
                  <c:v>R1-32B slots, current code</c:v>
                </c:pt>
              </c:strCache>
            </c:strRef>
          </c:cat>
          <c:val>
            <c:numRef>
              <c:f>Sheet1!$B$2:$B$4</c:f>
              <c:numCache>
                <c:formatCode>General</c:formatCode>
                <c:ptCount val="3"/>
                <c:pt idx="0">
                  <c:v>9.7</c:v>
                </c:pt>
                <c:pt idx="1">
                  <c:v>41.9</c:v>
                </c:pt>
                <c:pt idx="2">
                  <c:v>58.1</c:v>
                </c:pt>
              </c:numCache>
            </c:numRef>
          </c:val>
        </c:ser>
        <c:ser>
          <c:idx val="1"/>
          <c:order val="1"/>
          <c:tx>
            <c:strRef>
              <c:f>Sheet1!$C$1</c:f>
              <c:strCache>
                <c:ptCount val="1"/>
                <c:pt idx="0">
                  <c:v>Step pass</c:v>
                </c:pt>
              </c:strCache>
            </c:strRef>
          </c:tx>
          <c:spPr>
            <a:solidFill>
              <a:srgbClr val="006D77"/>
            </a:solidFill>
          </c:spPr>
          <c:invertIfNegative val="0"/>
          <c:cat>
            <c:strRef>
              <c:f>Sheet1!$A$2:$A$4</c:f>
              <c:strCache>
                <c:ptCount val="3"/>
                <c:pt idx="0">
                  <c:v>R1-32B emits calls</c:v>
                </c:pt>
                <c:pt idx="1">
                  <c:v>R1-32B slots, older code</c:v>
                </c:pt>
                <c:pt idx="2">
                  <c:v>R1-32B slots, current code</c:v>
                </c:pt>
              </c:strCache>
            </c:strRef>
          </c:cat>
          <c:val>
            <c:numRef>
              <c:f>Sheet1!$C$2:$C$4</c:f>
              <c:numCache>
                <c:formatCode>General</c:formatCode>
                <c:ptCount val="3"/>
                <c:pt idx="0">
                  <c:v>27.6</c:v>
                </c:pt>
                <c:pt idx="1">
                  <c:v>70.1</c:v>
                </c:pt>
                <c:pt idx="2">
                  <c:v>77.0</c:v>
                </c:pt>
              </c:numCache>
            </c:numRef>
          </c:val>
        </c:ser>
        <c:dLbls>
          <c:numFmt formatCode="0.0&quot;%&quot;" sourceLinked="0"/>
          <c:txPr>
            <a:bodyPr/>
            <a:lstStyle/>
            <a:p>
              <a:pPr>
                <a:defRPr sz="1500" b="1"/>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axMin"/>
        </c:scaling>
        <c:delete val="0"/>
        <c:axPos val="l"/>
        <c:majorTickMark val="out"/>
        <c:minorTickMark val="none"/>
        <c:tickLblPos val="nextTo"/>
        <c:spPr>
          <a:ln>
            <a:solidFill>
              <a:srgbClr val="CDD7D9"/>
            </a:solidFill>
          </a:ln>
        </c:spPr>
        <c:txPr>
          <a:bodyPr/>
          <a:lstStyle/>
          <a:p>
            <a:pPr>
              <a:defRPr sz="1500"/>
            </a:pPr>
          </a:p>
        </c:txPr>
        <c:crossAx val="-2113994440"/>
        <c:crosses val="autoZero"/>
        <c:auto val="1"/>
        <c:lblAlgn val="ctr"/>
        <c:lblOffset val="100"/>
        <c:noMultiLvlLbl val="0"/>
      </c:catAx>
      <c:valAx>
        <c:axId val="-2113994440"/>
        <c:scaling>
          <c:max val="100.0"/>
          <c:min val="0.0"/>
        </c:scaling>
        <c:delete/>
        <c:axPos val="b"/>
        <c:majorTickMark val="out"/>
        <c:minorTickMark val="none"/>
        <c:tickLblPos val="nextTo"/>
        <c:crossAx val="-2068027336"/>
        <c:crosses val="autoZero"/>
      </c:valAx>
    </c:plotArea>
    <c:dispBlanksAs val="gap"/>
  </c:chart>
  <c:txPr>
    <a:bodyPr/>
    <a:lstStyle/>
    <a:p>
      <a:pPr>
        <a:defRPr sz="1500">
          <a:solidFill>
            <a:srgbClr val="17324A"/>
          </a:solidFill>
          <a:latin typeface="Arial"/>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Team name corrected by the human to Sapience. Identity and member USNs come from the supplied reference deck. Exact recovered chosen challenge title: Problem Statement 5A, Context-Aware Application Agent. The full official challenge paragraph is unavailable, so subsequent problem wording is the team formulation. Domain wording includes Dynamic Pricing. The current read-only prototype does not implement pricing. Date uses 11 October 2026 in the supplied local environment. University logo: unchanged user-provided asset.</a:t>
            </a:r>
          </a:p>
          <a:p>
            <a:endParaRPr/>
          </a:p>
          <a:p>
            <a:r>
              <a:t>Sources</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the team formulation of Problem Statement 5A, not an exact quotation of an unrecovered official paragraph. Current scope is read-only business analysis, supporting records and observed navigation. The research motivates semantic context, retained observed facts, governed analytics and deterministic checks. It does not establish a generic failure percentage or measured advantage for this prototype. The example explains continuity without replacing the problem definition. University logo: unchanged user-provided asset.</a:t>
            </a:r>
          </a:p>
          <a:p>
            <a:endParaRPr/>
          </a:p>
          <a:p>
            <a:r>
              <a:t>Sources</a:t>
            </a:r>
          </a:p>
          <a:p>
            <a:r>
              <a:t>[3] Tobias Stähle et al. VACP: Visual Analytics Context Protocol. arXiv:2603.29322, 2026.</a:t>
            </a:r>
          </a:p>
          <a:p>
            <a:r>
              <a:t>https://arxiv.org/abs/2603.29322</a:t>
            </a:r>
          </a:p>
          <a:p>
            <a:endParaRPr/>
          </a:p>
          <a:p>
            <a:r>
              <a:t>[4] Md Nayem Uddin et al. LedgerAgent: Structured State for Policy-Adherent Tool-Calling Agents. arXiv:2606.20529v1,2026.</a:t>
            </a:r>
          </a:p>
          <a:p>
            <a:r>
              <a:t>https://arxiv.org/html/2606.20529v1</a:t>
            </a:r>
          </a:p>
          <a:p>
            <a:endParaRPr/>
          </a:p>
          <a:p>
            <a:r>
              <a:t>[5] Vikas Reddy, Sumanth Reddy Challaram and Abhishek Basu. Reason Less, Verify More: Deterministic Gates Recover a Silent Policy-Violation Failure Mode in Tool-Using LLM Agents. arXiv:2607.07405v1,2026.</a:t>
            </a:r>
          </a:p>
          <a:p>
            <a:r>
              <a:t>https://arxiv.org/html/2607.07405v1</a:t>
            </a:r>
          </a:p>
          <a:p>
            <a:endParaRPr/>
          </a:p>
          <a:p>
            <a:r>
              <a:t>[7] Gundeep Singh et al. Beyond Text-to-SQL: An Agentic LLM System for Governed Enterprise Analytics APIs. arXiv:2605.21027v2,2026.</a:t>
            </a:r>
          </a:p>
          <a:p>
            <a:r>
              <a:t>https://arxiv.org/html/2605.21027v2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Interaction approaches overlap and are not an exhaustive classification. Browser agents may use tools or history, and API agents may retain context. Application-native interfaces are programmatic interfaces too. VACP is a Visual Analytics Context Protocol, not a separate reasoning model. Each research system is an example, not a cross-benchmark comparison. University logo: unchanged user-provided asset.</a:t>
            </a:r>
          </a:p>
          <a:p>
            <a:endParaRPr/>
          </a:p>
          <a:p>
            <a:r>
              <a:t>Sources</a:t>
            </a:r>
          </a:p>
          <a:p>
            <a:r>
              <a:t>[1] Hongliang He et al. WebVoyager: Building an End-to-End Web Agent with Large Multimodal Models. ACL 2024.</a:t>
            </a:r>
          </a:p>
          <a:p>
            <a:r>
              <a:t>https://aclanthology.org/2024.acl-long.371/</a:t>
            </a:r>
          </a:p>
          <a:p>
            <a:endParaRPr/>
          </a:p>
          <a:p>
            <a:r>
              <a:t>[2] Yueqi Song, Frank Xu, Shuyan Zhou and Graham Neubig. Beyond Browsing: API-Based Web Agents. arXiv:2410.16464v3, 2025.</a:t>
            </a:r>
          </a:p>
          <a:p>
            <a:r>
              <a:t>https://arxiv.org/abs/2410.16464v3</a:t>
            </a:r>
          </a:p>
          <a:p>
            <a:endParaRPr/>
          </a:p>
          <a:p>
            <a:r>
              <a:t>[3] Tobias Stähle et al. VACP: Visual Analytics Context Protocol. arXiv:2603.29322, 2026.</a:t>
            </a:r>
          </a:p>
          <a:p>
            <a:r>
              <a:t>https://arxiv.org/abs/2603.29322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One user-facing assistant uses two complementary interfaces, governed business execution and semantic application context/actions. They share a task, session and evidence rather than acting as two independent reasoning products. Current business API and UI-context slices exist. Unified hosted reasoning, server-owned evidence, durable runtime state and acknowledged navigation remain integration work. University logo: unchanged user-provided asset.</a:t>
            </a:r>
          </a:p>
          <a:p>
            <a:endParaRPr/>
          </a:p>
          <a:p>
            <a:r>
              <a:t>Sources</a:t>
            </a:r>
          </a:p>
          <a:p>
            <a:r>
              <a:t>[2] Yueqi Song, Frank Xu, Shuyan Zhou and Graham Neubig. Beyond Browsing: API-Based Web Agents. arXiv:2410.16464v3, 2025.</a:t>
            </a:r>
          </a:p>
          <a:p>
            <a:r>
              <a:t>https://arxiv.org/abs/2410.16464v3</a:t>
            </a:r>
          </a:p>
          <a:p>
            <a:endParaRPr/>
          </a:p>
          <a:p>
            <a:r>
              <a:t>[3] Tobias Stähle et al. VACP: Visual Analytics Context Protocol. arXiv:2603.29322, 2026.</a:t>
            </a:r>
          </a:p>
          <a:p>
            <a:r>
              <a:t>https://arxiv.org/abs/2603.29322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Time bound: by final prototype evaluation. These are proposed team acceptance targets, not achieved results or official numerical rubric thresholds. The 15/18 target comes from the previous team deck and the frozen 18 held-out WWI tasks. Preserve the 12 development/18 held-out split without opening held-out answer contents. Define extra follow-up, reload and negative cases before evaluation. Conditional correctness for completed cases must be accompanied by coverage, abstentions and failures so refusal of difficult cases cannot masquerade as success. Objectives state intended outcomes only. University logo: unchanged user-provided asset.</a:t>
            </a:r>
          </a:p>
          <a:p>
            <a:endParaRPr/>
          </a:p>
          <a:p>
            <a:r>
              <a:t>Sources</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central agent is the only reasoning core. Its two complementary interfaces share a session ledger. Business API execution uses governed capabilities and target resolution before analysis or records retrieval, then submits business results to the completion gate. The application bridge reads semantic app state and applies registered actions. The workspace must return a fresh observed view and filters before UI outcome evidence reaches the same gate. The gate checks scope, units, coverage and outcomes and returns verified evidence or repair feedback to the same agent. An accepted action alone is not completion. The ledger contains task state and verified facts and is separate from the business database. Current physical data is read-only WWI; an ERPNext/Frappe deployment adapter remains planned. Tool catalog/contract discovery and bounded execution are responsibilities within the core/executor rather than extra reasoning agents. Architecture adapts the complementary-interface concept and observe/action/observe principle from the cited research, without claiming the reference runtimes are installed or joined. Neutral module names are intentional. University logo: unchanged user-provided asset.</a:t>
            </a:r>
          </a:p>
          <a:p>
            <a:endParaRPr/>
          </a:p>
          <a:p>
            <a:r>
              <a:t>Sources</a:t>
            </a:r>
          </a:p>
          <a:p>
            <a:r>
              <a:t>[2] Yueqi Song, Frank Xu, Shuyan Zhou and Graham Neubig. Beyond Browsing: API-Based Web Agents. arXiv:2410.16464v3, 2025.</a:t>
            </a:r>
          </a:p>
          <a:p>
            <a:r>
              <a:t>https://arxiv.org/abs/2410.16464v3</a:t>
            </a:r>
          </a:p>
          <a:p>
            <a:endParaRPr/>
          </a:p>
          <a:p>
            <a:r>
              <a:t>[3] Tobias Stähle et al. VACP: Visual Analytics Context Protocol. arXiv:2603.29322, 2026.</a:t>
            </a:r>
          </a:p>
          <a:p>
            <a:r>
              <a:t>https://arxiv.org/abs/2603.29322</a:t>
            </a:r>
          </a:p>
          <a:p>
            <a:endParaRPr/>
          </a:p>
          <a:p>
            <a:r>
              <a:t>[4] Md Nayem Uddin et al. LedgerAgent: Structured State for Policy-Adherent Tool-Calling Agents. arXiv:2606.20529v1,2026.</a:t>
            </a:r>
          </a:p>
          <a:p>
            <a:r>
              <a:t>https://arxiv.org/html/2606.20529v1</a:t>
            </a:r>
          </a:p>
          <a:p>
            <a:endParaRPr/>
          </a:p>
          <a:p>
            <a:r>
              <a:t>[5] Vikas Reddy, Sumanth Reddy Challaram and Abhishek Basu. Reason Less, Verify More: Deterministic Gates Recover a Silent Policy-Violation Failure Mode in Tool-Using LLM Agents. arXiv:2607.07405v1,2026.</a:t>
            </a:r>
          </a:p>
          <a:p>
            <a:r>
              <a:t>https://arxiv.org/html/2607.07405v1</a:t>
            </a:r>
          </a:p>
          <a:p>
            <a:endParaRPr/>
          </a:p>
          <a:p>
            <a:r>
              <a:t>[6] Renze Lou et al. The Tool Illusion: Rethinking Tool Use in Web Agents. arXiv:2604.03465v2,2026.</a:t>
            </a:r>
          </a:p>
          <a:p>
            <a:r>
              <a:t>https://arxiv.org/html/2604.03465v2</a:t>
            </a:r>
          </a:p>
          <a:p>
            <a:endParaRPr/>
          </a:p>
          <a:p>
            <a:r>
              <a:t>[7] Gundeep Singh et al. Beyond Text-to-SQL: An Agentic LLM System for Governed Enterprise Analytics APIs. arXiv:2605.21027v2,2026.</a:t>
            </a:r>
          </a:p>
          <a:p>
            <a:r>
              <a:t>https://arxiv.org/html/2605.21027v2</a:t>
            </a:r>
          </a:p>
          <a:p>
            <a:endParaRPr/>
          </a:p>
          <a:p>
            <a:r>
              <a:t>[8] Hao Wang and Ting Huang. Mingbird: A Local-First Agent Harness Enabling Small Open Models to Complete Real Tasks. arXiv:2610.02001,2026.</a:t>
            </a:r>
          </a:p>
          <a:p>
            <a:r>
              <a:t>https://arxiv.org/abs/2610.02001</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Verified canonical HTTP data controls: April 2016 order count 1951, May 2047, difference 96. 96/1951*100 = 4.92055356%, displayed 4.92%. These are verified data queries, not a completed autonomous-agent run. The proposed follow-up retains May 2016 scope, obtains supporting records, applies a supported route and observes the actual resulting view before confirming. Dates use inclusive-start/exclusive-end periods. No historical-stock, shortage causality, territory grouping or business-write behavior is claimed. University logo: unchanged user-provided asset.</a:t>
            </a:r>
          </a:p>
          <a:p>
            <a:endParaRPr/>
          </a:p>
          <a:p>
            <a:r>
              <a:t>Sources</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Live UI state, conversation anchors and execution evidence are different state types. The intended backend-neutral SessionRepository retains committed task anchors and verified results with MariaDB intended for the existing ERP deployment. Restoring conversation state does not certify a fresh render. A new document instance requires current observations, revision checks and revalidated evidence. Current UI context publication and bounded stale-response guards exist; durable server recovery remains planned. Developer Brain is project memory, not runtime session persistence. University logo: unchanged user-provided asset.</a:t>
            </a:r>
          </a:p>
          <a:p>
            <a:endParaRPr/>
          </a:p>
          <a:p>
            <a:r>
              <a:t>Sources</a:t>
            </a:r>
          </a:p>
          <a:p>
            <a:r>
              <a:t>[3] Tobias Stähle et al. VACP: Visual Analytics Context Protocol. arXiv:2603.29322, 2026.</a:t>
            </a:r>
          </a:p>
          <a:p>
            <a:r>
              <a:t>https://arxiv.org/abs/2603.29322</a:t>
            </a:r>
          </a:p>
          <a:p>
            <a:endParaRPr/>
          </a:p>
          <a:p>
            <a:r>
              <a:t>[4] Md Nayem Uddin et al. LedgerAgent: Structured State for Policy-Adherent Tool-Calling Agents. arXiv:2606.20529v1,2026.</a:t>
            </a:r>
          </a:p>
          <a:p>
            <a:r>
              <a:t>https://arxiv.org/html/2606.20529v1</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title follows the human-requested standard phrasing, while expected-advantage wording preserves the absence of comparative results. Semantic state and retained facts draw on VACP and LedgerAgent. Governed composition draws on Tool Illusion and Beyond Text-to-SQL. Deterministic checks and bounded harness controls draw on Reason Less Verify More and Mingbird. Beyond Browsing motivates complementary interfaces within one task loop. These sources motivate design and do not transfer paper scores to this prototype. Future ablations should use the same model and budgets while disabling context or checks separately. Citation numerals use raised native 15-point text. University logo: unchanged user-provided asset.</a:t>
            </a:r>
          </a:p>
          <a:p>
            <a:endParaRPr/>
          </a:p>
          <a:p>
            <a:r>
              <a:t>Sources</a:t>
            </a:r>
          </a:p>
          <a:p>
            <a:r>
              <a:t>[2] Yueqi Song, Frank Xu, Shuyan Zhou and Graham Neubig. Beyond Browsing: API-Based Web Agents. arXiv:2410.16464v3, 2025.</a:t>
            </a:r>
          </a:p>
          <a:p>
            <a:r>
              <a:t>https://arxiv.org/abs/2410.16464v3</a:t>
            </a:r>
          </a:p>
          <a:p>
            <a:endParaRPr/>
          </a:p>
          <a:p>
            <a:r>
              <a:t>[3] Tobias Stähle et al. VACP: Visual Analytics Context Protocol. arXiv:2603.29322, 2026.</a:t>
            </a:r>
          </a:p>
          <a:p>
            <a:r>
              <a:t>https://arxiv.org/abs/2603.29322</a:t>
            </a:r>
          </a:p>
          <a:p>
            <a:endParaRPr/>
          </a:p>
          <a:p>
            <a:r>
              <a:t>[4] Md Nayem Uddin et al. LedgerAgent: Structured State for Policy-Adherent Tool-Calling Agents. arXiv:2606.20529v1,2026.</a:t>
            </a:r>
          </a:p>
          <a:p>
            <a:r>
              <a:t>https://arxiv.org/html/2606.20529v1</a:t>
            </a:r>
          </a:p>
          <a:p>
            <a:endParaRPr/>
          </a:p>
          <a:p>
            <a:r>
              <a:t>[5] Vikas Reddy, Sumanth Reddy Challaram and Abhishek Basu. Reason Less, Verify More: Deterministic Gates Recover a Silent Policy-Violation Failure Mode in Tool-Using LLM Agents. arXiv:2607.07405v1,2026.</a:t>
            </a:r>
          </a:p>
          <a:p>
            <a:r>
              <a:t>https://arxiv.org/html/2607.07405v1</a:t>
            </a:r>
          </a:p>
          <a:p>
            <a:endParaRPr/>
          </a:p>
          <a:p>
            <a:r>
              <a:t>[6] Renze Lou et al. The Tool Illusion: Rethinking Tool Use in Web Agents. arXiv:2604.03465v2,2026.</a:t>
            </a:r>
          </a:p>
          <a:p>
            <a:r>
              <a:t>https://arxiv.org/html/2604.03465v2</a:t>
            </a:r>
          </a:p>
          <a:p>
            <a:endParaRPr/>
          </a:p>
          <a:p>
            <a:r>
              <a:t>[7] Gundeep Singh et al. Beyond Text-to-SQL: An Agentic LLM System for Governed Enterprise Analytics APIs. arXiv:2605.21027v2,2026.</a:t>
            </a:r>
          </a:p>
          <a:p>
            <a:r>
              <a:t>https://arxiv.org/html/2605.21027v2</a:t>
            </a:r>
          </a:p>
          <a:p>
            <a:endParaRPr/>
          </a:p>
          <a:p>
            <a:r>
              <a:t>[8] Hao Wang and Ting Huang. Mingbird: A Local-First Agent Harness Enabling Small Open Models to Complete Real Tasks. arXiv:2610.02001,2026.</a:t>
            </a:r>
          </a:p>
          <a:p>
            <a:r>
              <a:t>https://arxiv.org/abs/2610.02001</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Prepared local package wwi-data-v1-2026-10-08 uses DuckDB and 21 raw source tables. Counts are local package facts, not universal counts across all sample releases: 73595 sales orders, 231412 order lines, 663 customers, 227 stock items and 13 suppliers. Order/invoice/purchase-order dates span January 2013 through May 2016. The sample represents a simulated wholesale business. Current physical schema remains WWI. ERPNext/Frappe provides the recognized ERP workflow/DocType reference. Native mapping, deployment compatibility, document IDs/status/UOMs, imported data and permission parity require validation. The diagram shows business relationships rather than exact physical DocTypes. University logo: unchanged user-provided asset.</a:t>
            </a:r>
          </a:p>
          <a:p>
            <a:endParaRPr/>
          </a:p>
          <a:p>
            <a:r>
              <a:t>Sources</a:t>
            </a:r>
          </a:p>
          <a:p>
            <a:r>
              <a:t>[9] Microsoft. Wide World Importers sample databases. Local prepared package wwi-data-v1-2026-10-08; local counts independently checked read-only.</a:t>
            </a:r>
          </a:p>
          <a:p>
            <a:r>
              <a:t>https://learn.microsoft.com/en-us/sql/samples/wide-world-importers-what-is</a:t>
            </a:r>
          </a:p>
          <a:p>
            <a:endParaRPr/>
          </a:p>
          <a:p>
            <a:r>
              <a:t>[10] Frappe. ERPNext source repository. Referenced for ERP workflow/DocType design; current physical data remainsWWI.</a:t>
            </a:r>
          </a:p>
          <a:p>
            <a:r>
              <a:t>https://github.com/frappe/erpnext</a:t>
            </a:r>
          </a:p>
          <a:p>
            <a:endParaRPr/>
          </a:p>
          <a:p>
            <a:r>
              <a:t>[11] Frappe Framework. REST API documentation. Future authenticated ERP integration must be version/permission matched.</a:t>
            </a:r>
          </a:p>
          <a:p>
            <a:r>
              <a:t>https://docs.frappe.io/framework/user/en/api/rest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All evaluation remains planned. Original WebArena has 812 tasks in its own self-hosted websites and checks achieved answers/site states rather than a prescribed click path. Tasks cannot run unchanged on the WWI app. Declare eligible subset, benchmark version, budgets, resets and observation/action permissions. Added API or semantic context access creates an adapted protocol, separately reported. Do not promise to run all 812 tasks. The recovered WWI split is 12 development and 18 frozen held-out tasks, whose contents were not opened for this deck. Additional follow-up, reload and negative cases need preregistered denominators. Record task/context/evidence/destination success plus steps, latency, recovery and false completion. Unit tests are not task accuracy. WebArena is ICLR 2024. University logo: unchanged user-provided asset.</a:t>
            </a:r>
          </a:p>
          <a:p>
            <a:endParaRPr/>
          </a:p>
          <a:p>
            <a:r>
              <a:t>Sources</a:t>
            </a:r>
          </a:p>
          <a:p>
            <a:r>
              <a:t>[12] Shuyan Zhou et al. WebArena: A Realistic Web Environment for Building Autonomous Agents. ICLR2024. arXiv:2307.13854v4. Conference sourcehttps://openreview.net/pdf?id=oKn9c6ytLx ; canonical codehttps://github.com/web-arena-x/webarena .</a:t>
            </a:r>
          </a:p>
          <a:p>
            <a:r>
              <a:t>https://arxiv.org/abs/2307.13854v4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Faithful shortened research titles remain visible for readability. Hyperlinks point to primary publications and full bibliographic records follow. These papers motivate design mechanisms without establishing this project's comparative performance. University logo: unchanged user-provided asset.</a:t>
            </a:r>
          </a:p>
          <a:p>
            <a:endParaRPr/>
          </a:p>
          <a:p>
            <a:r>
              <a:t>Sources</a:t>
            </a:r>
          </a:p>
          <a:p>
            <a:r>
              <a:t>[1] Hongliang He et al. WebVoyager: Building an End-to-End Web Agent with Large Multimodal Models. ACL 2024.</a:t>
            </a:r>
          </a:p>
          <a:p>
            <a:r>
              <a:t>https://aclanthology.org/2024.acl-long.371/</a:t>
            </a:r>
          </a:p>
          <a:p>
            <a:endParaRPr/>
          </a:p>
          <a:p>
            <a:r>
              <a:t>[2] Yueqi Song, Frank Xu, Shuyan Zhou and Graham Neubig. Beyond Browsing: API-Based Web Agents. arXiv:2410.16464v3, 2025.</a:t>
            </a:r>
          </a:p>
          <a:p>
            <a:r>
              <a:t>https://arxiv.org/abs/2410.16464v3</a:t>
            </a:r>
          </a:p>
          <a:p>
            <a:endParaRPr/>
          </a:p>
          <a:p>
            <a:r>
              <a:t>[3] Tobias Stähle et al. VACP: Visual Analytics Context Protocol. arXiv:2603.29322, 2026.</a:t>
            </a:r>
          </a:p>
          <a:p>
            <a:r>
              <a:t>https://arxiv.org/abs/2603.29322</a:t>
            </a:r>
          </a:p>
          <a:p>
            <a:endParaRPr/>
          </a:p>
          <a:p>
            <a:r>
              <a:t>[4] Md Nayem Uddin et al. LedgerAgent: Structured State for Policy-Adherent Tool-Calling Agents. arXiv:2606.20529v1,2026.</a:t>
            </a:r>
          </a:p>
          <a:p>
            <a:r>
              <a:t>https://arxiv.org/html/2606.20529v1</a:t>
            </a:r>
          </a:p>
          <a:p>
            <a:endParaRPr/>
          </a:p>
          <a:p>
            <a:r>
              <a:t>[5] Vikas Reddy, Sumanth Reddy Challaram and Abhishek Basu. Reason Less, Verify More: Deterministic Gates Recover a Silent Policy-Violation Failure Mode in Tool-Using LLM Agents. arXiv:2607.07405v1,2026.</a:t>
            </a:r>
          </a:p>
          <a:p>
            <a:r>
              <a:t>https://arxiv.org/html/2607.07405v1</a:t>
            </a:r>
          </a:p>
          <a:p>
            <a:endParaRPr/>
          </a:p>
          <a:p>
            <a:r>
              <a:t>[6] Renze Lou et al. The Tool Illusion: Rethinking Tool Use in Web Agents. arXiv:2604.03465v2,2026.</a:t>
            </a:r>
          </a:p>
          <a:p>
            <a:r>
              <a:t>https://arxiv.org/html/2604.03465v2</a:t>
            </a:r>
          </a:p>
          <a:p>
            <a:endParaRPr/>
          </a:p>
          <a:p>
            <a:r>
              <a:t>[7] Gundeep Singh et al. Beyond Text-to-SQL: An Agentic LLM System for Governed Enterprise Analytics APIs. arXiv:2605.21027v2,2026.</a:t>
            </a:r>
          </a:p>
          <a:p>
            <a:r>
              <a:t>https://arxiv.org/html/2605.21027v2</a:t>
            </a:r>
          </a:p>
          <a:p>
            <a:endParaRPr/>
          </a:p>
          <a:p>
            <a:r>
              <a:t>[8] Hao Wang and Ting Huang. Mingbird: A Local-First Agent Harness Enabling Small Open Models to Complete Real Tasks. arXiv:2610.02001,2026.</a:t>
            </a:r>
          </a:p>
          <a:p>
            <a:r>
              <a:t>https://arxiv.org/abs/2610.02001</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OpenAI Codex and delegated research/review workers assisted with research synthesis, implementation analysis and presentation authoring. Technical diagrams, text and tables are editable slide objects. No generated product screenshot or fabricated evaluation result appears. The original user-supplied KLE university logo is embedded unchanged on every slide. Source papers, official data/platform docs and verified local project facts support claims. Evaluation results remain pending.</a:t>
            </a:r>
          </a:p>
          <a:p>
            <a:endParaRPr/>
          </a:p>
          <a:p>
            <a:r>
              <a:t>Sources</a:t>
            </a:r>
          </a:p>
          <a:p>
            <a:r>
              <a:t>[9] Microsoft. Wide World Importers sample databases. Local prepared package wwi-data-v1-2026-10-08; local counts independently checked read-only.</a:t>
            </a:r>
          </a:p>
          <a:p>
            <a:r>
              <a:t>https://learn.microsoft.com/en-us/sql/samples/wide-world-importers-what-is</a:t>
            </a:r>
          </a:p>
          <a:p>
            <a:endParaRPr/>
          </a:p>
          <a:p>
            <a:r>
              <a:t>[10] Frappe. ERPNext source repository. Referenced for ERP workflow/DocType design; current physical data remainsWWI.</a:t>
            </a:r>
          </a:p>
          <a:p>
            <a:r>
              <a:t>https://github.com/frappe/erpnext</a:t>
            </a:r>
          </a:p>
          <a:p>
            <a:endParaRPr/>
          </a:p>
          <a:p>
            <a:r>
              <a:t>[11] Frappe Framework. REST API documentation. Future authenticated ERP integration must be version/permission matched.</a:t>
            </a:r>
          </a:p>
          <a:p>
            <a:r>
              <a:t>https://docs.frappe.io/framework/user/en/api/rest</a:t>
            </a:r>
          </a:p>
          <a:p>
            <a:endParaRPr/>
          </a:p>
          <a:p>
            <a:r>
              <a:t>[12] Shuyan Zhou et al. WebArena: A Realistic Web Environment for Building Autonomous Agents. ICLR2024. arXiv:2307.13854v4. Conference sourcehttps://openreview.net/pdf?id=oKn9c6ytLx ; canonical codehttps://github.com/web-arena-x/webarena .</a:t>
            </a:r>
          </a:p>
          <a:p>
            <a:r>
              <a:t>https://arxiv.org/abs/2307.13854v4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4EBC9824-D72F-43B6-B957-3AB1A5B4E457}"/>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Subtitle">
            <a:extLst>
              <a:ext uri="{FF2B5EF4-FFF2-40B4-BE49-F238E27FC236}">
                <a16:creationId xmlns:a16="http://schemas.microsoft.com/office/drawing/2014/main" id="{E1B4723B-0866-4CE9-9F07-531E86842D3C}"/>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152C92B0-265D-46AA-AA53-FFC608CF29B2}"/>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CDAF4BBE-0DC5-4B3F-BFF4-A91D5CADCEE1}"/>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Body">
            <a:extLst>
              <a:ext uri="{FF2B5EF4-FFF2-40B4-BE49-F238E27FC236}">
                <a16:creationId xmlns:a16="http://schemas.microsoft.com/office/drawing/2014/main" id="{786EC51C-6F49-4C6D-A61C-B9F19DB30579}"/>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64AB2903-FE5A-4267-A8F7-EDCB0D841465}"/>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Left column">
            <a:extLst>
              <a:ext uri="{FF2B5EF4-FFF2-40B4-BE49-F238E27FC236}">
                <a16:creationId xmlns:a16="http://schemas.microsoft.com/office/drawing/2014/main" id="{C1C0BD66-D01B-4E0F-915E-12D8111C3949}"/>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
        <p:nvSpPr>
          <p:cNvPr id="3" name="Right column">
            <a:extLst>
              <a:ext uri="{FF2B5EF4-FFF2-40B4-BE49-F238E27FC236}">
                <a16:creationId xmlns:a16="http://schemas.microsoft.com/office/drawing/2014/main" id="{DB8992D9-7BA8-4E79-8EAB-6B81CBEA3AB3}"/>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99744365-9941-4FD7-A92D-B041A0F93ED0}"/>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Left column">
            <a:extLst>
              <a:ext uri="{FF2B5EF4-FFF2-40B4-BE49-F238E27FC236}">
                <a16:creationId xmlns:a16="http://schemas.microsoft.com/office/drawing/2014/main" id="{7AD8C3E1-9291-43B3-969E-6A0AE665E311}"/>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 Id="rId3"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 Id="rId3" Type="http://schemas.openxmlformats.org/officeDocument/2006/relationships/hyperlink" Target="https://aclanthology.org/2024.acl-long.371/" TargetMode="External"/><Relationship Id="rId4" Type="http://schemas.openxmlformats.org/officeDocument/2006/relationships/hyperlink" Target="https://arxiv.org/abs/2410.16464v3" TargetMode="External"/><Relationship Id="rId5" Type="http://schemas.openxmlformats.org/officeDocument/2006/relationships/hyperlink" Target="https://arxiv.org/abs/2603.29322" TargetMode="External"/><Relationship Id="rId6" Type="http://schemas.openxmlformats.org/officeDocument/2006/relationships/hyperlink" Target="https://arxiv.org/html/2606.20529v1" TargetMode="External"/><Relationship Id="rId7" Type="http://schemas.openxmlformats.org/officeDocument/2006/relationships/hyperlink" Target="https://arxiv.org/html/2607.07405v1" TargetMode="External"/><Relationship Id="rId8" Type="http://schemas.openxmlformats.org/officeDocument/2006/relationships/hyperlink" Target="https://arxiv.org/html/2604.03465v2" TargetMode="External"/><Relationship Id="rId9" Type="http://schemas.openxmlformats.org/officeDocument/2006/relationships/hyperlink" Target="https://arxiv.org/html/2605.21027v2" TargetMode="External"/><Relationship Id="rId10" Type="http://schemas.openxmlformats.org/officeDocument/2006/relationships/hyperlink" Target="https://arxiv.org/abs/2610.02001" TargetMode="External"/><Relationship Id="rId11"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 Id="rId3" Type="http://schemas.openxmlformats.org/officeDocument/2006/relationships/hyperlink" Target="https://learn.microsoft.com/en-us/sql/samples/wide-world-importers-what-is" TargetMode="External"/><Relationship Id="rId4" Type="http://schemas.openxmlformats.org/officeDocument/2006/relationships/hyperlink" Target="https://github.com/frappe/erpnext" TargetMode="External"/><Relationship Id="rId5" Type="http://schemas.openxmlformats.org/officeDocument/2006/relationships/hyperlink" Target="https://docs.frappe.io/framework/user/en/api/rest" TargetMode="External"/><Relationship Id="rId6" Type="http://schemas.openxmlformats.org/officeDocument/2006/relationships/hyperlink" Target="https://arxiv.org/abs/2307.13854v4" TargetMode="External"/><Relationship Id="rId7"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chart" Target="../charts/chart1.xml"/><Relationship Id="rId4" Type="http://schemas.openxmlformats.org/officeDocument/2006/relationships/chart" Target="../charts/char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chart" Target="../charts/char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hyperlink" Target="https://openreview.net/forum?id=94tlGxmqkN" TargetMode="External"/><Relationship Id="rId4" Type="http://schemas.openxmlformats.org/officeDocument/2006/relationships/hyperlink" Target="https://arxiv.org/abs/2510.01524" TargetMode="External"/><Relationship Id="rId5" Type="http://schemas.openxmlformats.org/officeDocument/2006/relationships/hyperlink" Target="https://arxiv.org/abs/2605.14290" TargetMode="External"/><Relationship Id="rId6" Type="http://schemas.openxmlformats.org/officeDocument/2006/relationships/hyperlink" Target="https://arxiv.org/abs/2608.23628"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shape-3">
            <a:extLst>
              <a:ext uri="{FF2B5EF4-FFF2-40B4-BE49-F238E27FC236}">
                <a16:creationId xmlns:a16="http://schemas.microsoft.com/office/drawing/2014/main" id="{47053C11-A87C-4C2E-ABEE-082C72960772}"/>
              </a:ext>
            </a:extLst>
          </p:cNvPr>
          <p:cNvSpPr>
            <a:spLocks noGrp="1"/>
          </p:cNvSpPr>
          <p:nvPr/>
        </p:nvSpPr>
        <p:spPr>
          <a:xfrm>
            <a:off x="0" y="6381750"/>
            <a:ext cx="12192000" cy="476250"/>
          </a:xfrm>
          <a:prstGeom prst="rect">
            <a:avLst/>
          </a:prstGeom>
          <a:solidFill>
            <a:srgbClr val="102A43"/>
          </a:solidFill>
          <a:ln w="0">
            <a:noFill/>
          </a:ln>
        </p:spPr>
      </p:sp>
      <p:sp>
        <p:nvSpPr>
          <p:cNvPr id="5" name="brand-1">
            <a:extLst>
              <a:ext uri="{FF2B5EF4-FFF2-40B4-BE49-F238E27FC236}">
                <a16:creationId xmlns:a16="http://schemas.microsoft.com/office/drawing/2014/main" id="{39C6E964-A1D8-4F41-9157-A71DACB02C51}"/>
              </a:ext>
            </a:extLst>
          </p:cNvPr>
          <p:cNvSpPr>
            <a:spLocks noGrp="1"/>
          </p:cNvSpPr>
          <p:nvPr/>
        </p:nvSpPr>
        <p:spPr>
          <a:xfrm>
            <a:off x="609600" y="6467475"/>
            <a:ext cx="3429000" cy="333375"/>
          </a:xfrm>
          <a:prstGeom prst="rect">
            <a:avLst/>
          </a:prstGeom>
          <a:noFill/>
          <a:ln w="0">
            <a:noFill/>
          </a:ln>
        </p:spPr>
        <p:txBody>
          <a:bodyPr wrap="square" lIns="0" tIns="0" rIns="0" bIns="0" anchor="t">
            <a:noAutofit/>
          </a:bodyPr>
          <a:lstStyle>
            <a:defPPr algn="l">
              <a:defRPr sz="1950" b="1">
                <a:solidFill>
                  <a:srgbClr val="8AE1D5"/>
                </a:solidFill>
                <a:latin typeface="Arial"/>
                <a:ea typeface="Arial"/>
                <a:cs typeface="Arial"/>
              </a:defRPr>
            </a:defPPr>
          </a:lstStyle>
          <a:p>
            <a:pPr algn="l">
              <a:lnSpc>
                <a:spcPct val="112000"/>
              </a:lnSpc>
              <a:buNone/>
              <a:defRPr sz="1950" b="1">
                <a:solidFill>
                  <a:srgbClr val="8AE1D5"/>
                </a:solidFill>
                <a:latin typeface="Arial"/>
                <a:ea typeface="Arial"/>
                <a:cs typeface="Arial"/>
              </a:defRPr>
            </a:pPr>
            <a:r>
              <a:rPr sz="1950" b="1">
                <a:solidFill>
                  <a:srgbClr val="8AE1D5"/>
                </a:solidFill>
                <a:latin typeface="Arial"/>
                <a:ea typeface="Arial"/>
                <a:cs typeface="Arial"/>
              </a:rPr>
              <a:t>Sapience</a:t>
            </a:r>
          </a:p>
        </p:txBody>
      </p:sp>
      <p:sp>
        <p:nvSpPr>
          <p:cNvPr id="6" name="page-1">
            <a:extLst>
              <a:ext uri="{FF2B5EF4-FFF2-40B4-BE49-F238E27FC236}">
                <a16:creationId xmlns:a16="http://schemas.microsoft.com/office/drawing/2014/main" id="{A124C220-13AD-4228-88E9-2D219EC63A27}"/>
              </a:ext>
            </a:extLst>
          </p:cNvPr>
          <p:cNvSpPr>
            <a:spLocks noGrp="1"/>
          </p:cNvSpPr>
          <p:nvPr/>
        </p:nvSpPr>
        <p:spPr>
          <a:xfrm>
            <a:off x="10629900" y="6505575"/>
            <a:ext cx="952500" cy="276225"/>
          </a:xfrm>
          <a:prstGeom prst="rect">
            <a:avLst/>
          </a:prstGeom>
          <a:noFill/>
          <a:ln w="0">
            <a:noFill/>
          </a:ln>
        </p:spPr>
        <p:txBody>
          <a:bodyPr wrap="square" lIns="0" tIns="0" rIns="0" bIns="0" anchor="t">
            <a:noAutofit/>
          </a:bodyPr>
          <a:lstStyle>
            <a:defPPr algn="r">
              <a:defRPr sz="1575" b="0">
                <a:solidFill>
                  <a:srgbClr val="FFFFFF"/>
                </a:solidFill>
                <a:latin typeface="Arial"/>
                <a:ea typeface="Arial"/>
                <a:cs typeface="Arial"/>
              </a:defRPr>
            </a:defPPr>
          </a:lstStyle>
          <a:p>
            <a:pPr algn="r">
              <a:lnSpc>
                <a:spcPct val="112000"/>
              </a:lnSpc>
              <a:buNone/>
              <a:defRPr sz="1575" b="0">
                <a:solidFill>
                  <a:srgbClr val="FFFFFF"/>
                </a:solidFill>
                <a:latin typeface="Arial"/>
                <a:ea typeface="Arial"/>
                <a:cs typeface="Arial"/>
              </a:defRPr>
            </a:pPr>
            <a:r>
              <a:rPr sz="1575" b="0">
                <a:solidFill>
                  <a:srgbClr val="FFFFFF"/>
                </a:solidFill>
                <a:latin typeface="Arial"/>
                <a:ea typeface="Arial"/>
                <a:cs typeface="Arial"/>
              </a:rPr>
              <a:t>01 / 18</a:t>
            </a:r>
          </a:p>
        </p:txBody>
      </p:sp>
      <p:sp>
        <p:nvSpPr>
          <p:cNvPr id="7" name="text-4">
            <a:extLst>
              <a:ext uri="{FF2B5EF4-FFF2-40B4-BE49-F238E27FC236}">
                <a16:creationId xmlns:a16="http://schemas.microsoft.com/office/drawing/2014/main" id="{59D0604C-CC46-4789-B502-7336E68D2721}"/>
              </a:ext>
            </a:extLst>
          </p:cNvPr>
          <p:cNvSpPr>
            <a:spLocks noGrp="1"/>
          </p:cNvSpPr>
          <p:nvPr/>
        </p:nvSpPr>
        <p:spPr>
          <a:xfrm>
            <a:off x="609580" y="1545877"/>
            <a:ext cx="10972800" cy="314325"/>
          </a:xfrm>
          <a:prstGeom prst="rect">
            <a:avLst/>
          </a:prstGeom>
          <a:noFill/>
          <a:ln w="0">
            <a:noFill/>
          </a:ln>
        </p:spPr>
        <p:txBody>
          <a:bodyPr wrap="square" lIns="0" tIns="0" rIns="0" bIns="0" anchor="t">
            <a:noAutofit/>
          </a:bodyPr>
          <a:lstStyle>
            <a:defPPr algn="ctr">
              <a:defRPr sz="1800" b="1">
                <a:solidFill>
                  <a:srgbClr val="006D77"/>
                </a:solidFill>
                <a:latin typeface="Arial"/>
                <a:ea typeface="Arial"/>
                <a:cs typeface="Arial"/>
              </a:defRPr>
            </a:defPPr>
          </a:lstStyle>
          <a:p>
            <a:pPr algn="ctr">
              <a:lnSpc>
                <a:spcPct val="112000"/>
              </a:lnSpc>
              <a:buNone/>
              <a:defRPr sz="1800" b="1">
                <a:solidFill>
                  <a:srgbClr val="006D77"/>
                </a:solidFill>
                <a:latin typeface="Arial"/>
                <a:ea typeface="Arial"/>
                <a:cs typeface="Arial"/>
              </a:defRPr>
            </a:pPr>
            <a:r>
              <a:rPr sz="1800" b="1" dirty="0">
                <a:solidFill>
                  <a:srgbClr val="006D77"/>
                </a:solidFill>
                <a:latin typeface="Arial"/>
                <a:ea typeface="Arial"/>
                <a:cs typeface="Arial"/>
              </a:rPr>
              <a:t>PROBLEM STATEMENT </a:t>
            </a:r>
          </a:p>
        </p:txBody>
      </p:sp>
      <p:sp>
        <p:nvSpPr>
          <p:cNvPr id="8" name="text-5">
            <a:extLst>
              <a:ext uri="{FF2B5EF4-FFF2-40B4-BE49-F238E27FC236}">
                <a16:creationId xmlns:a16="http://schemas.microsoft.com/office/drawing/2014/main" id="{40617D9F-EE17-42E9-AD2F-66FB12DA6860}"/>
              </a:ext>
            </a:extLst>
          </p:cNvPr>
          <p:cNvSpPr>
            <a:spLocks noGrp="1"/>
          </p:cNvSpPr>
          <p:nvPr/>
        </p:nvSpPr>
        <p:spPr>
          <a:xfrm>
            <a:off x="609600" y="1885950"/>
            <a:ext cx="10972800" cy="685800"/>
          </a:xfrm>
          <a:prstGeom prst="rect">
            <a:avLst/>
          </a:prstGeom>
          <a:noFill/>
          <a:ln w="0">
            <a:noFill/>
          </a:ln>
        </p:spPr>
        <p:txBody>
          <a:bodyPr wrap="square" lIns="0" tIns="0" rIns="0" bIns="0" anchor="t">
            <a:noAutofit/>
          </a:bodyPr>
          <a:lstStyle>
            <a:defPPr algn="ctr">
              <a:defRPr sz="3975" b="1">
                <a:solidFill>
                  <a:srgbClr val="102A43"/>
                </a:solidFill>
                <a:latin typeface="Arial"/>
                <a:ea typeface="Arial"/>
                <a:cs typeface="Arial"/>
              </a:defRPr>
            </a:defPPr>
          </a:lstStyle>
          <a:p>
            <a:pPr algn="ctr">
              <a:lnSpc>
                <a:spcPct val="112000"/>
              </a:lnSpc>
              <a:buNone/>
              <a:defRPr sz="3975" b="1">
                <a:solidFill>
                  <a:srgbClr val="102A43"/>
                </a:solidFill>
                <a:latin typeface="Arial"/>
                <a:ea typeface="Arial"/>
                <a:cs typeface="Arial"/>
              </a:defRPr>
            </a:pPr>
            <a:r>
              <a:rPr sz="3975" b="1" dirty="0">
                <a:solidFill>
                  <a:srgbClr val="102A43"/>
                </a:solidFill>
                <a:latin typeface="Arial"/>
                <a:ea typeface="Arial"/>
                <a:cs typeface="Arial"/>
              </a:rPr>
              <a:t>Context-Aware Application Agent</a:t>
            </a:r>
          </a:p>
        </p:txBody>
      </p:sp>
      <p:sp>
        <p:nvSpPr>
          <p:cNvPr id="9" name="text-6">
            <a:extLst>
              <a:ext uri="{FF2B5EF4-FFF2-40B4-BE49-F238E27FC236}">
                <a16:creationId xmlns:a16="http://schemas.microsoft.com/office/drawing/2014/main" id="{FA526C0F-20F5-4CD4-A182-5E3049DF269C}"/>
              </a:ext>
            </a:extLst>
          </p:cNvPr>
          <p:cNvSpPr>
            <a:spLocks noGrp="1"/>
          </p:cNvSpPr>
          <p:nvPr/>
        </p:nvSpPr>
        <p:spPr>
          <a:xfrm>
            <a:off x="609600" y="2724150"/>
            <a:ext cx="10972800" cy="276225"/>
          </a:xfrm>
          <a:prstGeom prst="rect">
            <a:avLst/>
          </a:prstGeom>
          <a:noFill/>
          <a:ln w="0">
            <a:noFill/>
          </a:ln>
        </p:spPr>
        <p:txBody>
          <a:bodyPr wrap="square" lIns="0" tIns="0" rIns="0" bIns="0" anchor="t">
            <a:noAutofit/>
          </a:bodyPr>
          <a:lstStyle>
            <a:defPPr algn="ctr">
              <a:defRPr sz="1650" b="1">
                <a:solidFill>
                  <a:srgbClr val="006D77"/>
                </a:solidFill>
                <a:latin typeface="Arial"/>
                <a:ea typeface="Arial"/>
                <a:cs typeface="Arial"/>
              </a:defRPr>
            </a:defPPr>
          </a:lstStyle>
          <a:p>
            <a:pPr algn="ctr">
              <a:lnSpc>
                <a:spcPct val="112000"/>
              </a:lnSpc>
              <a:buNone/>
              <a:defRPr sz="1650" b="1">
                <a:solidFill>
                  <a:srgbClr val="006D77"/>
                </a:solidFill>
                <a:latin typeface="Arial"/>
                <a:ea typeface="Arial"/>
                <a:cs typeface="Arial"/>
              </a:defRPr>
            </a:pPr>
            <a:r>
              <a:rPr sz="1650" b="1">
                <a:solidFill>
                  <a:srgbClr val="006D77"/>
                </a:solidFill>
                <a:latin typeface="Arial"/>
                <a:ea typeface="Arial"/>
                <a:cs typeface="Arial"/>
              </a:rPr>
              <a:t>DOMAIN 5</a:t>
            </a:r>
          </a:p>
        </p:txBody>
      </p:sp>
      <p:sp>
        <p:nvSpPr>
          <p:cNvPr id="10" name="text-7">
            <a:extLst>
              <a:ext uri="{FF2B5EF4-FFF2-40B4-BE49-F238E27FC236}">
                <a16:creationId xmlns:a16="http://schemas.microsoft.com/office/drawing/2014/main" id="{74B12386-56A7-4F89-8C2F-DA7BC159473F}"/>
              </a:ext>
            </a:extLst>
          </p:cNvPr>
          <p:cNvSpPr>
            <a:spLocks noGrp="1"/>
          </p:cNvSpPr>
          <p:nvPr/>
        </p:nvSpPr>
        <p:spPr>
          <a:xfrm>
            <a:off x="609600" y="3086100"/>
            <a:ext cx="10972800" cy="428625"/>
          </a:xfrm>
          <a:prstGeom prst="rect">
            <a:avLst/>
          </a:prstGeom>
          <a:noFill/>
          <a:ln w="0">
            <a:noFill/>
          </a:ln>
        </p:spPr>
        <p:txBody>
          <a:bodyPr wrap="square" lIns="0" tIns="0" rIns="0" bIns="0" anchor="t">
            <a:noAutofit/>
          </a:bodyPr>
          <a:lstStyle>
            <a:defPPr algn="ctr">
              <a:defRPr sz="2025" b="0">
                <a:solidFill>
                  <a:srgbClr val="17324A"/>
                </a:solidFill>
                <a:latin typeface="Arial"/>
                <a:ea typeface="Arial"/>
                <a:cs typeface="Arial"/>
              </a:defRPr>
            </a:defPPr>
          </a:lstStyle>
          <a:p>
            <a:pPr algn="ctr">
              <a:lnSpc>
                <a:spcPct val="112000"/>
              </a:lnSpc>
              <a:buNone/>
              <a:defRPr sz="2025" b="0">
                <a:solidFill>
                  <a:srgbClr val="17324A"/>
                </a:solidFill>
                <a:latin typeface="Arial"/>
                <a:ea typeface="Arial"/>
                <a:cs typeface="Arial"/>
              </a:defRPr>
            </a:pPr>
            <a:r>
              <a:rPr sz="2025" b="0" dirty="0">
                <a:solidFill>
                  <a:srgbClr val="17324A"/>
                </a:solidFill>
                <a:latin typeface="Arial"/>
                <a:ea typeface="Arial"/>
                <a:cs typeface="Arial"/>
              </a:rPr>
              <a:t>Enterprise Applications, Agentic AI &amp; Dynamic Pricing</a:t>
            </a:r>
          </a:p>
        </p:txBody>
      </p:sp>
      <p:sp>
        <p:nvSpPr>
          <p:cNvPr id="11" name="text-8">
            <a:extLst>
              <a:ext uri="{FF2B5EF4-FFF2-40B4-BE49-F238E27FC236}">
                <a16:creationId xmlns:a16="http://schemas.microsoft.com/office/drawing/2014/main" id="{F3B37E58-8126-4E9C-A0CF-7312CDF73374}"/>
              </a:ext>
            </a:extLst>
          </p:cNvPr>
          <p:cNvSpPr>
            <a:spLocks noGrp="1"/>
          </p:cNvSpPr>
          <p:nvPr/>
        </p:nvSpPr>
        <p:spPr>
          <a:xfrm>
            <a:off x="2286000" y="3686175"/>
            <a:ext cx="7620000" cy="352425"/>
          </a:xfrm>
          <a:prstGeom prst="rect">
            <a:avLst/>
          </a:prstGeom>
          <a:noFill/>
          <a:ln w="0">
            <a:noFill/>
          </a:ln>
        </p:spPr>
        <p:txBody>
          <a:bodyPr wrap="square" lIns="0" tIns="0" rIns="0" bIns="0" anchor="t">
            <a:noAutofit/>
          </a:bodyPr>
          <a:lstStyle>
            <a:defPPr algn="l">
              <a:defRPr sz="2100" b="1">
                <a:solidFill>
                  <a:srgbClr val="006D77"/>
                </a:solidFill>
                <a:latin typeface="Arial"/>
                <a:ea typeface="Arial"/>
                <a:cs typeface="Arial"/>
              </a:defRPr>
            </a:defPPr>
          </a:lstStyle>
          <a:p>
            <a:pPr algn="l">
              <a:lnSpc>
                <a:spcPct val="112000"/>
              </a:lnSpc>
              <a:buNone/>
              <a:defRPr sz="2100" b="1">
                <a:solidFill>
                  <a:srgbClr val="006D77"/>
                </a:solidFill>
                <a:latin typeface="Arial"/>
                <a:ea typeface="Arial"/>
                <a:cs typeface="Arial"/>
              </a:defRPr>
            </a:pPr>
            <a:r>
              <a:rPr sz="2100" b="1">
                <a:solidFill>
                  <a:srgbClr val="006D77"/>
                </a:solidFill>
                <a:latin typeface="Arial"/>
                <a:ea typeface="Arial"/>
                <a:cs typeface="Arial"/>
              </a:rPr>
              <a:t>Team Sapience</a:t>
            </a:r>
          </a:p>
        </p:txBody>
      </p:sp>
      <p:graphicFrame>
        <p:nvGraphicFramePr>
          <p:cNvPr id="12" name="Table 11">
            <a:extLst>
              <a:ext uri="{FF2B5EF4-FFF2-40B4-BE49-F238E27FC236}">
                <a16:creationId xmlns:a16="http://schemas.microsoft.com/office/drawing/2014/main" id="{566A4E49-9A7F-486B-86E6-3F5F1ABAEEA7}"/>
              </a:ext>
            </a:extLst>
          </p:cNvPr>
          <p:cNvGraphicFramePr/>
          <p:nvPr/>
        </p:nvGraphicFramePr>
        <p:xfrm>
          <a:off x="2286000" y="4124325"/>
          <a:ext cx="7620000" cy="1891603"/>
        </p:xfrm>
        <a:graphic>
          <a:graphicData uri="http://schemas.openxmlformats.org/drawingml/2006/table">
            <a:tbl>
              <a:tblPr/>
              <a:tblGrid>
                <a:gridCol w="4191000">
                  <a:extLst>
                    <a:ext uri="{9D8B030D-6E8A-4147-A177-3AD203B41FA5}">
                      <a16:colId xmlns:a16="http://schemas.microsoft.com/office/drawing/2014/main" val="20000"/>
                    </a:ext>
                  </a:extLst>
                </a:gridCol>
                <a:gridCol w="3429000">
                  <a:extLst>
                    <a:ext uri="{9D8B030D-6E8A-4147-A177-3AD203B41FA5}">
                      <a16:colId xmlns:a16="http://schemas.microsoft.com/office/drawing/2014/main" val="20001"/>
                    </a:ext>
                  </a:extLst>
                </a:gridCol>
              </a:tblGrid>
              <a:tr h="361950">
                <a:tc>
                  <a:txBody>
                    <a:bodyPr/>
                    <a:lstStyle/>
                    <a:p>
                      <a:pPr>
                        <a:lnSpc>
                          <a:spcPct val="108000"/>
                        </a:lnSpc>
                        <a:buNone/>
                      </a:pPr>
                      <a:r>
                        <a:rPr sz="1725" b="1">
                          <a:solidFill>
                            <a:srgbClr val="FFFFFF"/>
                          </a:solidFill>
                          <a:latin typeface="Arial"/>
                          <a:ea typeface="Arial"/>
                          <a:cs typeface="Arial"/>
                        </a:rPr>
                        <a:t>Team member</a:t>
                      </a:r>
                    </a:p>
                  </a:txBody>
                  <a:tcPr marL="133350" marR="133350" marT="57150" marB="57150" anchor="ctr">
                    <a:lnL w="0">
                      <a:solidFill>
                        <a:srgbClr val="FFFFFF"/>
                      </a:solidFill>
                    </a:lnL>
                    <a:lnT w="7620">
                      <a:solidFill>
                        <a:srgbClr val="CDD7D9"/>
                      </a:solidFill>
                    </a:lnT>
                    <a:solidFill>
                      <a:srgbClr val="006D77"/>
                    </a:solidFill>
                  </a:tcPr>
                </a:tc>
                <a:tc>
                  <a:txBody>
                    <a:bodyPr/>
                    <a:lstStyle/>
                    <a:p>
                      <a:pPr>
                        <a:lnSpc>
                          <a:spcPct val="108000"/>
                        </a:lnSpc>
                        <a:buNone/>
                      </a:pPr>
                      <a:r>
                        <a:rPr sz="1725" b="1">
                          <a:solidFill>
                            <a:srgbClr val="FFFFFF"/>
                          </a:solidFill>
                          <a:latin typeface="Arial"/>
                          <a:ea typeface="Arial"/>
                          <a:cs typeface="Arial"/>
                        </a:rPr>
                        <a:t>USN</a:t>
                      </a:r>
                    </a:p>
                  </a:txBody>
                  <a:tcPr marL="133350" marR="133350" marT="57150" marB="57150" anchor="ctr">
                    <a:lnR w="0">
                      <a:solidFill>
                        <a:srgbClr val="FFFFFF"/>
                      </a:solidFill>
                    </a:lnR>
                    <a:lnT w="7620">
                      <a:solidFill>
                        <a:srgbClr val="CDD7D9"/>
                      </a:solidFill>
                    </a:lnT>
                    <a:solidFill>
                      <a:srgbClr val="006D77"/>
                    </a:solidFill>
                  </a:tcPr>
                </a:tc>
                <a:extLst>
                  <a:ext uri="{0D108BD9-81ED-4DB2-BD59-A6C34878D82A}">
                    <a16:rowId xmlns:a16="http://schemas.microsoft.com/office/drawing/2014/main" val="10000"/>
                  </a:ext>
                </a:extLst>
              </a:tr>
              <a:tr h="378619">
                <a:tc>
                  <a:txBody>
                    <a:bodyPr/>
                    <a:lstStyle/>
                    <a:p>
                      <a:pPr>
                        <a:lnSpc>
                          <a:spcPct val="108000"/>
                        </a:lnSpc>
                        <a:buNone/>
                      </a:pPr>
                      <a:r>
                        <a:rPr sz="1725">
                          <a:solidFill>
                            <a:srgbClr val="17324A"/>
                          </a:solidFill>
                          <a:latin typeface="Arial"/>
                          <a:ea typeface="Arial"/>
                          <a:cs typeface="Arial"/>
                        </a:rPr>
                        <a:t>Karthik NHM</a:t>
                      </a:r>
                    </a:p>
                  </a:txBody>
                  <a:tcPr marL="133350" marR="133350" marT="57150" marB="57150" anchor="ctr">
                    <a:lnL w="0">
                      <a:solidFill>
                        <a:srgbClr val="FFFFFF"/>
                      </a:solidFill>
                    </a:lnL>
                    <a:solidFill>
                      <a:srgbClr val="F1F6F6"/>
                    </a:solidFill>
                  </a:tcPr>
                </a:tc>
                <a:tc>
                  <a:txBody>
                    <a:bodyPr/>
                    <a:lstStyle/>
                    <a:p>
                      <a:pPr>
                        <a:lnSpc>
                          <a:spcPct val="108000"/>
                        </a:lnSpc>
                        <a:buNone/>
                      </a:pPr>
                      <a:r>
                        <a:rPr sz="1725">
                          <a:solidFill>
                            <a:srgbClr val="17324A"/>
                          </a:solidFill>
                          <a:latin typeface="Arial"/>
                          <a:ea typeface="Arial"/>
                          <a:cs typeface="Arial"/>
                        </a:rPr>
                        <a:t>01FE24BCI072</a:t>
                      </a:r>
                    </a:p>
                  </a:txBody>
                  <a:tcPr marL="133350" marR="133350" marT="57150" marB="57150" anchor="ctr">
                    <a:lnR w="0">
                      <a:solidFill>
                        <a:srgbClr val="FFFFFF"/>
                      </a:solidFill>
                    </a:lnR>
                    <a:solidFill>
                      <a:srgbClr val="F1F6F6"/>
                    </a:solidFill>
                  </a:tcPr>
                </a:tc>
                <a:extLst>
                  <a:ext uri="{0D108BD9-81ED-4DB2-BD59-A6C34878D82A}">
                    <a16:rowId xmlns:a16="http://schemas.microsoft.com/office/drawing/2014/main" val="10001"/>
                  </a:ext>
                </a:extLst>
              </a:tr>
              <a:tr h="378619">
                <a:tc>
                  <a:txBody>
                    <a:bodyPr/>
                    <a:lstStyle/>
                    <a:p>
                      <a:pPr>
                        <a:lnSpc>
                          <a:spcPct val="108000"/>
                        </a:lnSpc>
                        <a:buNone/>
                      </a:pPr>
                      <a:r>
                        <a:rPr sz="1725">
                          <a:solidFill>
                            <a:srgbClr val="17324A"/>
                          </a:solidFill>
                          <a:latin typeface="Arial"/>
                          <a:ea typeface="Arial"/>
                          <a:cs typeface="Arial"/>
                        </a:rPr>
                        <a:t>Rakshita Kulkarni</a:t>
                      </a:r>
                    </a:p>
                  </a:txBody>
                  <a:tcPr marL="133350" marR="133350" marT="57150" marB="57150" anchor="ctr">
                    <a:lnL w="0">
                      <a:solidFill>
                        <a:srgbClr val="FFFFFF"/>
                      </a:solidFill>
                    </a:lnL>
                    <a:solidFill>
                      <a:srgbClr val="FFFFFF"/>
                    </a:solidFill>
                  </a:tcPr>
                </a:tc>
                <a:tc>
                  <a:txBody>
                    <a:bodyPr/>
                    <a:lstStyle/>
                    <a:p>
                      <a:pPr>
                        <a:lnSpc>
                          <a:spcPct val="108000"/>
                        </a:lnSpc>
                        <a:buNone/>
                      </a:pPr>
                      <a:r>
                        <a:rPr sz="1725">
                          <a:solidFill>
                            <a:srgbClr val="17324A"/>
                          </a:solidFill>
                          <a:latin typeface="Arial"/>
                          <a:ea typeface="Arial"/>
                          <a:cs typeface="Arial"/>
                        </a:rPr>
                        <a:t>01FE23BCS155</a:t>
                      </a:r>
                    </a:p>
                  </a:txBody>
                  <a:tcPr marL="133350" marR="133350" marT="57150" marB="57150" anchor="ctr">
                    <a:lnR w="0">
                      <a:solidFill>
                        <a:srgbClr val="FFFFFF"/>
                      </a:solidFill>
                    </a:lnR>
                    <a:solidFill>
                      <a:srgbClr val="FFFFFF"/>
                    </a:solidFill>
                  </a:tcPr>
                </a:tc>
                <a:extLst>
                  <a:ext uri="{0D108BD9-81ED-4DB2-BD59-A6C34878D82A}">
                    <a16:rowId xmlns:a16="http://schemas.microsoft.com/office/drawing/2014/main" val="10002"/>
                  </a:ext>
                </a:extLst>
              </a:tr>
              <a:tr h="378619">
                <a:tc>
                  <a:txBody>
                    <a:bodyPr/>
                    <a:lstStyle/>
                    <a:p>
                      <a:pPr>
                        <a:lnSpc>
                          <a:spcPct val="108000"/>
                        </a:lnSpc>
                        <a:buNone/>
                      </a:pPr>
                      <a:r>
                        <a:rPr sz="1725">
                          <a:solidFill>
                            <a:srgbClr val="17324A"/>
                          </a:solidFill>
                          <a:latin typeface="Arial"/>
                          <a:ea typeface="Arial"/>
                          <a:cs typeface="Arial"/>
                        </a:rPr>
                        <a:t>Vikas U B</a:t>
                      </a:r>
                    </a:p>
                  </a:txBody>
                  <a:tcPr marL="133350" marR="133350" marT="57150" marB="57150" anchor="ctr">
                    <a:lnL w="0">
                      <a:solidFill>
                        <a:srgbClr val="FFFFFF"/>
                      </a:solidFill>
                    </a:lnL>
                    <a:solidFill>
                      <a:srgbClr val="F1F6F6"/>
                    </a:solidFill>
                  </a:tcPr>
                </a:tc>
                <a:tc>
                  <a:txBody>
                    <a:bodyPr/>
                    <a:lstStyle/>
                    <a:p>
                      <a:pPr>
                        <a:lnSpc>
                          <a:spcPct val="108000"/>
                        </a:lnSpc>
                        <a:buNone/>
                      </a:pPr>
                      <a:r>
                        <a:rPr sz="1725">
                          <a:solidFill>
                            <a:srgbClr val="17324A"/>
                          </a:solidFill>
                          <a:latin typeface="Arial"/>
                          <a:ea typeface="Arial"/>
                          <a:cs typeface="Arial"/>
                        </a:rPr>
                        <a:t>01FE23BCI094</a:t>
                      </a:r>
                    </a:p>
                  </a:txBody>
                  <a:tcPr marL="133350" marR="133350" marT="57150" marB="57150" anchor="ctr">
                    <a:lnR w="0">
                      <a:solidFill>
                        <a:srgbClr val="FFFFFF"/>
                      </a:solidFill>
                    </a:lnR>
                    <a:solidFill>
                      <a:srgbClr val="F1F6F6"/>
                    </a:solidFill>
                  </a:tcPr>
                </a:tc>
                <a:extLst>
                  <a:ext uri="{0D108BD9-81ED-4DB2-BD59-A6C34878D82A}">
                    <a16:rowId xmlns:a16="http://schemas.microsoft.com/office/drawing/2014/main" val="10003"/>
                  </a:ext>
                </a:extLst>
              </a:tr>
              <a:tr h="378619">
                <a:tc>
                  <a:txBody>
                    <a:bodyPr/>
                    <a:lstStyle/>
                    <a:p>
                      <a:pPr>
                        <a:lnSpc>
                          <a:spcPct val="108000"/>
                        </a:lnSpc>
                        <a:buNone/>
                      </a:pPr>
                      <a:r>
                        <a:rPr sz="1725">
                          <a:solidFill>
                            <a:srgbClr val="17324A"/>
                          </a:solidFill>
                          <a:latin typeface="Arial"/>
                          <a:ea typeface="Arial"/>
                          <a:cs typeface="Arial"/>
                        </a:rPr>
                        <a:t>Yashas A B</a:t>
                      </a:r>
                    </a:p>
                  </a:txBody>
                  <a:tcPr marL="133350" marR="133350" marT="57150" marB="57150" anchor="ctr">
                    <a:lnL w="0">
                      <a:solidFill>
                        <a:srgbClr val="FFFFFF"/>
                      </a:solidFill>
                    </a:lnL>
                    <a:lnB w="7620">
                      <a:solidFill>
                        <a:srgbClr val="CDD7D9"/>
                      </a:solidFill>
                    </a:lnB>
                    <a:solidFill>
                      <a:srgbClr val="FFFFFF"/>
                    </a:solidFill>
                  </a:tcPr>
                </a:tc>
                <a:tc>
                  <a:txBody>
                    <a:bodyPr/>
                    <a:lstStyle/>
                    <a:p>
                      <a:pPr>
                        <a:lnSpc>
                          <a:spcPct val="108000"/>
                        </a:lnSpc>
                        <a:buNone/>
                      </a:pPr>
                      <a:r>
                        <a:rPr sz="1725">
                          <a:solidFill>
                            <a:srgbClr val="17324A"/>
                          </a:solidFill>
                          <a:latin typeface="Arial"/>
                          <a:ea typeface="Arial"/>
                          <a:cs typeface="Arial"/>
                        </a:rPr>
                        <a:t>01FE23BCS026</a:t>
                      </a:r>
                    </a:p>
                  </a:txBody>
                  <a:tcPr marL="133350" marR="133350" marT="57150" marB="57150" anchor="ctr">
                    <a:lnR w="0">
                      <a:solidFill>
                        <a:srgbClr val="FFFFFF"/>
                      </a:solidFill>
                    </a:lnR>
                    <a:lnB w="7620">
                      <a:solidFill>
                        <a:srgbClr val="CDD7D9"/>
                      </a:solidFill>
                    </a:lnB>
                    <a:solidFill>
                      <a:srgbClr val="FFFFFF"/>
                    </a:solidFill>
                  </a:tcPr>
                </a:tc>
                <a:extLst>
                  <a:ext uri="{0D108BD9-81ED-4DB2-BD59-A6C34878D82A}">
                    <a16:rowId xmlns:a16="http://schemas.microsoft.com/office/drawing/2014/main" val="10004"/>
                  </a:ext>
                </a:extLst>
              </a:tr>
            </a:tbl>
          </a:graphicData>
        </a:graphic>
      </p:graphicFrame>
      <p:sp>
        <p:nvSpPr>
          <p:cNvPr id="13" name="text-9">
            <a:extLst>
              <a:ext uri="{FF2B5EF4-FFF2-40B4-BE49-F238E27FC236}">
                <a16:creationId xmlns:a16="http://schemas.microsoft.com/office/drawing/2014/main" id="{66BBC336-DFF2-4BE2-801B-085513B3665B}"/>
              </a:ext>
            </a:extLst>
          </p:cNvPr>
          <p:cNvSpPr>
            <a:spLocks noGrp="1"/>
          </p:cNvSpPr>
          <p:nvPr/>
        </p:nvSpPr>
        <p:spPr>
          <a:xfrm>
            <a:off x="8924925" y="6048375"/>
            <a:ext cx="2657475" cy="276225"/>
          </a:xfrm>
          <a:prstGeom prst="rect">
            <a:avLst/>
          </a:prstGeom>
          <a:noFill/>
          <a:ln w="0">
            <a:noFill/>
          </a:ln>
        </p:spPr>
        <p:txBody>
          <a:bodyPr wrap="square" lIns="0" tIns="0" rIns="0" bIns="0" anchor="t">
            <a:noAutofit/>
          </a:bodyPr>
          <a:lstStyle>
            <a:defPPr algn="r">
              <a:defRPr sz="1650" b="0">
                <a:solidFill>
                  <a:srgbClr val="4D6270"/>
                </a:solidFill>
                <a:latin typeface="Arial"/>
                <a:ea typeface="Arial"/>
                <a:cs typeface="Arial"/>
              </a:defRPr>
            </a:defPPr>
          </a:lstStyle>
          <a:p>
            <a:pPr algn="r">
              <a:lnSpc>
                <a:spcPct val="112000"/>
              </a:lnSpc>
              <a:buNone/>
              <a:defRPr sz="1650" b="0">
                <a:solidFill>
                  <a:srgbClr val="4D6270"/>
                </a:solidFill>
                <a:latin typeface="Arial"/>
                <a:ea typeface="Arial"/>
                <a:cs typeface="Arial"/>
              </a:defRPr>
            </a:pPr>
            <a:r>
              <a:rPr sz="1650" b="0">
                <a:solidFill>
                  <a:srgbClr val="4D6270"/>
                </a:solidFill>
                <a:latin typeface="Arial"/>
                <a:ea typeface="Arial"/>
                <a:cs typeface="Arial"/>
              </a:rPr>
              <a:t>11 October 2026</a:t>
            </a:r>
          </a:p>
        </p:txBody>
      </p:sp>
      <p:pic>
        <p:nvPicPr>
          <p:cNvPr id="14" name="Picture 13">
            <a:extLst>
              <a:ext uri="{FF2B5EF4-FFF2-40B4-BE49-F238E27FC236}">
                <a16:creationId xmlns:a16="http://schemas.microsoft.com/office/drawing/2014/main" id="{9948515A-3D5B-4831-82B3-9BFB06030BFF}"/>
              </a:ext>
            </a:extLst>
          </p:cNvPr>
          <p:cNvPicPr>
            <a:picLocks noChangeAspect="1"/>
          </p:cNvPicPr>
          <p:nvPr/>
        </p:nvPicPr>
        <p:blipFill>
          <a:blip r:embed="rId3"/>
          <a:stretch/>
        </p:blipFill>
        <p:spPr>
          <a:xfrm>
            <a:off x="9731497" y="217409"/>
            <a:ext cx="2362160" cy="442436"/>
          </a:xfrm>
          <a:prstGeom prst="rect">
            <a:avLst/>
          </a:prstGeom>
        </p:spPr>
      </p:pic>
      <p:pic>
        <p:nvPicPr>
          <p:cNvPr id="17" name="KLE Tech Hackfest 2026 banner" descr="KLE Tech Hackfest 2026 banner">
            <a:extLst>
              <a:ext uri="{FF2B5EF4-FFF2-40B4-BE49-F238E27FC236}">
                <a16:creationId xmlns:a16="http://schemas.microsoft.com/office/drawing/2014/main" id="{12AE078D-8CFB-F856-E8DA-7E977127B29E}"/>
              </a:ext>
            </a:extLst>
          </p:cNvPr>
          <p:cNvPicPr>
            <a:picLocks noChangeAspect="1"/>
          </p:cNvPicPr>
          <p:nvPr/>
        </p:nvPicPr>
        <p:blipFill>
          <a:blip r:embed="rId4"/>
          <a:stretch>
            <a:fillRect/>
          </a:stretch>
        </p:blipFill>
        <p:spPr>
          <a:xfrm>
            <a:off x="3755923" y="274319"/>
            <a:ext cx="4699819" cy="1068359"/>
          </a:xfrm>
          <a:prstGeom prst="rect">
            <a:avLst/>
          </a:prstGeom>
        </p:spPr>
      </p:pic>
    </p:spTree>
    <p:extLst>
      <p:ext uri="{BB962C8B-B14F-4D97-AF65-F5344CB8AC3E}">
        <p14:creationId xmlns:p14="http://schemas.microsoft.com/office/powerpoint/2010/main" val="6690319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6" name="shape-10">
            <a:extLst>
              <a:ext uri="{FF2B5EF4-FFF2-40B4-BE49-F238E27FC236}">
                <a16:creationId xmlns:a16="http://schemas.microsoft.com/office/drawing/2014/main" id="{88F1B631-9AA8-4D89-BDD7-DE2B65075934}"/>
              </a:ext>
            </a:extLst>
          </p:cNvPr>
          <p:cNvSpPr>
            <a:spLocks noGrp="1"/>
          </p:cNvSpPr>
          <p:nvPr/>
        </p:nvSpPr>
        <p:spPr>
          <a:xfrm>
            <a:off x="0" y="0"/>
            <a:ext cx="12192000" cy="1066800"/>
          </a:xfrm>
          <a:prstGeom prst="rect">
            <a:avLst/>
          </a:prstGeom>
          <a:solidFill>
            <a:srgbClr val="F2F6F7"/>
          </a:solidFill>
          <a:ln w="0">
            <a:noFill/>
          </a:ln>
        </p:spPr>
      </p:sp>
      <p:sp>
        <p:nvSpPr>
          <p:cNvPr id="2" name="shape-11">
            <a:extLst>
              <a:ext uri="{FF2B5EF4-FFF2-40B4-BE49-F238E27FC236}">
                <a16:creationId xmlns:a16="http://schemas.microsoft.com/office/drawing/2014/main" id="{107ECC67-1F54-43D4-BB07-DE62659073CD}"/>
              </a:ext>
            </a:extLst>
          </p:cNvPr>
          <p:cNvSpPr>
            <a:spLocks noGrp="1"/>
          </p:cNvSpPr>
          <p:nvPr/>
        </p:nvSpPr>
        <p:spPr>
          <a:xfrm>
            <a:off x="0" y="1038225"/>
            <a:ext cx="12192000" cy="28575"/>
          </a:xfrm>
          <a:prstGeom prst="rect">
            <a:avLst/>
          </a:prstGeom>
          <a:solidFill>
            <a:srgbClr val="006D77"/>
          </a:solidFill>
          <a:ln w="0">
            <a:noFill/>
          </a:ln>
        </p:spPr>
      </p:sp>
      <p:sp>
        <p:nvSpPr>
          <p:cNvPr id="3" name="slide-2-title">
            <a:extLst>
              <a:ext uri="{FF2B5EF4-FFF2-40B4-BE49-F238E27FC236}">
                <a16:creationId xmlns:a16="http://schemas.microsoft.com/office/drawing/2014/main" id="{A1701935-E4CA-436C-B370-FC26BD72C521}"/>
              </a:ext>
            </a:extLst>
          </p:cNvPr>
          <p:cNvSpPr>
            <a:spLocks noGrp="1"/>
          </p:cNvSpPr>
          <p:nvPr/>
        </p:nvSpPr>
        <p:spPr>
          <a:xfrm>
            <a:off x="609600" y="304800"/>
            <a:ext cx="8239125" cy="542925"/>
          </a:xfrm>
          <a:prstGeom prst="rect">
            <a:avLst/>
          </a:prstGeom>
          <a:noFill/>
          <a:ln w="0">
            <a:noFill/>
          </a:ln>
        </p:spPr>
        <p:txBody>
          <a:bodyPr wrap="square" lIns="0" tIns="0" rIns="0" bIns="0" anchor="t">
            <a:noAutofit/>
          </a:bodyPr>
          <a:lstStyle>
            <a:defPPr algn="l">
              <a:defRPr sz="3150" b="1">
                <a:solidFill>
                  <a:srgbClr val="102A43"/>
                </a:solidFill>
                <a:latin typeface="Arial"/>
                <a:ea typeface="Arial"/>
                <a:cs typeface="Arial"/>
              </a:defRPr>
            </a:defPPr>
          </a:lstStyle>
          <a:p>
            <a:pPr algn="l">
              <a:lnSpc>
                <a:spcPct val="112000"/>
              </a:lnSpc>
              <a:buNone/>
              <a:defRPr sz="3150" b="1">
                <a:solidFill>
                  <a:srgbClr val="102A43"/>
                </a:solidFill>
                <a:latin typeface="Arial"/>
                <a:ea typeface="Arial"/>
                <a:cs typeface="Arial"/>
              </a:defRPr>
            </a:pPr>
            <a:r>
              <a:rPr sz="3150" b="1">
                <a:solidFill>
                  <a:srgbClr val="102A43"/>
                </a:solidFill>
                <a:latin typeface="Arial"/>
                <a:ea typeface="Arial"/>
                <a:cs typeface="Arial"/>
              </a:rPr>
              <a:t>What are we trying to solve?</a:t>
            </a:r>
          </a:p>
        </p:txBody>
      </p:sp>
      <p:sp>
        <p:nvSpPr>
          <p:cNvPr id="4" name="shape-12">
            <a:extLst>
              <a:ext uri="{FF2B5EF4-FFF2-40B4-BE49-F238E27FC236}">
                <a16:creationId xmlns:a16="http://schemas.microsoft.com/office/drawing/2014/main" id="{FB7266FB-1875-4AEE-B1E8-25D2DFCCC3AD}"/>
              </a:ext>
            </a:extLst>
          </p:cNvPr>
          <p:cNvSpPr>
            <a:spLocks noGrp="1"/>
          </p:cNvSpPr>
          <p:nvPr/>
        </p:nvSpPr>
        <p:spPr>
          <a:xfrm>
            <a:off x="0" y="6381750"/>
            <a:ext cx="12192000" cy="476250"/>
          </a:xfrm>
          <a:prstGeom prst="rect">
            <a:avLst/>
          </a:prstGeom>
          <a:solidFill>
            <a:srgbClr val="102A43"/>
          </a:solidFill>
          <a:ln w="0">
            <a:noFill/>
          </a:ln>
        </p:spPr>
      </p:sp>
      <p:sp>
        <p:nvSpPr>
          <p:cNvPr id="5" name="brand-2">
            <a:extLst>
              <a:ext uri="{FF2B5EF4-FFF2-40B4-BE49-F238E27FC236}">
                <a16:creationId xmlns:a16="http://schemas.microsoft.com/office/drawing/2014/main" id="{E1AB2A0E-9B2B-4EDE-86DE-4CD386F46E44}"/>
              </a:ext>
            </a:extLst>
          </p:cNvPr>
          <p:cNvSpPr>
            <a:spLocks noGrp="1"/>
          </p:cNvSpPr>
          <p:nvPr/>
        </p:nvSpPr>
        <p:spPr>
          <a:xfrm>
            <a:off x="609600" y="6467475"/>
            <a:ext cx="3429000" cy="333375"/>
          </a:xfrm>
          <a:prstGeom prst="rect">
            <a:avLst/>
          </a:prstGeom>
          <a:noFill/>
          <a:ln w="0">
            <a:noFill/>
          </a:ln>
        </p:spPr>
        <p:txBody>
          <a:bodyPr wrap="square" lIns="0" tIns="0" rIns="0" bIns="0" anchor="t">
            <a:noAutofit/>
          </a:bodyPr>
          <a:lstStyle>
            <a:defPPr algn="l">
              <a:defRPr sz="1950" b="1">
                <a:solidFill>
                  <a:srgbClr val="8AE1D5"/>
                </a:solidFill>
                <a:latin typeface="Arial"/>
                <a:ea typeface="Arial"/>
                <a:cs typeface="Arial"/>
              </a:defRPr>
            </a:defPPr>
          </a:lstStyle>
          <a:p>
            <a:pPr algn="l">
              <a:lnSpc>
                <a:spcPct val="112000"/>
              </a:lnSpc>
              <a:buNone/>
              <a:defRPr sz="1950" b="1">
                <a:solidFill>
                  <a:srgbClr val="8AE1D5"/>
                </a:solidFill>
                <a:latin typeface="Arial"/>
                <a:ea typeface="Arial"/>
                <a:cs typeface="Arial"/>
              </a:defRPr>
            </a:pPr>
            <a:r>
              <a:rPr sz="1950" b="1">
                <a:solidFill>
                  <a:srgbClr val="8AE1D5"/>
                </a:solidFill>
                <a:latin typeface="Arial"/>
                <a:ea typeface="Arial"/>
                <a:cs typeface="Arial"/>
              </a:rPr>
              <a:t>Sapience</a:t>
            </a:r>
          </a:p>
        </p:txBody>
      </p:sp>
      <p:sp>
        <p:nvSpPr>
          <p:cNvPr id="6" name="page-2">
            <a:extLst>
              <a:ext uri="{FF2B5EF4-FFF2-40B4-BE49-F238E27FC236}">
                <a16:creationId xmlns:a16="http://schemas.microsoft.com/office/drawing/2014/main" id="{BF5907F3-11B9-489D-B31F-00D5155A7E9F}"/>
              </a:ext>
            </a:extLst>
          </p:cNvPr>
          <p:cNvSpPr>
            <a:spLocks noGrp="1"/>
          </p:cNvSpPr>
          <p:nvPr/>
        </p:nvSpPr>
        <p:spPr>
          <a:xfrm>
            <a:off x="10629900" y="6505575"/>
            <a:ext cx="952500" cy="276225"/>
          </a:xfrm>
          <a:prstGeom prst="rect">
            <a:avLst/>
          </a:prstGeom>
          <a:noFill/>
          <a:ln w="0">
            <a:noFill/>
          </a:ln>
        </p:spPr>
        <p:txBody>
          <a:bodyPr wrap="square" lIns="0" tIns="0" rIns="0" bIns="0" anchor="t">
            <a:noAutofit/>
          </a:bodyPr>
          <a:lstStyle>
            <a:defPPr algn="r">
              <a:defRPr sz="1575" b="0">
                <a:solidFill>
                  <a:srgbClr val="FFFFFF"/>
                </a:solidFill>
                <a:latin typeface="Arial"/>
                <a:ea typeface="Arial"/>
                <a:cs typeface="Arial"/>
              </a:defRPr>
            </a:defPPr>
          </a:lstStyle>
          <a:p>
            <a:pPr algn="r">
              <a:lnSpc>
                <a:spcPct val="112000"/>
              </a:lnSpc>
              <a:buNone/>
              <a:defRPr sz="1575" b="0">
                <a:solidFill>
                  <a:srgbClr val="FFFFFF"/>
                </a:solidFill>
                <a:latin typeface="Arial"/>
                <a:ea typeface="Arial"/>
                <a:cs typeface="Arial"/>
              </a:defRPr>
            </a:pPr>
            <a:r>
              <a:rPr sz="1575" b="0">
                <a:solidFill>
                  <a:srgbClr val="FFFFFF"/>
                </a:solidFill>
                <a:latin typeface="Arial"/>
                <a:ea typeface="Arial"/>
                <a:cs typeface="Arial"/>
              </a:rPr>
              <a:t>02 / 18</a:t>
            </a:r>
          </a:p>
        </p:txBody>
      </p:sp>
      <p:sp>
        <p:nvSpPr>
          <p:cNvPr id="7" name="text-13">
            <a:extLst>
              <a:ext uri="{FF2B5EF4-FFF2-40B4-BE49-F238E27FC236}">
                <a16:creationId xmlns:a16="http://schemas.microsoft.com/office/drawing/2014/main" id="{5A98A6B9-9BD5-4A85-BC91-C228517B2442}"/>
              </a:ext>
            </a:extLst>
          </p:cNvPr>
          <p:cNvSpPr>
            <a:spLocks noGrp="1"/>
          </p:cNvSpPr>
          <p:nvPr/>
        </p:nvSpPr>
        <p:spPr>
          <a:xfrm>
            <a:off x="609600" y="1381125"/>
            <a:ext cx="10972800" cy="428625"/>
          </a:xfrm>
          <a:prstGeom prst="rect">
            <a:avLst/>
          </a:prstGeom>
          <a:noFill/>
          <a:ln w="0">
            <a:noFill/>
          </a:ln>
        </p:spPr>
        <p:txBody>
          <a:bodyPr wrap="square" lIns="0" tIns="0" rIns="0" bIns="0" anchor="t">
            <a:noAutofit/>
          </a:bodyPr>
          <a:lstStyle>
            <a:defPPr algn="l">
              <a:defRPr sz="2325" b="1">
                <a:solidFill>
                  <a:srgbClr val="006D77"/>
                </a:solidFill>
                <a:latin typeface="Arial"/>
                <a:ea typeface="Arial"/>
                <a:cs typeface="Arial"/>
              </a:defRPr>
            </a:defPPr>
          </a:lstStyle>
          <a:p>
            <a:pPr algn="l">
              <a:lnSpc>
                <a:spcPct val="112000"/>
              </a:lnSpc>
              <a:buNone/>
              <a:defRPr sz="2325" b="1">
                <a:solidFill>
                  <a:srgbClr val="006D77"/>
                </a:solidFill>
                <a:latin typeface="Arial"/>
                <a:ea typeface="Arial"/>
                <a:cs typeface="Arial"/>
              </a:defRPr>
            </a:pPr>
            <a:r>
              <a:rPr sz="2325" b="1">
                <a:solidFill>
                  <a:srgbClr val="006D77"/>
                </a:solidFill>
                <a:latin typeface="Arial"/>
                <a:ea typeface="Arial"/>
                <a:cs typeface="Arial"/>
              </a:rPr>
              <a:t>Reliable execution of context-dependent business requests</a:t>
            </a:r>
          </a:p>
        </p:txBody>
      </p:sp>
      <p:sp>
        <p:nvSpPr>
          <p:cNvPr id="8" name="text-14">
            <a:extLst>
              <a:ext uri="{FF2B5EF4-FFF2-40B4-BE49-F238E27FC236}">
                <a16:creationId xmlns:a16="http://schemas.microsoft.com/office/drawing/2014/main" id="{41952DCF-633D-412C-A7F2-A15443FF05E3}"/>
              </a:ext>
            </a:extLst>
          </p:cNvPr>
          <p:cNvSpPr>
            <a:spLocks noGrp="1"/>
          </p:cNvSpPr>
          <p:nvPr/>
        </p:nvSpPr>
        <p:spPr>
          <a:xfrm>
            <a:off x="609600" y="1943100"/>
            <a:ext cx="10972800" cy="752475"/>
          </a:xfrm>
          <a:prstGeom prst="rect">
            <a:avLst/>
          </a:prstGeom>
          <a:noFill/>
          <a:ln w="0">
            <a:noFill/>
          </a:ln>
        </p:spPr>
        <p:txBody>
          <a:bodyPr wrap="square" lIns="0" tIns="0" rIns="0" bIns="0" anchor="t">
            <a:noAutofit/>
          </a:bodyPr>
          <a:lstStyle>
            <a:defPPr algn="l">
              <a:defRPr sz="1875" b="0">
                <a:solidFill>
                  <a:srgbClr val="17324A"/>
                </a:solidFill>
                <a:latin typeface="Arial"/>
                <a:ea typeface="Arial"/>
                <a:cs typeface="Arial"/>
              </a:defRPr>
            </a:defPPr>
          </a:lstStyle>
          <a:p>
            <a:pPr algn="l">
              <a:lnSpc>
                <a:spcPct val="112000"/>
              </a:lnSpc>
              <a:buNone/>
              <a:defRPr sz="1875" b="0">
                <a:solidFill>
                  <a:srgbClr val="17324A"/>
                </a:solidFill>
                <a:latin typeface="Arial"/>
                <a:ea typeface="Arial"/>
                <a:cs typeface="Arial"/>
              </a:defRPr>
            </a:pPr>
            <a:r>
              <a:rPr sz="1875" b="0">
                <a:solidFill>
                  <a:srgbClr val="17324A"/>
                </a:solidFill>
                <a:latin typeface="Arial"/>
                <a:ea typeface="Arial"/>
                <a:cs typeface="Arial"/>
              </a:rPr>
              <a:t>Enterprise users must translate a business question into the correct view, filters and records.</a:t>
            </a:r>
          </a:p>
          <a:p>
            <a:pPr algn="l">
              <a:lnSpc>
                <a:spcPct val="112000"/>
              </a:lnSpc>
              <a:buNone/>
              <a:defRPr sz="1875" b="0">
                <a:solidFill>
                  <a:srgbClr val="17324A"/>
                </a:solidFill>
                <a:latin typeface="Arial"/>
                <a:ea typeface="Arial"/>
                <a:cs typeface="Arial"/>
              </a:defRPr>
            </a:pPr>
            <a:r>
              <a:rPr sz="1875" b="0">
                <a:solidFill>
                  <a:srgbClr val="17324A"/>
                </a:solidFill>
                <a:latin typeface="Arial"/>
                <a:ea typeface="Arial"/>
                <a:cs typeface="Arial"/>
              </a:rPr>
              <a:t>An application agent must preserve that context, obtain the correct facts and confirm the outcome.</a:t>
            </a:r>
          </a:p>
        </p:txBody>
      </p:sp>
      <p:sp>
        <p:nvSpPr>
          <p:cNvPr id="9" name="text-15">
            <a:extLst>
              <a:ext uri="{FF2B5EF4-FFF2-40B4-BE49-F238E27FC236}">
                <a16:creationId xmlns:a16="http://schemas.microsoft.com/office/drawing/2014/main" id="{F203F1FA-48FD-4D96-9321-8BD059EDE13D}"/>
              </a:ext>
            </a:extLst>
          </p:cNvPr>
          <p:cNvSpPr>
            <a:spLocks noGrp="1"/>
          </p:cNvSpPr>
          <p:nvPr/>
        </p:nvSpPr>
        <p:spPr>
          <a:xfrm>
            <a:off x="609600" y="2981325"/>
            <a:ext cx="533400" cy="371475"/>
          </a:xfrm>
          <a:prstGeom prst="rect">
            <a:avLst/>
          </a:prstGeom>
          <a:noFill/>
          <a:ln w="0">
            <a:noFill/>
          </a:ln>
        </p:spPr>
        <p:txBody>
          <a:bodyPr wrap="square" lIns="0" tIns="0" rIns="0" bIns="0" anchor="t">
            <a:noAutofit/>
          </a:bodyPr>
          <a:lstStyle>
            <a:defPPr algn="l">
              <a:defRPr sz="2025" b="1">
                <a:solidFill>
                  <a:srgbClr val="006D77"/>
                </a:solidFill>
                <a:latin typeface="Arial"/>
                <a:ea typeface="Arial"/>
                <a:cs typeface="Arial"/>
              </a:defRPr>
            </a:defPPr>
          </a:lstStyle>
          <a:p>
            <a:pPr algn="l">
              <a:lnSpc>
                <a:spcPct val="112000"/>
              </a:lnSpc>
              <a:buNone/>
              <a:defRPr sz="2025" b="1">
                <a:solidFill>
                  <a:srgbClr val="006D77"/>
                </a:solidFill>
                <a:latin typeface="Arial"/>
                <a:ea typeface="Arial"/>
                <a:cs typeface="Arial"/>
              </a:defRPr>
            </a:pPr>
            <a:r>
              <a:rPr sz="2025" b="1">
                <a:solidFill>
                  <a:srgbClr val="006D77"/>
                </a:solidFill>
                <a:latin typeface="Arial"/>
                <a:ea typeface="Arial"/>
                <a:cs typeface="Arial"/>
              </a:rPr>
              <a:t>01</a:t>
            </a:r>
          </a:p>
        </p:txBody>
      </p:sp>
      <p:sp>
        <p:nvSpPr>
          <p:cNvPr id="10" name="text-16">
            <a:extLst>
              <a:ext uri="{FF2B5EF4-FFF2-40B4-BE49-F238E27FC236}">
                <a16:creationId xmlns:a16="http://schemas.microsoft.com/office/drawing/2014/main" id="{C50ADAB3-ADF5-438C-9EDC-100A7AF7E68D}"/>
              </a:ext>
            </a:extLst>
          </p:cNvPr>
          <p:cNvSpPr>
            <a:spLocks noGrp="1"/>
          </p:cNvSpPr>
          <p:nvPr/>
        </p:nvSpPr>
        <p:spPr>
          <a:xfrm>
            <a:off x="1304925" y="2981325"/>
            <a:ext cx="3314700" cy="400050"/>
          </a:xfrm>
          <a:prstGeom prst="rect">
            <a:avLst/>
          </a:prstGeom>
          <a:noFill/>
          <a:ln w="0">
            <a:noFill/>
          </a:ln>
        </p:spPr>
        <p:txBody>
          <a:bodyPr wrap="square" lIns="0" tIns="0" rIns="0" bIns="0" anchor="t">
            <a:noAutofit/>
          </a:bodyPr>
          <a:lstStyle>
            <a:defPPr algn="l">
              <a:defRPr sz="2025" b="1">
                <a:solidFill>
                  <a:srgbClr val="17324A"/>
                </a:solidFill>
                <a:latin typeface="Arial"/>
                <a:ea typeface="Arial"/>
                <a:cs typeface="Arial"/>
              </a:defRPr>
            </a:defPPr>
          </a:lstStyle>
          <a:p>
            <a:pPr algn="l">
              <a:lnSpc>
                <a:spcPct val="112000"/>
              </a:lnSpc>
              <a:buNone/>
              <a:defRPr sz="2025" b="1">
                <a:solidFill>
                  <a:srgbClr val="17324A"/>
                </a:solidFill>
                <a:latin typeface="Arial"/>
                <a:ea typeface="Arial"/>
                <a:cs typeface="Arial"/>
              </a:defRPr>
            </a:pPr>
            <a:r>
              <a:rPr sz="2025" b="1">
                <a:solidFill>
                  <a:srgbClr val="17324A"/>
                </a:solidFill>
                <a:latin typeface="Arial"/>
                <a:ea typeface="Arial"/>
                <a:cs typeface="Arial"/>
              </a:rPr>
              <a:t>Context continuity</a:t>
            </a:r>
          </a:p>
        </p:txBody>
      </p:sp>
      <p:sp>
        <p:nvSpPr>
          <p:cNvPr id="11" name="citation-17">
            <a:extLst>
              <a:ext uri="{FF2B5EF4-FFF2-40B4-BE49-F238E27FC236}">
                <a16:creationId xmlns:a16="http://schemas.microsoft.com/office/drawing/2014/main" id="{538F7335-AC77-4E66-B34D-5B5EA307AACC}"/>
              </a:ext>
            </a:extLst>
          </p:cNvPr>
          <p:cNvSpPr>
            <a:spLocks noGrp="1"/>
          </p:cNvSpPr>
          <p:nvPr/>
        </p:nvSpPr>
        <p:spPr>
          <a:xfrm>
            <a:off x="3609880" y="2914650"/>
            <a:ext cx="495300" cy="266700"/>
          </a:xfrm>
          <a:prstGeom prst="rect">
            <a:avLst/>
          </a:prstGeom>
          <a:noFill/>
          <a:ln w="0">
            <a:noFill/>
          </a:ln>
        </p:spPr>
        <p:txBody>
          <a:bodyPr wrap="square" lIns="0" tIns="0" rIns="0" bIns="0" anchor="t">
            <a:noAutofit/>
          </a:bodyPr>
          <a:lstStyle>
            <a:defPPr algn="l">
              <a:defRPr sz="1500" b="1">
                <a:solidFill>
                  <a:srgbClr val="006D77"/>
                </a:solidFill>
                <a:latin typeface="Arial"/>
                <a:ea typeface="Arial"/>
                <a:cs typeface="Arial"/>
              </a:defRPr>
            </a:defPPr>
          </a:lstStyle>
          <a:p>
            <a:pPr algn="l">
              <a:lnSpc>
                <a:spcPct val="112000"/>
              </a:lnSpc>
              <a:buNone/>
              <a:defRPr sz="1500" b="1">
                <a:solidFill>
                  <a:srgbClr val="006D77"/>
                </a:solidFill>
                <a:latin typeface="Arial"/>
                <a:ea typeface="Arial"/>
                <a:cs typeface="Arial"/>
              </a:defRPr>
            </a:pPr>
            <a:r>
              <a:rPr sz="1500" b="1">
                <a:solidFill>
                  <a:srgbClr val="006D77"/>
                </a:solidFill>
                <a:latin typeface="Arial"/>
                <a:ea typeface="Arial"/>
                <a:cs typeface="Arial"/>
              </a:rPr>
              <a:t>3,4</a:t>
            </a:r>
          </a:p>
        </p:txBody>
      </p:sp>
      <p:sp>
        <p:nvSpPr>
          <p:cNvPr id="12" name="text-18">
            <a:extLst>
              <a:ext uri="{FF2B5EF4-FFF2-40B4-BE49-F238E27FC236}">
                <a16:creationId xmlns:a16="http://schemas.microsoft.com/office/drawing/2014/main" id="{B099CDAA-204C-4CA0-BB1B-12A23154DA52}"/>
              </a:ext>
            </a:extLst>
          </p:cNvPr>
          <p:cNvSpPr>
            <a:spLocks noGrp="1"/>
          </p:cNvSpPr>
          <p:nvPr/>
        </p:nvSpPr>
        <p:spPr>
          <a:xfrm>
            <a:off x="5067300" y="2981325"/>
            <a:ext cx="6515100" cy="647700"/>
          </a:xfrm>
          <a:prstGeom prst="rect">
            <a:avLst/>
          </a:prstGeom>
          <a:noFill/>
          <a:ln w="0">
            <a:noFill/>
          </a:ln>
        </p:spPr>
        <p:txBody>
          <a:bodyPr wrap="square" lIns="0" tIns="0" rIns="0" bIns="0" anchor="t">
            <a:noAutofit/>
          </a:bodyPr>
          <a:lstStyle>
            <a:defPPr algn="l">
              <a:defRPr sz="1800" b="0">
                <a:solidFill>
                  <a:srgbClr val="17324A"/>
                </a:solidFill>
                <a:latin typeface="Arial"/>
                <a:ea typeface="Arial"/>
                <a:cs typeface="Arial"/>
              </a:defRPr>
            </a:defPPr>
          </a:lstStyle>
          <a:p>
            <a:pPr algn="l">
              <a:lnSpc>
                <a:spcPct val="112000"/>
              </a:lnSpc>
              <a:buNone/>
              <a:defRPr sz="1800" b="0">
                <a:solidFill>
                  <a:srgbClr val="17324A"/>
                </a:solidFill>
                <a:latin typeface="Arial"/>
                <a:ea typeface="Arial"/>
                <a:cs typeface="Arial"/>
              </a:defRPr>
            </a:pPr>
            <a:r>
              <a:rPr sz="1800" b="0">
                <a:solidFill>
                  <a:srgbClr val="17324A"/>
                </a:solidFill>
                <a:latin typeface="Arial"/>
                <a:ea typeface="Arial"/>
                <a:cs typeface="Arial"/>
              </a:rPr>
              <a:t>Follow-up requests depend on the active view, selected records</a:t>
            </a:r>
          </a:p>
          <a:p>
            <a:pPr algn="l">
              <a:lnSpc>
                <a:spcPct val="112000"/>
              </a:lnSpc>
              <a:buNone/>
              <a:defRPr sz="1800" b="0">
                <a:solidFill>
                  <a:srgbClr val="17324A"/>
                </a:solidFill>
                <a:latin typeface="Arial"/>
                <a:ea typeface="Arial"/>
                <a:cs typeface="Arial"/>
              </a:defRPr>
            </a:pPr>
            <a:r>
              <a:rPr sz="1800" b="0">
                <a:solidFill>
                  <a:srgbClr val="17324A"/>
                </a:solidFill>
                <a:latin typeface="Arial"/>
                <a:ea typeface="Arial"/>
                <a:cs typeface="Arial"/>
              </a:rPr>
              <a:t>and earlier results.</a:t>
            </a:r>
          </a:p>
        </p:txBody>
      </p:sp>
      <p:sp>
        <p:nvSpPr>
          <p:cNvPr id="13" name="shape-19">
            <a:extLst>
              <a:ext uri="{FF2B5EF4-FFF2-40B4-BE49-F238E27FC236}">
                <a16:creationId xmlns:a16="http://schemas.microsoft.com/office/drawing/2014/main" id="{147ABA59-7893-4244-ACAB-57D9F9005223}"/>
              </a:ext>
            </a:extLst>
          </p:cNvPr>
          <p:cNvSpPr>
            <a:spLocks noGrp="1"/>
          </p:cNvSpPr>
          <p:nvPr/>
        </p:nvSpPr>
        <p:spPr>
          <a:xfrm>
            <a:off x="609600" y="3695700"/>
            <a:ext cx="10972800" cy="14288"/>
          </a:xfrm>
          <a:prstGeom prst="rect">
            <a:avLst/>
          </a:prstGeom>
          <a:solidFill>
            <a:srgbClr val="CDD7D9"/>
          </a:solidFill>
          <a:ln w="0">
            <a:noFill/>
          </a:ln>
        </p:spPr>
      </p:sp>
      <p:sp>
        <p:nvSpPr>
          <p:cNvPr id="14" name="text-20">
            <a:extLst>
              <a:ext uri="{FF2B5EF4-FFF2-40B4-BE49-F238E27FC236}">
                <a16:creationId xmlns:a16="http://schemas.microsoft.com/office/drawing/2014/main" id="{6E75B91C-11B6-4A5C-9D3E-C5578F3B6A5A}"/>
              </a:ext>
            </a:extLst>
          </p:cNvPr>
          <p:cNvSpPr>
            <a:spLocks noGrp="1"/>
          </p:cNvSpPr>
          <p:nvPr/>
        </p:nvSpPr>
        <p:spPr>
          <a:xfrm>
            <a:off x="609600" y="3838575"/>
            <a:ext cx="533400" cy="371475"/>
          </a:xfrm>
          <a:prstGeom prst="rect">
            <a:avLst/>
          </a:prstGeom>
          <a:noFill/>
          <a:ln w="0">
            <a:noFill/>
          </a:ln>
        </p:spPr>
        <p:txBody>
          <a:bodyPr wrap="square" lIns="0" tIns="0" rIns="0" bIns="0" anchor="t">
            <a:noAutofit/>
          </a:bodyPr>
          <a:lstStyle>
            <a:defPPr algn="l">
              <a:defRPr sz="2025" b="1">
                <a:solidFill>
                  <a:srgbClr val="006D77"/>
                </a:solidFill>
                <a:latin typeface="Arial"/>
                <a:ea typeface="Arial"/>
                <a:cs typeface="Arial"/>
              </a:defRPr>
            </a:defPPr>
          </a:lstStyle>
          <a:p>
            <a:pPr algn="l">
              <a:lnSpc>
                <a:spcPct val="112000"/>
              </a:lnSpc>
              <a:buNone/>
              <a:defRPr sz="2025" b="1">
                <a:solidFill>
                  <a:srgbClr val="006D77"/>
                </a:solidFill>
                <a:latin typeface="Arial"/>
                <a:ea typeface="Arial"/>
                <a:cs typeface="Arial"/>
              </a:defRPr>
            </a:pPr>
            <a:r>
              <a:rPr sz="2025" b="1">
                <a:solidFill>
                  <a:srgbClr val="006D77"/>
                </a:solidFill>
                <a:latin typeface="Arial"/>
                <a:ea typeface="Arial"/>
                <a:cs typeface="Arial"/>
              </a:rPr>
              <a:t>02</a:t>
            </a:r>
          </a:p>
        </p:txBody>
      </p:sp>
      <p:sp>
        <p:nvSpPr>
          <p:cNvPr id="15" name="text-21">
            <a:extLst>
              <a:ext uri="{FF2B5EF4-FFF2-40B4-BE49-F238E27FC236}">
                <a16:creationId xmlns:a16="http://schemas.microsoft.com/office/drawing/2014/main" id="{CC852DFF-986C-4846-A516-FBFB89F47267}"/>
              </a:ext>
            </a:extLst>
          </p:cNvPr>
          <p:cNvSpPr>
            <a:spLocks noGrp="1"/>
          </p:cNvSpPr>
          <p:nvPr/>
        </p:nvSpPr>
        <p:spPr>
          <a:xfrm>
            <a:off x="1304925" y="3838575"/>
            <a:ext cx="3314700" cy="400050"/>
          </a:xfrm>
          <a:prstGeom prst="rect">
            <a:avLst/>
          </a:prstGeom>
          <a:noFill/>
          <a:ln w="0">
            <a:noFill/>
          </a:ln>
        </p:spPr>
        <p:txBody>
          <a:bodyPr wrap="square" lIns="0" tIns="0" rIns="0" bIns="0" anchor="t">
            <a:noAutofit/>
          </a:bodyPr>
          <a:lstStyle>
            <a:defPPr algn="l">
              <a:defRPr sz="2025" b="1">
                <a:solidFill>
                  <a:srgbClr val="17324A"/>
                </a:solidFill>
                <a:latin typeface="Arial"/>
                <a:ea typeface="Arial"/>
                <a:cs typeface="Arial"/>
              </a:defRPr>
            </a:defPPr>
          </a:lstStyle>
          <a:p>
            <a:pPr algn="l">
              <a:lnSpc>
                <a:spcPct val="112000"/>
              </a:lnSpc>
              <a:buNone/>
              <a:defRPr sz="2025" b="1">
                <a:solidFill>
                  <a:srgbClr val="17324A"/>
                </a:solidFill>
                <a:latin typeface="Arial"/>
                <a:ea typeface="Arial"/>
                <a:cs typeface="Arial"/>
              </a:defRPr>
            </a:pPr>
            <a:r>
              <a:rPr sz="2025" b="1">
                <a:solidFill>
                  <a:srgbClr val="17324A"/>
                </a:solidFill>
                <a:latin typeface="Arial"/>
                <a:ea typeface="Arial"/>
                <a:cs typeface="Arial"/>
              </a:rPr>
              <a:t>Business correctness</a:t>
            </a:r>
          </a:p>
        </p:txBody>
      </p:sp>
      <p:sp>
        <p:nvSpPr>
          <p:cNvPr id="16" name="citation-22">
            <a:extLst>
              <a:ext uri="{FF2B5EF4-FFF2-40B4-BE49-F238E27FC236}">
                <a16:creationId xmlns:a16="http://schemas.microsoft.com/office/drawing/2014/main" id="{3F2CEB92-E337-4238-A5E3-92EC816FA8C6}"/>
              </a:ext>
            </a:extLst>
          </p:cNvPr>
          <p:cNvSpPr>
            <a:spLocks noGrp="1"/>
          </p:cNvSpPr>
          <p:nvPr/>
        </p:nvSpPr>
        <p:spPr>
          <a:xfrm>
            <a:off x="4025646" y="3771900"/>
            <a:ext cx="495300" cy="266700"/>
          </a:xfrm>
          <a:prstGeom prst="rect">
            <a:avLst/>
          </a:prstGeom>
          <a:noFill/>
          <a:ln w="0">
            <a:noFill/>
          </a:ln>
        </p:spPr>
        <p:txBody>
          <a:bodyPr wrap="square" lIns="0" tIns="0" rIns="0" bIns="0" anchor="t">
            <a:noAutofit/>
          </a:bodyPr>
          <a:lstStyle>
            <a:defPPr algn="l">
              <a:defRPr sz="1500" b="1">
                <a:solidFill>
                  <a:srgbClr val="006D77"/>
                </a:solidFill>
                <a:latin typeface="Arial"/>
                <a:ea typeface="Arial"/>
                <a:cs typeface="Arial"/>
              </a:defRPr>
            </a:defPPr>
          </a:lstStyle>
          <a:p>
            <a:pPr algn="l">
              <a:lnSpc>
                <a:spcPct val="112000"/>
              </a:lnSpc>
              <a:buNone/>
              <a:defRPr sz="1500" b="1">
                <a:solidFill>
                  <a:srgbClr val="006D77"/>
                </a:solidFill>
                <a:latin typeface="Arial"/>
                <a:ea typeface="Arial"/>
                <a:cs typeface="Arial"/>
              </a:defRPr>
            </a:pPr>
            <a:r>
              <a:rPr sz="1500" b="1">
                <a:solidFill>
                  <a:srgbClr val="006D77"/>
                </a:solidFill>
                <a:latin typeface="Arial"/>
                <a:ea typeface="Arial"/>
                <a:cs typeface="Arial"/>
              </a:rPr>
              <a:t>5,7</a:t>
            </a:r>
          </a:p>
        </p:txBody>
      </p:sp>
      <p:sp>
        <p:nvSpPr>
          <p:cNvPr id="17" name="text-23">
            <a:extLst>
              <a:ext uri="{FF2B5EF4-FFF2-40B4-BE49-F238E27FC236}">
                <a16:creationId xmlns:a16="http://schemas.microsoft.com/office/drawing/2014/main" id="{607804E2-6703-4E4B-8A9E-B9D05388BB16}"/>
              </a:ext>
            </a:extLst>
          </p:cNvPr>
          <p:cNvSpPr>
            <a:spLocks noGrp="1"/>
          </p:cNvSpPr>
          <p:nvPr/>
        </p:nvSpPr>
        <p:spPr>
          <a:xfrm>
            <a:off x="5067300" y="3838575"/>
            <a:ext cx="6515100" cy="647700"/>
          </a:xfrm>
          <a:prstGeom prst="rect">
            <a:avLst/>
          </a:prstGeom>
          <a:noFill/>
          <a:ln w="0">
            <a:noFill/>
          </a:ln>
        </p:spPr>
        <p:txBody>
          <a:bodyPr wrap="square" lIns="0" tIns="0" rIns="0" bIns="0" anchor="t">
            <a:noAutofit/>
          </a:bodyPr>
          <a:lstStyle>
            <a:defPPr algn="l">
              <a:defRPr sz="1800" b="0">
                <a:solidFill>
                  <a:srgbClr val="17324A"/>
                </a:solidFill>
                <a:latin typeface="Arial"/>
                <a:ea typeface="Arial"/>
                <a:cs typeface="Arial"/>
              </a:defRPr>
            </a:defPPr>
          </a:lstStyle>
          <a:p>
            <a:pPr algn="l">
              <a:lnSpc>
                <a:spcPct val="112000"/>
              </a:lnSpc>
              <a:buNone/>
              <a:defRPr sz="1800" b="0">
                <a:solidFill>
                  <a:srgbClr val="17324A"/>
                </a:solidFill>
                <a:latin typeface="Arial"/>
                <a:ea typeface="Arial"/>
                <a:cs typeface="Arial"/>
              </a:defRPr>
            </a:pPr>
            <a:r>
              <a:rPr sz="1800" b="0">
                <a:solidFill>
                  <a:srgbClr val="17324A"/>
                </a:solidFill>
                <a:latin typeface="Arial"/>
                <a:ea typeface="Arial"/>
                <a:cs typeface="Arial"/>
              </a:rPr>
              <a:t>A valid operation can still use the wrong measure, period, unit</a:t>
            </a:r>
          </a:p>
          <a:p>
            <a:pPr algn="l">
              <a:lnSpc>
                <a:spcPct val="112000"/>
              </a:lnSpc>
              <a:buNone/>
              <a:defRPr sz="1800" b="0">
                <a:solidFill>
                  <a:srgbClr val="17324A"/>
                </a:solidFill>
                <a:latin typeface="Arial"/>
                <a:ea typeface="Arial"/>
                <a:cs typeface="Arial"/>
              </a:defRPr>
            </a:pPr>
            <a:r>
              <a:rPr sz="1800" b="0">
                <a:solidFill>
                  <a:srgbClr val="17324A"/>
                </a:solidFill>
                <a:latin typeface="Arial"/>
                <a:ea typeface="Arial"/>
                <a:cs typeface="Arial"/>
              </a:rPr>
              <a:t>or level of detail.</a:t>
            </a:r>
          </a:p>
        </p:txBody>
      </p:sp>
      <p:sp>
        <p:nvSpPr>
          <p:cNvPr id="18" name="shape-24">
            <a:extLst>
              <a:ext uri="{FF2B5EF4-FFF2-40B4-BE49-F238E27FC236}">
                <a16:creationId xmlns:a16="http://schemas.microsoft.com/office/drawing/2014/main" id="{C2331442-3DC7-457B-9B3B-022571BD6347}"/>
              </a:ext>
            </a:extLst>
          </p:cNvPr>
          <p:cNvSpPr>
            <a:spLocks noGrp="1"/>
          </p:cNvSpPr>
          <p:nvPr/>
        </p:nvSpPr>
        <p:spPr>
          <a:xfrm>
            <a:off x="609600" y="4552950"/>
            <a:ext cx="10972800" cy="14288"/>
          </a:xfrm>
          <a:prstGeom prst="rect">
            <a:avLst/>
          </a:prstGeom>
          <a:solidFill>
            <a:srgbClr val="CDD7D9"/>
          </a:solidFill>
          <a:ln w="0">
            <a:noFill/>
          </a:ln>
        </p:spPr>
      </p:sp>
      <p:sp>
        <p:nvSpPr>
          <p:cNvPr id="19" name="text-25">
            <a:extLst>
              <a:ext uri="{FF2B5EF4-FFF2-40B4-BE49-F238E27FC236}">
                <a16:creationId xmlns:a16="http://schemas.microsoft.com/office/drawing/2014/main" id="{2551B87F-1AA2-44E4-8B1E-32DC3CE4A838}"/>
              </a:ext>
            </a:extLst>
          </p:cNvPr>
          <p:cNvSpPr>
            <a:spLocks noGrp="1"/>
          </p:cNvSpPr>
          <p:nvPr/>
        </p:nvSpPr>
        <p:spPr>
          <a:xfrm>
            <a:off x="609600" y="4695825"/>
            <a:ext cx="533400" cy="371475"/>
          </a:xfrm>
          <a:prstGeom prst="rect">
            <a:avLst/>
          </a:prstGeom>
          <a:noFill/>
          <a:ln w="0">
            <a:noFill/>
          </a:ln>
        </p:spPr>
        <p:txBody>
          <a:bodyPr wrap="square" lIns="0" tIns="0" rIns="0" bIns="0" anchor="t">
            <a:noAutofit/>
          </a:bodyPr>
          <a:lstStyle>
            <a:defPPr algn="l">
              <a:defRPr sz="2025" b="1">
                <a:solidFill>
                  <a:srgbClr val="006D77"/>
                </a:solidFill>
                <a:latin typeface="Arial"/>
                <a:ea typeface="Arial"/>
                <a:cs typeface="Arial"/>
              </a:defRPr>
            </a:defPPr>
          </a:lstStyle>
          <a:p>
            <a:pPr algn="l">
              <a:lnSpc>
                <a:spcPct val="112000"/>
              </a:lnSpc>
              <a:buNone/>
              <a:defRPr sz="2025" b="1">
                <a:solidFill>
                  <a:srgbClr val="006D77"/>
                </a:solidFill>
                <a:latin typeface="Arial"/>
                <a:ea typeface="Arial"/>
                <a:cs typeface="Arial"/>
              </a:defRPr>
            </a:pPr>
            <a:r>
              <a:rPr sz="2025" b="1">
                <a:solidFill>
                  <a:srgbClr val="006D77"/>
                </a:solidFill>
                <a:latin typeface="Arial"/>
                <a:ea typeface="Arial"/>
                <a:cs typeface="Arial"/>
              </a:rPr>
              <a:t>03</a:t>
            </a:r>
          </a:p>
        </p:txBody>
      </p:sp>
      <p:sp>
        <p:nvSpPr>
          <p:cNvPr id="20" name="text-26">
            <a:extLst>
              <a:ext uri="{FF2B5EF4-FFF2-40B4-BE49-F238E27FC236}">
                <a16:creationId xmlns:a16="http://schemas.microsoft.com/office/drawing/2014/main" id="{CDB9708B-827E-4720-A0AA-1FB5EA6DB285}"/>
              </a:ext>
            </a:extLst>
          </p:cNvPr>
          <p:cNvSpPr>
            <a:spLocks noGrp="1"/>
          </p:cNvSpPr>
          <p:nvPr/>
        </p:nvSpPr>
        <p:spPr>
          <a:xfrm>
            <a:off x="1304925" y="4695825"/>
            <a:ext cx="3314700" cy="400050"/>
          </a:xfrm>
          <a:prstGeom prst="rect">
            <a:avLst/>
          </a:prstGeom>
          <a:noFill/>
          <a:ln w="0">
            <a:noFill/>
          </a:ln>
        </p:spPr>
        <p:txBody>
          <a:bodyPr wrap="square" lIns="0" tIns="0" rIns="0" bIns="0" anchor="t">
            <a:noAutofit/>
          </a:bodyPr>
          <a:lstStyle>
            <a:defPPr algn="l">
              <a:defRPr sz="2025" b="1">
                <a:solidFill>
                  <a:srgbClr val="17324A"/>
                </a:solidFill>
                <a:latin typeface="Arial"/>
                <a:ea typeface="Arial"/>
                <a:cs typeface="Arial"/>
              </a:defRPr>
            </a:defPPr>
          </a:lstStyle>
          <a:p>
            <a:pPr algn="l">
              <a:lnSpc>
                <a:spcPct val="112000"/>
              </a:lnSpc>
              <a:buNone/>
              <a:defRPr sz="2025" b="1">
                <a:solidFill>
                  <a:srgbClr val="17324A"/>
                </a:solidFill>
                <a:latin typeface="Arial"/>
                <a:ea typeface="Arial"/>
                <a:cs typeface="Arial"/>
              </a:defRPr>
            </a:pPr>
            <a:r>
              <a:rPr sz="2025" b="1">
                <a:solidFill>
                  <a:srgbClr val="17324A"/>
                </a:solidFill>
                <a:latin typeface="Arial"/>
                <a:ea typeface="Arial"/>
                <a:cs typeface="Arial"/>
              </a:rPr>
              <a:t>Verifiable completion</a:t>
            </a:r>
          </a:p>
        </p:txBody>
      </p:sp>
      <p:sp>
        <p:nvSpPr>
          <p:cNvPr id="21" name="citation-27">
            <a:extLst>
              <a:ext uri="{FF2B5EF4-FFF2-40B4-BE49-F238E27FC236}">
                <a16:creationId xmlns:a16="http://schemas.microsoft.com/office/drawing/2014/main" id="{EBF9568D-7F33-417A-9D40-2C13C1AC04D0}"/>
              </a:ext>
            </a:extLst>
          </p:cNvPr>
          <p:cNvSpPr>
            <a:spLocks noGrp="1"/>
          </p:cNvSpPr>
          <p:nvPr/>
        </p:nvSpPr>
        <p:spPr>
          <a:xfrm>
            <a:off x="3939254" y="4629150"/>
            <a:ext cx="495300" cy="266700"/>
          </a:xfrm>
          <a:prstGeom prst="rect">
            <a:avLst/>
          </a:prstGeom>
          <a:noFill/>
          <a:ln w="0">
            <a:noFill/>
          </a:ln>
        </p:spPr>
        <p:txBody>
          <a:bodyPr wrap="square" lIns="0" tIns="0" rIns="0" bIns="0" anchor="t">
            <a:noAutofit/>
          </a:bodyPr>
          <a:lstStyle>
            <a:defPPr algn="l">
              <a:defRPr sz="1500" b="1">
                <a:solidFill>
                  <a:srgbClr val="006D77"/>
                </a:solidFill>
                <a:latin typeface="Arial"/>
                <a:ea typeface="Arial"/>
                <a:cs typeface="Arial"/>
              </a:defRPr>
            </a:defPPr>
          </a:lstStyle>
          <a:p>
            <a:pPr algn="l">
              <a:lnSpc>
                <a:spcPct val="112000"/>
              </a:lnSpc>
              <a:buNone/>
              <a:defRPr sz="1500" b="1">
                <a:solidFill>
                  <a:srgbClr val="006D77"/>
                </a:solidFill>
                <a:latin typeface="Arial"/>
                <a:ea typeface="Arial"/>
                <a:cs typeface="Arial"/>
              </a:defRPr>
            </a:pPr>
            <a:r>
              <a:rPr sz="1500" b="1">
                <a:solidFill>
                  <a:srgbClr val="006D77"/>
                </a:solidFill>
                <a:latin typeface="Arial"/>
                <a:ea typeface="Arial"/>
                <a:cs typeface="Arial"/>
              </a:rPr>
              <a:t>3,5</a:t>
            </a:r>
          </a:p>
        </p:txBody>
      </p:sp>
      <p:sp>
        <p:nvSpPr>
          <p:cNvPr id="22" name="text-28">
            <a:extLst>
              <a:ext uri="{FF2B5EF4-FFF2-40B4-BE49-F238E27FC236}">
                <a16:creationId xmlns:a16="http://schemas.microsoft.com/office/drawing/2014/main" id="{ADED6879-EA36-4893-B9D9-CDDFC1286202}"/>
              </a:ext>
            </a:extLst>
          </p:cNvPr>
          <p:cNvSpPr>
            <a:spLocks noGrp="1"/>
          </p:cNvSpPr>
          <p:nvPr/>
        </p:nvSpPr>
        <p:spPr>
          <a:xfrm>
            <a:off x="5067300" y="4695825"/>
            <a:ext cx="6515100" cy="647700"/>
          </a:xfrm>
          <a:prstGeom prst="rect">
            <a:avLst/>
          </a:prstGeom>
          <a:noFill/>
          <a:ln w="0">
            <a:noFill/>
          </a:ln>
        </p:spPr>
        <p:txBody>
          <a:bodyPr wrap="square" lIns="0" tIns="0" rIns="0" bIns="0" anchor="t">
            <a:noAutofit/>
          </a:bodyPr>
          <a:lstStyle>
            <a:defPPr algn="l">
              <a:defRPr sz="1800" b="0">
                <a:solidFill>
                  <a:srgbClr val="17324A"/>
                </a:solidFill>
                <a:latin typeface="Arial"/>
                <a:ea typeface="Arial"/>
                <a:cs typeface="Arial"/>
              </a:defRPr>
            </a:defPPr>
          </a:lstStyle>
          <a:p>
            <a:pPr algn="l">
              <a:lnSpc>
                <a:spcPct val="112000"/>
              </a:lnSpc>
              <a:buNone/>
              <a:defRPr sz="1800" b="0">
                <a:solidFill>
                  <a:srgbClr val="17324A"/>
                </a:solidFill>
                <a:latin typeface="Arial"/>
                <a:ea typeface="Arial"/>
                <a:cs typeface="Arial"/>
              </a:defRPr>
            </a:pPr>
            <a:r>
              <a:rPr sz="1800" b="0">
                <a:solidFill>
                  <a:srgbClr val="17324A"/>
                </a:solidFill>
                <a:latin typeface="Arial"/>
                <a:ea typeface="Arial"/>
                <a:cs typeface="Arial"/>
              </a:rPr>
              <a:t>The reported answer and the observed application state must</a:t>
            </a:r>
          </a:p>
          <a:p>
            <a:pPr algn="l">
              <a:lnSpc>
                <a:spcPct val="112000"/>
              </a:lnSpc>
              <a:buNone/>
              <a:defRPr sz="1800" b="0">
                <a:solidFill>
                  <a:srgbClr val="17324A"/>
                </a:solidFill>
                <a:latin typeface="Arial"/>
                <a:ea typeface="Arial"/>
                <a:cs typeface="Arial"/>
              </a:defRPr>
            </a:pPr>
            <a:r>
              <a:rPr sz="1800" b="0">
                <a:solidFill>
                  <a:srgbClr val="17324A"/>
                </a:solidFill>
                <a:latin typeface="Arial"/>
                <a:ea typeface="Arial"/>
                <a:cs typeface="Arial"/>
              </a:rPr>
              <a:t>both satisfy the request.</a:t>
            </a:r>
          </a:p>
        </p:txBody>
      </p:sp>
      <p:sp>
        <p:nvSpPr>
          <p:cNvPr id="23" name="shape-29">
            <a:extLst>
              <a:ext uri="{FF2B5EF4-FFF2-40B4-BE49-F238E27FC236}">
                <a16:creationId xmlns:a16="http://schemas.microsoft.com/office/drawing/2014/main" id="{C410F44D-8CDE-4D4C-A036-25040AF0C18E}"/>
              </a:ext>
            </a:extLst>
          </p:cNvPr>
          <p:cNvSpPr>
            <a:spLocks noGrp="1"/>
          </p:cNvSpPr>
          <p:nvPr/>
        </p:nvSpPr>
        <p:spPr>
          <a:xfrm>
            <a:off x="609600" y="5600700"/>
            <a:ext cx="10972800" cy="14288"/>
          </a:xfrm>
          <a:prstGeom prst="rect">
            <a:avLst/>
          </a:prstGeom>
          <a:solidFill>
            <a:srgbClr val="006D77"/>
          </a:solidFill>
          <a:ln w="0">
            <a:noFill/>
          </a:ln>
        </p:spPr>
      </p:sp>
      <p:sp>
        <p:nvSpPr>
          <p:cNvPr id="24" name="text-30">
            <a:extLst>
              <a:ext uri="{FF2B5EF4-FFF2-40B4-BE49-F238E27FC236}">
                <a16:creationId xmlns:a16="http://schemas.microsoft.com/office/drawing/2014/main" id="{AF6B30F7-E295-4A75-ADA1-66BC3621C1C9}"/>
              </a:ext>
            </a:extLst>
          </p:cNvPr>
          <p:cNvSpPr>
            <a:spLocks noGrp="1"/>
          </p:cNvSpPr>
          <p:nvPr/>
        </p:nvSpPr>
        <p:spPr>
          <a:xfrm>
            <a:off x="609600" y="5810250"/>
            <a:ext cx="10972800" cy="400050"/>
          </a:xfrm>
          <a:prstGeom prst="rect">
            <a:avLst/>
          </a:prstGeom>
          <a:noFill/>
          <a:ln w="0">
            <a:noFill/>
          </a:ln>
        </p:spPr>
        <p:txBody>
          <a:bodyPr wrap="square" lIns="0" tIns="0" rIns="0" bIns="0" anchor="t">
            <a:noAutofit/>
          </a:bodyPr>
          <a:lstStyle>
            <a:defPPr algn="l">
              <a:defRPr sz="1800" b="0">
                <a:solidFill>
                  <a:srgbClr val="4D6270"/>
                </a:solidFill>
                <a:latin typeface="Arial"/>
                <a:ea typeface="Arial"/>
                <a:cs typeface="Arial"/>
              </a:defRPr>
            </a:defPPr>
          </a:lstStyle>
          <a:p>
            <a:pPr algn="l">
              <a:lnSpc>
                <a:spcPct val="112000"/>
              </a:lnSpc>
              <a:buNone/>
              <a:defRPr sz="1800" b="0">
                <a:solidFill>
                  <a:srgbClr val="4D6270"/>
                </a:solidFill>
                <a:latin typeface="Arial"/>
                <a:ea typeface="Arial"/>
                <a:cs typeface="Arial"/>
              </a:defRPr>
            </a:pPr>
            <a:r>
              <a:rPr sz="1800" b="0">
                <a:solidFill>
                  <a:srgbClr val="4D6270"/>
                </a:solidFill>
                <a:latin typeface="Arial"/>
                <a:ea typeface="Arial"/>
                <a:cs typeface="Arial"/>
              </a:rPr>
              <a:t>Example: “Compare April and May 2016 orders.” Then, “Show me May’s orders.”</a:t>
            </a:r>
          </a:p>
        </p:txBody>
      </p:sp>
      <p:pic>
        <p:nvPicPr>
          <p:cNvPr id="25" name="Picture 24">
            <a:extLst>
              <a:ext uri="{FF2B5EF4-FFF2-40B4-BE49-F238E27FC236}">
                <a16:creationId xmlns:a16="http://schemas.microsoft.com/office/drawing/2014/main" id="{A87400AC-A622-4ED4-96C7-81B21A0BD531}"/>
              </a:ext>
            </a:extLst>
          </p:cNvPr>
          <p:cNvPicPr>
            <a:picLocks noChangeAspect="1"/>
          </p:cNvPicPr>
          <p:nvPr/>
        </p:nvPicPr>
        <p:blipFill>
          <a:blip r:embed="rId3"/>
          <a:stretch/>
        </p:blipFill>
        <p:spPr>
          <a:xfrm>
            <a:off x="9220220" y="295275"/>
            <a:ext cx="2362160" cy="442436"/>
          </a:xfrm>
          <a:prstGeom prst="rect">
            <a:avLst/>
          </a:prstGeom>
        </p:spPr>
      </p:pic>
    </p:spTree>
    <p:extLst>
      <p:ext uri="{BB962C8B-B14F-4D97-AF65-F5344CB8AC3E}">
        <p14:creationId xmlns:p14="http://schemas.microsoft.com/office/powerpoint/2010/main" val="11247086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cxnSp>
        <p:nvCxnSpPr>
          <p:cNvPr id="55" name="Straight Arrow Connector 54">
            <a:extLst>
              <a:ext uri="{FF2B5EF4-FFF2-40B4-BE49-F238E27FC236}">
                <a16:creationId xmlns:a16="http://schemas.microsoft.com/office/drawing/2014/main" id="{0F0E44CC-D960-4FD7-A153-A2C70CF13716}"/>
              </a:ext>
            </a:extLst>
          </p:cNvPr>
          <p:cNvCxnSpPr>
            <a:stCxn id="50" idx="2"/>
            <a:endCxn id="52" idx="0"/>
          </p:cNvCxnSpPr>
          <p:nvPr/>
        </p:nvCxnSpPr>
        <p:spPr>
          <a:xfrm>
            <a:off x="9906000" y="3486150"/>
            <a:ext cx="0" cy="276225"/>
          </a:xfrm>
          <a:prstGeom prst="straightConnector1">
            <a:avLst/>
          </a:prstGeom>
          <a:ln w="19050">
            <a:solidFill>
              <a:srgbClr val="A4630B"/>
            </a:solidFill>
            <a:prstDash val="solid"/>
            <a:tailEnd type="triangle" w="med" len="med"/>
          </a:ln>
        </p:spPr>
      </p:cxnSp>
      <p:cxnSp>
        <p:nvCxnSpPr>
          <p:cNvPr id="54" name="Straight Arrow Connector 53">
            <a:extLst>
              <a:ext uri="{FF2B5EF4-FFF2-40B4-BE49-F238E27FC236}">
                <a16:creationId xmlns:a16="http://schemas.microsoft.com/office/drawing/2014/main" id="{6F977EDC-25A0-4B95-B1C9-9BAF72FF05EE}"/>
              </a:ext>
            </a:extLst>
          </p:cNvPr>
          <p:cNvCxnSpPr>
            <a:stCxn id="48" idx="2"/>
            <a:endCxn id="50" idx="0"/>
          </p:cNvCxnSpPr>
          <p:nvPr/>
        </p:nvCxnSpPr>
        <p:spPr>
          <a:xfrm>
            <a:off x="9906000" y="2647950"/>
            <a:ext cx="0" cy="276225"/>
          </a:xfrm>
          <a:prstGeom prst="straightConnector1">
            <a:avLst/>
          </a:prstGeom>
          <a:ln w="19050">
            <a:solidFill>
              <a:srgbClr val="A4630B"/>
            </a:solidFill>
            <a:prstDash val="solid"/>
            <a:tailEnd type="triangle" w="med" len="med"/>
          </a:ln>
        </p:spPr>
      </p:cxnSp>
      <p:cxnSp>
        <p:nvCxnSpPr>
          <p:cNvPr id="36" name="Straight Arrow Connector 35">
            <a:extLst>
              <a:ext uri="{FF2B5EF4-FFF2-40B4-BE49-F238E27FC236}">
                <a16:creationId xmlns:a16="http://schemas.microsoft.com/office/drawing/2014/main" id="{84C30996-D72D-48E8-906C-23397477EC17}"/>
              </a:ext>
            </a:extLst>
          </p:cNvPr>
          <p:cNvCxnSpPr>
            <a:stCxn id="31" idx="2"/>
            <a:endCxn id="33" idx="0"/>
          </p:cNvCxnSpPr>
          <p:nvPr/>
        </p:nvCxnSpPr>
        <p:spPr>
          <a:xfrm>
            <a:off x="6096000" y="3486150"/>
            <a:ext cx="0" cy="276225"/>
          </a:xfrm>
          <a:prstGeom prst="straightConnector1">
            <a:avLst/>
          </a:prstGeom>
          <a:ln w="19050">
            <a:solidFill>
              <a:srgbClr val="006D77"/>
            </a:solidFill>
            <a:prstDash val="solid"/>
            <a:tailEnd type="triangle" w="med" len="med"/>
          </a:ln>
        </p:spPr>
      </p:cxnSp>
      <p:cxnSp>
        <p:nvCxnSpPr>
          <p:cNvPr id="35" name="Straight Arrow Connector 34">
            <a:extLst>
              <a:ext uri="{FF2B5EF4-FFF2-40B4-BE49-F238E27FC236}">
                <a16:creationId xmlns:a16="http://schemas.microsoft.com/office/drawing/2014/main" id="{71FCEF3E-B493-46FA-82EA-F1ADA5D0EC1E}"/>
              </a:ext>
            </a:extLst>
          </p:cNvPr>
          <p:cNvCxnSpPr>
            <a:stCxn id="29" idx="2"/>
            <a:endCxn id="31" idx="0"/>
          </p:cNvCxnSpPr>
          <p:nvPr/>
        </p:nvCxnSpPr>
        <p:spPr>
          <a:xfrm>
            <a:off x="6096000" y="2647950"/>
            <a:ext cx="0" cy="276225"/>
          </a:xfrm>
          <a:prstGeom prst="straightConnector1">
            <a:avLst/>
          </a:prstGeom>
          <a:ln w="19050">
            <a:solidFill>
              <a:srgbClr val="006D77"/>
            </a:solidFill>
            <a:prstDash val="solid"/>
            <a:tailEnd type="triangle" w="med" len="med"/>
          </a:ln>
        </p:spPr>
      </p:cxnSp>
      <p:cxnSp>
        <p:nvCxnSpPr>
          <p:cNvPr id="21" name="Straight Arrow Connector 20">
            <a:extLst>
              <a:ext uri="{FF2B5EF4-FFF2-40B4-BE49-F238E27FC236}">
                <a16:creationId xmlns:a16="http://schemas.microsoft.com/office/drawing/2014/main" id="{7DDC4F9E-D605-4E88-82D6-36B262296C64}"/>
              </a:ext>
            </a:extLst>
          </p:cNvPr>
          <p:cNvCxnSpPr>
            <a:stCxn id="16" idx="2"/>
            <a:endCxn id="18" idx="0"/>
          </p:cNvCxnSpPr>
          <p:nvPr/>
        </p:nvCxnSpPr>
        <p:spPr>
          <a:xfrm>
            <a:off x="2286000" y="3486150"/>
            <a:ext cx="0" cy="276225"/>
          </a:xfrm>
          <a:prstGeom prst="straightConnector1">
            <a:avLst/>
          </a:prstGeom>
          <a:ln w="19050">
            <a:solidFill>
              <a:srgbClr val="315E87"/>
            </a:solidFill>
            <a:prstDash val="solid"/>
            <a:tailEnd type="triangle" w="med" len="med"/>
          </a:ln>
        </p:spPr>
      </p:cxnSp>
      <p:cxnSp>
        <p:nvCxnSpPr>
          <p:cNvPr id="20" name="Straight Arrow Connector 19">
            <a:extLst>
              <a:ext uri="{FF2B5EF4-FFF2-40B4-BE49-F238E27FC236}">
                <a16:creationId xmlns:a16="http://schemas.microsoft.com/office/drawing/2014/main" id="{5058C4CA-0034-475C-93AE-2C485260A730}"/>
              </a:ext>
            </a:extLst>
          </p:cNvPr>
          <p:cNvCxnSpPr>
            <a:stCxn id="14" idx="2"/>
            <a:endCxn id="16" idx="0"/>
          </p:cNvCxnSpPr>
          <p:nvPr/>
        </p:nvCxnSpPr>
        <p:spPr>
          <a:xfrm>
            <a:off x="2286000" y="2647950"/>
            <a:ext cx="0" cy="276225"/>
          </a:xfrm>
          <a:prstGeom prst="straightConnector1">
            <a:avLst/>
          </a:prstGeom>
          <a:ln w="19050">
            <a:solidFill>
              <a:srgbClr val="315E87"/>
            </a:solidFill>
            <a:prstDash val="solid"/>
            <a:tailEnd type="triangle" w="med" len="med"/>
          </a:ln>
        </p:spPr>
      </p:cxnSp>
      <p:sp>
        <p:nvSpPr>
          <p:cNvPr id="61" name="shape-31">
            <a:extLst>
              <a:ext uri="{FF2B5EF4-FFF2-40B4-BE49-F238E27FC236}">
                <a16:creationId xmlns:a16="http://schemas.microsoft.com/office/drawing/2014/main" id="{1C665F72-FAA1-4E0E-A8BF-5AC0AF62C873}"/>
              </a:ext>
            </a:extLst>
          </p:cNvPr>
          <p:cNvSpPr>
            <a:spLocks noGrp="1"/>
          </p:cNvSpPr>
          <p:nvPr/>
        </p:nvSpPr>
        <p:spPr>
          <a:xfrm>
            <a:off x="0" y="0"/>
            <a:ext cx="12192000" cy="1066800"/>
          </a:xfrm>
          <a:prstGeom prst="rect">
            <a:avLst/>
          </a:prstGeom>
          <a:solidFill>
            <a:srgbClr val="F2F6F7"/>
          </a:solidFill>
          <a:ln w="0">
            <a:noFill/>
          </a:ln>
        </p:spPr>
      </p:sp>
      <p:sp>
        <p:nvSpPr>
          <p:cNvPr id="2" name="shape-32">
            <a:extLst>
              <a:ext uri="{FF2B5EF4-FFF2-40B4-BE49-F238E27FC236}">
                <a16:creationId xmlns:a16="http://schemas.microsoft.com/office/drawing/2014/main" id="{6F1E3031-DEBB-4E29-ABC6-892A87B32BBE}"/>
              </a:ext>
            </a:extLst>
          </p:cNvPr>
          <p:cNvSpPr>
            <a:spLocks noGrp="1"/>
          </p:cNvSpPr>
          <p:nvPr/>
        </p:nvSpPr>
        <p:spPr>
          <a:xfrm>
            <a:off x="0" y="1038225"/>
            <a:ext cx="12192000" cy="28575"/>
          </a:xfrm>
          <a:prstGeom prst="rect">
            <a:avLst/>
          </a:prstGeom>
          <a:solidFill>
            <a:srgbClr val="006D77"/>
          </a:solidFill>
          <a:ln w="0">
            <a:noFill/>
          </a:ln>
        </p:spPr>
      </p:sp>
      <p:sp>
        <p:nvSpPr>
          <p:cNvPr id="3" name="slide-3-title">
            <a:extLst>
              <a:ext uri="{FF2B5EF4-FFF2-40B4-BE49-F238E27FC236}">
                <a16:creationId xmlns:a16="http://schemas.microsoft.com/office/drawing/2014/main" id="{D74DA7C5-86C3-4446-8EC7-AE75E9D6036A}"/>
              </a:ext>
            </a:extLst>
          </p:cNvPr>
          <p:cNvSpPr>
            <a:spLocks noGrp="1"/>
          </p:cNvSpPr>
          <p:nvPr/>
        </p:nvSpPr>
        <p:spPr>
          <a:xfrm>
            <a:off x="609600" y="304800"/>
            <a:ext cx="8239125" cy="542925"/>
          </a:xfrm>
          <a:prstGeom prst="rect">
            <a:avLst/>
          </a:prstGeom>
          <a:noFill/>
          <a:ln w="0">
            <a:noFill/>
          </a:ln>
        </p:spPr>
        <p:txBody>
          <a:bodyPr wrap="square" lIns="0" tIns="0" rIns="0" bIns="0" anchor="t">
            <a:noAutofit/>
          </a:bodyPr>
          <a:lstStyle>
            <a:defPPr algn="l">
              <a:defRPr sz="3150" b="1">
                <a:solidFill>
                  <a:srgbClr val="102A43"/>
                </a:solidFill>
                <a:latin typeface="Arial"/>
                <a:ea typeface="Arial"/>
                <a:cs typeface="Arial"/>
              </a:defRPr>
            </a:defPPr>
          </a:lstStyle>
          <a:p>
            <a:pPr algn="l">
              <a:lnSpc>
                <a:spcPct val="112000"/>
              </a:lnSpc>
              <a:buNone/>
              <a:defRPr sz="3150" b="1">
                <a:solidFill>
                  <a:srgbClr val="102A43"/>
                </a:solidFill>
                <a:latin typeface="Arial"/>
                <a:ea typeface="Arial"/>
                <a:cs typeface="Arial"/>
              </a:defRPr>
            </a:pPr>
            <a:r>
              <a:rPr sz="3150" b="1">
                <a:solidFill>
                  <a:srgbClr val="102A43"/>
                </a:solidFill>
                <a:latin typeface="Arial"/>
                <a:ea typeface="Arial"/>
                <a:cs typeface="Arial"/>
              </a:rPr>
              <a:t>Existing approaches</a:t>
            </a:r>
          </a:p>
        </p:txBody>
      </p:sp>
      <p:sp>
        <p:nvSpPr>
          <p:cNvPr id="4" name="shape-33">
            <a:extLst>
              <a:ext uri="{FF2B5EF4-FFF2-40B4-BE49-F238E27FC236}">
                <a16:creationId xmlns:a16="http://schemas.microsoft.com/office/drawing/2014/main" id="{B4E110E1-5477-4937-933D-B08030705FB5}"/>
              </a:ext>
            </a:extLst>
          </p:cNvPr>
          <p:cNvSpPr>
            <a:spLocks noGrp="1"/>
          </p:cNvSpPr>
          <p:nvPr/>
        </p:nvSpPr>
        <p:spPr>
          <a:xfrm>
            <a:off x="0" y="6381750"/>
            <a:ext cx="12192000" cy="476250"/>
          </a:xfrm>
          <a:prstGeom prst="rect">
            <a:avLst/>
          </a:prstGeom>
          <a:solidFill>
            <a:srgbClr val="102A43"/>
          </a:solidFill>
          <a:ln w="0">
            <a:noFill/>
          </a:ln>
        </p:spPr>
      </p:sp>
      <p:sp>
        <p:nvSpPr>
          <p:cNvPr id="5" name="brand-3">
            <a:extLst>
              <a:ext uri="{FF2B5EF4-FFF2-40B4-BE49-F238E27FC236}">
                <a16:creationId xmlns:a16="http://schemas.microsoft.com/office/drawing/2014/main" id="{B7A5E620-7622-49EC-9D24-300A7ED44D26}"/>
              </a:ext>
            </a:extLst>
          </p:cNvPr>
          <p:cNvSpPr>
            <a:spLocks noGrp="1"/>
          </p:cNvSpPr>
          <p:nvPr/>
        </p:nvSpPr>
        <p:spPr>
          <a:xfrm>
            <a:off x="609600" y="6467475"/>
            <a:ext cx="3429000" cy="333375"/>
          </a:xfrm>
          <a:prstGeom prst="rect">
            <a:avLst/>
          </a:prstGeom>
          <a:noFill/>
          <a:ln w="0">
            <a:noFill/>
          </a:ln>
        </p:spPr>
        <p:txBody>
          <a:bodyPr wrap="square" lIns="0" tIns="0" rIns="0" bIns="0" anchor="t">
            <a:noAutofit/>
          </a:bodyPr>
          <a:lstStyle>
            <a:defPPr algn="l">
              <a:defRPr sz="1950" b="1">
                <a:solidFill>
                  <a:srgbClr val="8AE1D5"/>
                </a:solidFill>
                <a:latin typeface="Arial"/>
                <a:ea typeface="Arial"/>
                <a:cs typeface="Arial"/>
              </a:defRPr>
            </a:defPPr>
          </a:lstStyle>
          <a:p>
            <a:pPr algn="l">
              <a:lnSpc>
                <a:spcPct val="112000"/>
              </a:lnSpc>
              <a:buNone/>
              <a:defRPr sz="1950" b="1">
                <a:solidFill>
                  <a:srgbClr val="8AE1D5"/>
                </a:solidFill>
                <a:latin typeface="Arial"/>
                <a:ea typeface="Arial"/>
                <a:cs typeface="Arial"/>
              </a:defRPr>
            </a:pPr>
            <a:r>
              <a:rPr sz="1950" b="1">
                <a:solidFill>
                  <a:srgbClr val="8AE1D5"/>
                </a:solidFill>
                <a:latin typeface="Arial"/>
                <a:ea typeface="Arial"/>
                <a:cs typeface="Arial"/>
              </a:rPr>
              <a:t>Sapience</a:t>
            </a:r>
          </a:p>
        </p:txBody>
      </p:sp>
      <p:sp>
        <p:nvSpPr>
          <p:cNvPr id="6" name="page-3">
            <a:extLst>
              <a:ext uri="{FF2B5EF4-FFF2-40B4-BE49-F238E27FC236}">
                <a16:creationId xmlns:a16="http://schemas.microsoft.com/office/drawing/2014/main" id="{26A18F7B-E528-4D76-BA42-EA775CB6F38E}"/>
              </a:ext>
            </a:extLst>
          </p:cNvPr>
          <p:cNvSpPr>
            <a:spLocks noGrp="1"/>
          </p:cNvSpPr>
          <p:nvPr/>
        </p:nvSpPr>
        <p:spPr>
          <a:xfrm>
            <a:off x="10629900" y="6505575"/>
            <a:ext cx="952500" cy="276225"/>
          </a:xfrm>
          <a:prstGeom prst="rect">
            <a:avLst/>
          </a:prstGeom>
          <a:noFill/>
          <a:ln w="0">
            <a:noFill/>
          </a:ln>
        </p:spPr>
        <p:txBody>
          <a:bodyPr wrap="square" lIns="0" tIns="0" rIns="0" bIns="0" anchor="t">
            <a:noAutofit/>
          </a:bodyPr>
          <a:lstStyle>
            <a:defPPr algn="r">
              <a:defRPr sz="1575" b="0">
                <a:solidFill>
                  <a:srgbClr val="FFFFFF"/>
                </a:solidFill>
                <a:latin typeface="Arial"/>
                <a:ea typeface="Arial"/>
                <a:cs typeface="Arial"/>
              </a:defRPr>
            </a:defPPr>
          </a:lstStyle>
          <a:p>
            <a:pPr algn="r">
              <a:lnSpc>
                <a:spcPct val="112000"/>
              </a:lnSpc>
              <a:buNone/>
              <a:defRPr sz="1575" b="0">
                <a:solidFill>
                  <a:srgbClr val="FFFFFF"/>
                </a:solidFill>
                <a:latin typeface="Arial"/>
                <a:ea typeface="Arial"/>
                <a:cs typeface="Arial"/>
              </a:defRPr>
            </a:pPr>
            <a:r>
              <a:rPr sz="1575" b="0">
                <a:solidFill>
                  <a:srgbClr val="FFFFFF"/>
                </a:solidFill>
                <a:latin typeface="Arial"/>
                <a:ea typeface="Arial"/>
                <a:cs typeface="Arial"/>
              </a:rPr>
              <a:t>03 / 18</a:t>
            </a:r>
          </a:p>
        </p:txBody>
      </p:sp>
      <p:sp>
        <p:nvSpPr>
          <p:cNvPr id="7" name="symbol-browser-34">
            <a:extLst>
              <a:ext uri="{FF2B5EF4-FFF2-40B4-BE49-F238E27FC236}">
                <a16:creationId xmlns:a16="http://schemas.microsoft.com/office/drawing/2014/main" id="{A0055A4E-C580-4868-9F6B-80437F9EDD81}"/>
              </a:ext>
            </a:extLst>
          </p:cNvPr>
          <p:cNvSpPr>
            <a:spLocks noGrp="1"/>
          </p:cNvSpPr>
          <p:nvPr/>
        </p:nvSpPr>
        <p:spPr>
          <a:xfrm>
            <a:off x="609600" y="1428750"/>
            <a:ext cx="419100" cy="310134"/>
          </a:xfrm>
          <a:prstGeom prst="roundRect">
            <a:avLst>
              <a:gd name="adj" fmla="val 24570"/>
            </a:avLst>
          </a:prstGeom>
          <a:solidFill>
            <a:srgbClr val="FFFFFF"/>
          </a:solidFill>
          <a:ln w="19050">
            <a:solidFill>
              <a:srgbClr val="315E87"/>
            </a:solidFill>
          </a:ln>
        </p:spPr>
      </p:sp>
      <p:cxnSp>
        <p:nvCxnSpPr>
          <p:cNvPr id="8" name="link-35">
            <a:extLst>
              <a:ext uri="{FF2B5EF4-FFF2-40B4-BE49-F238E27FC236}">
                <a16:creationId xmlns:a16="http://schemas.microsoft.com/office/drawing/2014/main" id="{8640CE40-7DE2-43F7-A756-F96817887114}"/>
              </a:ext>
            </a:extLst>
          </p:cNvPr>
          <p:cNvCxnSpPr/>
          <p:nvPr/>
        </p:nvCxnSpPr>
        <p:spPr>
          <a:xfrm>
            <a:off x="609600" y="1562100"/>
            <a:ext cx="419100" cy="0"/>
          </a:xfrm>
          <a:prstGeom prst="straightConnector1">
            <a:avLst/>
          </a:prstGeom>
          <a:ln w="19050">
            <a:solidFill>
              <a:srgbClr val="315E87"/>
            </a:solidFill>
            <a:prstDash val="solid"/>
          </a:ln>
        </p:spPr>
      </p:cxnSp>
      <p:sp>
        <p:nvSpPr>
          <p:cNvPr id="9" name="symbol-browser-36">
            <a:extLst>
              <a:ext uri="{FF2B5EF4-FFF2-40B4-BE49-F238E27FC236}">
                <a16:creationId xmlns:a16="http://schemas.microsoft.com/office/drawing/2014/main" id="{77B54B14-357E-4A60-9747-6DA3D7B06768}"/>
              </a:ext>
            </a:extLst>
          </p:cNvPr>
          <p:cNvSpPr>
            <a:spLocks noGrp="1"/>
          </p:cNvSpPr>
          <p:nvPr/>
        </p:nvSpPr>
        <p:spPr>
          <a:xfrm>
            <a:off x="685800" y="1476375"/>
            <a:ext cx="28575" cy="28575"/>
          </a:xfrm>
          <a:prstGeom prst="ellipse">
            <a:avLst/>
          </a:prstGeom>
          <a:solidFill>
            <a:srgbClr val="315E87"/>
          </a:solidFill>
          <a:ln w="19050">
            <a:solidFill>
              <a:srgbClr val="315E87"/>
            </a:solidFill>
          </a:ln>
        </p:spPr>
      </p:sp>
      <p:sp>
        <p:nvSpPr>
          <p:cNvPr id="10" name="symbol-browser-37">
            <a:extLst>
              <a:ext uri="{FF2B5EF4-FFF2-40B4-BE49-F238E27FC236}">
                <a16:creationId xmlns:a16="http://schemas.microsoft.com/office/drawing/2014/main" id="{4BF01020-BBFD-481C-AFFA-3B9CF1CE65B3}"/>
              </a:ext>
            </a:extLst>
          </p:cNvPr>
          <p:cNvSpPr>
            <a:spLocks noGrp="1"/>
          </p:cNvSpPr>
          <p:nvPr/>
        </p:nvSpPr>
        <p:spPr>
          <a:xfrm>
            <a:off x="762000" y="1476375"/>
            <a:ext cx="28575" cy="28575"/>
          </a:xfrm>
          <a:prstGeom prst="ellipse">
            <a:avLst/>
          </a:prstGeom>
          <a:solidFill>
            <a:srgbClr val="315E87"/>
          </a:solidFill>
          <a:ln w="19050">
            <a:solidFill>
              <a:srgbClr val="315E87"/>
            </a:solidFill>
          </a:ln>
        </p:spPr>
      </p:sp>
      <p:sp>
        <p:nvSpPr>
          <p:cNvPr id="11" name="symbol-browser-38">
            <a:extLst>
              <a:ext uri="{FF2B5EF4-FFF2-40B4-BE49-F238E27FC236}">
                <a16:creationId xmlns:a16="http://schemas.microsoft.com/office/drawing/2014/main" id="{C5DA47FC-31FC-42CC-8118-C01ECCF648DB}"/>
              </a:ext>
            </a:extLst>
          </p:cNvPr>
          <p:cNvSpPr>
            <a:spLocks noGrp="1"/>
          </p:cNvSpPr>
          <p:nvPr/>
        </p:nvSpPr>
        <p:spPr>
          <a:xfrm>
            <a:off x="838200" y="1476375"/>
            <a:ext cx="28575" cy="28575"/>
          </a:xfrm>
          <a:prstGeom prst="ellipse">
            <a:avLst/>
          </a:prstGeom>
          <a:solidFill>
            <a:srgbClr val="315E87"/>
          </a:solidFill>
          <a:ln w="19050">
            <a:solidFill>
              <a:srgbClr val="315E87"/>
            </a:solidFill>
          </a:ln>
        </p:spPr>
      </p:sp>
      <p:cxnSp>
        <p:nvCxnSpPr>
          <p:cNvPr id="12" name="link-39">
            <a:extLst>
              <a:ext uri="{FF2B5EF4-FFF2-40B4-BE49-F238E27FC236}">
                <a16:creationId xmlns:a16="http://schemas.microsoft.com/office/drawing/2014/main" id="{1ADC0D67-583E-4336-9A97-0DC024BD9334}"/>
              </a:ext>
            </a:extLst>
          </p:cNvPr>
          <p:cNvCxnSpPr/>
          <p:nvPr/>
        </p:nvCxnSpPr>
        <p:spPr>
          <a:xfrm>
            <a:off x="695325" y="1666875"/>
            <a:ext cx="247650" cy="0"/>
          </a:xfrm>
          <a:prstGeom prst="straightConnector1">
            <a:avLst/>
          </a:prstGeom>
          <a:ln w="19050">
            <a:solidFill>
              <a:srgbClr val="315E87"/>
            </a:solidFill>
            <a:prstDash val="solid"/>
          </a:ln>
        </p:spPr>
      </p:cxnSp>
      <p:sp>
        <p:nvSpPr>
          <p:cNvPr id="13" name="text-40">
            <a:extLst>
              <a:ext uri="{FF2B5EF4-FFF2-40B4-BE49-F238E27FC236}">
                <a16:creationId xmlns:a16="http://schemas.microsoft.com/office/drawing/2014/main" id="{9B38D24F-9F99-499C-9FD3-DE6CAC388B49}"/>
              </a:ext>
            </a:extLst>
          </p:cNvPr>
          <p:cNvSpPr>
            <a:spLocks noGrp="1"/>
          </p:cNvSpPr>
          <p:nvPr/>
        </p:nvSpPr>
        <p:spPr>
          <a:xfrm>
            <a:off x="1190625" y="1438275"/>
            <a:ext cx="2771775" cy="371475"/>
          </a:xfrm>
          <a:prstGeom prst="rect">
            <a:avLst/>
          </a:prstGeom>
          <a:noFill/>
          <a:ln w="0">
            <a:noFill/>
          </a:ln>
        </p:spPr>
        <p:txBody>
          <a:bodyPr wrap="square" lIns="0" tIns="0" rIns="0" bIns="0" anchor="t">
            <a:noAutofit/>
          </a:bodyPr>
          <a:lstStyle>
            <a:defPPr algn="l">
              <a:defRPr sz="2175" b="1">
                <a:solidFill>
                  <a:srgbClr val="315E87"/>
                </a:solidFill>
                <a:latin typeface="Arial"/>
                <a:ea typeface="Arial"/>
                <a:cs typeface="Arial"/>
              </a:defRPr>
            </a:defPPr>
          </a:lstStyle>
          <a:p>
            <a:pPr algn="l">
              <a:lnSpc>
                <a:spcPct val="112000"/>
              </a:lnSpc>
              <a:buNone/>
              <a:defRPr sz="2175" b="1">
                <a:solidFill>
                  <a:srgbClr val="315E87"/>
                </a:solidFill>
                <a:latin typeface="Arial"/>
                <a:ea typeface="Arial"/>
                <a:cs typeface="Arial"/>
              </a:defRPr>
            </a:pPr>
            <a:r>
              <a:rPr sz="2175" b="1">
                <a:solidFill>
                  <a:srgbClr val="315E87"/>
                </a:solidFill>
                <a:latin typeface="Arial"/>
                <a:ea typeface="Arial"/>
                <a:cs typeface="Arial"/>
              </a:rPr>
              <a:t>GUI / browser</a:t>
            </a:r>
          </a:p>
        </p:txBody>
      </p:sp>
      <p:sp>
        <p:nvSpPr>
          <p:cNvPr id="14" name="shape-41">
            <a:extLst>
              <a:ext uri="{FF2B5EF4-FFF2-40B4-BE49-F238E27FC236}">
                <a16:creationId xmlns:a16="http://schemas.microsoft.com/office/drawing/2014/main" id="{4321E54B-ADB8-4A18-ACD5-A8122F95C4F7}"/>
              </a:ext>
            </a:extLst>
          </p:cNvPr>
          <p:cNvSpPr>
            <a:spLocks noGrp="1"/>
          </p:cNvSpPr>
          <p:nvPr/>
        </p:nvSpPr>
        <p:spPr>
          <a:xfrm>
            <a:off x="609600" y="2085975"/>
            <a:ext cx="3352800" cy="561975"/>
          </a:xfrm>
          <a:prstGeom prst="rect">
            <a:avLst/>
          </a:prstGeom>
          <a:solidFill>
            <a:srgbClr val="FFFFFF"/>
          </a:solidFill>
          <a:ln w="15240">
            <a:solidFill>
              <a:srgbClr val="315E87"/>
            </a:solidFill>
          </a:ln>
        </p:spPr>
      </p:sp>
      <p:sp>
        <p:nvSpPr>
          <p:cNvPr id="15" name="text-42">
            <a:extLst>
              <a:ext uri="{FF2B5EF4-FFF2-40B4-BE49-F238E27FC236}">
                <a16:creationId xmlns:a16="http://schemas.microsoft.com/office/drawing/2014/main" id="{24E624A0-4960-4CA5-B1C7-53DBD25BA350}"/>
              </a:ext>
            </a:extLst>
          </p:cNvPr>
          <p:cNvSpPr>
            <a:spLocks noGrp="1"/>
          </p:cNvSpPr>
          <p:nvPr/>
        </p:nvSpPr>
        <p:spPr>
          <a:xfrm>
            <a:off x="762000" y="2238947"/>
            <a:ext cx="3048000" cy="294132"/>
          </a:xfrm>
          <a:prstGeom prst="rect">
            <a:avLst/>
          </a:prstGeom>
          <a:noFill/>
          <a:ln w="0">
            <a:noFill/>
          </a:ln>
        </p:spPr>
        <p:txBody>
          <a:bodyPr wrap="square" lIns="0" tIns="0" rIns="0" bIns="0" anchor="t">
            <a:noAutofit/>
          </a:bodyPr>
          <a:lstStyle>
            <a:defPPr algn="ctr">
              <a:defRPr sz="1800" b="1">
                <a:solidFill>
                  <a:srgbClr val="102A43"/>
                </a:solidFill>
                <a:latin typeface="Arial"/>
                <a:ea typeface="Arial"/>
                <a:cs typeface="Arial"/>
              </a:defRPr>
            </a:defPPr>
          </a:lstStyle>
          <a:p>
            <a:pPr algn="ctr">
              <a:lnSpc>
                <a:spcPct val="112000"/>
              </a:lnSpc>
              <a:buNone/>
              <a:defRPr sz="1800" b="1">
                <a:solidFill>
                  <a:srgbClr val="102A43"/>
                </a:solidFill>
                <a:latin typeface="Arial"/>
                <a:ea typeface="Arial"/>
                <a:cs typeface="Arial"/>
              </a:defRPr>
            </a:pPr>
            <a:r>
              <a:rPr sz="1800" b="1">
                <a:solidFill>
                  <a:srgbClr val="102A43"/>
                </a:solidFill>
                <a:latin typeface="Arial"/>
                <a:ea typeface="Arial"/>
                <a:cs typeface="Arial"/>
              </a:rPr>
              <a:t>Page observation</a:t>
            </a:r>
          </a:p>
        </p:txBody>
      </p:sp>
      <p:sp>
        <p:nvSpPr>
          <p:cNvPr id="16" name="shape-43">
            <a:extLst>
              <a:ext uri="{FF2B5EF4-FFF2-40B4-BE49-F238E27FC236}">
                <a16:creationId xmlns:a16="http://schemas.microsoft.com/office/drawing/2014/main" id="{1E933656-2548-42A7-B640-86A5CC542E5A}"/>
              </a:ext>
            </a:extLst>
          </p:cNvPr>
          <p:cNvSpPr>
            <a:spLocks noGrp="1"/>
          </p:cNvSpPr>
          <p:nvPr/>
        </p:nvSpPr>
        <p:spPr>
          <a:xfrm>
            <a:off x="609600" y="2924175"/>
            <a:ext cx="3352800" cy="561975"/>
          </a:xfrm>
          <a:prstGeom prst="rect">
            <a:avLst/>
          </a:prstGeom>
          <a:solidFill>
            <a:srgbClr val="FFFFFF"/>
          </a:solidFill>
          <a:ln w="15240">
            <a:solidFill>
              <a:srgbClr val="315E87"/>
            </a:solidFill>
          </a:ln>
        </p:spPr>
      </p:sp>
      <p:sp>
        <p:nvSpPr>
          <p:cNvPr id="17" name="text-44">
            <a:extLst>
              <a:ext uri="{FF2B5EF4-FFF2-40B4-BE49-F238E27FC236}">
                <a16:creationId xmlns:a16="http://schemas.microsoft.com/office/drawing/2014/main" id="{32515234-9418-4C25-8A18-9EABE3A18CD4}"/>
              </a:ext>
            </a:extLst>
          </p:cNvPr>
          <p:cNvSpPr>
            <a:spLocks noGrp="1"/>
          </p:cNvSpPr>
          <p:nvPr/>
        </p:nvSpPr>
        <p:spPr>
          <a:xfrm>
            <a:off x="762000" y="3077147"/>
            <a:ext cx="3048000" cy="294132"/>
          </a:xfrm>
          <a:prstGeom prst="rect">
            <a:avLst/>
          </a:prstGeom>
          <a:noFill/>
          <a:ln w="0">
            <a:noFill/>
          </a:ln>
        </p:spPr>
        <p:txBody>
          <a:bodyPr wrap="square" lIns="0" tIns="0" rIns="0" bIns="0" anchor="t">
            <a:noAutofit/>
          </a:bodyPr>
          <a:lstStyle>
            <a:defPPr algn="ctr">
              <a:defRPr sz="1800" b="1">
                <a:solidFill>
                  <a:srgbClr val="102A43"/>
                </a:solidFill>
                <a:latin typeface="Arial"/>
                <a:ea typeface="Arial"/>
                <a:cs typeface="Arial"/>
              </a:defRPr>
            </a:defPPr>
          </a:lstStyle>
          <a:p>
            <a:pPr algn="ctr">
              <a:lnSpc>
                <a:spcPct val="112000"/>
              </a:lnSpc>
              <a:buNone/>
              <a:defRPr sz="1800" b="1">
                <a:solidFill>
                  <a:srgbClr val="102A43"/>
                </a:solidFill>
                <a:latin typeface="Arial"/>
                <a:ea typeface="Arial"/>
                <a:cs typeface="Arial"/>
              </a:defRPr>
            </a:pPr>
            <a:r>
              <a:rPr sz="1800" b="1">
                <a:solidFill>
                  <a:srgbClr val="102A43"/>
                </a:solidFill>
                <a:latin typeface="Arial"/>
                <a:ea typeface="Arial"/>
                <a:cs typeface="Arial"/>
              </a:rPr>
              <a:t>Click, type or scroll</a:t>
            </a:r>
          </a:p>
        </p:txBody>
      </p:sp>
      <p:sp>
        <p:nvSpPr>
          <p:cNvPr id="18" name="shape-45">
            <a:extLst>
              <a:ext uri="{FF2B5EF4-FFF2-40B4-BE49-F238E27FC236}">
                <a16:creationId xmlns:a16="http://schemas.microsoft.com/office/drawing/2014/main" id="{088160C0-B642-4FB5-B312-F50720D2B050}"/>
              </a:ext>
            </a:extLst>
          </p:cNvPr>
          <p:cNvSpPr>
            <a:spLocks noGrp="1"/>
          </p:cNvSpPr>
          <p:nvPr/>
        </p:nvSpPr>
        <p:spPr>
          <a:xfrm>
            <a:off x="609600" y="3762375"/>
            <a:ext cx="3352800" cy="561975"/>
          </a:xfrm>
          <a:prstGeom prst="rect">
            <a:avLst/>
          </a:prstGeom>
          <a:solidFill>
            <a:srgbClr val="FFFFFF"/>
          </a:solidFill>
          <a:ln w="15240">
            <a:solidFill>
              <a:srgbClr val="315E87"/>
            </a:solidFill>
          </a:ln>
        </p:spPr>
      </p:sp>
      <p:sp>
        <p:nvSpPr>
          <p:cNvPr id="19" name="text-46">
            <a:extLst>
              <a:ext uri="{FF2B5EF4-FFF2-40B4-BE49-F238E27FC236}">
                <a16:creationId xmlns:a16="http://schemas.microsoft.com/office/drawing/2014/main" id="{2F6D3BE8-27B6-4020-B138-7211DEBA5C4A}"/>
              </a:ext>
            </a:extLst>
          </p:cNvPr>
          <p:cNvSpPr>
            <a:spLocks noGrp="1"/>
          </p:cNvSpPr>
          <p:nvPr/>
        </p:nvSpPr>
        <p:spPr>
          <a:xfrm>
            <a:off x="762000" y="3915347"/>
            <a:ext cx="3048000" cy="294132"/>
          </a:xfrm>
          <a:prstGeom prst="rect">
            <a:avLst/>
          </a:prstGeom>
          <a:noFill/>
          <a:ln w="0">
            <a:noFill/>
          </a:ln>
        </p:spPr>
        <p:txBody>
          <a:bodyPr wrap="square" lIns="0" tIns="0" rIns="0" bIns="0" anchor="t">
            <a:noAutofit/>
          </a:bodyPr>
          <a:lstStyle>
            <a:defPPr algn="ctr">
              <a:defRPr sz="1800" b="1">
                <a:solidFill>
                  <a:srgbClr val="102A43"/>
                </a:solidFill>
                <a:latin typeface="Arial"/>
                <a:ea typeface="Arial"/>
                <a:cs typeface="Arial"/>
              </a:defRPr>
            </a:defPPr>
          </a:lstStyle>
          <a:p>
            <a:pPr algn="ctr">
              <a:lnSpc>
                <a:spcPct val="112000"/>
              </a:lnSpc>
              <a:buNone/>
              <a:defRPr sz="1800" b="1">
                <a:solidFill>
                  <a:srgbClr val="102A43"/>
                </a:solidFill>
                <a:latin typeface="Arial"/>
                <a:ea typeface="Arial"/>
                <a:cs typeface="Arial"/>
              </a:defRPr>
            </a:pPr>
            <a:r>
              <a:rPr sz="1800" b="1">
                <a:solidFill>
                  <a:srgbClr val="102A43"/>
                </a:solidFill>
                <a:latin typeface="Arial"/>
                <a:ea typeface="Arial"/>
                <a:cs typeface="Arial"/>
              </a:rPr>
              <a:t>Updated page</a:t>
            </a:r>
          </a:p>
        </p:txBody>
      </p:sp>
      <p:sp>
        <p:nvSpPr>
          <p:cNvPr id="22" name="text-47">
            <a:extLst>
              <a:ext uri="{FF2B5EF4-FFF2-40B4-BE49-F238E27FC236}">
                <a16:creationId xmlns:a16="http://schemas.microsoft.com/office/drawing/2014/main" id="{CEE4EF01-D87E-4668-B68B-108E044ADF85}"/>
              </a:ext>
            </a:extLst>
          </p:cNvPr>
          <p:cNvSpPr>
            <a:spLocks noGrp="1"/>
          </p:cNvSpPr>
          <p:nvPr/>
        </p:nvSpPr>
        <p:spPr>
          <a:xfrm>
            <a:off x="609600" y="4695825"/>
            <a:ext cx="3352800" cy="619125"/>
          </a:xfrm>
          <a:prstGeom prst="rect">
            <a:avLst/>
          </a:prstGeom>
          <a:noFill/>
          <a:ln w="0">
            <a:noFill/>
          </a:ln>
        </p:spPr>
        <p:txBody>
          <a:bodyPr wrap="square" lIns="0" tIns="0" rIns="0" bIns="0" anchor="t">
            <a:noAutofit/>
          </a:bodyPr>
          <a:lstStyle>
            <a:defPPr algn="l">
              <a:defRPr sz="1725" b="0">
                <a:solidFill>
                  <a:srgbClr val="17324A"/>
                </a:solidFill>
                <a:latin typeface="Arial"/>
                <a:ea typeface="Arial"/>
                <a:cs typeface="Arial"/>
              </a:defRPr>
            </a:defPPr>
          </a:lstStyle>
          <a:p>
            <a:pPr algn="l">
              <a:lnSpc>
                <a:spcPct val="112000"/>
              </a:lnSpc>
              <a:buNone/>
              <a:defRPr sz="1725" b="0">
                <a:solidFill>
                  <a:srgbClr val="17324A"/>
                </a:solidFill>
                <a:latin typeface="Arial"/>
                <a:ea typeface="Arial"/>
                <a:cs typeface="Arial"/>
              </a:defRPr>
            </a:pPr>
            <a:r>
              <a:rPr sz="1725" b="0">
                <a:solidFill>
                  <a:srgbClr val="17324A"/>
                </a:solidFill>
                <a:latin typeface="Arial"/>
                <a:ea typeface="Arial"/>
                <a:cs typeface="Arial"/>
              </a:rPr>
              <a:t>Operates visible page controls.</a:t>
            </a:r>
          </a:p>
        </p:txBody>
      </p:sp>
      <p:sp>
        <p:nvSpPr>
          <p:cNvPr id="23" name="text-48">
            <a:extLst>
              <a:ext uri="{FF2B5EF4-FFF2-40B4-BE49-F238E27FC236}">
                <a16:creationId xmlns:a16="http://schemas.microsoft.com/office/drawing/2014/main" id="{CB164CBF-804F-4F7D-A46E-28F54464748C}"/>
              </a:ext>
            </a:extLst>
          </p:cNvPr>
          <p:cNvSpPr>
            <a:spLocks noGrp="1"/>
          </p:cNvSpPr>
          <p:nvPr/>
        </p:nvSpPr>
        <p:spPr>
          <a:xfrm>
            <a:off x="609600" y="5400675"/>
            <a:ext cx="3352800" cy="361950"/>
          </a:xfrm>
          <a:prstGeom prst="rect">
            <a:avLst/>
          </a:prstGeom>
          <a:noFill/>
          <a:ln w="0">
            <a:noFill/>
          </a:ln>
        </p:spPr>
        <p:txBody>
          <a:bodyPr wrap="square" lIns="0" tIns="0" rIns="0" bIns="0" anchor="t">
            <a:noAutofit/>
          </a:bodyPr>
          <a:lstStyle>
            <a:defPPr algn="l">
              <a:defRPr sz="1875" b="1">
                <a:solidFill>
                  <a:srgbClr val="315E87"/>
                </a:solidFill>
                <a:latin typeface="Arial"/>
                <a:ea typeface="Arial"/>
                <a:cs typeface="Arial"/>
              </a:defRPr>
            </a:defPPr>
          </a:lstStyle>
          <a:p>
            <a:pPr algn="l">
              <a:lnSpc>
                <a:spcPct val="112000"/>
              </a:lnSpc>
              <a:buNone/>
              <a:defRPr sz="1875" b="1">
                <a:solidFill>
                  <a:srgbClr val="315E87"/>
                </a:solidFill>
                <a:latin typeface="Arial"/>
                <a:ea typeface="Arial"/>
                <a:cs typeface="Arial"/>
              </a:defRPr>
            </a:pPr>
            <a:r>
              <a:rPr sz="1875" b="1">
                <a:solidFill>
                  <a:srgbClr val="315E87"/>
                </a:solidFill>
                <a:latin typeface="Arial"/>
                <a:ea typeface="Arial"/>
                <a:cs typeface="Arial"/>
              </a:rPr>
              <a:t>WebVoyager</a:t>
            </a:r>
          </a:p>
        </p:txBody>
      </p:sp>
      <p:sp>
        <p:nvSpPr>
          <p:cNvPr id="24" name="citation-49">
            <a:extLst>
              <a:ext uri="{FF2B5EF4-FFF2-40B4-BE49-F238E27FC236}">
                <a16:creationId xmlns:a16="http://schemas.microsoft.com/office/drawing/2014/main" id="{B763EA7F-0CFE-44BD-A42B-53571685739F}"/>
              </a:ext>
            </a:extLst>
          </p:cNvPr>
          <p:cNvSpPr>
            <a:spLocks noGrp="1"/>
          </p:cNvSpPr>
          <p:nvPr/>
        </p:nvSpPr>
        <p:spPr>
          <a:xfrm>
            <a:off x="2077593" y="5334000"/>
            <a:ext cx="495300" cy="266700"/>
          </a:xfrm>
          <a:prstGeom prst="rect">
            <a:avLst/>
          </a:prstGeom>
          <a:noFill/>
          <a:ln w="0">
            <a:noFill/>
          </a:ln>
        </p:spPr>
        <p:txBody>
          <a:bodyPr wrap="square" lIns="0" tIns="0" rIns="0" bIns="0" anchor="t">
            <a:noAutofit/>
          </a:bodyPr>
          <a:lstStyle>
            <a:defPPr algn="l">
              <a:defRPr sz="1500" b="1">
                <a:solidFill>
                  <a:srgbClr val="315E87"/>
                </a:solidFill>
                <a:latin typeface="Arial"/>
                <a:ea typeface="Arial"/>
                <a:cs typeface="Arial"/>
              </a:defRPr>
            </a:defPPr>
          </a:lstStyle>
          <a:p>
            <a:pPr algn="l">
              <a:lnSpc>
                <a:spcPct val="112000"/>
              </a:lnSpc>
              <a:buNone/>
              <a:defRPr sz="1500" b="1">
                <a:solidFill>
                  <a:srgbClr val="315E87"/>
                </a:solidFill>
                <a:latin typeface="Arial"/>
                <a:ea typeface="Arial"/>
                <a:cs typeface="Arial"/>
              </a:defRPr>
            </a:pPr>
            <a:r>
              <a:rPr sz="1500" b="1">
                <a:solidFill>
                  <a:srgbClr val="315E87"/>
                </a:solidFill>
                <a:latin typeface="Arial"/>
                <a:ea typeface="Arial"/>
                <a:cs typeface="Arial"/>
              </a:rPr>
              <a:t>1</a:t>
            </a:r>
          </a:p>
        </p:txBody>
      </p:sp>
      <p:sp>
        <p:nvSpPr>
          <p:cNvPr id="25" name="text-50">
            <a:extLst>
              <a:ext uri="{FF2B5EF4-FFF2-40B4-BE49-F238E27FC236}">
                <a16:creationId xmlns:a16="http://schemas.microsoft.com/office/drawing/2014/main" id="{26263F28-E9B2-42C0-BFFE-61B23A4E1A34}"/>
              </a:ext>
            </a:extLst>
          </p:cNvPr>
          <p:cNvSpPr>
            <a:spLocks noGrp="1"/>
          </p:cNvSpPr>
          <p:nvPr/>
        </p:nvSpPr>
        <p:spPr>
          <a:xfrm>
            <a:off x="609600" y="5829300"/>
            <a:ext cx="3352800" cy="333375"/>
          </a:xfrm>
          <a:prstGeom prst="rect">
            <a:avLst/>
          </a:prstGeom>
          <a:noFill/>
          <a:ln w="0">
            <a:noFill/>
          </a:ln>
        </p:spPr>
        <p:txBody>
          <a:bodyPr wrap="square" lIns="0" tIns="0" rIns="0" bIns="0" anchor="t">
            <a:noAutofit/>
          </a:bodyPr>
          <a:lstStyle>
            <a:defPPr algn="l">
              <a:defRPr sz="1500" b="0">
                <a:solidFill>
                  <a:srgbClr val="4D6270"/>
                </a:solidFill>
                <a:latin typeface="Arial"/>
                <a:ea typeface="Arial"/>
                <a:cs typeface="Arial"/>
              </a:defRPr>
            </a:defPPr>
          </a:lstStyle>
          <a:p>
            <a:pPr algn="l">
              <a:lnSpc>
                <a:spcPct val="112000"/>
              </a:lnSpc>
              <a:buNone/>
              <a:defRPr sz="1500" b="0">
                <a:solidFill>
                  <a:srgbClr val="4D6270"/>
                </a:solidFill>
                <a:latin typeface="Arial"/>
                <a:ea typeface="Arial"/>
                <a:cs typeface="Arial"/>
              </a:defRPr>
            </a:pPr>
            <a:r>
              <a:rPr sz="1500" b="0">
                <a:solidFill>
                  <a:srgbClr val="4D6270"/>
                </a:solidFill>
                <a:latin typeface="Arial"/>
                <a:ea typeface="Arial"/>
                <a:cs typeface="Arial"/>
              </a:rPr>
              <a:t>Requires accurate UI grounding</a:t>
            </a:r>
          </a:p>
        </p:txBody>
      </p:sp>
      <p:sp>
        <p:nvSpPr>
          <p:cNvPr id="26" name="symbol-api-51">
            <a:extLst>
              <a:ext uri="{FF2B5EF4-FFF2-40B4-BE49-F238E27FC236}">
                <a16:creationId xmlns:a16="http://schemas.microsoft.com/office/drawing/2014/main" id="{D2C95453-645B-4047-9366-D4E44523DEB2}"/>
              </a:ext>
            </a:extLst>
          </p:cNvPr>
          <p:cNvSpPr>
            <a:spLocks noGrp="1"/>
          </p:cNvSpPr>
          <p:nvPr/>
        </p:nvSpPr>
        <p:spPr>
          <a:xfrm>
            <a:off x="4419600" y="1390650"/>
            <a:ext cx="419100" cy="419100"/>
          </a:xfrm>
          <a:prstGeom prst="hexagon">
            <a:avLst/>
          </a:prstGeom>
          <a:solidFill>
            <a:srgbClr val="FFFFFF"/>
          </a:solidFill>
          <a:ln w="19050">
            <a:solidFill>
              <a:srgbClr val="006D77"/>
            </a:solidFill>
          </a:ln>
        </p:spPr>
      </p:sp>
      <p:sp>
        <p:nvSpPr>
          <p:cNvPr id="27" name="text-52">
            <a:extLst>
              <a:ext uri="{FF2B5EF4-FFF2-40B4-BE49-F238E27FC236}">
                <a16:creationId xmlns:a16="http://schemas.microsoft.com/office/drawing/2014/main" id="{43004BAC-8365-4283-94E0-FA5CB0BBEE71}"/>
              </a:ext>
            </a:extLst>
          </p:cNvPr>
          <p:cNvSpPr>
            <a:spLocks noGrp="1"/>
          </p:cNvSpPr>
          <p:nvPr/>
        </p:nvSpPr>
        <p:spPr>
          <a:xfrm>
            <a:off x="4467225" y="1485900"/>
            <a:ext cx="323850" cy="285750"/>
          </a:xfrm>
          <a:prstGeom prst="rect">
            <a:avLst/>
          </a:prstGeom>
          <a:noFill/>
          <a:ln w="0">
            <a:noFill/>
          </a:ln>
        </p:spPr>
        <p:txBody>
          <a:bodyPr wrap="square" lIns="0" tIns="0" rIns="0" bIns="0" anchor="t">
            <a:noAutofit/>
          </a:bodyPr>
          <a:lstStyle>
            <a:defPPr algn="ctr">
              <a:defRPr sz="1650" b="1">
                <a:solidFill>
                  <a:srgbClr val="006D77"/>
                </a:solidFill>
                <a:latin typeface="Arial"/>
                <a:ea typeface="Arial"/>
                <a:cs typeface="Arial"/>
              </a:defRPr>
            </a:defPPr>
          </a:lstStyle>
          <a:p>
            <a:pPr algn="ctr">
              <a:lnSpc>
                <a:spcPct val="112000"/>
              </a:lnSpc>
              <a:buNone/>
              <a:defRPr sz="1650" b="1">
                <a:solidFill>
                  <a:srgbClr val="006D77"/>
                </a:solidFill>
                <a:latin typeface="Arial"/>
                <a:ea typeface="Arial"/>
                <a:cs typeface="Arial"/>
              </a:defRPr>
            </a:pPr>
            <a:r>
              <a:rPr sz="1650" b="1">
                <a:solidFill>
                  <a:srgbClr val="006D77"/>
                </a:solidFill>
                <a:latin typeface="Arial"/>
                <a:ea typeface="Arial"/>
                <a:cs typeface="Arial"/>
              </a:rPr>
              <a:t>{ }</a:t>
            </a:r>
          </a:p>
        </p:txBody>
      </p:sp>
      <p:sp>
        <p:nvSpPr>
          <p:cNvPr id="28" name="text-53">
            <a:extLst>
              <a:ext uri="{FF2B5EF4-FFF2-40B4-BE49-F238E27FC236}">
                <a16:creationId xmlns:a16="http://schemas.microsoft.com/office/drawing/2014/main" id="{635741C7-5DC2-4F42-9FC3-1BEE414DE3D8}"/>
              </a:ext>
            </a:extLst>
          </p:cNvPr>
          <p:cNvSpPr>
            <a:spLocks noGrp="1"/>
          </p:cNvSpPr>
          <p:nvPr/>
        </p:nvSpPr>
        <p:spPr>
          <a:xfrm>
            <a:off x="5000625" y="1438275"/>
            <a:ext cx="2771775" cy="371475"/>
          </a:xfrm>
          <a:prstGeom prst="rect">
            <a:avLst/>
          </a:prstGeom>
          <a:noFill/>
          <a:ln w="0">
            <a:noFill/>
          </a:ln>
        </p:spPr>
        <p:txBody>
          <a:bodyPr wrap="square" lIns="0" tIns="0" rIns="0" bIns="0" anchor="t">
            <a:noAutofit/>
          </a:bodyPr>
          <a:lstStyle>
            <a:defPPr algn="l">
              <a:defRPr sz="2175" b="1">
                <a:solidFill>
                  <a:srgbClr val="006D77"/>
                </a:solidFill>
                <a:latin typeface="Arial"/>
                <a:ea typeface="Arial"/>
                <a:cs typeface="Arial"/>
              </a:defRPr>
            </a:defPPr>
          </a:lstStyle>
          <a:p>
            <a:pPr algn="l">
              <a:lnSpc>
                <a:spcPct val="112000"/>
              </a:lnSpc>
              <a:buNone/>
              <a:defRPr sz="2175" b="1">
                <a:solidFill>
                  <a:srgbClr val="006D77"/>
                </a:solidFill>
                <a:latin typeface="Arial"/>
                <a:ea typeface="Arial"/>
                <a:cs typeface="Arial"/>
              </a:defRPr>
            </a:pPr>
            <a:r>
              <a:rPr sz="2175" b="1">
                <a:solidFill>
                  <a:srgbClr val="006D77"/>
                </a:solidFill>
                <a:latin typeface="Arial"/>
                <a:ea typeface="Arial"/>
                <a:cs typeface="Arial"/>
              </a:rPr>
              <a:t>API / tool</a:t>
            </a:r>
          </a:p>
        </p:txBody>
      </p:sp>
      <p:sp>
        <p:nvSpPr>
          <p:cNvPr id="29" name="shape-54">
            <a:extLst>
              <a:ext uri="{FF2B5EF4-FFF2-40B4-BE49-F238E27FC236}">
                <a16:creationId xmlns:a16="http://schemas.microsoft.com/office/drawing/2014/main" id="{CF8CFED1-5108-4D53-9E8A-72B578C18577}"/>
              </a:ext>
            </a:extLst>
          </p:cNvPr>
          <p:cNvSpPr>
            <a:spLocks noGrp="1"/>
          </p:cNvSpPr>
          <p:nvPr/>
        </p:nvSpPr>
        <p:spPr>
          <a:xfrm>
            <a:off x="4419600" y="2085975"/>
            <a:ext cx="3352800" cy="561975"/>
          </a:xfrm>
          <a:prstGeom prst="rect">
            <a:avLst/>
          </a:prstGeom>
          <a:solidFill>
            <a:srgbClr val="FFFFFF"/>
          </a:solidFill>
          <a:ln w="15240">
            <a:solidFill>
              <a:srgbClr val="006D77"/>
            </a:solidFill>
          </a:ln>
        </p:spPr>
      </p:sp>
      <p:sp>
        <p:nvSpPr>
          <p:cNvPr id="30" name="text-55">
            <a:extLst>
              <a:ext uri="{FF2B5EF4-FFF2-40B4-BE49-F238E27FC236}">
                <a16:creationId xmlns:a16="http://schemas.microsoft.com/office/drawing/2014/main" id="{AF9C1349-2306-49DF-90E3-5122646AA811}"/>
              </a:ext>
            </a:extLst>
          </p:cNvPr>
          <p:cNvSpPr>
            <a:spLocks noGrp="1"/>
          </p:cNvSpPr>
          <p:nvPr/>
        </p:nvSpPr>
        <p:spPr>
          <a:xfrm>
            <a:off x="4572000" y="2238947"/>
            <a:ext cx="3048000" cy="294132"/>
          </a:xfrm>
          <a:prstGeom prst="rect">
            <a:avLst/>
          </a:prstGeom>
          <a:noFill/>
          <a:ln w="0">
            <a:noFill/>
          </a:ln>
        </p:spPr>
        <p:txBody>
          <a:bodyPr wrap="square" lIns="0" tIns="0" rIns="0" bIns="0" anchor="t">
            <a:noAutofit/>
          </a:bodyPr>
          <a:lstStyle>
            <a:defPPr algn="ctr">
              <a:defRPr sz="1800" b="1">
                <a:solidFill>
                  <a:srgbClr val="102A43"/>
                </a:solidFill>
                <a:latin typeface="Arial"/>
                <a:ea typeface="Arial"/>
                <a:cs typeface="Arial"/>
              </a:defRPr>
            </a:defPPr>
          </a:lstStyle>
          <a:p>
            <a:pPr algn="ctr">
              <a:lnSpc>
                <a:spcPct val="112000"/>
              </a:lnSpc>
              <a:buNone/>
              <a:defRPr sz="1800" b="1">
                <a:solidFill>
                  <a:srgbClr val="102A43"/>
                </a:solidFill>
                <a:latin typeface="Arial"/>
                <a:ea typeface="Arial"/>
                <a:cs typeface="Arial"/>
              </a:defRPr>
            </a:pPr>
            <a:r>
              <a:rPr sz="1800" b="1">
                <a:solidFill>
                  <a:srgbClr val="102A43"/>
                </a:solidFill>
                <a:latin typeface="Arial"/>
                <a:ea typeface="Arial"/>
                <a:cs typeface="Arial"/>
              </a:rPr>
              <a:t>API capabilities</a:t>
            </a:r>
          </a:p>
        </p:txBody>
      </p:sp>
      <p:sp>
        <p:nvSpPr>
          <p:cNvPr id="31" name="shape-56">
            <a:extLst>
              <a:ext uri="{FF2B5EF4-FFF2-40B4-BE49-F238E27FC236}">
                <a16:creationId xmlns:a16="http://schemas.microsoft.com/office/drawing/2014/main" id="{399DCD71-B0AD-4655-B556-50E55034BEB8}"/>
              </a:ext>
            </a:extLst>
          </p:cNvPr>
          <p:cNvSpPr>
            <a:spLocks noGrp="1"/>
          </p:cNvSpPr>
          <p:nvPr/>
        </p:nvSpPr>
        <p:spPr>
          <a:xfrm>
            <a:off x="4419600" y="2924175"/>
            <a:ext cx="3352800" cy="561975"/>
          </a:xfrm>
          <a:prstGeom prst="rect">
            <a:avLst/>
          </a:prstGeom>
          <a:solidFill>
            <a:srgbClr val="FFFFFF"/>
          </a:solidFill>
          <a:ln w="15240">
            <a:solidFill>
              <a:srgbClr val="006D77"/>
            </a:solidFill>
          </a:ln>
        </p:spPr>
      </p:sp>
      <p:sp>
        <p:nvSpPr>
          <p:cNvPr id="32" name="text-57">
            <a:extLst>
              <a:ext uri="{FF2B5EF4-FFF2-40B4-BE49-F238E27FC236}">
                <a16:creationId xmlns:a16="http://schemas.microsoft.com/office/drawing/2014/main" id="{DC83F5C6-D8AA-4CC0-85C8-4D4B05AEDE0E}"/>
              </a:ext>
            </a:extLst>
          </p:cNvPr>
          <p:cNvSpPr>
            <a:spLocks noGrp="1"/>
          </p:cNvSpPr>
          <p:nvPr/>
        </p:nvSpPr>
        <p:spPr>
          <a:xfrm>
            <a:off x="4572000" y="3077147"/>
            <a:ext cx="3048000" cy="294132"/>
          </a:xfrm>
          <a:prstGeom prst="rect">
            <a:avLst/>
          </a:prstGeom>
          <a:noFill/>
          <a:ln w="0">
            <a:noFill/>
          </a:ln>
        </p:spPr>
        <p:txBody>
          <a:bodyPr wrap="square" lIns="0" tIns="0" rIns="0" bIns="0" anchor="t">
            <a:noAutofit/>
          </a:bodyPr>
          <a:lstStyle>
            <a:defPPr algn="ctr">
              <a:defRPr sz="1800" b="1">
                <a:solidFill>
                  <a:srgbClr val="102A43"/>
                </a:solidFill>
                <a:latin typeface="Arial"/>
                <a:ea typeface="Arial"/>
                <a:cs typeface="Arial"/>
              </a:defRPr>
            </a:defPPr>
          </a:lstStyle>
          <a:p>
            <a:pPr algn="ctr">
              <a:lnSpc>
                <a:spcPct val="112000"/>
              </a:lnSpc>
              <a:buNone/>
              <a:defRPr sz="1800" b="1">
                <a:solidFill>
                  <a:srgbClr val="102A43"/>
                </a:solidFill>
                <a:latin typeface="Arial"/>
                <a:ea typeface="Arial"/>
                <a:cs typeface="Arial"/>
              </a:defRPr>
            </a:pPr>
            <a:r>
              <a:rPr sz="1800" b="1">
                <a:solidFill>
                  <a:srgbClr val="102A43"/>
                </a:solidFill>
                <a:latin typeface="Arial"/>
                <a:ea typeface="Arial"/>
                <a:cs typeface="Arial"/>
              </a:rPr>
              <a:t>Structured operation</a:t>
            </a:r>
          </a:p>
        </p:txBody>
      </p:sp>
      <p:sp>
        <p:nvSpPr>
          <p:cNvPr id="33" name="shape-58">
            <a:extLst>
              <a:ext uri="{FF2B5EF4-FFF2-40B4-BE49-F238E27FC236}">
                <a16:creationId xmlns:a16="http://schemas.microsoft.com/office/drawing/2014/main" id="{5D33B808-CA1B-4425-8002-715D697BCED9}"/>
              </a:ext>
            </a:extLst>
          </p:cNvPr>
          <p:cNvSpPr>
            <a:spLocks noGrp="1"/>
          </p:cNvSpPr>
          <p:nvPr/>
        </p:nvSpPr>
        <p:spPr>
          <a:xfrm>
            <a:off x="4419600" y="3762375"/>
            <a:ext cx="3352800" cy="561975"/>
          </a:xfrm>
          <a:prstGeom prst="rect">
            <a:avLst/>
          </a:prstGeom>
          <a:solidFill>
            <a:srgbClr val="FFFFFF"/>
          </a:solidFill>
          <a:ln w="15240">
            <a:solidFill>
              <a:srgbClr val="006D77"/>
            </a:solidFill>
          </a:ln>
        </p:spPr>
      </p:sp>
      <p:sp>
        <p:nvSpPr>
          <p:cNvPr id="34" name="text-59">
            <a:extLst>
              <a:ext uri="{FF2B5EF4-FFF2-40B4-BE49-F238E27FC236}">
                <a16:creationId xmlns:a16="http://schemas.microsoft.com/office/drawing/2014/main" id="{BC62447C-BAD3-430E-8CF2-6F43EA92CE97}"/>
              </a:ext>
            </a:extLst>
          </p:cNvPr>
          <p:cNvSpPr>
            <a:spLocks noGrp="1"/>
          </p:cNvSpPr>
          <p:nvPr/>
        </p:nvSpPr>
        <p:spPr>
          <a:xfrm>
            <a:off x="4572000" y="3915347"/>
            <a:ext cx="3048000" cy="294132"/>
          </a:xfrm>
          <a:prstGeom prst="rect">
            <a:avLst/>
          </a:prstGeom>
          <a:noFill/>
          <a:ln w="0">
            <a:noFill/>
          </a:ln>
        </p:spPr>
        <p:txBody>
          <a:bodyPr wrap="square" lIns="0" tIns="0" rIns="0" bIns="0" anchor="t">
            <a:noAutofit/>
          </a:bodyPr>
          <a:lstStyle>
            <a:defPPr algn="ctr">
              <a:defRPr sz="1800" b="1">
                <a:solidFill>
                  <a:srgbClr val="102A43"/>
                </a:solidFill>
                <a:latin typeface="Arial"/>
                <a:ea typeface="Arial"/>
                <a:cs typeface="Arial"/>
              </a:defRPr>
            </a:defPPr>
          </a:lstStyle>
          <a:p>
            <a:pPr algn="ctr">
              <a:lnSpc>
                <a:spcPct val="112000"/>
              </a:lnSpc>
              <a:buNone/>
              <a:defRPr sz="1800" b="1">
                <a:solidFill>
                  <a:srgbClr val="102A43"/>
                </a:solidFill>
                <a:latin typeface="Arial"/>
                <a:ea typeface="Arial"/>
                <a:cs typeface="Arial"/>
              </a:defRPr>
            </a:pPr>
            <a:r>
              <a:rPr sz="1800" b="1">
                <a:solidFill>
                  <a:srgbClr val="102A43"/>
                </a:solidFill>
                <a:latin typeface="Arial"/>
                <a:ea typeface="Arial"/>
                <a:cs typeface="Arial"/>
              </a:rPr>
              <a:t>Service result</a:t>
            </a:r>
          </a:p>
        </p:txBody>
      </p:sp>
      <p:sp>
        <p:nvSpPr>
          <p:cNvPr id="37" name="text-60">
            <a:extLst>
              <a:ext uri="{FF2B5EF4-FFF2-40B4-BE49-F238E27FC236}">
                <a16:creationId xmlns:a16="http://schemas.microsoft.com/office/drawing/2014/main" id="{35CA780C-0238-4120-8209-479901D0AA96}"/>
              </a:ext>
            </a:extLst>
          </p:cNvPr>
          <p:cNvSpPr>
            <a:spLocks noGrp="1"/>
          </p:cNvSpPr>
          <p:nvPr/>
        </p:nvSpPr>
        <p:spPr>
          <a:xfrm>
            <a:off x="4419600" y="4695825"/>
            <a:ext cx="3352800" cy="619125"/>
          </a:xfrm>
          <a:prstGeom prst="rect">
            <a:avLst/>
          </a:prstGeom>
          <a:noFill/>
          <a:ln w="0">
            <a:noFill/>
          </a:ln>
        </p:spPr>
        <p:txBody>
          <a:bodyPr wrap="square" lIns="0" tIns="0" rIns="0" bIns="0" anchor="t">
            <a:noAutofit/>
          </a:bodyPr>
          <a:lstStyle>
            <a:defPPr algn="l">
              <a:defRPr sz="1725" b="0">
                <a:solidFill>
                  <a:srgbClr val="17324A"/>
                </a:solidFill>
                <a:latin typeface="Arial"/>
                <a:ea typeface="Arial"/>
                <a:cs typeface="Arial"/>
              </a:defRPr>
            </a:defPPr>
          </a:lstStyle>
          <a:p>
            <a:pPr algn="l">
              <a:lnSpc>
                <a:spcPct val="112000"/>
              </a:lnSpc>
              <a:buNone/>
              <a:defRPr sz="1725" b="0">
                <a:solidFill>
                  <a:srgbClr val="17324A"/>
                </a:solidFill>
                <a:latin typeface="Arial"/>
                <a:ea typeface="Arial"/>
                <a:cs typeface="Arial"/>
              </a:defRPr>
            </a:pPr>
            <a:r>
              <a:rPr sz="1725" b="0">
                <a:solidFill>
                  <a:srgbClr val="17324A"/>
                </a:solidFill>
                <a:latin typeface="Arial"/>
                <a:ea typeface="Arial"/>
                <a:cs typeface="Arial"/>
              </a:rPr>
              <a:t>Invokes defined service operations.</a:t>
            </a:r>
          </a:p>
        </p:txBody>
      </p:sp>
      <p:sp>
        <p:nvSpPr>
          <p:cNvPr id="38" name="text-61">
            <a:extLst>
              <a:ext uri="{FF2B5EF4-FFF2-40B4-BE49-F238E27FC236}">
                <a16:creationId xmlns:a16="http://schemas.microsoft.com/office/drawing/2014/main" id="{1CBE79A3-9252-4FAA-8F33-9FDE205A9A62}"/>
              </a:ext>
            </a:extLst>
          </p:cNvPr>
          <p:cNvSpPr>
            <a:spLocks noGrp="1"/>
          </p:cNvSpPr>
          <p:nvPr/>
        </p:nvSpPr>
        <p:spPr>
          <a:xfrm>
            <a:off x="4419600" y="5400675"/>
            <a:ext cx="3352800" cy="361950"/>
          </a:xfrm>
          <a:prstGeom prst="rect">
            <a:avLst/>
          </a:prstGeom>
          <a:noFill/>
          <a:ln w="0">
            <a:noFill/>
          </a:ln>
        </p:spPr>
        <p:txBody>
          <a:bodyPr wrap="square" lIns="0" tIns="0" rIns="0" bIns="0" anchor="t">
            <a:noAutofit/>
          </a:bodyPr>
          <a:lstStyle>
            <a:defPPr algn="l">
              <a:defRPr sz="1875" b="1">
                <a:solidFill>
                  <a:srgbClr val="006D77"/>
                </a:solidFill>
                <a:latin typeface="Arial"/>
                <a:ea typeface="Arial"/>
                <a:cs typeface="Arial"/>
              </a:defRPr>
            </a:defPPr>
          </a:lstStyle>
          <a:p>
            <a:pPr algn="l">
              <a:lnSpc>
                <a:spcPct val="112000"/>
              </a:lnSpc>
              <a:buNone/>
              <a:defRPr sz="1875" b="1">
                <a:solidFill>
                  <a:srgbClr val="006D77"/>
                </a:solidFill>
                <a:latin typeface="Arial"/>
                <a:ea typeface="Arial"/>
                <a:cs typeface="Arial"/>
              </a:defRPr>
            </a:pPr>
            <a:r>
              <a:rPr sz="1875" b="1">
                <a:solidFill>
                  <a:srgbClr val="006D77"/>
                </a:solidFill>
                <a:latin typeface="Arial"/>
                <a:ea typeface="Arial"/>
                <a:cs typeface="Arial"/>
              </a:rPr>
              <a:t>Beyond Browsing</a:t>
            </a:r>
          </a:p>
        </p:txBody>
      </p:sp>
      <p:sp>
        <p:nvSpPr>
          <p:cNvPr id="39" name="citation-62">
            <a:extLst>
              <a:ext uri="{FF2B5EF4-FFF2-40B4-BE49-F238E27FC236}">
                <a16:creationId xmlns:a16="http://schemas.microsoft.com/office/drawing/2014/main" id="{7EAA6D63-006C-45B9-A127-48477E6639C4}"/>
              </a:ext>
            </a:extLst>
          </p:cNvPr>
          <p:cNvSpPr>
            <a:spLocks noGrp="1"/>
          </p:cNvSpPr>
          <p:nvPr/>
        </p:nvSpPr>
        <p:spPr>
          <a:xfrm>
            <a:off x="6491383" y="5334000"/>
            <a:ext cx="495300" cy="266700"/>
          </a:xfrm>
          <a:prstGeom prst="rect">
            <a:avLst/>
          </a:prstGeom>
          <a:noFill/>
          <a:ln w="0">
            <a:noFill/>
          </a:ln>
        </p:spPr>
        <p:txBody>
          <a:bodyPr wrap="square" lIns="0" tIns="0" rIns="0" bIns="0" anchor="t">
            <a:noAutofit/>
          </a:bodyPr>
          <a:lstStyle>
            <a:defPPr algn="l">
              <a:defRPr sz="1500" b="1">
                <a:solidFill>
                  <a:srgbClr val="006D77"/>
                </a:solidFill>
                <a:latin typeface="Arial"/>
                <a:ea typeface="Arial"/>
                <a:cs typeface="Arial"/>
              </a:defRPr>
            </a:defPPr>
          </a:lstStyle>
          <a:p>
            <a:pPr algn="l">
              <a:lnSpc>
                <a:spcPct val="112000"/>
              </a:lnSpc>
              <a:buNone/>
              <a:defRPr sz="1500" b="1">
                <a:solidFill>
                  <a:srgbClr val="006D77"/>
                </a:solidFill>
                <a:latin typeface="Arial"/>
                <a:ea typeface="Arial"/>
                <a:cs typeface="Arial"/>
              </a:defRPr>
            </a:pPr>
            <a:r>
              <a:rPr sz="1500" b="1">
                <a:solidFill>
                  <a:srgbClr val="006D77"/>
                </a:solidFill>
                <a:latin typeface="Arial"/>
                <a:ea typeface="Arial"/>
                <a:cs typeface="Arial"/>
              </a:rPr>
              <a:t>2</a:t>
            </a:r>
          </a:p>
        </p:txBody>
      </p:sp>
      <p:sp>
        <p:nvSpPr>
          <p:cNvPr id="40" name="text-63">
            <a:extLst>
              <a:ext uri="{FF2B5EF4-FFF2-40B4-BE49-F238E27FC236}">
                <a16:creationId xmlns:a16="http://schemas.microsoft.com/office/drawing/2014/main" id="{5ED0C71C-9AF8-4966-87B7-41AD8EBA98BD}"/>
              </a:ext>
            </a:extLst>
          </p:cNvPr>
          <p:cNvSpPr>
            <a:spLocks noGrp="1"/>
          </p:cNvSpPr>
          <p:nvPr/>
        </p:nvSpPr>
        <p:spPr>
          <a:xfrm>
            <a:off x="4419600" y="5829300"/>
            <a:ext cx="3352800" cy="333375"/>
          </a:xfrm>
          <a:prstGeom prst="rect">
            <a:avLst/>
          </a:prstGeom>
          <a:noFill/>
          <a:ln w="0">
            <a:noFill/>
          </a:ln>
        </p:spPr>
        <p:txBody>
          <a:bodyPr wrap="square" lIns="0" tIns="0" rIns="0" bIns="0" anchor="t">
            <a:noAutofit/>
          </a:bodyPr>
          <a:lstStyle>
            <a:defPPr algn="l">
              <a:defRPr sz="1500" b="0">
                <a:solidFill>
                  <a:srgbClr val="4D6270"/>
                </a:solidFill>
                <a:latin typeface="Arial"/>
                <a:ea typeface="Arial"/>
                <a:cs typeface="Arial"/>
              </a:defRPr>
            </a:defPPr>
          </a:lstStyle>
          <a:p>
            <a:pPr algn="l">
              <a:lnSpc>
                <a:spcPct val="112000"/>
              </a:lnSpc>
              <a:buNone/>
              <a:defRPr sz="1500" b="0">
                <a:solidFill>
                  <a:srgbClr val="4D6270"/>
                </a:solidFill>
                <a:latin typeface="Arial"/>
                <a:ea typeface="Arial"/>
                <a:cs typeface="Arial"/>
              </a:defRPr>
            </a:pPr>
            <a:r>
              <a:rPr sz="1500" b="0">
                <a:solidFill>
                  <a:srgbClr val="4D6270"/>
                </a:solidFill>
                <a:latin typeface="Arial"/>
                <a:ea typeface="Arial"/>
                <a:cs typeface="Arial"/>
              </a:rPr>
              <a:t>Depends on API coverage</a:t>
            </a:r>
          </a:p>
        </p:txBody>
      </p:sp>
      <p:sp>
        <p:nvSpPr>
          <p:cNvPr id="41" name="symbol-browser-64">
            <a:extLst>
              <a:ext uri="{FF2B5EF4-FFF2-40B4-BE49-F238E27FC236}">
                <a16:creationId xmlns:a16="http://schemas.microsoft.com/office/drawing/2014/main" id="{B71E8088-C522-47F8-84D9-F50D550ADBF6}"/>
              </a:ext>
            </a:extLst>
          </p:cNvPr>
          <p:cNvSpPr>
            <a:spLocks noGrp="1"/>
          </p:cNvSpPr>
          <p:nvPr/>
        </p:nvSpPr>
        <p:spPr>
          <a:xfrm>
            <a:off x="8229600" y="1428750"/>
            <a:ext cx="419100" cy="310134"/>
          </a:xfrm>
          <a:prstGeom prst="roundRect">
            <a:avLst>
              <a:gd name="adj" fmla="val 24570"/>
            </a:avLst>
          </a:prstGeom>
          <a:solidFill>
            <a:srgbClr val="FFFFFF"/>
          </a:solidFill>
          <a:ln w="19050">
            <a:solidFill>
              <a:srgbClr val="A4630B"/>
            </a:solidFill>
          </a:ln>
        </p:spPr>
      </p:sp>
      <p:cxnSp>
        <p:nvCxnSpPr>
          <p:cNvPr id="42" name="link-65">
            <a:extLst>
              <a:ext uri="{FF2B5EF4-FFF2-40B4-BE49-F238E27FC236}">
                <a16:creationId xmlns:a16="http://schemas.microsoft.com/office/drawing/2014/main" id="{CF1B3A78-12ED-4317-AC4A-93C6C1AB46B9}"/>
              </a:ext>
            </a:extLst>
          </p:cNvPr>
          <p:cNvCxnSpPr/>
          <p:nvPr/>
        </p:nvCxnSpPr>
        <p:spPr>
          <a:xfrm>
            <a:off x="8229600" y="1562100"/>
            <a:ext cx="419100" cy="0"/>
          </a:xfrm>
          <a:prstGeom prst="straightConnector1">
            <a:avLst/>
          </a:prstGeom>
          <a:ln w="19050">
            <a:solidFill>
              <a:srgbClr val="A4630B"/>
            </a:solidFill>
            <a:prstDash val="solid"/>
          </a:ln>
        </p:spPr>
      </p:cxnSp>
      <p:sp>
        <p:nvSpPr>
          <p:cNvPr id="43" name="symbol-browser-66">
            <a:extLst>
              <a:ext uri="{FF2B5EF4-FFF2-40B4-BE49-F238E27FC236}">
                <a16:creationId xmlns:a16="http://schemas.microsoft.com/office/drawing/2014/main" id="{108A7DEE-4408-493D-8A38-CA4C7C1178E4}"/>
              </a:ext>
            </a:extLst>
          </p:cNvPr>
          <p:cNvSpPr>
            <a:spLocks noGrp="1"/>
          </p:cNvSpPr>
          <p:nvPr/>
        </p:nvSpPr>
        <p:spPr>
          <a:xfrm>
            <a:off x="8305800" y="1476375"/>
            <a:ext cx="28575" cy="28575"/>
          </a:xfrm>
          <a:prstGeom prst="ellipse">
            <a:avLst/>
          </a:prstGeom>
          <a:solidFill>
            <a:srgbClr val="A4630B"/>
          </a:solidFill>
          <a:ln w="19050">
            <a:solidFill>
              <a:srgbClr val="A4630B"/>
            </a:solidFill>
          </a:ln>
        </p:spPr>
      </p:sp>
      <p:sp>
        <p:nvSpPr>
          <p:cNvPr id="44" name="symbol-browser-67">
            <a:extLst>
              <a:ext uri="{FF2B5EF4-FFF2-40B4-BE49-F238E27FC236}">
                <a16:creationId xmlns:a16="http://schemas.microsoft.com/office/drawing/2014/main" id="{AA5B64FE-E9D0-453D-B67D-84CF245B506A}"/>
              </a:ext>
            </a:extLst>
          </p:cNvPr>
          <p:cNvSpPr>
            <a:spLocks noGrp="1"/>
          </p:cNvSpPr>
          <p:nvPr/>
        </p:nvSpPr>
        <p:spPr>
          <a:xfrm>
            <a:off x="8382000" y="1476375"/>
            <a:ext cx="28575" cy="28575"/>
          </a:xfrm>
          <a:prstGeom prst="ellipse">
            <a:avLst/>
          </a:prstGeom>
          <a:solidFill>
            <a:srgbClr val="A4630B"/>
          </a:solidFill>
          <a:ln w="19050">
            <a:solidFill>
              <a:srgbClr val="A4630B"/>
            </a:solidFill>
          </a:ln>
        </p:spPr>
      </p:sp>
      <p:sp>
        <p:nvSpPr>
          <p:cNvPr id="45" name="symbol-browser-68">
            <a:extLst>
              <a:ext uri="{FF2B5EF4-FFF2-40B4-BE49-F238E27FC236}">
                <a16:creationId xmlns:a16="http://schemas.microsoft.com/office/drawing/2014/main" id="{9EBEE955-A311-41BD-9B50-9DC8E652E0BE}"/>
              </a:ext>
            </a:extLst>
          </p:cNvPr>
          <p:cNvSpPr>
            <a:spLocks noGrp="1"/>
          </p:cNvSpPr>
          <p:nvPr/>
        </p:nvSpPr>
        <p:spPr>
          <a:xfrm>
            <a:off x="8458200" y="1476375"/>
            <a:ext cx="28575" cy="28575"/>
          </a:xfrm>
          <a:prstGeom prst="ellipse">
            <a:avLst/>
          </a:prstGeom>
          <a:solidFill>
            <a:srgbClr val="A4630B"/>
          </a:solidFill>
          <a:ln w="19050">
            <a:solidFill>
              <a:srgbClr val="A4630B"/>
            </a:solidFill>
          </a:ln>
        </p:spPr>
      </p:sp>
      <p:cxnSp>
        <p:nvCxnSpPr>
          <p:cNvPr id="46" name="link-69">
            <a:extLst>
              <a:ext uri="{FF2B5EF4-FFF2-40B4-BE49-F238E27FC236}">
                <a16:creationId xmlns:a16="http://schemas.microsoft.com/office/drawing/2014/main" id="{2A0CF5E7-C865-4B74-81FC-2FCD8BF3F7AC}"/>
              </a:ext>
            </a:extLst>
          </p:cNvPr>
          <p:cNvCxnSpPr/>
          <p:nvPr/>
        </p:nvCxnSpPr>
        <p:spPr>
          <a:xfrm>
            <a:off x="8315325" y="1666875"/>
            <a:ext cx="247650" cy="0"/>
          </a:xfrm>
          <a:prstGeom prst="straightConnector1">
            <a:avLst/>
          </a:prstGeom>
          <a:ln w="19050">
            <a:solidFill>
              <a:srgbClr val="A4630B"/>
            </a:solidFill>
            <a:prstDash val="solid"/>
          </a:ln>
        </p:spPr>
      </p:cxnSp>
      <p:sp>
        <p:nvSpPr>
          <p:cNvPr id="47" name="text-70">
            <a:extLst>
              <a:ext uri="{FF2B5EF4-FFF2-40B4-BE49-F238E27FC236}">
                <a16:creationId xmlns:a16="http://schemas.microsoft.com/office/drawing/2014/main" id="{819CF1A4-31AF-4FD9-AF98-19EAE061B1DF}"/>
              </a:ext>
            </a:extLst>
          </p:cNvPr>
          <p:cNvSpPr>
            <a:spLocks noGrp="1"/>
          </p:cNvSpPr>
          <p:nvPr/>
        </p:nvSpPr>
        <p:spPr>
          <a:xfrm>
            <a:off x="8810625" y="1438275"/>
            <a:ext cx="2771775" cy="371475"/>
          </a:xfrm>
          <a:prstGeom prst="rect">
            <a:avLst/>
          </a:prstGeom>
          <a:noFill/>
          <a:ln w="0">
            <a:noFill/>
          </a:ln>
        </p:spPr>
        <p:txBody>
          <a:bodyPr wrap="square" lIns="0" tIns="0" rIns="0" bIns="0" anchor="t">
            <a:noAutofit/>
          </a:bodyPr>
          <a:lstStyle>
            <a:defPPr algn="l">
              <a:defRPr sz="2175" b="1">
                <a:solidFill>
                  <a:srgbClr val="A4630B"/>
                </a:solidFill>
                <a:latin typeface="Arial"/>
                <a:ea typeface="Arial"/>
                <a:cs typeface="Arial"/>
              </a:defRPr>
            </a:defPPr>
          </a:lstStyle>
          <a:p>
            <a:pPr algn="l">
              <a:lnSpc>
                <a:spcPct val="112000"/>
              </a:lnSpc>
              <a:buNone/>
              <a:defRPr sz="2175" b="1">
                <a:solidFill>
                  <a:srgbClr val="A4630B"/>
                </a:solidFill>
                <a:latin typeface="Arial"/>
                <a:ea typeface="Arial"/>
                <a:cs typeface="Arial"/>
              </a:defRPr>
            </a:pPr>
            <a:r>
              <a:rPr sz="2175" b="1">
                <a:solidFill>
                  <a:srgbClr val="A4630B"/>
                </a:solidFill>
                <a:latin typeface="Arial"/>
                <a:ea typeface="Arial"/>
                <a:cs typeface="Arial"/>
              </a:rPr>
              <a:t>Application-native</a:t>
            </a:r>
          </a:p>
        </p:txBody>
      </p:sp>
      <p:sp>
        <p:nvSpPr>
          <p:cNvPr id="48" name="shape-71">
            <a:extLst>
              <a:ext uri="{FF2B5EF4-FFF2-40B4-BE49-F238E27FC236}">
                <a16:creationId xmlns:a16="http://schemas.microsoft.com/office/drawing/2014/main" id="{EB6428AD-1D82-48A9-8A49-DD9AF8739953}"/>
              </a:ext>
            </a:extLst>
          </p:cNvPr>
          <p:cNvSpPr>
            <a:spLocks noGrp="1"/>
          </p:cNvSpPr>
          <p:nvPr/>
        </p:nvSpPr>
        <p:spPr>
          <a:xfrm>
            <a:off x="8229600" y="2085975"/>
            <a:ext cx="3352800" cy="561975"/>
          </a:xfrm>
          <a:prstGeom prst="rect">
            <a:avLst/>
          </a:prstGeom>
          <a:solidFill>
            <a:srgbClr val="FFFFFF"/>
          </a:solidFill>
          <a:ln w="15240">
            <a:solidFill>
              <a:srgbClr val="A4630B"/>
            </a:solidFill>
          </a:ln>
        </p:spPr>
      </p:sp>
      <p:sp>
        <p:nvSpPr>
          <p:cNvPr id="49" name="text-72">
            <a:extLst>
              <a:ext uri="{FF2B5EF4-FFF2-40B4-BE49-F238E27FC236}">
                <a16:creationId xmlns:a16="http://schemas.microsoft.com/office/drawing/2014/main" id="{5BDA9DAB-12B1-44BD-845B-58F3837CAE8C}"/>
              </a:ext>
            </a:extLst>
          </p:cNvPr>
          <p:cNvSpPr>
            <a:spLocks noGrp="1"/>
          </p:cNvSpPr>
          <p:nvPr/>
        </p:nvSpPr>
        <p:spPr>
          <a:xfrm>
            <a:off x="8382000" y="2238947"/>
            <a:ext cx="3048000" cy="294132"/>
          </a:xfrm>
          <a:prstGeom prst="rect">
            <a:avLst/>
          </a:prstGeom>
          <a:noFill/>
          <a:ln w="0">
            <a:noFill/>
          </a:ln>
        </p:spPr>
        <p:txBody>
          <a:bodyPr wrap="square" lIns="0" tIns="0" rIns="0" bIns="0" anchor="t">
            <a:noAutofit/>
          </a:bodyPr>
          <a:lstStyle>
            <a:defPPr algn="ctr">
              <a:defRPr sz="1800" b="1">
                <a:solidFill>
                  <a:srgbClr val="102A43"/>
                </a:solidFill>
                <a:latin typeface="Arial"/>
                <a:ea typeface="Arial"/>
                <a:cs typeface="Arial"/>
              </a:defRPr>
            </a:defPPr>
          </a:lstStyle>
          <a:p>
            <a:pPr algn="ctr">
              <a:lnSpc>
                <a:spcPct val="112000"/>
              </a:lnSpc>
              <a:buNone/>
              <a:defRPr sz="1800" b="1">
                <a:solidFill>
                  <a:srgbClr val="102A43"/>
                </a:solidFill>
                <a:latin typeface="Arial"/>
                <a:ea typeface="Arial"/>
                <a:cs typeface="Arial"/>
              </a:defRPr>
            </a:pPr>
            <a:r>
              <a:rPr sz="1800" b="1">
                <a:solidFill>
                  <a:srgbClr val="102A43"/>
                </a:solidFill>
                <a:latin typeface="Arial"/>
                <a:ea typeface="Arial"/>
                <a:cs typeface="Arial"/>
              </a:rPr>
              <a:t>Semantic app state</a:t>
            </a:r>
          </a:p>
        </p:txBody>
      </p:sp>
      <p:sp>
        <p:nvSpPr>
          <p:cNvPr id="50" name="shape-73">
            <a:extLst>
              <a:ext uri="{FF2B5EF4-FFF2-40B4-BE49-F238E27FC236}">
                <a16:creationId xmlns:a16="http://schemas.microsoft.com/office/drawing/2014/main" id="{196950E4-C0F9-4033-B627-343D1F99BD37}"/>
              </a:ext>
            </a:extLst>
          </p:cNvPr>
          <p:cNvSpPr>
            <a:spLocks noGrp="1"/>
          </p:cNvSpPr>
          <p:nvPr/>
        </p:nvSpPr>
        <p:spPr>
          <a:xfrm>
            <a:off x="8229600" y="2924175"/>
            <a:ext cx="3352800" cy="561975"/>
          </a:xfrm>
          <a:prstGeom prst="rect">
            <a:avLst/>
          </a:prstGeom>
          <a:solidFill>
            <a:srgbClr val="FFFFFF"/>
          </a:solidFill>
          <a:ln w="15240">
            <a:solidFill>
              <a:srgbClr val="A4630B"/>
            </a:solidFill>
          </a:ln>
        </p:spPr>
      </p:sp>
      <p:sp>
        <p:nvSpPr>
          <p:cNvPr id="51" name="text-74">
            <a:extLst>
              <a:ext uri="{FF2B5EF4-FFF2-40B4-BE49-F238E27FC236}">
                <a16:creationId xmlns:a16="http://schemas.microsoft.com/office/drawing/2014/main" id="{CACF9D5F-6461-4D25-848E-D5678093E12B}"/>
              </a:ext>
            </a:extLst>
          </p:cNvPr>
          <p:cNvSpPr>
            <a:spLocks noGrp="1"/>
          </p:cNvSpPr>
          <p:nvPr/>
        </p:nvSpPr>
        <p:spPr>
          <a:xfrm>
            <a:off x="8382000" y="3077147"/>
            <a:ext cx="3048000" cy="294132"/>
          </a:xfrm>
          <a:prstGeom prst="rect">
            <a:avLst/>
          </a:prstGeom>
          <a:noFill/>
          <a:ln w="0">
            <a:noFill/>
          </a:ln>
        </p:spPr>
        <p:txBody>
          <a:bodyPr wrap="square" lIns="0" tIns="0" rIns="0" bIns="0" anchor="t">
            <a:noAutofit/>
          </a:bodyPr>
          <a:lstStyle>
            <a:defPPr algn="ctr">
              <a:defRPr sz="1800" b="1">
                <a:solidFill>
                  <a:srgbClr val="102A43"/>
                </a:solidFill>
                <a:latin typeface="Arial"/>
                <a:ea typeface="Arial"/>
                <a:cs typeface="Arial"/>
              </a:defRPr>
            </a:defPPr>
          </a:lstStyle>
          <a:p>
            <a:pPr algn="ctr">
              <a:lnSpc>
                <a:spcPct val="112000"/>
              </a:lnSpc>
              <a:buNone/>
              <a:defRPr sz="1800" b="1">
                <a:solidFill>
                  <a:srgbClr val="102A43"/>
                </a:solidFill>
                <a:latin typeface="Arial"/>
                <a:ea typeface="Arial"/>
                <a:cs typeface="Arial"/>
              </a:defRPr>
            </a:pPr>
            <a:r>
              <a:rPr sz="1800" b="1">
                <a:solidFill>
                  <a:srgbClr val="102A43"/>
                </a:solidFill>
                <a:latin typeface="Arial"/>
                <a:ea typeface="Arial"/>
                <a:cs typeface="Arial"/>
              </a:rPr>
              <a:t>Supported interaction</a:t>
            </a:r>
          </a:p>
        </p:txBody>
      </p:sp>
      <p:sp>
        <p:nvSpPr>
          <p:cNvPr id="52" name="shape-75">
            <a:extLst>
              <a:ext uri="{FF2B5EF4-FFF2-40B4-BE49-F238E27FC236}">
                <a16:creationId xmlns:a16="http://schemas.microsoft.com/office/drawing/2014/main" id="{3B8C999C-EC48-4E29-BEA3-451390D7E126}"/>
              </a:ext>
            </a:extLst>
          </p:cNvPr>
          <p:cNvSpPr>
            <a:spLocks noGrp="1"/>
          </p:cNvSpPr>
          <p:nvPr/>
        </p:nvSpPr>
        <p:spPr>
          <a:xfrm>
            <a:off x="8229600" y="3762375"/>
            <a:ext cx="3352800" cy="561975"/>
          </a:xfrm>
          <a:prstGeom prst="rect">
            <a:avLst/>
          </a:prstGeom>
          <a:solidFill>
            <a:srgbClr val="FFFFFF"/>
          </a:solidFill>
          <a:ln w="15240">
            <a:solidFill>
              <a:srgbClr val="A4630B"/>
            </a:solidFill>
          </a:ln>
        </p:spPr>
      </p:sp>
      <p:sp>
        <p:nvSpPr>
          <p:cNvPr id="53" name="text-76">
            <a:extLst>
              <a:ext uri="{FF2B5EF4-FFF2-40B4-BE49-F238E27FC236}">
                <a16:creationId xmlns:a16="http://schemas.microsoft.com/office/drawing/2014/main" id="{D5116DE3-4F9D-4FE6-B85D-5661A102E90A}"/>
              </a:ext>
            </a:extLst>
          </p:cNvPr>
          <p:cNvSpPr>
            <a:spLocks noGrp="1"/>
          </p:cNvSpPr>
          <p:nvPr/>
        </p:nvSpPr>
        <p:spPr>
          <a:xfrm>
            <a:off x="8382000" y="3915347"/>
            <a:ext cx="3048000" cy="294132"/>
          </a:xfrm>
          <a:prstGeom prst="rect">
            <a:avLst/>
          </a:prstGeom>
          <a:noFill/>
          <a:ln w="0">
            <a:noFill/>
          </a:ln>
        </p:spPr>
        <p:txBody>
          <a:bodyPr wrap="square" lIns="0" tIns="0" rIns="0" bIns="0" anchor="t">
            <a:noAutofit/>
          </a:bodyPr>
          <a:lstStyle>
            <a:defPPr algn="ctr">
              <a:defRPr sz="1800" b="1">
                <a:solidFill>
                  <a:srgbClr val="102A43"/>
                </a:solidFill>
                <a:latin typeface="Arial"/>
                <a:ea typeface="Arial"/>
                <a:cs typeface="Arial"/>
              </a:defRPr>
            </a:defPPr>
          </a:lstStyle>
          <a:p>
            <a:pPr algn="ctr">
              <a:lnSpc>
                <a:spcPct val="112000"/>
              </a:lnSpc>
              <a:buNone/>
              <a:defRPr sz="1800" b="1">
                <a:solidFill>
                  <a:srgbClr val="102A43"/>
                </a:solidFill>
                <a:latin typeface="Arial"/>
                <a:ea typeface="Arial"/>
                <a:cs typeface="Arial"/>
              </a:defRPr>
            </a:pPr>
            <a:r>
              <a:rPr sz="1800" b="1">
                <a:solidFill>
                  <a:srgbClr val="102A43"/>
                </a:solidFill>
                <a:latin typeface="Arial"/>
                <a:ea typeface="Arial"/>
                <a:cs typeface="Arial"/>
              </a:rPr>
              <a:t>Observed state</a:t>
            </a:r>
          </a:p>
        </p:txBody>
      </p:sp>
      <p:sp>
        <p:nvSpPr>
          <p:cNvPr id="56" name="text-77">
            <a:extLst>
              <a:ext uri="{FF2B5EF4-FFF2-40B4-BE49-F238E27FC236}">
                <a16:creationId xmlns:a16="http://schemas.microsoft.com/office/drawing/2014/main" id="{CD8BF5B0-B104-405E-9F93-D153E0581BA0}"/>
              </a:ext>
            </a:extLst>
          </p:cNvPr>
          <p:cNvSpPr>
            <a:spLocks noGrp="1"/>
          </p:cNvSpPr>
          <p:nvPr/>
        </p:nvSpPr>
        <p:spPr>
          <a:xfrm>
            <a:off x="8229600" y="4695825"/>
            <a:ext cx="3352800" cy="619125"/>
          </a:xfrm>
          <a:prstGeom prst="rect">
            <a:avLst/>
          </a:prstGeom>
          <a:noFill/>
          <a:ln w="0">
            <a:noFill/>
          </a:ln>
        </p:spPr>
        <p:txBody>
          <a:bodyPr wrap="square" lIns="0" tIns="0" rIns="0" bIns="0" anchor="t">
            <a:noAutofit/>
          </a:bodyPr>
          <a:lstStyle>
            <a:defPPr algn="l">
              <a:defRPr sz="1725" b="0">
                <a:solidFill>
                  <a:srgbClr val="17324A"/>
                </a:solidFill>
                <a:latin typeface="Arial"/>
                <a:ea typeface="Arial"/>
                <a:cs typeface="Arial"/>
              </a:defRPr>
            </a:defPPr>
          </a:lstStyle>
          <a:p>
            <a:pPr algn="l">
              <a:lnSpc>
                <a:spcPct val="112000"/>
              </a:lnSpc>
              <a:buNone/>
              <a:defRPr sz="1725" b="0">
                <a:solidFill>
                  <a:srgbClr val="17324A"/>
                </a:solidFill>
                <a:latin typeface="Arial"/>
                <a:ea typeface="Arial"/>
                <a:cs typeface="Arial"/>
              </a:defRPr>
            </a:pPr>
            <a:r>
              <a:rPr sz="1725" b="0">
                <a:solidFill>
                  <a:srgbClr val="17324A"/>
                </a:solidFill>
                <a:latin typeface="Arial"/>
                <a:ea typeface="Arial"/>
                <a:cs typeface="Arial"/>
              </a:rPr>
              <a:t>Uses app meaning and registered actions.</a:t>
            </a:r>
          </a:p>
        </p:txBody>
      </p:sp>
      <p:sp>
        <p:nvSpPr>
          <p:cNvPr id="57" name="text-78">
            <a:extLst>
              <a:ext uri="{FF2B5EF4-FFF2-40B4-BE49-F238E27FC236}">
                <a16:creationId xmlns:a16="http://schemas.microsoft.com/office/drawing/2014/main" id="{C866A2A0-AEAA-4380-84F0-E115F0DCBF99}"/>
              </a:ext>
            </a:extLst>
          </p:cNvPr>
          <p:cNvSpPr>
            <a:spLocks noGrp="1"/>
          </p:cNvSpPr>
          <p:nvPr/>
        </p:nvSpPr>
        <p:spPr>
          <a:xfrm>
            <a:off x="8229600" y="5400675"/>
            <a:ext cx="3352800" cy="361950"/>
          </a:xfrm>
          <a:prstGeom prst="rect">
            <a:avLst/>
          </a:prstGeom>
          <a:noFill/>
          <a:ln w="0">
            <a:noFill/>
          </a:ln>
        </p:spPr>
        <p:txBody>
          <a:bodyPr wrap="square" lIns="0" tIns="0" rIns="0" bIns="0" anchor="t">
            <a:noAutofit/>
          </a:bodyPr>
          <a:lstStyle>
            <a:defPPr algn="l">
              <a:defRPr sz="1875" b="1">
                <a:solidFill>
                  <a:srgbClr val="A4630B"/>
                </a:solidFill>
                <a:latin typeface="Arial"/>
                <a:ea typeface="Arial"/>
                <a:cs typeface="Arial"/>
              </a:defRPr>
            </a:defPPr>
          </a:lstStyle>
          <a:p>
            <a:pPr algn="l">
              <a:lnSpc>
                <a:spcPct val="112000"/>
              </a:lnSpc>
              <a:buNone/>
              <a:defRPr sz="1875" b="1">
                <a:solidFill>
                  <a:srgbClr val="A4630B"/>
                </a:solidFill>
                <a:latin typeface="Arial"/>
                <a:ea typeface="Arial"/>
                <a:cs typeface="Arial"/>
              </a:defRPr>
            </a:pPr>
            <a:r>
              <a:rPr sz="1875" b="1">
                <a:solidFill>
                  <a:srgbClr val="A4630B"/>
                </a:solidFill>
                <a:latin typeface="Arial"/>
                <a:ea typeface="Arial"/>
                <a:cs typeface="Arial"/>
              </a:rPr>
              <a:t>VACP</a:t>
            </a:r>
          </a:p>
        </p:txBody>
      </p:sp>
      <p:sp>
        <p:nvSpPr>
          <p:cNvPr id="58" name="citation-79">
            <a:extLst>
              <a:ext uri="{FF2B5EF4-FFF2-40B4-BE49-F238E27FC236}">
                <a16:creationId xmlns:a16="http://schemas.microsoft.com/office/drawing/2014/main" id="{B9AAD56F-02C0-4805-9D28-292B784A87D3}"/>
              </a:ext>
            </a:extLst>
          </p:cNvPr>
          <p:cNvSpPr>
            <a:spLocks noGrp="1"/>
          </p:cNvSpPr>
          <p:nvPr/>
        </p:nvSpPr>
        <p:spPr>
          <a:xfrm>
            <a:off x="8921115" y="5334000"/>
            <a:ext cx="495300" cy="266700"/>
          </a:xfrm>
          <a:prstGeom prst="rect">
            <a:avLst/>
          </a:prstGeom>
          <a:noFill/>
          <a:ln w="0">
            <a:noFill/>
          </a:ln>
        </p:spPr>
        <p:txBody>
          <a:bodyPr wrap="square" lIns="0" tIns="0" rIns="0" bIns="0" anchor="t">
            <a:noAutofit/>
          </a:bodyPr>
          <a:lstStyle>
            <a:defPPr algn="l">
              <a:defRPr sz="1500" b="1">
                <a:solidFill>
                  <a:srgbClr val="A4630B"/>
                </a:solidFill>
                <a:latin typeface="Arial"/>
                <a:ea typeface="Arial"/>
                <a:cs typeface="Arial"/>
              </a:defRPr>
            </a:defPPr>
          </a:lstStyle>
          <a:p>
            <a:pPr algn="l">
              <a:lnSpc>
                <a:spcPct val="112000"/>
              </a:lnSpc>
              <a:buNone/>
              <a:defRPr sz="1500" b="1">
                <a:solidFill>
                  <a:srgbClr val="A4630B"/>
                </a:solidFill>
                <a:latin typeface="Arial"/>
                <a:ea typeface="Arial"/>
                <a:cs typeface="Arial"/>
              </a:defRPr>
            </a:pPr>
            <a:r>
              <a:rPr sz="1500" b="1">
                <a:solidFill>
                  <a:srgbClr val="A4630B"/>
                </a:solidFill>
                <a:latin typeface="Arial"/>
                <a:ea typeface="Arial"/>
                <a:cs typeface="Arial"/>
              </a:rPr>
              <a:t>3</a:t>
            </a:r>
          </a:p>
        </p:txBody>
      </p:sp>
      <p:sp>
        <p:nvSpPr>
          <p:cNvPr id="59" name="text-80">
            <a:extLst>
              <a:ext uri="{FF2B5EF4-FFF2-40B4-BE49-F238E27FC236}">
                <a16:creationId xmlns:a16="http://schemas.microsoft.com/office/drawing/2014/main" id="{A10BAEA6-E3DB-4C6D-926A-19050280F857}"/>
              </a:ext>
            </a:extLst>
          </p:cNvPr>
          <p:cNvSpPr>
            <a:spLocks noGrp="1"/>
          </p:cNvSpPr>
          <p:nvPr/>
        </p:nvSpPr>
        <p:spPr>
          <a:xfrm>
            <a:off x="8229600" y="5829300"/>
            <a:ext cx="3352800" cy="333375"/>
          </a:xfrm>
          <a:prstGeom prst="rect">
            <a:avLst/>
          </a:prstGeom>
          <a:noFill/>
          <a:ln w="0">
            <a:noFill/>
          </a:ln>
        </p:spPr>
        <p:txBody>
          <a:bodyPr wrap="square" lIns="0" tIns="0" rIns="0" bIns="0" anchor="t">
            <a:noAutofit/>
          </a:bodyPr>
          <a:lstStyle>
            <a:defPPr algn="l">
              <a:defRPr sz="1500" b="0">
                <a:solidFill>
                  <a:srgbClr val="4D6270"/>
                </a:solidFill>
                <a:latin typeface="Arial"/>
                <a:ea typeface="Arial"/>
                <a:cs typeface="Arial"/>
              </a:defRPr>
            </a:defPPr>
          </a:lstStyle>
          <a:p>
            <a:pPr algn="l">
              <a:lnSpc>
                <a:spcPct val="112000"/>
              </a:lnSpc>
              <a:buNone/>
              <a:defRPr sz="1500" b="0">
                <a:solidFill>
                  <a:srgbClr val="4D6270"/>
                </a:solidFill>
                <a:latin typeface="Arial"/>
                <a:ea typeface="Arial"/>
                <a:cs typeface="Arial"/>
              </a:defRPr>
            </a:pPr>
            <a:r>
              <a:rPr sz="1500" b="0">
                <a:solidFill>
                  <a:srgbClr val="4D6270"/>
                </a:solidFill>
                <a:latin typeface="Arial"/>
                <a:ea typeface="Arial"/>
                <a:cs typeface="Arial"/>
              </a:rPr>
              <a:t>Requires host-app integration</a:t>
            </a:r>
          </a:p>
        </p:txBody>
      </p:sp>
      <p:pic>
        <p:nvPicPr>
          <p:cNvPr id="60" name="Picture 59">
            <a:extLst>
              <a:ext uri="{FF2B5EF4-FFF2-40B4-BE49-F238E27FC236}">
                <a16:creationId xmlns:a16="http://schemas.microsoft.com/office/drawing/2014/main" id="{C901E37E-FA67-4D1E-81FA-4090C7272657}"/>
              </a:ext>
            </a:extLst>
          </p:cNvPr>
          <p:cNvPicPr>
            <a:picLocks noChangeAspect="1"/>
          </p:cNvPicPr>
          <p:nvPr/>
        </p:nvPicPr>
        <p:blipFill>
          <a:blip r:embed="rId3"/>
          <a:stretch/>
        </p:blipFill>
        <p:spPr>
          <a:xfrm>
            <a:off x="9220220" y="295275"/>
            <a:ext cx="2362160" cy="442436"/>
          </a:xfrm>
          <a:prstGeom prst="rect">
            <a:avLst/>
          </a:prstGeom>
        </p:spPr>
      </p:pic>
    </p:spTree>
    <p:extLst>
      <p:ext uri="{BB962C8B-B14F-4D97-AF65-F5344CB8AC3E}">
        <p14:creationId xmlns:p14="http://schemas.microsoft.com/office/powerpoint/2010/main" val="6735279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cxnSp>
        <p:nvCxnSpPr>
          <p:cNvPr id="25" name="Straight Arrow Connector 24">
            <a:extLst>
              <a:ext uri="{FF2B5EF4-FFF2-40B4-BE49-F238E27FC236}">
                <a16:creationId xmlns:a16="http://schemas.microsoft.com/office/drawing/2014/main" id="{C95417BB-B972-4347-B0A4-4F0DB3640205}"/>
              </a:ext>
            </a:extLst>
          </p:cNvPr>
          <p:cNvCxnSpPr>
            <a:stCxn id="12" idx="3"/>
            <a:endCxn id="15" idx="1"/>
          </p:cNvCxnSpPr>
          <p:nvPr/>
        </p:nvCxnSpPr>
        <p:spPr>
          <a:xfrm>
            <a:off x="7810500" y="4143375"/>
            <a:ext cx="1047750" cy="0"/>
          </a:xfrm>
          <a:prstGeom prst="straightConnector1">
            <a:avLst/>
          </a:prstGeom>
          <a:ln w="19050">
            <a:solidFill>
              <a:srgbClr val="006D77"/>
            </a:solidFill>
            <a:prstDash val="solid"/>
            <a:tailEnd type="triangle" w="med" len="med"/>
          </a:ln>
        </p:spPr>
      </p:cxnSp>
      <p:cxnSp>
        <p:nvCxnSpPr>
          <p:cNvPr id="24" name="Straight Arrow Connector 23">
            <a:extLst>
              <a:ext uri="{FF2B5EF4-FFF2-40B4-BE49-F238E27FC236}">
                <a16:creationId xmlns:a16="http://schemas.microsoft.com/office/drawing/2014/main" id="{96CDBD0B-CD71-4BD2-B278-B4CACC15E135}"/>
              </a:ext>
            </a:extLst>
          </p:cNvPr>
          <p:cNvCxnSpPr>
            <a:stCxn id="9" idx="3"/>
            <a:endCxn id="12" idx="1"/>
          </p:cNvCxnSpPr>
          <p:nvPr/>
        </p:nvCxnSpPr>
        <p:spPr>
          <a:xfrm>
            <a:off x="3333750" y="4143375"/>
            <a:ext cx="1047750" cy="0"/>
          </a:xfrm>
          <a:prstGeom prst="straightConnector1">
            <a:avLst/>
          </a:prstGeom>
          <a:ln w="19050">
            <a:solidFill>
              <a:srgbClr val="006D77"/>
            </a:solidFill>
            <a:prstDash val="solid"/>
            <a:tailEnd type="triangle" w="med" len="med"/>
          </a:ln>
        </p:spPr>
      </p:cxnSp>
      <p:sp>
        <p:nvSpPr>
          <p:cNvPr id="29" name="shape-81">
            <a:extLst>
              <a:ext uri="{FF2B5EF4-FFF2-40B4-BE49-F238E27FC236}">
                <a16:creationId xmlns:a16="http://schemas.microsoft.com/office/drawing/2014/main" id="{972CA1DA-4A37-42C8-BE61-A951AB5274F8}"/>
              </a:ext>
            </a:extLst>
          </p:cNvPr>
          <p:cNvSpPr>
            <a:spLocks noGrp="1"/>
          </p:cNvSpPr>
          <p:nvPr/>
        </p:nvSpPr>
        <p:spPr>
          <a:xfrm>
            <a:off x="0" y="0"/>
            <a:ext cx="12192000" cy="1066800"/>
          </a:xfrm>
          <a:prstGeom prst="rect">
            <a:avLst/>
          </a:prstGeom>
          <a:solidFill>
            <a:srgbClr val="F2F6F7"/>
          </a:solidFill>
          <a:ln w="0">
            <a:noFill/>
          </a:ln>
        </p:spPr>
      </p:sp>
      <p:sp>
        <p:nvSpPr>
          <p:cNvPr id="2" name="shape-82">
            <a:extLst>
              <a:ext uri="{FF2B5EF4-FFF2-40B4-BE49-F238E27FC236}">
                <a16:creationId xmlns:a16="http://schemas.microsoft.com/office/drawing/2014/main" id="{42208C22-90F7-4D84-AE80-AA87EA4C6A1B}"/>
              </a:ext>
            </a:extLst>
          </p:cNvPr>
          <p:cNvSpPr>
            <a:spLocks noGrp="1"/>
          </p:cNvSpPr>
          <p:nvPr/>
        </p:nvSpPr>
        <p:spPr>
          <a:xfrm>
            <a:off x="0" y="1038225"/>
            <a:ext cx="12192000" cy="28575"/>
          </a:xfrm>
          <a:prstGeom prst="rect">
            <a:avLst/>
          </a:prstGeom>
          <a:solidFill>
            <a:srgbClr val="006D77"/>
          </a:solidFill>
          <a:ln w="0">
            <a:noFill/>
          </a:ln>
        </p:spPr>
      </p:sp>
      <p:sp>
        <p:nvSpPr>
          <p:cNvPr id="3" name="slide-4-title">
            <a:extLst>
              <a:ext uri="{FF2B5EF4-FFF2-40B4-BE49-F238E27FC236}">
                <a16:creationId xmlns:a16="http://schemas.microsoft.com/office/drawing/2014/main" id="{A5BDBE2D-15CA-4645-B57C-443053530BDD}"/>
              </a:ext>
            </a:extLst>
          </p:cNvPr>
          <p:cNvSpPr>
            <a:spLocks noGrp="1"/>
          </p:cNvSpPr>
          <p:nvPr/>
        </p:nvSpPr>
        <p:spPr>
          <a:xfrm>
            <a:off x="609600" y="304800"/>
            <a:ext cx="8239125" cy="542925"/>
          </a:xfrm>
          <a:prstGeom prst="rect">
            <a:avLst/>
          </a:prstGeom>
          <a:noFill/>
          <a:ln w="0">
            <a:noFill/>
          </a:ln>
        </p:spPr>
        <p:txBody>
          <a:bodyPr wrap="square" lIns="0" tIns="0" rIns="0" bIns="0" anchor="t">
            <a:noAutofit/>
          </a:bodyPr>
          <a:lstStyle>
            <a:defPPr algn="l">
              <a:defRPr sz="3150" b="1">
                <a:solidFill>
                  <a:srgbClr val="102A43"/>
                </a:solidFill>
                <a:latin typeface="Arial"/>
                <a:ea typeface="Arial"/>
                <a:cs typeface="Arial"/>
              </a:defRPr>
            </a:defPPr>
          </a:lstStyle>
          <a:p>
            <a:pPr algn="l">
              <a:lnSpc>
                <a:spcPct val="112000"/>
              </a:lnSpc>
              <a:buNone/>
              <a:defRPr sz="3150" b="1">
                <a:solidFill>
                  <a:srgbClr val="102A43"/>
                </a:solidFill>
                <a:latin typeface="Arial"/>
                <a:ea typeface="Arial"/>
                <a:cs typeface="Arial"/>
              </a:defRPr>
            </a:pPr>
            <a:r>
              <a:rPr sz="3150" b="1">
                <a:solidFill>
                  <a:srgbClr val="102A43"/>
                </a:solidFill>
                <a:latin typeface="Arial"/>
                <a:ea typeface="Arial"/>
                <a:cs typeface="Arial"/>
              </a:rPr>
              <a:t>Proposed solution</a:t>
            </a:r>
          </a:p>
        </p:txBody>
      </p:sp>
      <p:sp>
        <p:nvSpPr>
          <p:cNvPr id="4" name="shape-83">
            <a:extLst>
              <a:ext uri="{FF2B5EF4-FFF2-40B4-BE49-F238E27FC236}">
                <a16:creationId xmlns:a16="http://schemas.microsoft.com/office/drawing/2014/main" id="{B6BD74C4-6B1C-49D6-AFC6-279D768758C7}"/>
              </a:ext>
            </a:extLst>
          </p:cNvPr>
          <p:cNvSpPr>
            <a:spLocks noGrp="1"/>
          </p:cNvSpPr>
          <p:nvPr/>
        </p:nvSpPr>
        <p:spPr>
          <a:xfrm>
            <a:off x="0" y="6381750"/>
            <a:ext cx="12192000" cy="476250"/>
          </a:xfrm>
          <a:prstGeom prst="rect">
            <a:avLst/>
          </a:prstGeom>
          <a:solidFill>
            <a:srgbClr val="102A43"/>
          </a:solidFill>
          <a:ln w="0">
            <a:noFill/>
          </a:ln>
        </p:spPr>
      </p:sp>
      <p:sp>
        <p:nvSpPr>
          <p:cNvPr id="5" name="brand-4">
            <a:extLst>
              <a:ext uri="{FF2B5EF4-FFF2-40B4-BE49-F238E27FC236}">
                <a16:creationId xmlns:a16="http://schemas.microsoft.com/office/drawing/2014/main" id="{E68B45D3-2F38-4D40-AC0C-60C447368717}"/>
              </a:ext>
            </a:extLst>
          </p:cNvPr>
          <p:cNvSpPr>
            <a:spLocks noGrp="1"/>
          </p:cNvSpPr>
          <p:nvPr/>
        </p:nvSpPr>
        <p:spPr>
          <a:xfrm>
            <a:off x="609600" y="6467475"/>
            <a:ext cx="3429000" cy="333375"/>
          </a:xfrm>
          <a:prstGeom prst="rect">
            <a:avLst/>
          </a:prstGeom>
          <a:noFill/>
          <a:ln w="0">
            <a:noFill/>
          </a:ln>
        </p:spPr>
        <p:txBody>
          <a:bodyPr wrap="square" lIns="0" tIns="0" rIns="0" bIns="0" anchor="t">
            <a:noAutofit/>
          </a:bodyPr>
          <a:lstStyle>
            <a:defPPr algn="l">
              <a:defRPr sz="1950" b="1">
                <a:solidFill>
                  <a:srgbClr val="8AE1D5"/>
                </a:solidFill>
                <a:latin typeface="Arial"/>
                <a:ea typeface="Arial"/>
                <a:cs typeface="Arial"/>
              </a:defRPr>
            </a:defPPr>
          </a:lstStyle>
          <a:p>
            <a:pPr algn="l">
              <a:lnSpc>
                <a:spcPct val="112000"/>
              </a:lnSpc>
              <a:buNone/>
              <a:defRPr sz="1950" b="1">
                <a:solidFill>
                  <a:srgbClr val="8AE1D5"/>
                </a:solidFill>
                <a:latin typeface="Arial"/>
                <a:ea typeface="Arial"/>
                <a:cs typeface="Arial"/>
              </a:defRPr>
            </a:pPr>
            <a:r>
              <a:rPr sz="1950" b="1">
                <a:solidFill>
                  <a:srgbClr val="8AE1D5"/>
                </a:solidFill>
                <a:latin typeface="Arial"/>
                <a:ea typeface="Arial"/>
                <a:cs typeface="Arial"/>
              </a:rPr>
              <a:t>Sapience</a:t>
            </a:r>
          </a:p>
        </p:txBody>
      </p:sp>
      <p:sp>
        <p:nvSpPr>
          <p:cNvPr id="6" name="page-4">
            <a:extLst>
              <a:ext uri="{FF2B5EF4-FFF2-40B4-BE49-F238E27FC236}">
                <a16:creationId xmlns:a16="http://schemas.microsoft.com/office/drawing/2014/main" id="{F590E9A4-59F4-4DE9-9018-A7DC1B21A728}"/>
              </a:ext>
            </a:extLst>
          </p:cNvPr>
          <p:cNvSpPr>
            <a:spLocks noGrp="1"/>
          </p:cNvSpPr>
          <p:nvPr/>
        </p:nvSpPr>
        <p:spPr>
          <a:xfrm>
            <a:off x="10629900" y="6505575"/>
            <a:ext cx="952500" cy="276225"/>
          </a:xfrm>
          <a:prstGeom prst="rect">
            <a:avLst/>
          </a:prstGeom>
          <a:noFill/>
          <a:ln w="0">
            <a:noFill/>
          </a:ln>
        </p:spPr>
        <p:txBody>
          <a:bodyPr wrap="square" lIns="0" tIns="0" rIns="0" bIns="0" anchor="t">
            <a:noAutofit/>
          </a:bodyPr>
          <a:lstStyle>
            <a:defPPr algn="r">
              <a:defRPr sz="1575" b="0">
                <a:solidFill>
                  <a:srgbClr val="FFFFFF"/>
                </a:solidFill>
                <a:latin typeface="Arial"/>
                <a:ea typeface="Arial"/>
                <a:cs typeface="Arial"/>
              </a:defRPr>
            </a:defPPr>
          </a:lstStyle>
          <a:p>
            <a:pPr algn="r">
              <a:lnSpc>
                <a:spcPct val="112000"/>
              </a:lnSpc>
              <a:buNone/>
              <a:defRPr sz="1575" b="0">
                <a:solidFill>
                  <a:srgbClr val="FFFFFF"/>
                </a:solidFill>
                <a:latin typeface="Arial"/>
                <a:ea typeface="Arial"/>
                <a:cs typeface="Arial"/>
              </a:defRPr>
            </a:pPr>
            <a:r>
              <a:rPr sz="1575" b="0">
                <a:solidFill>
                  <a:srgbClr val="FFFFFF"/>
                </a:solidFill>
                <a:latin typeface="Arial"/>
                <a:ea typeface="Arial"/>
                <a:cs typeface="Arial"/>
              </a:rPr>
              <a:t>05 / 18</a:t>
            </a:r>
          </a:p>
        </p:txBody>
      </p:sp>
      <p:sp>
        <p:nvSpPr>
          <p:cNvPr id="7" name="text-84">
            <a:extLst>
              <a:ext uri="{FF2B5EF4-FFF2-40B4-BE49-F238E27FC236}">
                <a16:creationId xmlns:a16="http://schemas.microsoft.com/office/drawing/2014/main" id="{23663B0C-5525-4B9B-93BF-7B538C336EB5}"/>
              </a:ext>
            </a:extLst>
          </p:cNvPr>
          <p:cNvSpPr>
            <a:spLocks noGrp="1"/>
          </p:cNvSpPr>
          <p:nvPr/>
        </p:nvSpPr>
        <p:spPr>
          <a:xfrm>
            <a:off x="609600" y="1428750"/>
            <a:ext cx="10972800" cy="790575"/>
          </a:xfrm>
          <a:prstGeom prst="rect">
            <a:avLst/>
          </a:prstGeom>
          <a:noFill/>
          <a:ln w="0">
            <a:noFill/>
          </a:ln>
        </p:spPr>
        <p:txBody>
          <a:bodyPr wrap="square" lIns="0" tIns="0" rIns="0" bIns="0" anchor="t">
            <a:noAutofit/>
          </a:bodyPr>
          <a:lstStyle>
            <a:defPPr algn="l">
              <a:defRPr sz="2550" b="1">
                <a:solidFill>
                  <a:srgbClr val="006D77"/>
                </a:solidFill>
                <a:latin typeface="Arial"/>
                <a:ea typeface="Arial"/>
                <a:cs typeface="Arial"/>
              </a:defRPr>
            </a:defPPr>
          </a:lstStyle>
          <a:p>
            <a:pPr algn="l">
              <a:lnSpc>
                <a:spcPct val="112000"/>
              </a:lnSpc>
              <a:buNone/>
              <a:defRPr sz="2550" b="1">
                <a:solidFill>
                  <a:srgbClr val="006D77"/>
                </a:solidFill>
                <a:latin typeface="Arial"/>
                <a:ea typeface="Arial"/>
                <a:cs typeface="Arial"/>
              </a:defRPr>
            </a:pPr>
            <a:r>
              <a:rPr sz="2550" b="1">
                <a:solidFill>
                  <a:srgbClr val="006D77"/>
                </a:solidFill>
                <a:latin typeface="Arial"/>
                <a:ea typeface="Arial"/>
                <a:cs typeface="Arial"/>
              </a:rPr>
              <a:t>One assistant for business analysis and application interaction</a:t>
            </a:r>
          </a:p>
        </p:txBody>
      </p:sp>
      <p:sp>
        <p:nvSpPr>
          <p:cNvPr id="8" name="text-85">
            <a:extLst>
              <a:ext uri="{FF2B5EF4-FFF2-40B4-BE49-F238E27FC236}">
                <a16:creationId xmlns:a16="http://schemas.microsoft.com/office/drawing/2014/main" id="{A1618CF6-7D96-4EF5-9ADB-EEBB0E3A1643}"/>
              </a:ext>
            </a:extLst>
          </p:cNvPr>
          <p:cNvSpPr>
            <a:spLocks noGrp="1"/>
          </p:cNvSpPr>
          <p:nvPr/>
        </p:nvSpPr>
        <p:spPr>
          <a:xfrm>
            <a:off x="609600" y="2305050"/>
            <a:ext cx="10972800" cy="771525"/>
          </a:xfrm>
          <a:prstGeom prst="rect">
            <a:avLst/>
          </a:prstGeom>
          <a:noFill/>
          <a:ln w="0">
            <a:noFill/>
          </a:ln>
        </p:spPr>
        <p:txBody>
          <a:bodyPr wrap="square" lIns="0" tIns="0" rIns="0" bIns="0" anchor="t">
            <a:noAutofit/>
          </a:bodyPr>
          <a:lstStyle>
            <a:defPPr algn="l">
              <a:defRPr sz="2025" b="0">
                <a:solidFill>
                  <a:srgbClr val="17324A"/>
                </a:solidFill>
                <a:latin typeface="Arial"/>
                <a:ea typeface="Arial"/>
                <a:cs typeface="Arial"/>
              </a:defRPr>
            </a:defPPr>
          </a:lstStyle>
          <a:p>
            <a:pPr algn="l">
              <a:lnSpc>
                <a:spcPct val="112000"/>
              </a:lnSpc>
              <a:buNone/>
              <a:defRPr sz="2025" b="0">
                <a:solidFill>
                  <a:srgbClr val="17324A"/>
                </a:solidFill>
                <a:latin typeface="Arial"/>
                <a:ea typeface="Arial"/>
                <a:cs typeface="Arial"/>
              </a:defRPr>
            </a:pPr>
            <a:r>
              <a:rPr sz="2025" b="0">
                <a:solidFill>
                  <a:srgbClr val="17324A"/>
                </a:solidFill>
                <a:latin typeface="Arial"/>
                <a:ea typeface="Arial"/>
                <a:cs typeface="Arial"/>
              </a:rPr>
              <a:t>The assistant uses business evidence and the current application context</a:t>
            </a:r>
          </a:p>
          <a:p>
            <a:pPr algn="l">
              <a:lnSpc>
                <a:spcPct val="112000"/>
              </a:lnSpc>
              <a:buNone/>
              <a:defRPr sz="2025" b="0">
                <a:solidFill>
                  <a:srgbClr val="17324A"/>
                </a:solidFill>
                <a:latin typeface="Arial"/>
                <a:ea typeface="Arial"/>
                <a:cs typeface="Arial"/>
              </a:defRPr>
            </a:pPr>
            <a:r>
              <a:rPr sz="2025" b="0">
                <a:solidFill>
                  <a:srgbClr val="17324A"/>
                </a:solidFill>
                <a:latin typeface="Arial"/>
                <a:ea typeface="Arial"/>
                <a:cs typeface="Arial"/>
              </a:rPr>
              <a:t>to answer a request and display the relevant records in the same workspace.</a:t>
            </a:r>
          </a:p>
        </p:txBody>
      </p:sp>
      <p:sp>
        <p:nvSpPr>
          <p:cNvPr id="9" name="shape-86">
            <a:extLst>
              <a:ext uri="{FF2B5EF4-FFF2-40B4-BE49-F238E27FC236}">
                <a16:creationId xmlns:a16="http://schemas.microsoft.com/office/drawing/2014/main" id="{79BDAAF7-B5F7-4702-9163-7494AC639BDB}"/>
              </a:ext>
            </a:extLst>
          </p:cNvPr>
          <p:cNvSpPr>
            <a:spLocks noGrp="1"/>
          </p:cNvSpPr>
          <p:nvPr/>
        </p:nvSpPr>
        <p:spPr>
          <a:xfrm>
            <a:off x="609600" y="3600450"/>
            <a:ext cx="2724150" cy="1085850"/>
          </a:xfrm>
          <a:prstGeom prst="rect">
            <a:avLst/>
          </a:prstGeom>
          <a:solidFill>
            <a:srgbClr val="FFFFFF"/>
          </a:solidFill>
          <a:ln w="15240">
            <a:solidFill>
              <a:srgbClr val="006D77"/>
            </a:solidFill>
          </a:ln>
        </p:spPr>
      </p:sp>
      <p:sp>
        <p:nvSpPr>
          <p:cNvPr id="10" name="text-87">
            <a:extLst>
              <a:ext uri="{FF2B5EF4-FFF2-40B4-BE49-F238E27FC236}">
                <a16:creationId xmlns:a16="http://schemas.microsoft.com/office/drawing/2014/main" id="{4B45EDA1-35C2-4F7A-B4C4-960DBCDCA24F}"/>
              </a:ext>
            </a:extLst>
          </p:cNvPr>
          <p:cNvSpPr>
            <a:spLocks noGrp="1"/>
          </p:cNvSpPr>
          <p:nvPr/>
        </p:nvSpPr>
        <p:spPr>
          <a:xfrm>
            <a:off x="762000" y="3715893"/>
            <a:ext cx="2419350" cy="326136"/>
          </a:xfrm>
          <a:prstGeom prst="rect">
            <a:avLst/>
          </a:prstGeom>
          <a:noFill/>
          <a:ln w="0">
            <a:noFill/>
          </a:ln>
        </p:spPr>
        <p:txBody>
          <a:bodyPr wrap="square" lIns="0" tIns="0" rIns="0" bIns="0" anchor="t">
            <a:noAutofit/>
          </a:bodyPr>
          <a:lstStyle>
            <a:defPPr algn="ctr">
              <a:defRPr sz="2025" b="1">
                <a:solidFill>
                  <a:srgbClr val="102A43"/>
                </a:solidFill>
                <a:latin typeface="Arial"/>
                <a:ea typeface="Arial"/>
                <a:cs typeface="Arial"/>
              </a:defRPr>
            </a:defPPr>
          </a:lstStyle>
          <a:p>
            <a:pPr algn="ctr">
              <a:lnSpc>
                <a:spcPct val="112000"/>
              </a:lnSpc>
              <a:buNone/>
              <a:defRPr sz="2025" b="1">
                <a:solidFill>
                  <a:srgbClr val="102A43"/>
                </a:solidFill>
                <a:latin typeface="Arial"/>
                <a:ea typeface="Arial"/>
                <a:cs typeface="Arial"/>
              </a:defRPr>
            </a:pPr>
            <a:r>
              <a:rPr sz="2025" b="1">
                <a:solidFill>
                  <a:srgbClr val="102A43"/>
                </a:solidFill>
                <a:latin typeface="Arial"/>
                <a:ea typeface="Arial"/>
                <a:cs typeface="Arial"/>
              </a:rPr>
              <a:t>Business request</a:t>
            </a:r>
          </a:p>
        </p:txBody>
      </p:sp>
      <p:sp>
        <p:nvSpPr>
          <p:cNvPr id="11" name="text-88">
            <a:extLst>
              <a:ext uri="{FF2B5EF4-FFF2-40B4-BE49-F238E27FC236}">
                <a16:creationId xmlns:a16="http://schemas.microsoft.com/office/drawing/2014/main" id="{A19C5FFD-AA4B-48A3-91C1-597398238791}"/>
              </a:ext>
            </a:extLst>
          </p:cNvPr>
          <p:cNvSpPr>
            <a:spLocks noGrp="1"/>
          </p:cNvSpPr>
          <p:nvPr/>
        </p:nvSpPr>
        <p:spPr>
          <a:xfrm>
            <a:off x="733425" y="4080129"/>
            <a:ext cx="2476500" cy="528828"/>
          </a:xfrm>
          <a:prstGeom prst="rect">
            <a:avLst/>
          </a:prstGeom>
          <a:noFill/>
          <a:ln w="0">
            <a:noFill/>
          </a:ln>
        </p:spPr>
        <p:txBody>
          <a:bodyPr wrap="square" lIns="0" tIns="0" rIns="0" bIns="0" anchor="t">
            <a:noAutofit/>
          </a:bodyPr>
          <a:lstStyle>
            <a:defPPr algn="ctr">
              <a:defRPr sz="1725" b="0">
                <a:solidFill>
                  <a:srgbClr val="4D6270"/>
                </a:solidFill>
                <a:latin typeface="Arial"/>
                <a:ea typeface="Arial"/>
                <a:cs typeface="Arial"/>
              </a:defRPr>
            </a:defPPr>
          </a:lstStyle>
          <a:p>
            <a:pPr algn="ctr">
              <a:lnSpc>
                <a:spcPct val="112000"/>
              </a:lnSpc>
              <a:buNone/>
              <a:defRPr sz="1725" b="0">
                <a:solidFill>
                  <a:srgbClr val="4D6270"/>
                </a:solidFill>
                <a:latin typeface="Arial"/>
                <a:ea typeface="Arial"/>
                <a:cs typeface="Arial"/>
              </a:defRPr>
            </a:pPr>
            <a:r>
              <a:rPr sz="1725" b="0">
                <a:solidFill>
                  <a:srgbClr val="4D6270"/>
                </a:solidFill>
                <a:latin typeface="Arial"/>
                <a:ea typeface="Arial"/>
                <a:cs typeface="Arial"/>
              </a:rPr>
              <a:t>“Compare April and</a:t>
            </a:r>
          </a:p>
          <a:p>
            <a:pPr algn="ctr">
              <a:lnSpc>
                <a:spcPct val="112000"/>
              </a:lnSpc>
              <a:buNone/>
              <a:defRPr sz="1725" b="0">
                <a:solidFill>
                  <a:srgbClr val="4D6270"/>
                </a:solidFill>
                <a:latin typeface="Arial"/>
                <a:ea typeface="Arial"/>
                <a:cs typeface="Arial"/>
              </a:defRPr>
            </a:pPr>
            <a:r>
              <a:rPr sz="1725" b="0">
                <a:solidFill>
                  <a:srgbClr val="4D6270"/>
                </a:solidFill>
                <a:latin typeface="Arial"/>
                <a:ea typeface="Arial"/>
                <a:cs typeface="Arial"/>
              </a:rPr>
              <a:t>May.”</a:t>
            </a:r>
          </a:p>
        </p:txBody>
      </p:sp>
      <p:sp>
        <p:nvSpPr>
          <p:cNvPr id="12" name="shape-89">
            <a:extLst>
              <a:ext uri="{FF2B5EF4-FFF2-40B4-BE49-F238E27FC236}">
                <a16:creationId xmlns:a16="http://schemas.microsoft.com/office/drawing/2014/main" id="{8A9BECDB-3EB5-46AB-83B9-8A8292C14835}"/>
              </a:ext>
            </a:extLst>
          </p:cNvPr>
          <p:cNvSpPr>
            <a:spLocks noGrp="1"/>
          </p:cNvSpPr>
          <p:nvPr/>
        </p:nvSpPr>
        <p:spPr>
          <a:xfrm>
            <a:off x="4381500" y="3429000"/>
            <a:ext cx="3429000" cy="1428750"/>
          </a:xfrm>
          <a:prstGeom prst="rect">
            <a:avLst/>
          </a:prstGeom>
          <a:solidFill>
            <a:srgbClr val="EAF2F1"/>
          </a:solidFill>
          <a:ln w="15240">
            <a:solidFill>
              <a:srgbClr val="006D77"/>
            </a:solidFill>
          </a:ln>
        </p:spPr>
      </p:sp>
      <p:sp>
        <p:nvSpPr>
          <p:cNvPr id="13" name="text-90">
            <a:extLst>
              <a:ext uri="{FF2B5EF4-FFF2-40B4-BE49-F238E27FC236}">
                <a16:creationId xmlns:a16="http://schemas.microsoft.com/office/drawing/2014/main" id="{3ADEE209-B364-4475-9F12-25D5FDB75C63}"/>
              </a:ext>
            </a:extLst>
          </p:cNvPr>
          <p:cNvSpPr>
            <a:spLocks noGrp="1"/>
          </p:cNvSpPr>
          <p:nvPr/>
        </p:nvSpPr>
        <p:spPr>
          <a:xfrm>
            <a:off x="4533900" y="3667887"/>
            <a:ext cx="3124200" cy="656844"/>
          </a:xfrm>
          <a:prstGeom prst="rect">
            <a:avLst/>
          </a:prstGeom>
          <a:noFill/>
          <a:ln w="0">
            <a:noFill/>
          </a:ln>
        </p:spPr>
        <p:txBody>
          <a:bodyPr wrap="square" lIns="0" tIns="0" rIns="0" bIns="0" anchor="t">
            <a:noAutofit/>
          </a:bodyPr>
          <a:lstStyle>
            <a:defPPr algn="ctr">
              <a:defRPr sz="2175" b="1">
                <a:solidFill>
                  <a:srgbClr val="102A43"/>
                </a:solidFill>
                <a:latin typeface="Arial"/>
                <a:ea typeface="Arial"/>
                <a:cs typeface="Arial"/>
              </a:defRPr>
            </a:defPPr>
          </a:lstStyle>
          <a:p>
            <a:pPr algn="ctr">
              <a:lnSpc>
                <a:spcPct val="112000"/>
              </a:lnSpc>
              <a:buNone/>
              <a:defRPr sz="2175" b="1">
                <a:solidFill>
                  <a:srgbClr val="102A43"/>
                </a:solidFill>
                <a:latin typeface="Arial"/>
                <a:ea typeface="Arial"/>
                <a:cs typeface="Arial"/>
              </a:defRPr>
            </a:pPr>
            <a:r>
              <a:rPr sz="2175" b="1">
                <a:solidFill>
                  <a:srgbClr val="102A43"/>
                </a:solidFill>
                <a:latin typeface="Arial"/>
                <a:ea typeface="Arial"/>
                <a:cs typeface="Arial"/>
              </a:rPr>
              <a:t>Shared reasoning</a:t>
            </a:r>
          </a:p>
          <a:p>
            <a:pPr algn="ctr">
              <a:lnSpc>
                <a:spcPct val="112000"/>
              </a:lnSpc>
              <a:buNone/>
              <a:defRPr sz="2175" b="1">
                <a:solidFill>
                  <a:srgbClr val="102A43"/>
                </a:solidFill>
                <a:latin typeface="Arial"/>
                <a:ea typeface="Arial"/>
                <a:cs typeface="Arial"/>
              </a:defRPr>
            </a:pPr>
            <a:r>
              <a:rPr sz="2175" b="1">
                <a:solidFill>
                  <a:srgbClr val="102A43"/>
                </a:solidFill>
                <a:latin typeface="Arial"/>
                <a:ea typeface="Arial"/>
                <a:cs typeface="Arial"/>
              </a:rPr>
              <a:t>agent</a:t>
            </a:r>
          </a:p>
        </p:txBody>
      </p:sp>
      <p:sp>
        <p:nvSpPr>
          <p:cNvPr id="14" name="text-91">
            <a:extLst>
              <a:ext uri="{FF2B5EF4-FFF2-40B4-BE49-F238E27FC236}">
                <a16:creationId xmlns:a16="http://schemas.microsoft.com/office/drawing/2014/main" id="{2A35F806-BC54-4365-97EB-B715028CAB5C}"/>
              </a:ext>
            </a:extLst>
          </p:cNvPr>
          <p:cNvSpPr>
            <a:spLocks noGrp="1"/>
          </p:cNvSpPr>
          <p:nvPr/>
        </p:nvSpPr>
        <p:spPr>
          <a:xfrm>
            <a:off x="4505325" y="4362831"/>
            <a:ext cx="3181350" cy="294132"/>
          </a:xfrm>
          <a:prstGeom prst="rect">
            <a:avLst/>
          </a:prstGeom>
          <a:noFill/>
          <a:ln w="0">
            <a:noFill/>
          </a:ln>
        </p:spPr>
        <p:txBody>
          <a:bodyPr wrap="square" lIns="0" tIns="0" rIns="0" bIns="0" anchor="t">
            <a:noAutofit/>
          </a:bodyPr>
          <a:lstStyle>
            <a:defPPr algn="ctr">
              <a:defRPr sz="1800" b="0">
                <a:solidFill>
                  <a:srgbClr val="4D6270"/>
                </a:solidFill>
                <a:latin typeface="Arial"/>
                <a:ea typeface="Arial"/>
                <a:cs typeface="Arial"/>
              </a:defRPr>
            </a:defPPr>
          </a:lstStyle>
          <a:p>
            <a:pPr algn="ctr">
              <a:lnSpc>
                <a:spcPct val="112000"/>
              </a:lnSpc>
              <a:buNone/>
              <a:defRPr sz="1800" b="0">
                <a:solidFill>
                  <a:srgbClr val="4D6270"/>
                </a:solidFill>
                <a:latin typeface="Arial"/>
                <a:ea typeface="Arial"/>
                <a:cs typeface="Arial"/>
              </a:defRPr>
            </a:pPr>
            <a:r>
              <a:rPr sz="1800" b="0">
                <a:solidFill>
                  <a:srgbClr val="4D6270"/>
                </a:solidFill>
                <a:latin typeface="Arial"/>
                <a:ea typeface="Arial"/>
                <a:cs typeface="Arial"/>
              </a:rPr>
              <a:t>One task and session state</a:t>
            </a:r>
          </a:p>
        </p:txBody>
      </p:sp>
      <p:sp>
        <p:nvSpPr>
          <p:cNvPr id="15" name="shape-92">
            <a:extLst>
              <a:ext uri="{FF2B5EF4-FFF2-40B4-BE49-F238E27FC236}">
                <a16:creationId xmlns:a16="http://schemas.microsoft.com/office/drawing/2014/main" id="{E1C14183-2D50-4676-8006-6DA200DEADB2}"/>
              </a:ext>
            </a:extLst>
          </p:cNvPr>
          <p:cNvSpPr>
            <a:spLocks noGrp="1"/>
          </p:cNvSpPr>
          <p:nvPr/>
        </p:nvSpPr>
        <p:spPr>
          <a:xfrm>
            <a:off x="8858250" y="3600450"/>
            <a:ext cx="2724150" cy="1085850"/>
          </a:xfrm>
          <a:prstGeom prst="rect">
            <a:avLst/>
          </a:prstGeom>
          <a:solidFill>
            <a:srgbClr val="FFFFFF"/>
          </a:solidFill>
          <a:ln w="15240">
            <a:solidFill>
              <a:srgbClr val="006D77"/>
            </a:solidFill>
          </a:ln>
        </p:spPr>
      </p:sp>
      <p:sp>
        <p:nvSpPr>
          <p:cNvPr id="16" name="text-93">
            <a:extLst>
              <a:ext uri="{FF2B5EF4-FFF2-40B4-BE49-F238E27FC236}">
                <a16:creationId xmlns:a16="http://schemas.microsoft.com/office/drawing/2014/main" id="{12705B72-37E9-4016-867B-5F5BEE54E63F}"/>
              </a:ext>
            </a:extLst>
          </p:cNvPr>
          <p:cNvSpPr>
            <a:spLocks noGrp="1"/>
          </p:cNvSpPr>
          <p:nvPr/>
        </p:nvSpPr>
        <p:spPr>
          <a:xfrm>
            <a:off x="9010650" y="3694557"/>
            <a:ext cx="2419350" cy="614172"/>
          </a:xfrm>
          <a:prstGeom prst="rect">
            <a:avLst/>
          </a:prstGeom>
          <a:noFill/>
          <a:ln w="0">
            <a:noFill/>
          </a:ln>
        </p:spPr>
        <p:txBody>
          <a:bodyPr wrap="square" lIns="0" tIns="0" rIns="0" bIns="0" anchor="t">
            <a:noAutofit/>
          </a:bodyPr>
          <a:lstStyle>
            <a:defPPr algn="ctr">
              <a:defRPr sz="2025" b="1">
                <a:solidFill>
                  <a:srgbClr val="102A43"/>
                </a:solidFill>
                <a:latin typeface="Arial"/>
                <a:ea typeface="Arial"/>
                <a:cs typeface="Arial"/>
              </a:defRPr>
            </a:defPPr>
          </a:lstStyle>
          <a:p>
            <a:pPr algn="ctr">
              <a:lnSpc>
                <a:spcPct val="112000"/>
              </a:lnSpc>
              <a:buNone/>
              <a:defRPr sz="2025" b="1">
                <a:solidFill>
                  <a:srgbClr val="102A43"/>
                </a:solidFill>
                <a:latin typeface="Arial"/>
                <a:ea typeface="Arial"/>
                <a:cs typeface="Arial"/>
              </a:defRPr>
            </a:pPr>
            <a:r>
              <a:rPr sz="2025" b="1">
                <a:solidFill>
                  <a:srgbClr val="102A43"/>
                </a:solidFill>
                <a:latin typeface="Arial"/>
                <a:ea typeface="Arial"/>
                <a:cs typeface="Arial"/>
              </a:rPr>
              <a:t>Answer and</a:t>
            </a:r>
          </a:p>
          <a:p>
            <a:pPr algn="ctr">
              <a:lnSpc>
                <a:spcPct val="112000"/>
              </a:lnSpc>
              <a:buNone/>
              <a:defRPr sz="2025" b="1">
                <a:solidFill>
                  <a:srgbClr val="102A43"/>
                </a:solidFill>
                <a:latin typeface="Arial"/>
                <a:ea typeface="Arial"/>
                <a:cs typeface="Arial"/>
              </a:defRPr>
            </a:pPr>
            <a:r>
              <a:rPr sz="2025" b="1">
                <a:solidFill>
                  <a:srgbClr val="102A43"/>
                </a:solidFill>
                <a:latin typeface="Arial"/>
                <a:ea typeface="Arial"/>
                <a:cs typeface="Arial"/>
              </a:rPr>
              <a:t>records</a:t>
            </a:r>
          </a:p>
        </p:txBody>
      </p:sp>
      <p:sp>
        <p:nvSpPr>
          <p:cNvPr id="17" name="text-94">
            <a:extLst>
              <a:ext uri="{FF2B5EF4-FFF2-40B4-BE49-F238E27FC236}">
                <a16:creationId xmlns:a16="http://schemas.microsoft.com/office/drawing/2014/main" id="{F842E50F-505C-486C-B598-B1DBBC03DB46}"/>
              </a:ext>
            </a:extLst>
          </p:cNvPr>
          <p:cNvSpPr>
            <a:spLocks noGrp="1"/>
          </p:cNvSpPr>
          <p:nvPr/>
        </p:nvSpPr>
        <p:spPr>
          <a:xfrm>
            <a:off x="8982075" y="4346829"/>
            <a:ext cx="2476500" cy="283464"/>
          </a:xfrm>
          <a:prstGeom prst="rect">
            <a:avLst/>
          </a:prstGeom>
          <a:noFill/>
          <a:ln w="0">
            <a:noFill/>
          </a:ln>
        </p:spPr>
        <p:txBody>
          <a:bodyPr wrap="square" lIns="0" tIns="0" rIns="0" bIns="0" anchor="t">
            <a:noAutofit/>
          </a:bodyPr>
          <a:lstStyle>
            <a:defPPr algn="ctr">
              <a:defRPr sz="1725" b="0">
                <a:solidFill>
                  <a:srgbClr val="4D6270"/>
                </a:solidFill>
                <a:latin typeface="Arial"/>
                <a:ea typeface="Arial"/>
                <a:cs typeface="Arial"/>
              </a:defRPr>
            </a:defPPr>
          </a:lstStyle>
          <a:p>
            <a:pPr algn="ctr">
              <a:lnSpc>
                <a:spcPct val="112000"/>
              </a:lnSpc>
              <a:buNone/>
              <a:defRPr sz="1725" b="0">
                <a:solidFill>
                  <a:srgbClr val="4D6270"/>
                </a:solidFill>
                <a:latin typeface="Arial"/>
                <a:ea typeface="Arial"/>
                <a:cs typeface="Arial"/>
              </a:defRPr>
            </a:pPr>
            <a:r>
              <a:rPr sz="1725" b="0">
                <a:solidFill>
                  <a:srgbClr val="4D6270"/>
                </a:solidFill>
                <a:latin typeface="Arial"/>
                <a:ea typeface="Arial"/>
                <a:cs typeface="Arial"/>
              </a:rPr>
              <a:t>Visible in the workspace</a:t>
            </a:r>
          </a:p>
        </p:txBody>
      </p:sp>
      <p:sp>
        <p:nvSpPr>
          <p:cNvPr id="18" name="symbol-agent-95">
            <a:extLst>
              <a:ext uri="{FF2B5EF4-FFF2-40B4-BE49-F238E27FC236}">
                <a16:creationId xmlns:a16="http://schemas.microsoft.com/office/drawing/2014/main" id="{C2BF138B-A64A-4BB5-BC39-450010ABA027}"/>
              </a:ext>
            </a:extLst>
          </p:cNvPr>
          <p:cNvSpPr>
            <a:spLocks noGrp="1"/>
          </p:cNvSpPr>
          <p:nvPr/>
        </p:nvSpPr>
        <p:spPr>
          <a:xfrm>
            <a:off x="5924550" y="3267075"/>
            <a:ext cx="323850" cy="238125"/>
          </a:xfrm>
          <a:prstGeom prst="roundRect">
            <a:avLst>
              <a:gd name="adj" fmla="val 32000"/>
            </a:avLst>
          </a:prstGeom>
          <a:solidFill>
            <a:srgbClr val="FFFFFF"/>
          </a:solidFill>
          <a:ln w="19050">
            <a:solidFill>
              <a:srgbClr val="006D77"/>
            </a:solidFill>
          </a:ln>
        </p:spPr>
      </p:sp>
      <p:cxnSp>
        <p:nvCxnSpPr>
          <p:cNvPr id="19" name="link-96">
            <a:extLst>
              <a:ext uri="{FF2B5EF4-FFF2-40B4-BE49-F238E27FC236}">
                <a16:creationId xmlns:a16="http://schemas.microsoft.com/office/drawing/2014/main" id="{0C16395C-31F3-4432-9E0D-05503501C00C}"/>
              </a:ext>
            </a:extLst>
          </p:cNvPr>
          <p:cNvCxnSpPr/>
          <p:nvPr/>
        </p:nvCxnSpPr>
        <p:spPr>
          <a:xfrm>
            <a:off x="6086475" y="3190875"/>
            <a:ext cx="0" cy="76200"/>
          </a:xfrm>
          <a:prstGeom prst="straightConnector1">
            <a:avLst/>
          </a:prstGeom>
          <a:ln w="19050">
            <a:solidFill>
              <a:srgbClr val="006D77"/>
            </a:solidFill>
            <a:prstDash val="solid"/>
          </a:ln>
        </p:spPr>
      </p:cxnSp>
      <p:sp>
        <p:nvSpPr>
          <p:cNvPr id="20" name="symbol-agent-97">
            <a:extLst>
              <a:ext uri="{FF2B5EF4-FFF2-40B4-BE49-F238E27FC236}">
                <a16:creationId xmlns:a16="http://schemas.microsoft.com/office/drawing/2014/main" id="{5482858C-C808-4646-A26F-44313D83C97C}"/>
              </a:ext>
            </a:extLst>
          </p:cNvPr>
          <p:cNvSpPr>
            <a:spLocks noGrp="1"/>
          </p:cNvSpPr>
          <p:nvPr/>
        </p:nvSpPr>
        <p:spPr>
          <a:xfrm>
            <a:off x="6057900" y="3152775"/>
            <a:ext cx="57150" cy="57150"/>
          </a:xfrm>
          <a:prstGeom prst="ellipse">
            <a:avLst/>
          </a:prstGeom>
          <a:solidFill>
            <a:srgbClr val="006D77"/>
          </a:solidFill>
          <a:ln w="19050">
            <a:solidFill>
              <a:srgbClr val="006D77"/>
            </a:solidFill>
          </a:ln>
        </p:spPr>
      </p:sp>
      <p:sp>
        <p:nvSpPr>
          <p:cNvPr id="21" name="symbol-agent-98">
            <a:extLst>
              <a:ext uri="{FF2B5EF4-FFF2-40B4-BE49-F238E27FC236}">
                <a16:creationId xmlns:a16="http://schemas.microsoft.com/office/drawing/2014/main" id="{D3BC4CF6-DC2D-4389-B487-6281428F40A6}"/>
              </a:ext>
            </a:extLst>
          </p:cNvPr>
          <p:cNvSpPr>
            <a:spLocks noGrp="1"/>
          </p:cNvSpPr>
          <p:nvPr/>
        </p:nvSpPr>
        <p:spPr>
          <a:xfrm>
            <a:off x="6010275" y="3381375"/>
            <a:ext cx="47625" cy="47625"/>
          </a:xfrm>
          <a:prstGeom prst="ellipse">
            <a:avLst/>
          </a:prstGeom>
          <a:solidFill>
            <a:srgbClr val="006D77"/>
          </a:solidFill>
          <a:ln w="19050">
            <a:solidFill>
              <a:srgbClr val="006D77"/>
            </a:solidFill>
          </a:ln>
        </p:spPr>
      </p:sp>
      <p:sp>
        <p:nvSpPr>
          <p:cNvPr id="22" name="symbol-agent-99">
            <a:extLst>
              <a:ext uri="{FF2B5EF4-FFF2-40B4-BE49-F238E27FC236}">
                <a16:creationId xmlns:a16="http://schemas.microsoft.com/office/drawing/2014/main" id="{FE16BEE2-4096-41C9-887D-32A22966E1FD}"/>
              </a:ext>
            </a:extLst>
          </p:cNvPr>
          <p:cNvSpPr>
            <a:spLocks noGrp="1"/>
          </p:cNvSpPr>
          <p:nvPr/>
        </p:nvSpPr>
        <p:spPr>
          <a:xfrm>
            <a:off x="6115050" y="3381375"/>
            <a:ext cx="47625" cy="47625"/>
          </a:xfrm>
          <a:prstGeom prst="ellipse">
            <a:avLst/>
          </a:prstGeom>
          <a:solidFill>
            <a:srgbClr val="006D77"/>
          </a:solidFill>
          <a:ln w="19050">
            <a:solidFill>
              <a:srgbClr val="006D77"/>
            </a:solidFill>
          </a:ln>
        </p:spPr>
      </p:sp>
      <p:cxnSp>
        <p:nvCxnSpPr>
          <p:cNvPr id="23" name="link-100">
            <a:extLst>
              <a:ext uri="{FF2B5EF4-FFF2-40B4-BE49-F238E27FC236}">
                <a16:creationId xmlns:a16="http://schemas.microsoft.com/office/drawing/2014/main" id="{7568024B-7EB0-4FDA-9D8D-BB7DD9B71CDC}"/>
              </a:ext>
            </a:extLst>
          </p:cNvPr>
          <p:cNvCxnSpPr/>
          <p:nvPr/>
        </p:nvCxnSpPr>
        <p:spPr>
          <a:xfrm>
            <a:off x="6038850" y="3495675"/>
            <a:ext cx="95250" cy="0"/>
          </a:xfrm>
          <a:prstGeom prst="straightConnector1">
            <a:avLst/>
          </a:prstGeom>
          <a:ln w="19050">
            <a:solidFill>
              <a:srgbClr val="006D77"/>
            </a:solidFill>
            <a:prstDash val="solid"/>
          </a:ln>
        </p:spPr>
      </p:cxnSp>
      <p:sp>
        <p:nvSpPr>
          <p:cNvPr id="26" name="text-101">
            <a:extLst>
              <a:ext uri="{FF2B5EF4-FFF2-40B4-BE49-F238E27FC236}">
                <a16:creationId xmlns:a16="http://schemas.microsoft.com/office/drawing/2014/main" id="{A48F0AF9-8A47-43F9-9A9E-DBF27E86D7B6}"/>
              </a:ext>
            </a:extLst>
          </p:cNvPr>
          <p:cNvSpPr>
            <a:spLocks noGrp="1"/>
          </p:cNvSpPr>
          <p:nvPr/>
        </p:nvSpPr>
        <p:spPr>
          <a:xfrm>
            <a:off x="609600" y="5248275"/>
            <a:ext cx="10972800" cy="628650"/>
          </a:xfrm>
          <a:prstGeom prst="rect">
            <a:avLst/>
          </a:prstGeom>
          <a:noFill/>
          <a:ln w="0">
            <a:noFill/>
          </a:ln>
        </p:spPr>
        <p:txBody>
          <a:bodyPr wrap="square" lIns="0" tIns="0" rIns="0" bIns="0" anchor="t">
            <a:noAutofit/>
          </a:bodyPr>
          <a:lstStyle>
            <a:defPPr algn="l">
              <a:defRPr sz="2175" b="1">
                <a:solidFill>
                  <a:srgbClr val="17324A"/>
                </a:solidFill>
                <a:latin typeface="Arial"/>
                <a:ea typeface="Arial"/>
                <a:cs typeface="Arial"/>
              </a:defRPr>
            </a:defPPr>
          </a:lstStyle>
          <a:p>
            <a:pPr algn="l">
              <a:lnSpc>
                <a:spcPct val="112000"/>
              </a:lnSpc>
              <a:buNone/>
              <a:defRPr sz="2175" b="1">
                <a:solidFill>
                  <a:srgbClr val="17324A"/>
                </a:solidFill>
                <a:latin typeface="Arial"/>
                <a:ea typeface="Arial"/>
                <a:cs typeface="Arial"/>
              </a:defRPr>
            </a:pPr>
            <a:r>
              <a:rPr sz="2175" b="1">
                <a:solidFill>
                  <a:srgbClr val="17324A"/>
                </a:solidFill>
                <a:latin typeface="Arial"/>
                <a:ea typeface="Arial"/>
                <a:cs typeface="Arial"/>
              </a:rPr>
              <a:t>A single reasoning loop combines API execution with semantic in-app context.</a:t>
            </a:r>
          </a:p>
        </p:txBody>
      </p:sp>
      <p:sp>
        <p:nvSpPr>
          <p:cNvPr id="27" name="text-102">
            <a:extLst>
              <a:ext uri="{FF2B5EF4-FFF2-40B4-BE49-F238E27FC236}">
                <a16:creationId xmlns:a16="http://schemas.microsoft.com/office/drawing/2014/main" id="{4F67AA30-ED80-416E-9D6C-DD897FA0FAA0}"/>
              </a:ext>
            </a:extLst>
          </p:cNvPr>
          <p:cNvSpPr>
            <a:spLocks noGrp="1"/>
          </p:cNvSpPr>
          <p:nvPr/>
        </p:nvSpPr>
        <p:spPr>
          <a:xfrm>
            <a:off x="609600" y="6029325"/>
            <a:ext cx="10972800" cy="285750"/>
          </a:xfrm>
          <a:prstGeom prst="rect">
            <a:avLst/>
          </a:prstGeom>
          <a:noFill/>
          <a:ln w="0">
            <a:noFill/>
          </a:ln>
        </p:spPr>
        <p:txBody>
          <a:bodyPr wrap="square" lIns="0" tIns="0" rIns="0" bIns="0" anchor="t">
            <a:noAutofit/>
          </a:bodyPr>
          <a:lstStyle>
            <a:defPPr algn="l">
              <a:defRPr sz="1500" b="0">
                <a:solidFill>
                  <a:srgbClr val="4D6270"/>
                </a:solidFill>
                <a:latin typeface="Arial"/>
                <a:ea typeface="Arial"/>
                <a:cs typeface="Arial"/>
              </a:defRPr>
            </a:defPPr>
          </a:lstStyle>
          <a:p>
            <a:pPr algn="l">
              <a:lnSpc>
                <a:spcPct val="112000"/>
              </a:lnSpc>
              <a:buNone/>
              <a:defRPr sz="1500" b="0">
                <a:solidFill>
                  <a:srgbClr val="4D6270"/>
                </a:solidFill>
                <a:latin typeface="Arial"/>
                <a:ea typeface="Arial"/>
                <a:cs typeface="Arial"/>
              </a:defRPr>
            </a:pPr>
            <a:r>
              <a:rPr sz="1500" b="0">
                <a:solidFill>
                  <a:srgbClr val="4D6270"/>
                </a:solidFill>
                <a:latin typeface="Arial"/>
                <a:ea typeface="Arial"/>
                <a:cs typeface="Arial"/>
              </a:rPr>
              <a:t>Proposed integrated behavior. The API agent and the ERPNext bridge are built and verified separately.</a:t>
            </a:r>
          </a:p>
        </p:txBody>
      </p:sp>
      <p:pic>
        <p:nvPicPr>
          <p:cNvPr id="28" name="Picture 27">
            <a:extLst>
              <a:ext uri="{FF2B5EF4-FFF2-40B4-BE49-F238E27FC236}">
                <a16:creationId xmlns:a16="http://schemas.microsoft.com/office/drawing/2014/main" id="{6860344A-5DFE-48CB-B22A-D2FE20620F97}"/>
              </a:ext>
            </a:extLst>
          </p:cNvPr>
          <p:cNvPicPr>
            <a:picLocks noChangeAspect="1"/>
          </p:cNvPicPr>
          <p:nvPr/>
        </p:nvPicPr>
        <p:blipFill>
          <a:blip r:embed="rId3"/>
          <a:stretch/>
        </p:blipFill>
        <p:spPr>
          <a:xfrm>
            <a:off x="9220220" y="295275"/>
            <a:ext cx="2362160" cy="442436"/>
          </a:xfrm>
          <a:prstGeom prst="rect">
            <a:avLst/>
          </a:prstGeom>
        </p:spPr>
      </p:pic>
    </p:spTree>
    <p:extLst>
      <p:ext uri="{BB962C8B-B14F-4D97-AF65-F5344CB8AC3E}">
        <p14:creationId xmlns:p14="http://schemas.microsoft.com/office/powerpoint/2010/main" val="16780943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shape-103">
            <a:extLst>
              <a:ext uri="{FF2B5EF4-FFF2-40B4-BE49-F238E27FC236}">
                <a16:creationId xmlns:a16="http://schemas.microsoft.com/office/drawing/2014/main" id="{2562CD2C-9E3E-4C69-A477-A75E7A395205}"/>
              </a:ext>
            </a:extLst>
          </p:cNvPr>
          <p:cNvSpPr>
            <a:spLocks noGrp="1"/>
          </p:cNvSpPr>
          <p:nvPr/>
        </p:nvSpPr>
        <p:spPr>
          <a:xfrm>
            <a:off x="0" y="0"/>
            <a:ext cx="12192000" cy="1066800"/>
          </a:xfrm>
          <a:prstGeom prst="rect">
            <a:avLst/>
          </a:prstGeom>
          <a:solidFill>
            <a:srgbClr val="F2F6F7"/>
          </a:solidFill>
          <a:ln w="0">
            <a:noFill/>
          </a:ln>
        </p:spPr>
      </p:sp>
      <p:sp>
        <p:nvSpPr>
          <p:cNvPr id="2" name="shape-104">
            <a:extLst>
              <a:ext uri="{FF2B5EF4-FFF2-40B4-BE49-F238E27FC236}">
                <a16:creationId xmlns:a16="http://schemas.microsoft.com/office/drawing/2014/main" id="{71631536-2294-40C9-AC9F-AFC33E3B96DA}"/>
              </a:ext>
            </a:extLst>
          </p:cNvPr>
          <p:cNvSpPr>
            <a:spLocks noGrp="1"/>
          </p:cNvSpPr>
          <p:nvPr/>
        </p:nvSpPr>
        <p:spPr>
          <a:xfrm>
            <a:off x="0" y="1038225"/>
            <a:ext cx="12192000" cy="28575"/>
          </a:xfrm>
          <a:prstGeom prst="rect">
            <a:avLst/>
          </a:prstGeom>
          <a:solidFill>
            <a:srgbClr val="006D77"/>
          </a:solidFill>
          <a:ln w="0">
            <a:noFill/>
          </a:ln>
        </p:spPr>
      </p:sp>
      <p:sp>
        <p:nvSpPr>
          <p:cNvPr id="3" name="slide-5-title">
            <a:extLst>
              <a:ext uri="{FF2B5EF4-FFF2-40B4-BE49-F238E27FC236}">
                <a16:creationId xmlns:a16="http://schemas.microsoft.com/office/drawing/2014/main" id="{1455044C-2DA0-495A-9F6C-D56E6E0D2C68}"/>
              </a:ext>
            </a:extLst>
          </p:cNvPr>
          <p:cNvSpPr>
            <a:spLocks noGrp="1"/>
          </p:cNvSpPr>
          <p:nvPr/>
        </p:nvSpPr>
        <p:spPr>
          <a:xfrm>
            <a:off x="609600" y="304800"/>
            <a:ext cx="8239125" cy="542925"/>
          </a:xfrm>
          <a:prstGeom prst="rect">
            <a:avLst/>
          </a:prstGeom>
          <a:noFill/>
          <a:ln w="0">
            <a:noFill/>
          </a:ln>
        </p:spPr>
        <p:txBody>
          <a:bodyPr wrap="square" lIns="0" tIns="0" rIns="0" bIns="0" anchor="t">
            <a:noAutofit/>
          </a:bodyPr>
          <a:lstStyle>
            <a:defPPr algn="l">
              <a:defRPr sz="3150" b="1">
                <a:solidFill>
                  <a:srgbClr val="102A43"/>
                </a:solidFill>
                <a:latin typeface="Arial"/>
                <a:ea typeface="Arial"/>
                <a:cs typeface="Arial"/>
              </a:defRPr>
            </a:defPPr>
          </a:lstStyle>
          <a:p>
            <a:pPr algn="l">
              <a:lnSpc>
                <a:spcPct val="112000"/>
              </a:lnSpc>
              <a:buNone/>
              <a:defRPr sz="3150" b="1">
                <a:solidFill>
                  <a:srgbClr val="102A43"/>
                </a:solidFill>
                <a:latin typeface="Arial"/>
                <a:ea typeface="Arial"/>
                <a:cs typeface="Arial"/>
              </a:defRPr>
            </a:pPr>
            <a:r>
              <a:rPr sz="3150" b="1">
                <a:solidFill>
                  <a:srgbClr val="102A43"/>
                </a:solidFill>
                <a:latin typeface="Arial"/>
                <a:ea typeface="Arial"/>
                <a:cs typeface="Arial"/>
              </a:rPr>
              <a:t>Objectives</a:t>
            </a:r>
          </a:p>
        </p:txBody>
      </p:sp>
      <p:sp>
        <p:nvSpPr>
          <p:cNvPr id="4" name="shape-105">
            <a:extLst>
              <a:ext uri="{FF2B5EF4-FFF2-40B4-BE49-F238E27FC236}">
                <a16:creationId xmlns:a16="http://schemas.microsoft.com/office/drawing/2014/main" id="{B38EE9C8-9B23-41DE-BCB7-61D9A656A111}"/>
              </a:ext>
            </a:extLst>
          </p:cNvPr>
          <p:cNvSpPr>
            <a:spLocks noGrp="1"/>
          </p:cNvSpPr>
          <p:nvPr/>
        </p:nvSpPr>
        <p:spPr>
          <a:xfrm>
            <a:off x="0" y="6381750"/>
            <a:ext cx="12192000" cy="476250"/>
          </a:xfrm>
          <a:prstGeom prst="rect">
            <a:avLst/>
          </a:prstGeom>
          <a:solidFill>
            <a:srgbClr val="102A43"/>
          </a:solidFill>
          <a:ln w="0">
            <a:noFill/>
          </a:ln>
        </p:spPr>
      </p:sp>
      <p:sp>
        <p:nvSpPr>
          <p:cNvPr id="5" name="brand-5">
            <a:extLst>
              <a:ext uri="{FF2B5EF4-FFF2-40B4-BE49-F238E27FC236}">
                <a16:creationId xmlns:a16="http://schemas.microsoft.com/office/drawing/2014/main" id="{31610A6C-CA92-42F2-9154-E5526A315EAE}"/>
              </a:ext>
            </a:extLst>
          </p:cNvPr>
          <p:cNvSpPr>
            <a:spLocks noGrp="1"/>
          </p:cNvSpPr>
          <p:nvPr/>
        </p:nvSpPr>
        <p:spPr>
          <a:xfrm>
            <a:off x="609600" y="6467475"/>
            <a:ext cx="3429000" cy="333375"/>
          </a:xfrm>
          <a:prstGeom prst="rect">
            <a:avLst/>
          </a:prstGeom>
          <a:noFill/>
          <a:ln w="0">
            <a:noFill/>
          </a:ln>
        </p:spPr>
        <p:txBody>
          <a:bodyPr wrap="square" lIns="0" tIns="0" rIns="0" bIns="0" anchor="t">
            <a:noAutofit/>
          </a:bodyPr>
          <a:lstStyle>
            <a:defPPr algn="l">
              <a:defRPr sz="1950" b="1">
                <a:solidFill>
                  <a:srgbClr val="8AE1D5"/>
                </a:solidFill>
                <a:latin typeface="Arial"/>
                <a:ea typeface="Arial"/>
                <a:cs typeface="Arial"/>
              </a:defRPr>
            </a:defPPr>
          </a:lstStyle>
          <a:p>
            <a:pPr algn="l">
              <a:lnSpc>
                <a:spcPct val="112000"/>
              </a:lnSpc>
              <a:buNone/>
              <a:defRPr sz="1950" b="1">
                <a:solidFill>
                  <a:srgbClr val="8AE1D5"/>
                </a:solidFill>
                <a:latin typeface="Arial"/>
                <a:ea typeface="Arial"/>
                <a:cs typeface="Arial"/>
              </a:defRPr>
            </a:pPr>
            <a:r>
              <a:rPr sz="1950" b="1">
                <a:solidFill>
                  <a:srgbClr val="8AE1D5"/>
                </a:solidFill>
                <a:latin typeface="Arial"/>
                <a:ea typeface="Arial"/>
                <a:cs typeface="Arial"/>
              </a:rPr>
              <a:t>Sapience</a:t>
            </a:r>
          </a:p>
        </p:txBody>
      </p:sp>
      <p:sp>
        <p:nvSpPr>
          <p:cNvPr id="6" name="page-5">
            <a:extLst>
              <a:ext uri="{FF2B5EF4-FFF2-40B4-BE49-F238E27FC236}">
                <a16:creationId xmlns:a16="http://schemas.microsoft.com/office/drawing/2014/main" id="{3FA06EAC-5E3E-4A4F-BC8D-300A8EEAF3F5}"/>
              </a:ext>
            </a:extLst>
          </p:cNvPr>
          <p:cNvSpPr>
            <a:spLocks noGrp="1"/>
          </p:cNvSpPr>
          <p:nvPr/>
        </p:nvSpPr>
        <p:spPr>
          <a:xfrm>
            <a:off x="10629900" y="6505575"/>
            <a:ext cx="952500" cy="276225"/>
          </a:xfrm>
          <a:prstGeom prst="rect">
            <a:avLst/>
          </a:prstGeom>
          <a:noFill/>
          <a:ln w="0">
            <a:noFill/>
          </a:ln>
        </p:spPr>
        <p:txBody>
          <a:bodyPr wrap="square" lIns="0" tIns="0" rIns="0" bIns="0" anchor="t">
            <a:noAutofit/>
          </a:bodyPr>
          <a:lstStyle>
            <a:defPPr algn="r">
              <a:defRPr sz="1575" b="0">
                <a:solidFill>
                  <a:srgbClr val="FFFFFF"/>
                </a:solidFill>
                <a:latin typeface="Arial"/>
                <a:ea typeface="Arial"/>
                <a:cs typeface="Arial"/>
              </a:defRPr>
            </a:defPPr>
          </a:lstStyle>
          <a:p>
            <a:pPr algn="r">
              <a:lnSpc>
                <a:spcPct val="112000"/>
              </a:lnSpc>
              <a:buNone/>
              <a:defRPr sz="1575" b="0">
                <a:solidFill>
                  <a:srgbClr val="FFFFFF"/>
                </a:solidFill>
                <a:latin typeface="Arial"/>
                <a:ea typeface="Arial"/>
                <a:cs typeface="Arial"/>
              </a:defRPr>
            </a:pPr>
            <a:r>
              <a:rPr sz="1575" b="0">
                <a:solidFill>
                  <a:srgbClr val="FFFFFF"/>
                </a:solidFill>
                <a:latin typeface="Arial"/>
                <a:ea typeface="Arial"/>
                <a:cs typeface="Arial"/>
              </a:rPr>
              <a:t>06 / 18</a:t>
            </a:r>
          </a:p>
        </p:txBody>
      </p:sp>
      <p:sp>
        <p:nvSpPr>
          <p:cNvPr id="7" name="text-106">
            <a:extLst>
              <a:ext uri="{FF2B5EF4-FFF2-40B4-BE49-F238E27FC236}">
                <a16:creationId xmlns:a16="http://schemas.microsoft.com/office/drawing/2014/main" id="{70940FC8-0A43-40E5-8646-77A0CACA249D}"/>
              </a:ext>
            </a:extLst>
          </p:cNvPr>
          <p:cNvSpPr>
            <a:spLocks noGrp="1"/>
          </p:cNvSpPr>
          <p:nvPr/>
        </p:nvSpPr>
        <p:spPr>
          <a:xfrm>
            <a:off x="609600" y="1381125"/>
            <a:ext cx="10972800" cy="419100"/>
          </a:xfrm>
          <a:prstGeom prst="rect">
            <a:avLst/>
          </a:prstGeom>
          <a:noFill/>
          <a:ln w="0">
            <a:noFill/>
          </a:ln>
        </p:spPr>
        <p:txBody>
          <a:bodyPr wrap="square" lIns="0" tIns="0" rIns="0" bIns="0" anchor="t">
            <a:noAutofit/>
          </a:bodyPr>
          <a:lstStyle>
            <a:defPPr algn="l">
              <a:defRPr sz="2175" b="1">
                <a:solidFill>
                  <a:srgbClr val="006D77"/>
                </a:solidFill>
                <a:latin typeface="Arial"/>
                <a:ea typeface="Arial"/>
                <a:cs typeface="Arial"/>
              </a:defRPr>
            </a:defPPr>
          </a:lstStyle>
          <a:p>
            <a:pPr algn="l">
              <a:lnSpc>
                <a:spcPct val="112000"/>
              </a:lnSpc>
              <a:buNone/>
              <a:defRPr sz="2175" b="1">
                <a:solidFill>
                  <a:srgbClr val="006D77"/>
                </a:solidFill>
                <a:latin typeface="Arial"/>
                <a:ea typeface="Arial"/>
                <a:cs typeface="Arial"/>
              </a:defRPr>
            </a:pPr>
            <a:r>
              <a:rPr sz="2175" b="1">
                <a:solidFill>
                  <a:srgbClr val="006D77"/>
                </a:solidFill>
                <a:latin typeface="Arial"/>
                <a:ea typeface="Arial"/>
                <a:cs typeface="Arial"/>
              </a:rPr>
              <a:t>Proposed team targets for the final prototype evaluation</a:t>
            </a:r>
          </a:p>
        </p:txBody>
      </p:sp>
      <p:graphicFrame>
        <p:nvGraphicFramePr>
          <p:cNvPr id="8" name="Table 7">
            <a:extLst>
              <a:ext uri="{FF2B5EF4-FFF2-40B4-BE49-F238E27FC236}">
                <a16:creationId xmlns:a16="http://schemas.microsoft.com/office/drawing/2014/main" id="{C3707C37-F335-487C-89BE-D551C6851EB6}"/>
              </a:ext>
            </a:extLst>
          </p:cNvPr>
          <p:cNvGraphicFramePr/>
          <p:nvPr/>
        </p:nvGraphicFramePr>
        <p:xfrm>
          <a:off x="609600" y="2019300"/>
          <a:ext cx="10972800" cy="3724275"/>
        </p:xfrm>
        <a:graphic>
          <a:graphicData uri="http://schemas.openxmlformats.org/drawingml/2006/table">
            <a:tbl>
              <a:tblPr/>
              <a:tblGrid>
                <a:gridCol w="1428750">
                  <a:extLst>
                    <a:ext uri="{9D8B030D-6E8A-4147-A177-3AD203B41FA5}">
                      <a16:colId xmlns:a16="http://schemas.microsoft.com/office/drawing/2014/main" val="20000"/>
                    </a:ext>
                  </a:extLst>
                </a:gridCol>
                <a:gridCol w="3562350">
                  <a:extLst>
                    <a:ext uri="{9D8B030D-6E8A-4147-A177-3AD203B41FA5}">
                      <a16:colId xmlns:a16="http://schemas.microsoft.com/office/drawing/2014/main" val="20001"/>
                    </a:ext>
                  </a:extLst>
                </a:gridCol>
                <a:gridCol w="5981700">
                  <a:extLst>
                    <a:ext uri="{9D8B030D-6E8A-4147-A177-3AD203B41FA5}">
                      <a16:colId xmlns:a16="http://schemas.microsoft.com/office/drawing/2014/main" val="20002"/>
                    </a:ext>
                  </a:extLst>
                </a:gridCol>
              </a:tblGrid>
              <a:tr h="447675">
                <a:tc>
                  <a:txBody>
                    <a:bodyPr/>
                    <a:lstStyle/>
                    <a:p>
                      <a:pPr>
                        <a:lnSpc>
                          <a:spcPct val="108000"/>
                        </a:lnSpc>
                        <a:buNone/>
                      </a:pPr>
                      <a:r>
                        <a:rPr sz="1725" b="1">
                          <a:solidFill>
                            <a:srgbClr val="FFFFFF"/>
                          </a:solidFill>
                          <a:latin typeface="Arial"/>
                          <a:ea typeface="Arial"/>
                          <a:cs typeface="Arial"/>
                        </a:rPr>
                        <a:t>Target</a:t>
                      </a:r>
                    </a:p>
                  </a:txBody>
                  <a:tcPr marL="133350" marR="133350" marT="95250" marB="85725" anchor="ctr">
                    <a:lnL w="0">
                      <a:solidFill>
                        <a:srgbClr val="FFFFFF"/>
                      </a:solidFill>
                    </a:lnL>
                    <a:lnT w="7620">
                      <a:solidFill>
                        <a:srgbClr val="CDD7D9"/>
                      </a:solidFill>
                    </a:lnT>
                    <a:solidFill>
                      <a:srgbClr val="006D77"/>
                    </a:solidFill>
                  </a:tcPr>
                </a:tc>
                <a:tc>
                  <a:txBody>
                    <a:bodyPr/>
                    <a:lstStyle/>
                    <a:p>
                      <a:pPr>
                        <a:lnSpc>
                          <a:spcPct val="108000"/>
                        </a:lnSpc>
                        <a:buNone/>
                      </a:pPr>
                      <a:r>
                        <a:rPr sz="1725" b="1">
                          <a:solidFill>
                            <a:srgbClr val="FFFFFF"/>
                          </a:solidFill>
                          <a:latin typeface="Arial"/>
                          <a:ea typeface="Arial"/>
                          <a:cs typeface="Arial"/>
                        </a:rPr>
                        <a:t>Objective</a:t>
                      </a:r>
                    </a:p>
                  </a:txBody>
                  <a:tcPr marL="133350" marR="133350" marT="95250" marB="85725" anchor="ctr">
                    <a:lnT w="7620">
                      <a:solidFill>
                        <a:srgbClr val="CDD7D9"/>
                      </a:solidFill>
                    </a:lnT>
                    <a:solidFill>
                      <a:srgbClr val="006D77"/>
                    </a:solidFill>
                  </a:tcPr>
                </a:tc>
                <a:tc>
                  <a:txBody>
                    <a:bodyPr/>
                    <a:lstStyle/>
                    <a:p>
                      <a:pPr>
                        <a:lnSpc>
                          <a:spcPct val="108000"/>
                        </a:lnSpc>
                        <a:buNone/>
                      </a:pPr>
                      <a:r>
                        <a:rPr sz="1725" b="1">
                          <a:solidFill>
                            <a:srgbClr val="FFFFFF"/>
                          </a:solidFill>
                          <a:latin typeface="Arial"/>
                          <a:ea typeface="Arial"/>
                          <a:cs typeface="Arial"/>
                        </a:rPr>
                        <a:t>Acceptance criterion</a:t>
                      </a:r>
                    </a:p>
                  </a:txBody>
                  <a:tcPr marL="133350" marR="133350" marT="95250" marB="85725" anchor="ctr">
                    <a:lnR w="0">
                      <a:solidFill>
                        <a:srgbClr val="FFFFFF"/>
                      </a:solidFill>
                    </a:lnR>
                    <a:lnT w="7620">
                      <a:solidFill>
                        <a:srgbClr val="CDD7D9"/>
                      </a:solidFill>
                    </a:lnT>
                    <a:solidFill>
                      <a:srgbClr val="006D77"/>
                    </a:solidFill>
                  </a:tcPr>
                </a:tc>
                <a:extLst>
                  <a:ext uri="{0D108BD9-81ED-4DB2-BD59-A6C34878D82A}">
                    <a16:rowId xmlns:a16="http://schemas.microsoft.com/office/drawing/2014/main" val="10000"/>
                  </a:ext>
                </a:extLst>
              </a:tr>
              <a:tr h="819150">
                <a:tc>
                  <a:txBody>
                    <a:bodyPr/>
                    <a:lstStyle/>
                    <a:p>
                      <a:pPr>
                        <a:lnSpc>
                          <a:spcPct val="108000"/>
                        </a:lnSpc>
                        <a:buNone/>
                      </a:pPr>
                      <a:r>
                        <a:rPr sz="1725" b="1">
                          <a:solidFill>
                            <a:srgbClr val="17324A"/>
                          </a:solidFill>
                          <a:latin typeface="Arial"/>
                          <a:ea typeface="Arial"/>
                          <a:cs typeface="Arial"/>
                        </a:rPr>
                        <a:t>15 of 18</a:t>
                      </a:r>
                    </a:p>
                  </a:txBody>
                  <a:tcPr marL="133350" marR="133350" marT="95250" marB="85725" anchor="ctr">
                    <a:lnL w="0">
                      <a:solidFill>
                        <a:srgbClr val="FFFFFF"/>
                      </a:solidFill>
                    </a:lnL>
                    <a:solidFill>
                      <a:srgbClr val="F1F6F6"/>
                    </a:solidFill>
                  </a:tcPr>
                </a:tc>
                <a:tc>
                  <a:txBody>
                    <a:bodyPr/>
                    <a:lstStyle/>
                    <a:p>
                      <a:pPr>
                        <a:lnSpc>
                          <a:spcPct val="108000"/>
                        </a:lnSpc>
                        <a:buNone/>
                      </a:pPr>
                      <a:r>
                        <a:rPr sz="1725" b="0">
                          <a:solidFill>
                            <a:srgbClr val="17324A"/>
                          </a:solidFill>
                          <a:latin typeface="Arial"/>
                          <a:ea typeface="Arial"/>
                          <a:cs typeface="Arial"/>
                        </a:rPr>
                        <a:t>Complete unseen</a:t>
                      </a:r>
                    </a:p>
                    <a:p>
                      <a:pPr>
                        <a:lnSpc>
                          <a:spcPct val="108000"/>
                        </a:lnSpc>
                        <a:buNone/>
                      </a:pPr>
                      <a:r>
                        <a:rPr sz="1725" b="0">
                          <a:solidFill>
                            <a:srgbClr val="17324A"/>
                          </a:solidFill>
                          <a:latin typeface="Arial"/>
                          <a:ea typeface="Arial"/>
                          <a:cs typeface="Arial"/>
                        </a:rPr>
                        <a:t>business tasks accurately</a:t>
                      </a:r>
                    </a:p>
                  </a:txBody>
                  <a:tcPr marL="133350" marR="133350" marT="95250" marB="85725" anchor="ctr">
                    <a:solidFill>
                      <a:srgbClr val="F1F6F6"/>
                    </a:solidFill>
                  </a:tcPr>
                </a:tc>
                <a:tc>
                  <a:txBody>
                    <a:bodyPr/>
                    <a:lstStyle/>
                    <a:p>
                      <a:pPr>
                        <a:lnSpc>
                          <a:spcPct val="108000"/>
                        </a:lnSpc>
                        <a:buNone/>
                      </a:pPr>
                      <a:r>
                        <a:rPr sz="1725" b="0">
                          <a:solidFill>
                            <a:srgbClr val="17324A"/>
                          </a:solidFill>
                          <a:latin typeface="Arial"/>
                          <a:ea typeface="Arial"/>
                          <a:cs typeface="Arial"/>
                        </a:rPr>
                        <a:t>Frozen, held-out WWI tasks satisfy</a:t>
                      </a:r>
                    </a:p>
                    <a:p>
                      <a:pPr>
                        <a:lnSpc>
                          <a:spcPct val="108000"/>
                        </a:lnSpc>
                        <a:buNone/>
                      </a:pPr>
                      <a:r>
                        <a:rPr sz="1725" b="0">
                          <a:solidFill>
                            <a:srgbClr val="17324A"/>
                          </a:solidFill>
                          <a:latin typeface="Arial"/>
                          <a:ea typeface="Arial"/>
                          <a:cs typeface="Arial"/>
                        </a:rPr>
                        <a:t>all required outcomes.</a:t>
                      </a:r>
                    </a:p>
                  </a:txBody>
                  <a:tcPr marL="133350" marR="133350" marT="95250" marB="85725" anchor="ctr">
                    <a:lnR w="0">
                      <a:solidFill>
                        <a:srgbClr val="FFFFFF"/>
                      </a:solidFill>
                    </a:lnR>
                    <a:solidFill>
                      <a:srgbClr val="F1F6F6"/>
                    </a:solidFill>
                  </a:tcPr>
                </a:tc>
                <a:extLst>
                  <a:ext uri="{0D108BD9-81ED-4DB2-BD59-A6C34878D82A}">
                    <a16:rowId xmlns:a16="http://schemas.microsoft.com/office/drawing/2014/main" val="10001"/>
                  </a:ext>
                </a:extLst>
              </a:tr>
              <a:tr h="819150">
                <a:tc>
                  <a:txBody>
                    <a:bodyPr/>
                    <a:lstStyle/>
                    <a:p>
                      <a:pPr>
                        <a:lnSpc>
                          <a:spcPct val="108000"/>
                        </a:lnSpc>
                        <a:buNone/>
                      </a:pPr>
                      <a:r>
                        <a:rPr sz="1725" b="1">
                          <a:solidFill>
                            <a:srgbClr val="17324A"/>
                          </a:solidFill>
                          <a:latin typeface="Arial"/>
                          <a:ea typeface="Arial"/>
                          <a:cs typeface="Arial"/>
                        </a:rPr>
                        <a:t>100%</a:t>
                      </a:r>
                    </a:p>
                  </a:txBody>
                  <a:tcPr marL="133350" marR="133350" marT="95250" marB="85725" anchor="ctr">
                    <a:lnL w="0">
                      <a:solidFill>
                        <a:srgbClr val="FFFFFF"/>
                      </a:solidFill>
                    </a:lnL>
                    <a:solidFill>
                      <a:srgbClr val="FFFFFF"/>
                    </a:solidFill>
                  </a:tcPr>
                </a:tc>
                <a:tc>
                  <a:txBody>
                    <a:bodyPr/>
                    <a:lstStyle/>
                    <a:p>
                      <a:pPr>
                        <a:lnSpc>
                          <a:spcPct val="108000"/>
                        </a:lnSpc>
                        <a:buNone/>
                      </a:pPr>
                      <a:r>
                        <a:rPr sz="1725" b="0">
                          <a:solidFill>
                            <a:srgbClr val="17324A"/>
                          </a:solidFill>
                          <a:latin typeface="Arial"/>
                          <a:ea typeface="Arial"/>
                          <a:cs typeface="Arial"/>
                        </a:rPr>
                        <a:t>Provide faithful</a:t>
                      </a:r>
                    </a:p>
                    <a:p>
                      <a:pPr>
                        <a:lnSpc>
                          <a:spcPct val="108000"/>
                        </a:lnSpc>
                        <a:buNone/>
                      </a:pPr>
                      <a:r>
                        <a:rPr sz="1725" b="0">
                          <a:solidFill>
                            <a:srgbClr val="17324A"/>
                          </a:solidFill>
                          <a:latin typeface="Arial"/>
                          <a:ea typeface="Arial"/>
                          <a:cs typeface="Arial"/>
                        </a:rPr>
                        <a:t>numerical answers</a:t>
                      </a:r>
                    </a:p>
                  </a:txBody>
                  <a:tcPr marL="133350" marR="133350" marT="95250" marB="85725" anchor="ctr">
                    <a:solidFill>
                      <a:srgbClr val="FFFFFF"/>
                    </a:solidFill>
                  </a:tcPr>
                </a:tc>
                <a:tc>
                  <a:txBody>
                    <a:bodyPr/>
                    <a:lstStyle/>
                    <a:p>
                      <a:pPr>
                        <a:lnSpc>
                          <a:spcPct val="108000"/>
                        </a:lnSpc>
                        <a:buNone/>
                      </a:pPr>
                      <a:r>
                        <a:rPr sz="1725" b="0">
                          <a:solidFill>
                            <a:srgbClr val="17324A"/>
                          </a:solidFill>
                          <a:latin typeface="Arial"/>
                          <a:ea typeface="Arial"/>
                          <a:cs typeface="Arial"/>
                        </a:rPr>
                        <a:t>Numerical claims in accepted answers match</a:t>
                      </a:r>
                    </a:p>
                    <a:p>
                      <a:pPr>
                        <a:lnSpc>
                          <a:spcPct val="108000"/>
                        </a:lnSpc>
                        <a:buNone/>
                      </a:pPr>
                      <a:r>
                        <a:rPr sz="1725" b="0">
                          <a:solidFill>
                            <a:srgbClr val="17324A"/>
                          </a:solidFill>
                          <a:latin typeface="Arial"/>
                          <a:ea typeface="Arial"/>
                          <a:cs typeface="Arial"/>
                        </a:rPr>
                        <a:t>the correct value, unit, scope and source.</a:t>
                      </a:r>
                    </a:p>
                  </a:txBody>
                  <a:tcPr marL="133350" marR="133350" marT="95250" marB="85725" anchor="ctr">
                    <a:lnR w="0">
                      <a:solidFill>
                        <a:srgbClr val="FFFFFF"/>
                      </a:solidFill>
                    </a:lnR>
                    <a:solidFill>
                      <a:srgbClr val="FFFFFF"/>
                    </a:solidFill>
                  </a:tcPr>
                </a:tc>
                <a:extLst>
                  <a:ext uri="{0D108BD9-81ED-4DB2-BD59-A6C34878D82A}">
                    <a16:rowId xmlns:a16="http://schemas.microsoft.com/office/drawing/2014/main" val="10002"/>
                  </a:ext>
                </a:extLst>
              </a:tr>
              <a:tr h="819150">
                <a:tc>
                  <a:txBody>
                    <a:bodyPr/>
                    <a:lstStyle/>
                    <a:p>
                      <a:pPr>
                        <a:lnSpc>
                          <a:spcPct val="108000"/>
                        </a:lnSpc>
                        <a:buNone/>
                      </a:pPr>
                      <a:r>
                        <a:rPr sz="1725" b="1">
                          <a:solidFill>
                            <a:srgbClr val="17324A"/>
                          </a:solidFill>
                          <a:latin typeface="Arial"/>
                          <a:ea typeface="Arial"/>
                          <a:cs typeface="Arial"/>
                        </a:rPr>
                        <a:t>100%</a:t>
                      </a:r>
                    </a:p>
                  </a:txBody>
                  <a:tcPr marL="133350" marR="133350" marT="95250" marB="85725" anchor="ctr">
                    <a:lnL w="0">
                      <a:solidFill>
                        <a:srgbClr val="FFFFFF"/>
                      </a:solidFill>
                    </a:lnL>
                    <a:solidFill>
                      <a:srgbClr val="F1F6F6"/>
                    </a:solidFill>
                  </a:tcPr>
                </a:tc>
                <a:tc>
                  <a:txBody>
                    <a:bodyPr/>
                    <a:lstStyle/>
                    <a:p>
                      <a:pPr>
                        <a:lnSpc>
                          <a:spcPct val="108000"/>
                        </a:lnSpc>
                        <a:buNone/>
                      </a:pPr>
                      <a:r>
                        <a:rPr sz="1725" b="0">
                          <a:solidFill>
                            <a:srgbClr val="17324A"/>
                          </a:solidFill>
                          <a:latin typeface="Arial"/>
                          <a:ea typeface="Arial"/>
                          <a:cs typeface="Arial"/>
                        </a:rPr>
                        <a:t>Preserve context and</a:t>
                      </a:r>
                    </a:p>
                    <a:p>
                      <a:pPr>
                        <a:lnSpc>
                          <a:spcPct val="108000"/>
                        </a:lnSpc>
                        <a:buNone/>
                      </a:pPr>
                      <a:r>
                        <a:rPr sz="1725" b="0">
                          <a:solidFill>
                            <a:srgbClr val="17324A"/>
                          </a:solidFill>
                          <a:latin typeface="Arial"/>
                          <a:ea typeface="Arial"/>
                          <a:cs typeface="Arial"/>
                        </a:rPr>
                        <a:t>reach the intended view</a:t>
                      </a:r>
                    </a:p>
                  </a:txBody>
                  <a:tcPr marL="133350" marR="133350" marT="95250" marB="85725" anchor="ctr">
                    <a:solidFill>
                      <a:srgbClr val="F1F6F6"/>
                    </a:solidFill>
                  </a:tcPr>
                </a:tc>
                <a:tc>
                  <a:txBody>
                    <a:bodyPr/>
                    <a:lstStyle/>
                    <a:p>
                      <a:pPr>
                        <a:lnSpc>
                          <a:spcPct val="108000"/>
                        </a:lnSpc>
                        <a:buNone/>
                      </a:pPr>
                      <a:r>
                        <a:rPr sz="1725" b="0">
                          <a:solidFill>
                            <a:srgbClr val="17324A"/>
                          </a:solidFill>
                          <a:latin typeface="Arial"/>
                          <a:ea typeface="Arial"/>
                          <a:cs typeface="Arial"/>
                        </a:rPr>
                        <a:t>Completed follow-up, reload and navigation</a:t>
                      </a:r>
                    </a:p>
                    <a:p>
                      <a:pPr>
                        <a:lnSpc>
                          <a:spcPct val="108000"/>
                        </a:lnSpc>
                        <a:buNone/>
                      </a:pPr>
                      <a:r>
                        <a:rPr sz="1725" b="0">
                          <a:solidFill>
                            <a:srgbClr val="17324A"/>
                          </a:solidFill>
                          <a:latin typeface="Arial"/>
                          <a:ea typeface="Arial"/>
                          <a:cs typeface="Arial"/>
                        </a:rPr>
                        <a:t>cases retain scope and visible destination.</a:t>
                      </a:r>
                    </a:p>
                  </a:txBody>
                  <a:tcPr marL="133350" marR="133350" marT="95250" marB="85725" anchor="ctr">
                    <a:lnR w="0">
                      <a:solidFill>
                        <a:srgbClr val="FFFFFF"/>
                      </a:solidFill>
                    </a:lnR>
                    <a:solidFill>
                      <a:srgbClr val="F1F6F6"/>
                    </a:solidFill>
                  </a:tcPr>
                </a:tc>
                <a:extLst>
                  <a:ext uri="{0D108BD9-81ED-4DB2-BD59-A6C34878D82A}">
                    <a16:rowId xmlns:a16="http://schemas.microsoft.com/office/drawing/2014/main" val="10003"/>
                  </a:ext>
                </a:extLst>
              </a:tr>
              <a:tr h="819150">
                <a:tc>
                  <a:txBody>
                    <a:bodyPr/>
                    <a:lstStyle/>
                    <a:p>
                      <a:pPr>
                        <a:lnSpc>
                          <a:spcPct val="108000"/>
                        </a:lnSpc>
                        <a:buNone/>
                      </a:pPr>
                      <a:r>
                        <a:rPr sz="1725" b="1">
                          <a:solidFill>
                            <a:srgbClr val="17324A"/>
                          </a:solidFill>
                          <a:latin typeface="Arial"/>
                          <a:ea typeface="Arial"/>
                          <a:cs typeface="Arial"/>
                        </a:rPr>
                        <a:t>0</a:t>
                      </a:r>
                    </a:p>
                  </a:txBody>
                  <a:tcPr marL="133350" marR="133350" marT="95250" marB="85725" anchor="ctr">
                    <a:lnL w="0">
                      <a:solidFill>
                        <a:srgbClr val="FFFFFF"/>
                      </a:solidFill>
                    </a:lnL>
                    <a:lnB w="7620">
                      <a:solidFill>
                        <a:srgbClr val="CDD7D9"/>
                      </a:solidFill>
                    </a:lnB>
                    <a:solidFill>
                      <a:srgbClr val="FFFFFF"/>
                    </a:solidFill>
                  </a:tcPr>
                </a:tc>
                <a:tc>
                  <a:txBody>
                    <a:bodyPr/>
                    <a:lstStyle/>
                    <a:p>
                      <a:pPr>
                        <a:lnSpc>
                          <a:spcPct val="108000"/>
                        </a:lnSpc>
                        <a:buNone/>
                      </a:pPr>
                      <a:r>
                        <a:rPr sz="1725" b="0">
                          <a:solidFill>
                            <a:srgbClr val="17324A"/>
                          </a:solidFill>
                          <a:latin typeface="Arial"/>
                          <a:ea typeface="Arial"/>
                          <a:cs typeface="Arial"/>
                        </a:rPr>
                        <a:t>Avoid false claims</a:t>
                      </a:r>
                    </a:p>
                    <a:p>
                      <a:pPr>
                        <a:lnSpc>
                          <a:spcPct val="108000"/>
                        </a:lnSpc>
                        <a:buNone/>
                      </a:pPr>
                      <a:r>
                        <a:rPr sz="1725" b="0">
                          <a:solidFill>
                            <a:srgbClr val="17324A"/>
                          </a:solidFill>
                          <a:latin typeface="Arial"/>
                          <a:ea typeface="Arial"/>
                          <a:cs typeface="Arial"/>
                        </a:rPr>
                        <a:t>of completion</a:t>
                      </a:r>
                    </a:p>
                  </a:txBody>
                  <a:tcPr marL="133350" marR="133350" marT="95250" marB="85725" anchor="ctr">
                    <a:lnB w="7620">
                      <a:solidFill>
                        <a:srgbClr val="CDD7D9"/>
                      </a:solidFill>
                    </a:lnB>
                    <a:solidFill>
                      <a:srgbClr val="FFFFFF"/>
                    </a:solidFill>
                  </a:tcPr>
                </a:tc>
                <a:tc>
                  <a:txBody>
                    <a:bodyPr/>
                    <a:lstStyle/>
                    <a:p>
                      <a:pPr>
                        <a:lnSpc>
                          <a:spcPct val="108000"/>
                        </a:lnSpc>
                        <a:buNone/>
                      </a:pPr>
                      <a:r>
                        <a:rPr sz="1725" b="0">
                          <a:solidFill>
                            <a:srgbClr val="17324A"/>
                          </a:solidFill>
                          <a:latin typeface="Arial"/>
                          <a:ea typeface="Arial"/>
                          <a:cs typeface="Arial"/>
                        </a:rPr>
                        <a:t>Invalid, unsupported and deliberately failed</a:t>
                      </a:r>
                    </a:p>
                    <a:p>
                      <a:pPr>
                        <a:lnSpc>
                          <a:spcPct val="108000"/>
                        </a:lnSpc>
                        <a:buNone/>
                      </a:pPr>
                      <a:r>
                        <a:rPr sz="1725" b="0">
                          <a:solidFill>
                            <a:srgbClr val="17324A"/>
                          </a:solidFill>
                          <a:latin typeface="Arial"/>
                          <a:ea typeface="Arial"/>
                          <a:cs typeface="Arial"/>
                        </a:rPr>
                        <a:t>cases never count as completed.</a:t>
                      </a:r>
                    </a:p>
                  </a:txBody>
                  <a:tcPr marL="133350" marR="133350" marT="95250" marB="85725" anchor="ctr">
                    <a:lnR w="0">
                      <a:solidFill>
                        <a:srgbClr val="FFFFFF"/>
                      </a:solidFill>
                    </a:lnR>
                    <a:lnB w="7620">
                      <a:solidFill>
                        <a:srgbClr val="CDD7D9"/>
                      </a:solidFill>
                    </a:lnB>
                    <a:solidFill>
                      <a:srgbClr val="FFFFFF"/>
                    </a:solidFill>
                  </a:tcPr>
                </a:tc>
                <a:extLst>
                  <a:ext uri="{0D108BD9-81ED-4DB2-BD59-A6C34878D82A}">
                    <a16:rowId xmlns:a16="http://schemas.microsoft.com/office/drawing/2014/main" val="10004"/>
                  </a:ext>
                </a:extLst>
              </a:tr>
            </a:tbl>
          </a:graphicData>
        </a:graphic>
      </p:graphicFrame>
      <p:sp>
        <p:nvSpPr>
          <p:cNvPr id="9" name="text-107">
            <a:extLst>
              <a:ext uri="{FF2B5EF4-FFF2-40B4-BE49-F238E27FC236}">
                <a16:creationId xmlns:a16="http://schemas.microsoft.com/office/drawing/2014/main" id="{6D4B3E07-100B-47A8-8E27-6C7F4AADAED7}"/>
              </a:ext>
            </a:extLst>
          </p:cNvPr>
          <p:cNvSpPr>
            <a:spLocks noGrp="1"/>
          </p:cNvSpPr>
          <p:nvPr/>
        </p:nvSpPr>
        <p:spPr>
          <a:xfrm>
            <a:off x="609600" y="6029325"/>
            <a:ext cx="10972800" cy="285750"/>
          </a:xfrm>
          <a:prstGeom prst="rect">
            <a:avLst/>
          </a:prstGeom>
          <a:noFill/>
          <a:ln w="0">
            <a:noFill/>
          </a:ln>
        </p:spPr>
        <p:txBody>
          <a:bodyPr wrap="square" lIns="0" tIns="0" rIns="0" bIns="0" anchor="t">
            <a:noAutofit/>
          </a:bodyPr>
          <a:lstStyle>
            <a:defPPr algn="l">
              <a:defRPr sz="1500" b="0">
                <a:solidFill>
                  <a:srgbClr val="4D6270"/>
                </a:solidFill>
                <a:latin typeface="Arial"/>
                <a:ea typeface="Arial"/>
                <a:cs typeface="Arial"/>
              </a:defRPr>
            </a:defPPr>
          </a:lstStyle>
          <a:p>
            <a:pPr algn="l">
              <a:lnSpc>
                <a:spcPct val="112000"/>
              </a:lnSpc>
              <a:buNone/>
              <a:defRPr sz="1500" b="0">
                <a:solidFill>
                  <a:srgbClr val="4D6270"/>
                </a:solidFill>
                <a:latin typeface="Arial"/>
                <a:ea typeface="Arial"/>
                <a:cs typeface="Arial"/>
              </a:defRPr>
            </a:pPr>
            <a:r>
              <a:rPr sz="1500" b="0">
                <a:solidFill>
                  <a:srgbClr val="4D6270"/>
                </a:solidFill>
                <a:latin typeface="Arial"/>
                <a:ea typeface="Arial"/>
                <a:cs typeface="Arial"/>
              </a:rPr>
              <a:t>Targets are not achieved results. Report coverage, abstentions and failures alongside correctness.</a:t>
            </a:r>
          </a:p>
        </p:txBody>
      </p:sp>
      <p:pic>
        <p:nvPicPr>
          <p:cNvPr id="10" name="Picture 9">
            <a:extLst>
              <a:ext uri="{FF2B5EF4-FFF2-40B4-BE49-F238E27FC236}">
                <a16:creationId xmlns:a16="http://schemas.microsoft.com/office/drawing/2014/main" id="{B05A6FAE-2DA7-4E9C-BA5E-C65441883019}"/>
              </a:ext>
            </a:extLst>
          </p:cNvPr>
          <p:cNvPicPr>
            <a:picLocks noChangeAspect="1"/>
          </p:cNvPicPr>
          <p:nvPr/>
        </p:nvPicPr>
        <p:blipFill>
          <a:blip r:embed="rId3"/>
          <a:stretch/>
        </p:blipFill>
        <p:spPr>
          <a:xfrm>
            <a:off x="9220220" y="295275"/>
            <a:ext cx="2362160" cy="442436"/>
          </a:xfrm>
          <a:prstGeom prst="rect">
            <a:avLst/>
          </a:prstGeom>
        </p:spPr>
      </p:pic>
    </p:spTree>
    <p:extLst>
      <p:ext uri="{BB962C8B-B14F-4D97-AF65-F5344CB8AC3E}">
        <p14:creationId xmlns:p14="http://schemas.microsoft.com/office/powerpoint/2010/main" val="11587136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8" name="shape-108">
            <a:extLst>
              <a:ext uri="{FF2B5EF4-FFF2-40B4-BE49-F238E27FC236}">
                <a16:creationId xmlns:a16="http://schemas.microsoft.com/office/drawing/2014/main" id="{23C95EB9-8543-4E84-8A36-C111092C1CDC}"/>
              </a:ext>
            </a:extLst>
          </p:cNvPr>
          <p:cNvSpPr>
            <a:spLocks noGrp="1"/>
          </p:cNvSpPr>
          <p:nvPr/>
        </p:nvSpPr>
        <p:spPr>
          <a:xfrm>
            <a:off x="0" y="0"/>
            <a:ext cx="12192000" cy="1066800"/>
          </a:xfrm>
          <a:prstGeom prst="rect">
            <a:avLst/>
          </a:prstGeom>
          <a:solidFill>
            <a:srgbClr val="F2F6F7"/>
          </a:solidFill>
          <a:ln w="0">
            <a:noFill/>
          </a:ln>
        </p:spPr>
      </p:sp>
      <p:sp>
        <p:nvSpPr>
          <p:cNvPr id="2" name="shape-109">
            <a:extLst>
              <a:ext uri="{FF2B5EF4-FFF2-40B4-BE49-F238E27FC236}">
                <a16:creationId xmlns:a16="http://schemas.microsoft.com/office/drawing/2014/main" id="{B383186A-0792-446D-AC11-F8AA572C27B8}"/>
              </a:ext>
            </a:extLst>
          </p:cNvPr>
          <p:cNvSpPr>
            <a:spLocks noGrp="1"/>
          </p:cNvSpPr>
          <p:nvPr/>
        </p:nvSpPr>
        <p:spPr>
          <a:xfrm>
            <a:off x="0" y="1038225"/>
            <a:ext cx="12192000" cy="28575"/>
          </a:xfrm>
          <a:prstGeom prst="rect">
            <a:avLst/>
          </a:prstGeom>
          <a:solidFill>
            <a:srgbClr val="006D77"/>
          </a:solidFill>
          <a:ln w="0">
            <a:noFill/>
          </a:ln>
        </p:spPr>
      </p:sp>
      <p:sp>
        <p:nvSpPr>
          <p:cNvPr id="3" name="slide-6-title">
            <a:extLst>
              <a:ext uri="{FF2B5EF4-FFF2-40B4-BE49-F238E27FC236}">
                <a16:creationId xmlns:a16="http://schemas.microsoft.com/office/drawing/2014/main" id="{07B0A851-32D2-4B0A-8FDB-9D89273EE18F}"/>
              </a:ext>
            </a:extLst>
          </p:cNvPr>
          <p:cNvSpPr>
            <a:spLocks noGrp="1"/>
          </p:cNvSpPr>
          <p:nvPr/>
        </p:nvSpPr>
        <p:spPr>
          <a:xfrm>
            <a:off x="609600" y="304800"/>
            <a:ext cx="8239125" cy="542925"/>
          </a:xfrm>
          <a:prstGeom prst="rect">
            <a:avLst/>
          </a:prstGeom>
          <a:noFill/>
          <a:ln w="0">
            <a:noFill/>
          </a:ln>
        </p:spPr>
        <p:txBody>
          <a:bodyPr wrap="square" lIns="0" tIns="0" rIns="0" bIns="0" anchor="t">
            <a:noAutofit/>
          </a:bodyPr>
          <a:lstStyle>
            <a:defPPr algn="l">
              <a:defRPr sz="3150" b="1">
                <a:solidFill>
                  <a:srgbClr val="102A43"/>
                </a:solidFill>
                <a:latin typeface="Arial"/>
                <a:ea typeface="Arial"/>
                <a:cs typeface="Arial"/>
              </a:defRPr>
            </a:defPPr>
          </a:lstStyle>
          <a:p>
            <a:pPr algn="l">
              <a:lnSpc>
                <a:spcPct val="112000"/>
              </a:lnSpc>
              <a:buNone/>
              <a:defRPr sz="3150" b="1">
                <a:solidFill>
                  <a:srgbClr val="102A43"/>
                </a:solidFill>
                <a:latin typeface="Arial"/>
                <a:ea typeface="Arial"/>
                <a:cs typeface="Arial"/>
              </a:defRPr>
            </a:pPr>
            <a:r>
              <a:rPr sz="3150" b="1">
                <a:solidFill>
                  <a:srgbClr val="102A43"/>
                </a:solidFill>
                <a:latin typeface="Arial"/>
                <a:ea typeface="Arial"/>
                <a:cs typeface="Arial"/>
              </a:rPr>
              <a:t>System architecture</a:t>
            </a:r>
          </a:p>
        </p:txBody>
      </p:sp>
      <p:sp>
        <p:nvSpPr>
          <p:cNvPr id="4" name="shape-110">
            <a:extLst>
              <a:ext uri="{FF2B5EF4-FFF2-40B4-BE49-F238E27FC236}">
                <a16:creationId xmlns:a16="http://schemas.microsoft.com/office/drawing/2014/main" id="{DCEE9FC2-0179-403B-9B56-755672535C17}"/>
              </a:ext>
            </a:extLst>
          </p:cNvPr>
          <p:cNvSpPr>
            <a:spLocks noGrp="1"/>
          </p:cNvSpPr>
          <p:nvPr/>
        </p:nvSpPr>
        <p:spPr>
          <a:xfrm>
            <a:off x="0" y="6381750"/>
            <a:ext cx="12192000" cy="476250"/>
          </a:xfrm>
          <a:prstGeom prst="rect">
            <a:avLst/>
          </a:prstGeom>
          <a:solidFill>
            <a:srgbClr val="102A43"/>
          </a:solidFill>
          <a:ln w="0">
            <a:noFill/>
          </a:ln>
        </p:spPr>
      </p:sp>
      <p:sp>
        <p:nvSpPr>
          <p:cNvPr id="5" name="brand-6">
            <a:extLst>
              <a:ext uri="{FF2B5EF4-FFF2-40B4-BE49-F238E27FC236}">
                <a16:creationId xmlns:a16="http://schemas.microsoft.com/office/drawing/2014/main" id="{84780945-2D6B-4F5F-B320-A289A6AAC28B}"/>
              </a:ext>
            </a:extLst>
          </p:cNvPr>
          <p:cNvSpPr>
            <a:spLocks noGrp="1"/>
          </p:cNvSpPr>
          <p:nvPr/>
        </p:nvSpPr>
        <p:spPr>
          <a:xfrm>
            <a:off x="609600" y="6467475"/>
            <a:ext cx="3429000" cy="333375"/>
          </a:xfrm>
          <a:prstGeom prst="rect">
            <a:avLst/>
          </a:prstGeom>
          <a:noFill/>
          <a:ln w="0">
            <a:noFill/>
          </a:ln>
        </p:spPr>
        <p:txBody>
          <a:bodyPr wrap="square" lIns="0" tIns="0" rIns="0" bIns="0" anchor="t">
            <a:noAutofit/>
          </a:bodyPr>
          <a:lstStyle>
            <a:defPPr algn="l">
              <a:defRPr sz="1950" b="1">
                <a:solidFill>
                  <a:srgbClr val="8AE1D5"/>
                </a:solidFill>
                <a:latin typeface="Arial"/>
                <a:ea typeface="Arial"/>
                <a:cs typeface="Arial"/>
              </a:defRPr>
            </a:defPPr>
          </a:lstStyle>
          <a:p>
            <a:pPr algn="l">
              <a:lnSpc>
                <a:spcPct val="112000"/>
              </a:lnSpc>
              <a:buNone/>
              <a:defRPr sz="1950" b="1">
                <a:solidFill>
                  <a:srgbClr val="8AE1D5"/>
                </a:solidFill>
                <a:latin typeface="Arial"/>
                <a:ea typeface="Arial"/>
                <a:cs typeface="Arial"/>
              </a:defRPr>
            </a:pPr>
            <a:r>
              <a:rPr sz="1950" b="1">
                <a:solidFill>
                  <a:srgbClr val="8AE1D5"/>
                </a:solidFill>
                <a:latin typeface="Arial"/>
                <a:ea typeface="Arial"/>
                <a:cs typeface="Arial"/>
              </a:rPr>
              <a:t>Sapience</a:t>
            </a:r>
          </a:p>
        </p:txBody>
      </p:sp>
      <p:sp>
        <p:nvSpPr>
          <p:cNvPr id="6" name="page-6">
            <a:extLst>
              <a:ext uri="{FF2B5EF4-FFF2-40B4-BE49-F238E27FC236}">
                <a16:creationId xmlns:a16="http://schemas.microsoft.com/office/drawing/2014/main" id="{912BD343-55E5-4158-BADE-2F08D72A7980}"/>
              </a:ext>
            </a:extLst>
          </p:cNvPr>
          <p:cNvSpPr>
            <a:spLocks noGrp="1"/>
          </p:cNvSpPr>
          <p:nvPr/>
        </p:nvSpPr>
        <p:spPr>
          <a:xfrm>
            <a:off x="10629900" y="6505575"/>
            <a:ext cx="952500" cy="276225"/>
          </a:xfrm>
          <a:prstGeom prst="rect">
            <a:avLst/>
          </a:prstGeom>
          <a:noFill/>
          <a:ln w="0">
            <a:noFill/>
          </a:ln>
        </p:spPr>
        <p:txBody>
          <a:bodyPr wrap="square" lIns="0" tIns="0" rIns="0" bIns="0" anchor="t">
            <a:noAutofit/>
          </a:bodyPr>
          <a:lstStyle>
            <a:defPPr algn="r">
              <a:defRPr sz="1575" b="0">
                <a:solidFill>
                  <a:srgbClr val="FFFFFF"/>
                </a:solidFill>
                <a:latin typeface="Arial"/>
                <a:ea typeface="Arial"/>
                <a:cs typeface="Arial"/>
              </a:defRPr>
            </a:defPPr>
          </a:lstStyle>
          <a:p>
            <a:pPr algn="r">
              <a:lnSpc>
                <a:spcPct val="112000"/>
              </a:lnSpc>
              <a:buNone/>
              <a:defRPr sz="1575" b="0">
                <a:solidFill>
                  <a:srgbClr val="FFFFFF"/>
                </a:solidFill>
                <a:latin typeface="Arial"/>
                <a:ea typeface="Arial"/>
                <a:cs typeface="Arial"/>
              </a:defRPr>
            </a:pPr>
            <a:r>
              <a:rPr sz="1575" b="0">
                <a:solidFill>
                  <a:srgbClr val="FFFFFF"/>
                </a:solidFill>
                <a:latin typeface="Arial"/>
                <a:ea typeface="Arial"/>
                <a:cs typeface="Arial"/>
              </a:rPr>
              <a:t>07 / 18</a:t>
            </a:r>
          </a:p>
        </p:txBody>
      </p:sp>
      <p:pic>
        <p:nvPicPr>
          <p:cNvPr id="77" name="Picture 76">
            <a:extLst>
              <a:ext uri="{FF2B5EF4-FFF2-40B4-BE49-F238E27FC236}">
                <a16:creationId xmlns:a16="http://schemas.microsoft.com/office/drawing/2014/main" id="{7A7C7D65-CA29-4299-8709-DA48A92F64DD}"/>
              </a:ext>
            </a:extLst>
          </p:cNvPr>
          <p:cNvPicPr>
            <a:picLocks noChangeAspect="1"/>
          </p:cNvPicPr>
          <p:nvPr/>
        </p:nvPicPr>
        <p:blipFill>
          <a:blip r:embed="rId3"/>
          <a:stretch/>
        </p:blipFill>
        <p:spPr>
          <a:xfrm>
            <a:off x="9220220" y="295275"/>
            <a:ext cx="2362160" cy="442436"/>
          </a:xfrm>
          <a:prstGeom prst="rect">
            <a:avLst/>
          </a:prstGeom>
        </p:spPr>
      </p:pic>
      <p:sp>
        <p:nvSpPr>
          <p:cNvPr id="79" name="req-box"/>
          <p:cNvSpPr/>
          <p:nvPr/>
        </p:nvSpPr>
        <p:spPr>
          <a:xfrm>
            <a:off x="640080" y="1508760"/>
            <a:ext cx="2286000" cy="914400"/>
          </a:xfrm>
          <a:prstGeom prst="rect">
            <a:avLst/>
          </a:prstGeom>
          <a:solidFill>
            <a:srgbClr val="FFFFFF"/>
          </a:solidFill>
          <a:ln w="19050">
            <a:solidFill>
              <a:srgbClr val="006D77"/>
            </a:solidFill>
          </a:ln>
        </p:spPr>
      </p:sp>
      <p:sp>
        <p:nvSpPr>
          <p:cNvPr id="80" name="req-t"/>
          <p:cNvSpPr/>
          <p:nvPr/>
        </p:nvSpPr>
        <p:spPr>
          <a:xfrm>
            <a:off x="777240" y="1627632"/>
            <a:ext cx="2011680" cy="320040"/>
          </a:xfrm>
          <a:prstGeom prst="rect">
            <a:avLst/>
          </a:prstGeom>
          <a:noFill/>
          <a:ln w="0">
            <a:noFill/>
          </a:ln>
        </p:spPr>
        <p:txBody>
          <a:bodyPr wrap="square" lIns="0" tIns="0" rIns="0" bIns="0" anchor="t">
            <a:noAutofit/>
          </a:bodyPr>
          <a:lstStyle/>
          <a:p>
            <a:pPr algn="l">
              <a:lnSpc>
                <a:spcPct val="112000"/>
              </a:lnSpc>
              <a:buNone/>
            </a:pPr>
            <a:r>
              <a:rPr lang="en-US" sz="1800" b="1">
                <a:solidFill>
                  <a:srgbClr val="102A43"/>
                </a:solidFill>
                <a:latin typeface="Arial"/>
                <a:ea typeface="Arial"/>
                <a:cs typeface="Arial"/>
              </a:rPr>
              <a:t>Business request</a:t>
            </a:r>
          </a:p>
        </p:txBody>
      </p:sp>
      <p:sp>
        <p:nvSpPr>
          <p:cNvPr id="81" name="req-s"/>
          <p:cNvSpPr/>
          <p:nvPr/>
        </p:nvSpPr>
        <p:spPr>
          <a:xfrm>
            <a:off x="777240" y="2011680"/>
            <a:ext cx="2011680" cy="274320"/>
          </a:xfrm>
          <a:prstGeom prst="rect">
            <a:avLst/>
          </a:prstGeom>
          <a:noFill/>
          <a:ln w="0">
            <a:noFill/>
          </a:ln>
        </p:spPr>
        <p:txBody>
          <a:bodyPr wrap="square" lIns="0" tIns="0" rIns="0" bIns="0" anchor="t">
            <a:noAutofit/>
          </a:bodyPr>
          <a:lstStyle/>
          <a:p>
            <a:pPr algn="l">
              <a:lnSpc>
                <a:spcPct val="112000"/>
              </a:lnSpc>
              <a:buNone/>
            </a:pPr>
            <a:r>
              <a:rPr lang="en-US" sz="1575" b="0">
                <a:solidFill>
                  <a:srgbClr val="4D6270"/>
                </a:solidFill>
                <a:latin typeface="Arial"/>
                <a:ea typeface="Arial"/>
                <a:cs typeface="Arial"/>
              </a:rPr>
              <a:t>Question and intent</a:t>
            </a:r>
          </a:p>
        </p:txBody>
      </p:sp>
      <p:cxnSp>
        <p:nvCxnSpPr>
          <p:cNvPr id="82" name="a-req-core"/>
          <p:cNvCxnSpPr/>
          <p:nvPr/>
        </p:nvCxnSpPr>
        <p:spPr>
          <a:xfrm>
            <a:off x="2926080" y="1965960"/>
            <a:ext cx="228600" cy="0"/>
          </a:xfrm>
          <a:prstGeom prst="straightConnector1">
            <a:avLst/>
          </a:prstGeom>
          <a:ln w="19050">
            <a:solidFill>
              <a:srgbClr val="006D77"/>
            </a:solidFill>
            <a:tailEnd type="triangle" w="med" len="med"/>
          </a:ln>
        </p:spPr>
      </p:cxnSp>
      <p:sp>
        <p:nvSpPr>
          <p:cNvPr id="83" name="core-box"/>
          <p:cNvSpPr/>
          <p:nvPr/>
        </p:nvSpPr>
        <p:spPr>
          <a:xfrm>
            <a:off x="3154680" y="1280160"/>
            <a:ext cx="5943600" cy="1371600"/>
          </a:xfrm>
          <a:prstGeom prst="rect">
            <a:avLst/>
          </a:prstGeom>
          <a:solidFill>
            <a:srgbClr val="EAF2F1"/>
          </a:solidFill>
          <a:ln w="19050">
            <a:solidFill>
              <a:srgbClr val="006D77"/>
            </a:solidFill>
          </a:ln>
        </p:spPr>
      </p:sp>
      <p:sp>
        <p:nvSpPr>
          <p:cNvPr id="84" name="core-t"/>
          <p:cNvSpPr/>
          <p:nvPr/>
        </p:nvSpPr>
        <p:spPr>
          <a:xfrm>
            <a:off x="3291840" y="1371600"/>
            <a:ext cx="3108960" cy="365760"/>
          </a:xfrm>
          <a:prstGeom prst="rect">
            <a:avLst/>
          </a:prstGeom>
          <a:noFill/>
          <a:ln w="0">
            <a:noFill/>
          </a:ln>
        </p:spPr>
        <p:txBody>
          <a:bodyPr wrap="square" lIns="0" tIns="0" rIns="0" bIns="0" anchor="t">
            <a:noAutofit/>
          </a:bodyPr>
          <a:lstStyle/>
          <a:p>
            <a:pPr algn="l">
              <a:lnSpc>
                <a:spcPct val="112000"/>
              </a:lnSpc>
              <a:buNone/>
            </a:pPr>
            <a:r>
              <a:rPr lang="en-US" sz="2025" b="1">
                <a:solidFill>
                  <a:srgbClr val="102A43"/>
                </a:solidFill>
                <a:latin typeface="Arial"/>
                <a:ea typeface="Arial"/>
                <a:cs typeface="Arial"/>
              </a:rPr>
              <a:t>Shared agent core</a:t>
            </a:r>
          </a:p>
        </p:txBody>
      </p:sp>
      <p:sp>
        <p:nvSpPr>
          <p:cNvPr id="85" name="core-m"/>
          <p:cNvSpPr/>
          <p:nvPr/>
        </p:nvSpPr>
        <p:spPr>
          <a:xfrm>
            <a:off x="6400800" y="1417320"/>
            <a:ext cx="2560320" cy="274320"/>
          </a:xfrm>
          <a:prstGeom prst="rect">
            <a:avLst/>
          </a:prstGeom>
          <a:noFill/>
          <a:ln w="0">
            <a:noFill/>
          </a:ln>
        </p:spPr>
        <p:txBody>
          <a:bodyPr wrap="square" lIns="0" tIns="0" rIns="0" bIns="0" anchor="t">
            <a:noAutofit/>
          </a:bodyPr>
          <a:lstStyle/>
          <a:p>
            <a:pPr algn="r">
              <a:lnSpc>
                <a:spcPct val="112000"/>
              </a:lnSpc>
              <a:buNone/>
            </a:pPr>
            <a:r>
              <a:rPr lang="en-US" sz="1575" b="0">
                <a:solidFill>
                  <a:srgbClr val="4D6270"/>
                </a:solidFill>
                <a:latin typeface="Arial"/>
                <a:ea typeface="Arial"/>
                <a:cs typeface="Arial"/>
              </a:rPr>
              <a:t>Local or cloud model</a:t>
            </a:r>
          </a:p>
        </p:txBody>
      </p:sp>
      <p:sp>
        <p:nvSpPr>
          <p:cNvPr id="86" name="core-p"/>
          <p:cNvSpPr/>
          <p:nvPr/>
        </p:nvSpPr>
        <p:spPr>
          <a:xfrm>
            <a:off x="3291840" y="1828800"/>
            <a:ext cx="5669280" cy="320040"/>
          </a:xfrm>
          <a:prstGeom prst="rect">
            <a:avLst/>
          </a:prstGeom>
          <a:noFill/>
          <a:ln w="0">
            <a:noFill/>
          </a:ln>
        </p:spPr>
        <p:txBody>
          <a:bodyPr wrap="square" lIns="0" tIns="0" rIns="0" bIns="0" anchor="t">
            <a:noAutofit/>
          </a:bodyPr>
          <a:lstStyle/>
          <a:p>
            <a:pPr algn="l">
              <a:lnSpc>
                <a:spcPct val="112000"/>
              </a:lnSpc>
              <a:buNone/>
            </a:pPr>
            <a:r>
              <a:rPr lang="en-US" sz="1575" b="0">
                <a:solidFill>
                  <a:srgbClr val="17324A"/>
                </a:solidFill>
                <a:latin typeface="Arial"/>
                <a:ea typeface="Arial"/>
                <a:cs typeface="Arial"/>
              </a:rPr>
              <a:t>Understand → Resolve → Plan → Execute → Verify → Answer</a:t>
            </a:r>
          </a:p>
        </p:txBody>
      </p:sp>
      <p:sp>
        <p:nvSpPr>
          <p:cNvPr id="87" name="core-v"/>
          <p:cNvSpPr/>
          <p:nvPr/>
        </p:nvSpPr>
        <p:spPr>
          <a:xfrm>
            <a:off x="3291840" y="2221992"/>
            <a:ext cx="5669280" cy="320040"/>
          </a:xfrm>
          <a:prstGeom prst="rect">
            <a:avLst/>
          </a:prstGeom>
          <a:noFill/>
          <a:ln w="0">
            <a:noFill/>
          </a:ln>
        </p:spPr>
        <p:txBody>
          <a:bodyPr wrap="square" lIns="0" tIns="0" rIns="0" bIns="0" anchor="t">
            <a:noAutofit/>
          </a:bodyPr>
          <a:lstStyle/>
          <a:p>
            <a:pPr algn="l">
              <a:lnSpc>
                <a:spcPct val="112000"/>
              </a:lnSpc>
              <a:buNone/>
            </a:pPr>
            <a:r>
              <a:rPr lang="en-US" sz="1575" b="0">
                <a:solidFill>
                  <a:srgbClr val="4D6270"/>
                </a:solidFill>
                <a:latin typeface="Arial"/>
                <a:ea typeface="Arial"/>
                <a:cs typeface="Arial"/>
              </a:rPr>
              <a:t>Verify: state matches intent, numbers traced, steps bounded</a:t>
            </a:r>
          </a:p>
        </p:txBody>
      </p:sp>
      <p:cxnSp>
        <p:nvCxnSpPr>
          <p:cNvPr id="88" name="a-core-ledger"/>
          <p:cNvCxnSpPr/>
          <p:nvPr/>
        </p:nvCxnSpPr>
        <p:spPr>
          <a:xfrm>
            <a:off x="9098280" y="1965960"/>
            <a:ext cx="274320" cy="0"/>
          </a:xfrm>
          <a:prstGeom prst="straightConnector1">
            <a:avLst/>
          </a:prstGeom>
          <a:ln w="19050">
            <a:solidFill>
              <a:srgbClr val="006D77"/>
            </a:solidFill>
            <a:headEnd type="triangle" w="med" len="med"/>
            <a:tailEnd type="triangle" w="med" len="med"/>
          </a:ln>
        </p:spPr>
      </p:cxnSp>
      <p:sp>
        <p:nvSpPr>
          <p:cNvPr id="89" name="ledger-box"/>
          <p:cNvSpPr/>
          <p:nvPr/>
        </p:nvSpPr>
        <p:spPr>
          <a:xfrm>
            <a:off x="9372600" y="1508760"/>
            <a:ext cx="2240280" cy="914400"/>
          </a:xfrm>
          <a:prstGeom prst="rect">
            <a:avLst/>
          </a:prstGeom>
          <a:solidFill>
            <a:srgbClr val="FFFFFF"/>
          </a:solidFill>
          <a:ln w="19050">
            <a:solidFill>
              <a:srgbClr val="006D77"/>
            </a:solidFill>
          </a:ln>
        </p:spPr>
      </p:sp>
      <p:sp>
        <p:nvSpPr>
          <p:cNvPr id="90" name="ledger-t"/>
          <p:cNvSpPr/>
          <p:nvPr/>
        </p:nvSpPr>
        <p:spPr>
          <a:xfrm>
            <a:off x="9509760" y="1627632"/>
            <a:ext cx="2011680" cy="320040"/>
          </a:xfrm>
          <a:prstGeom prst="rect">
            <a:avLst/>
          </a:prstGeom>
          <a:noFill/>
          <a:ln w="0">
            <a:noFill/>
          </a:ln>
        </p:spPr>
        <p:txBody>
          <a:bodyPr wrap="square" lIns="0" tIns="0" rIns="0" bIns="0" anchor="t">
            <a:noAutofit/>
          </a:bodyPr>
          <a:lstStyle/>
          <a:p>
            <a:pPr algn="l">
              <a:lnSpc>
                <a:spcPct val="112000"/>
              </a:lnSpc>
              <a:buNone/>
            </a:pPr>
            <a:r>
              <a:rPr lang="en-US" sz="1875" b="1">
                <a:solidFill>
                  <a:srgbClr val="102A43"/>
                </a:solidFill>
                <a:latin typeface="Arial"/>
                <a:ea typeface="Arial"/>
                <a:cs typeface="Arial"/>
              </a:rPr>
              <a:t>Session ledger</a:t>
            </a:r>
          </a:p>
        </p:txBody>
      </p:sp>
      <p:sp>
        <p:nvSpPr>
          <p:cNvPr id="91" name="ledger-s"/>
          <p:cNvSpPr/>
          <p:nvPr/>
        </p:nvSpPr>
        <p:spPr>
          <a:xfrm>
            <a:off x="9509760" y="2011680"/>
            <a:ext cx="2011680" cy="274320"/>
          </a:xfrm>
          <a:prstGeom prst="rect">
            <a:avLst/>
          </a:prstGeom>
          <a:noFill/>
          <a:ln w="0">
            <a:noFill/>
          </a:ln>
        </p:spPr>
        <p:txBody>
          <a:bodyPr wrap="square" lIns="0" tIns="0" rIns="0" bIns="0" anchor="t">
            <a:noAutofit/>
          </a:bodyPr>
          <a:lstStyle/>
          <a:p>
            <a:pPr algn="l">
              <a:lnSpc>
                <a:spcPct val="112000"/>
              </a:lnSpc>
              <a:buNone/>
            </a:pPr>
            <a:r>
              <a:rPr lang="en-US" sz="1575" b="0">
                <a:solidFill>
                  <a:srgbClr val="4D6270"/>
                </a:solidFill>
                <a:latin typeface="Arial"/>
                <a:ea typeface="Arial"/>
                <a:cs typeface="Arial"/>
              </a:rPr>
              <a:t>Task scope, facts</a:t>
            </a:r>
          </a:p>
        </p:txBody>
      </p:sp>
      <p:cxnSp>
        <p:nvCxnSpPr>
          <p:cNvPr id="92" name="a-core-api"/>
          <p:cNvCxnSpPr/>
          <p:nvPr/>
        </p:nvCxnSpPr>
        <p:spPr>
          <a:xfrm>
            <a:off x="4023360" y="2651760"/>
            <a:ext cx="0" cy="365759"/>
          </a:xfrm>
          <a:prstGeom prst="straightConnector1">
            <a:avLst/>
          </a:prstGeom>
          <a:ln w="19050">
            <a:solidFill>
              <a:srgbClr val="006D77"/>
            </a:solidFill>
            <a:tailEnd type="triangle" w="med" len="med"/>
          </a:ln>
        </p:spPr>
      </p:cxnSp>
      <p:cxnSp>
        <p:nvCxnSpPr>
          <p:cNvPr id="93" name="a-core-app"/>
          <p:cNvCxnSpPr/>
          <p:nvPr/>
        </p:nvCxnSpPr>
        <p:spPr>
          <a:xfrm>
            <a:off x="8229600" y="2651760"/>
            <a:ext cx="0" cy="365759"/>
          </a:xfrm>
          <a:prstGeom prst="straightConnector1">
            <a:avLst/>
          </a:prstGeom>
          <a:ln w="19050">
            <a:solidFill>
              <a:srgbClr val="006D77"/>
            </a:solidFill>
            <a:prstDash val="dash"/>
            <a:tailEnd type="triangle" w="med" len="med"/>
          </a:ln>
        </p:spPr>
      </p:cxnSp>
      <p:sp>
        <p:nvSpPr>
          <p:cNvPr id="94" name="join-pending"/>
          <p:cNvSpPr/>
          <p:nvPr/>
        </p:nvSpPr>
        <p:spPr>
          <a:xfrm>
            <a:off x="8366760" y="2679192"/>
            <a:ext cx="2011680" cy="274320"/>
          </a:xfrm>
          <a:prstGeom prst="rect">
            <a:avLst/>
          </a:prstGeom>
          <a:noFill/>
          <a:ln w="0">
            <a:noFill/>
          </a:ln>
        </p:spPr>
        <p:txBody>
          <a:bodyPr wrap="square" lIns="0" tIns="0" rIns="0" bIns="0" anchor="t">
            <a:noAutofit/>
          </a:bodyPr>
          <a:lstStyle/>
          <a:p>
            <a:pPr algn="l">
              <a:lnSpc>
                <a:spcPct val="112000"/>
              </a:lnSpc>
              <a:buNone/>
            </a:pPr>
            <a:r>
              <a:rPr lang="en-US" sz="1575" b="1">
                <a:solidFill>
                  <a:srgbClr val="006D77"/>
                </a:solidFill>
                <a:latin typeface="Arial"/>
                <a:ea typeface="Arial"/>
                <a:cs typeface="Arial"/>
              </a:rPr>
              <a:t>join pending</a:t>
            </a:r>
          </a:p>
        </p:txBody>
      </p:sp>
      <p:sp>
        <p:nvSpPr>
          <p:cNvPr id="95" name="api-box"/>
          <p:cNvSpPr/>
          <p:nvPr/>
        </p:nvSpPr>
        <p:spPr>
          <a:xfrm>
            <a:off x="640080" y="3017520"/>
            <a:ext cx="5212080" cy="1463040"/>
          </a:xfrm>
          <a:prstGeom prst="rect">
            <a:avLst/>
          </a:prstGeom>
          <a:solidFill>
            <a:srgbClr val="FFFFFF"/>
          </a:solidFill>
          <a:ln w="19050">
            <a:solidFill>
              <a:srgbClr val="006D77"/>
            </a:solidFill>
          </a:ln>
        </p:spPr>
      </p:sp>
      <p:sp>
        <p:nvSpPr>
          <p:cNvPr id="96" name="api-t"/>
          <p:cNvSpPr/>
          <p:nvPr/>
        </p:nvSpPr>
        <p:spPr>
          <a:xfrm>
            <a:off x="822960" y="3108960"/>
            <a:ext cx="4846320" cy="365760"/>
          </a:xfrm>
          <a:prstGeom prst="rect">
            <a:avLst/>
          </a:prstGeom>
          <a:noFill/>
          <a:ln w="0">
            <a:noFill/>
          </a:ln>
        </p:spPr>
        <p:txBody>
          <a:bodyPr wrap="square" lIns="0" tIns="0" rIns="0" bIns="0" anchor="t">
            <a:noAutofit/>
          </a:bodyPr>
          <a:lstStyle/>
          <a:p>
            <a:pPr algn="l">
              <a:lnSpc>
                <a:spcPct val="112000"/>
              </a:lnSpc>
              <a:buNone/>
            </a:pPr>
            <a:r>
              <a:rPr lang="en-US" sz="2025" b="1">
                <a:solidFill>
                  <a:srgbClr val="006D77"/>
                </a:solidFill>
                <a:latin typeface="Arial"/>
                <a:ea typeface="Arial"/>
                <a:cs typeface="Arial"/>
              </a:rPr>
              <a:t>API channel</a:t>
            </a:r>
          </a:p>
        </p:txBody>
      </p:sp>
      <p:sp>
        <p:nvSpPr>
          <p:cNvPr id="97" name="api-s"/>
          <p:cNvSpPr/>
          <p:nvPr/>
        </p:nvSpPr>
        <p:spPr>
          <a:xfrm>
            <a:off x="822960" y="3474720"/>
            <a:ext cx="4846320" cy="274320"/>
          </a:xfrm>
          <a:prstGeom prst="rect">
            <a:avLst/>
          </a:prstGeom>
          <a:noFill/>
          <a:ln w="0">
            <a:noFill/>
          </a:ln>
        </p:spPr>
        <p:txBody>
          <a:bodyPr wrap="square" lIns="0" tIns="0" rIns="0" bIns="0" anchor="t">
            <a:noAutofit/>
          </a:bodyPr>
          <a:lstStyle/>
          <a:p>
            <a:pPr algn="l">
              <a:lnSpc>
                <a:spcPct val="112000"/>
              </a:lnSpc>
              <a:buNone/>
            </a:pPr>
            <a:r>
              <a:rPr lang="en-US" sz="1575" b="0">
                <a:solidFill>
                  <a:srgbClr val="4D6270"/>
                </a:solidFill>
                <a:latin typeface="Arial"/>
                <a:ea typeface="Arial"/>
                <a:cs typeface="Arial"/>
              </a:rPr>
              <a:t>Knowing: exact analysis over all rows</a:t>
            </a:r>
          </a:p>
        </p:txBody>
      </p:sp>
      <p:sp>
        <p:nvSpPr>
          <p:cNvPr id="98" name="api-b"/>
          <p:cNvSpPr/>
          <p:nvPr/>
        </p:nvSpPr>
        <p:spPr>
          <a:xfrm>
            <a:off x="822960" y="3794760"/>
            <a:ext cx="4846320" cy="594360"/>
          </a:xfrm>
          <a:prstGeom prst="rect">
            <a:avLst/>
          </a:prstGeom>
          <a:noFill/>
          <a:ln w="0">
            <a:noFill/>
          </a:ln>
        </p:spPr>
        <p:txBody>
          <a:bodyPr wrap="square" lIns="0" tIns="0" rIns="0" bIns="0" anchor="t">
            <a:noAutofit/>
          </a:bodyPr>
          <a:lstStyle/>
          <a:p>
            <a:pPr algn="l">
              <a:lnSpc>
                <a:spcPct val="112000"/>
              </a:lnSpc>
              <a:buNone/>
            </a:pPr>
            <a:r>
              <a:rPr lang="en-US" sz="1575" b="0">
                <a:solidFill>
                  <a:srgbClr val="17324A"/>
                </a:solidFill>
                <a:latin typeface="Arial"/>
                <a:ea typeface="Arial"/>
                <a:cs typeface="Arial"/>
              </a:rPr>
              <a:t>Six tools: lookup, resolve, analyze,</a:t>
            </a:r>
          </a:p>
          <a:p>
            <a:pPr algn="l">
              <a:lnSpc>
                <a:spcPct val="112000"/>
              </a:lnSpc>
              <a:buNone/>
            </a:pPr>
            <a:r>
              <a:rPr lang="en-US" sz="1575" b="0">
                <a:solidFill>
                  <a:srgbClr val="17324A"/>
                </a:solidFill>
                <a:latin typeface="Arial"/>
                <a:ea typeface="Arial"/>
                <a:cs typeface="Arial"/>
              </a:rPr>
              <a:t>records, related, open_page</a:t>
            </a:r>
          </a:p>
        </p:txBody>
      </p:sp>
      <p:sp>
        <p:nvSpPr>
          <p:cNvPr id="99" name="app-box"/>
          <p:cNvSpPr/>
          <p:nvPr/>
        </p:nvSpPr>
        <p:spPr>
          <a:xfrm>
            <a:off x="6309360" y="3017520"/>
            <a:ext cx="5303520" cy="1463040"/>
          </a:xfrm>
          <a:prstGeom prst="rect">
            <a:avLst/>
          </a:prstGeom>
          <a:solidFill>
            <a:srgbClr val="FFFFFF"/>
          </a:solidFill>
          <a:ln w="19050">
            <a:solidFill>
              <a:srgbClr val="006D77"/>
            </a:solidFill>
            <a:prstDash val="dash"/>
          </a:ln>
        </p:spPr>
      </p:sp>
      <p:sp>
        <p:nvSpPr>
          <p:cNvPr id="100" name="app-t"/>
          <p:cNvSpPr/>
          <p:nvPr/>
        </p:nvSpPr>
        <p:spPr>
          <a:xfrm>
            <a:off x="6492240" y="3108960"/>
            <a:ext cx="4937760" cy="365760"/>
          </a:xfrm>
          <a:prstGeom prst="rect">
            <a:avLst/>
          </a:prstGeom>
          <a:noFill/>
          <a:ln w="0">
            <a:noFill/>
          </a:ln>
        </p:spPr>
        <p:txBody>
          <a:bodyPr wrap="square" lIns="0" tIns="0" rIns="0" bIns="0" anchor="t">
            <a:noAutofit/>
          </a:bodyPr>
          <a:lstStyle/>
          <a:p>
            <a:pPr algn="l">
              <a:lnSpc>
                <a:spcPct val="112000"/>
              </a:lnSpc>
              <a:buNone/>
            </a:pPr>
            <a:r>
              <a:rPr lang="en-US" sz="2025" b="1">
                <a:solidFill>
                  <a:srgbClr val="006D77"/>
                </a:solidFill>
                <a:latin typeface="Arial"/>
                <a:ea typeface="Arial"/>
                <a:cs typeface="Arial"/>
              </a:rPr>
              <a:t>Application channel</a:t>
            </a:r>
          </a:p>
        </p:txBody>
      </p:sp>
      <p:sp>
        <p:nvSpPr>
          <p:cNvPr id="101" name="app-s"/>
          <p:cNvSpPr/>
          <p:nvPr/>
        </p:nvSpPr>
        <p:spPr>
          <a:xfrm>
            <a:off x="6492240" y="3474720"/>
            <a:ext cx="4937760" cy="274320"/>
          </a:xfrm>
          <a:prstGeom prst="rect">
            <a:avLst/>
          </a:prstGeom>
          <a:noFill/>
          <a:ln w="0">
            <a:noFill/>
          </a:ln>
        </p:spPr>
        <p:txBody>
          <a:bodyPr wrap="square" lIns="0" tIns="0" rIns="0" bIns="0" anchor="t">
            <a:noAutofit/>
          </a:bodyPr>
          <a:lstStyle/>
          <a:p>
            <a:pPr algn="l">
              <a:lnSpc>
                <a:spcPct val="112000"/>
              </a:lnSpc>
              <a:buNone/>
            </a:pPr>
            <a:r>
              <a:rPr lang="en-US" sz="1575" b="0">
                <a:solidFill>
                  <a:srgbClr val="4D6270"/>
                </a:solidFill>
                <a:latin typeface="Arial"/>
                <a:ea typeface="Arial"/>
                <a:cs typeface="Arial"/>
              </a:rPr>
              <a:t>Doing and showing: operate the real app</a:t>
            </a:r>
          </a:p>
        </p:txBody>
      </p:sp>
      <p:sp>
        <p:nvSpPr>
          <p:cNvPr id="102" name="app-b"/>
          <p:cNvSpPr/>
          <p:nvPr/>
        </p:nvSpPr>
        <p:spPr>
          <a:xfrm>
            <a:off x="6492240" y="3794760"/>
            <a:ext cx="4937760" cy="594360"/>
          </a:xfrm>
          <a:prstGeom prst="rect">
            <a:avLst/>
          </a:prstGeom>
          <a:noFill/>
          <a:ln w="0">
            <a:noFill/>
          </a:ln>
        </p:spPr>
        <p:txBody>
          <a:bodyPr wrap="square" lIns="0" tIns="0" rIns="0" bIns="0" anchor="t">
            <a:noAutofit/>
          </a:bodyPr>
          <a:lstStyle/>
          <a:p>
            <a:pPr algn="l">
              <a:lnSpc>
                <a:spcPct val="112000"/>
              </a:lnSpc>
              <a:buNone/>
            </a:pPr>
            <a:r>
              <a:rPr lang="en-US" sz="1575" b="0">
                <a:solidFill>
                  <a:srgbClr val="17324A"/>
                </a:solidFill>
                <a:latin typeface="Arial"/>
                <a:ea typeface="Arial"/>
                <a:cs typeface="Arial"/>
              </a:rPr>
              <a:t>Bridge window.__vacp: navigate, set filters,</a:t>
            </a:r>
          </a:p>
          <a:p>
            <a:pPr algn="l">
              <a:lnSpc>
                <a:spcPct val="112000"/>
              </a:lnSpc>
              <a:buNone/>
            </a:pPr>
            <a:r>
              <a:rPr lang="en-US" sz="1575" b="0">
                <a:solidFill>
                  <a:srgbClr val="17324A"/>
                </a:solidFill>
                <a:latin typeface="Arial"/>
                <a:ea typeface="Arial"/>
                <a:cs typeface="Arial"/>
              </a:rPr>
              <a:t>read view state; declared actions only</a:t>
            </a:r>
          </a:p>
        </p:txBody>
      </p:sp>
      <p:cxnSp>
        <p:nvCxnSpPr>
          <p:cNvPr id="103" name="a-api-db"/>
          <p:cNvCxnSpPr/>
          <p:nvPr/>
        </p:nvCxnSpPr>
        <p:spPr>
          <a:xfrm>
            <a:off x="3246120" y="4480560"/>
            <a:ext cx="0" cy="320039"/>
          </a:xfrm>
          <a:prstGeom prst="straightConnector1">
            <a:avLst/>
          </a:prstGeom>
          <a:ln w="19050">
            <a:solidFill>
              <a:srgbClr val="006D77"/>
            </a:solidFill>
            <a:headEnd type="triangle" w="med" len="med"/>
            <a:tailEnd type="triangle" w="med" len="med"/>
          </a:ln>
        </p:spPr>
      </p:cxnSp>
      <p:cxnSp>
        <p:nvCxnSpPr>
          <p:cNvPr id="104" name="a-app-erp"/>
          <p:cNvCxnSpPr/>
          <p:nvPr/>
        </p:nvCxnSpPr>
        <p:spPr>
          <a:xfrm>
            <a:off x="8915400" y="4480560"/>
            <a:ext cx="0" cy="320039"/>
          </a:xfrm>
          <a:prstGeom prst="straightConnector1">
            <a:avLst/>
          </a:prstGeom>
          <a:ln w="19050">
            <a:solidFill>
              <a:srgbClr val="006D77"/>
            </a:solidFill>
            <a:prstDash val="dash"/>
            <a:headEnd type="triangle" w="med" len="med"/>
            <a:tailEnd type="triangle" w="med" len="med"/>
          </a:ln>
        </p:spPr>
      </p:cxnSp>
      <p:sp>
        <p:nvSpPr>
          <p:cNvPr id="105" name="db-box"/>
          <p:cNvSpPr/>
          <p:nvPr/>
        </p:nvSpPr>
        <p:spPr>
          <a:xfrm>
            <a:off x="640080" y="4800600"/>
            <a:ext cx="5212080" cy="822960"/>
          </a:xfrm>
          <a:prstGeom prst="rect">
            <a:avLst/>
          </a:prstGeom>
          <a:solidFill>
            <a:srgbClr val="FFFFFF"/>
          </a:solidFill>
          <a:ln w="19050">
            <a:solidFill>
              <a:srgbClr val="006D77"/>
            </a:solidFill>
          </a:ln>
        </p:spPr>
      </p:sp>
      <p:sp>
        <p:nvSpPr>
          <p:cNvPr id="106" name="db-t"/>
          <p:cNvSpPr/>
          <p:nvPr/>
        </p:nvSpPr>
        <p:spPr>
          <a:xfrm>
            <a:off x="822960" y="4873752"/>
            <a:ext cx="4846320" cy="320040"/>
          </a:xfrm>
          <a:prstGeom prst="rect">
            <a:avLst/>
          </a:prstGeom>
          <a:noFill/>
          <a:ln w="0">
            <a:noFill/>
          </a:ln>
        </p:spPr>
        <p:txBody>
          <a:bodyPr wrap="square" lIns="0" tIns="0" rIns="0" bIns="0" anchor="t">
            <a:noAutofit/>
          </a:bodyPr>
          <a:lstStyle/>
          <a:p>
            <a:pPr algn="l">
              <a:lnSpc>
                <a:spcPct val="112000"/>
              </a:lnSpc>
              <a:buNone/>
            </a:pPr>
            <a:r>
              <a:rPr lang="en-US" sz="1875" b="1">
                <a:solidFill>
                  <a:srgbClr val="102A43"/>
                </a:solidFill>
                <a:latin typeface="Arial"/>
                <a:ea typeface="Arial"/>
                <a:cs typeface="Arial"/>
              </a:rPr>
              <a:t>WWI database</a:t>
            </a:r>
          </a:p>
        </p:txBody>
      </p:sp>
      <p:sp>
        <p:nvSpPr>
          <p:cNvPr id="107" name="db-s"/>
          <p:cNvSpPr/>
          <p:nvPr/>
        </p:nvSpPr>
        <p:spPr>
          <a:xfrm>
            <a:off x="822960" y="5212080"/>
            <a:ext cx="4846320" cy="274320"/>
          </a:xfrm>
          <a:prstGeom prst="rect">
            <a:avLst/>
          </a:prstGeom>
          <a:noFill/>
          <a:ln w="0">
            <a:noFill/>
          </a:ln>
        </p:spPr>
        <p:txBody>
          <a:bodyPr wrap="square" lIns="0" tIns="0" rIns="0" bIns="0" anchor="t">
            <a:noAutofit/>
          </a:bodyPr>
          <a:lstStyle/>
          <a:p>
            <a:pPr algn="l">
              <a:lnSpc>
                <a:spcPct val="112000"/>
              </a:lnSpc>
              <a:buNone/>
            </a:pPr>
            <a:r>
              <a:rPr lang="en-US" sz="1575" b="0">
                <a:solidFill>
                  <a:srgbClr val="4D6270"/>
                </a:solidFill>
                <a:latin typeface="Arial"/>
                <a:ea typeface="Arial"/>
                <a:cs typeface="Arial"/>
              </a:rPr>
              <a:t>Canonical read-only API</a:t>
            </a:r>
          </a:p>
        </p:txBody>
      </p:sp>
      <p:sp>
        <p:nvSpPr>
          <p:cNvPr id="108" name="erp-box"/>
          <p:cNvSpPr/>
          <p:nvPr/>
        </p:nvSpPr>
        <p:spPr>
          <a:xfrm>
            <a:off x="6309360" y="4800600"/>
            <a:ext cx="5303520" cy="822960"/>
          </a:xfrm>
          <a:prstGeom prst="rect">
            <a:avLst/>
          </a:prstGeom>
          <a:solidFill>
            <a:srgbClr val="FFFFFF"/>
          </a:solidFill>
          <a:ln w="19050">
            <a:solidFill>
              <a:srgbClr val="006D77"/>
            </a:solidFill>
            <a:prstDash val="dash"/>
          </a:ln>
        </p:spPr>
      </p:sp>
      <p:sp>
        <p:nvSpPr>
          <p:cNvPr id="109" name="erp-t"/>
          <p:cNvSpPr/>
          <p:nvPr/>
        </p:nvSpPr>
        <p:spPr>
          <a:xfrm>
            <a:off x="6492240" y="4873752"/>
            <a:ext cx="4937760" cy="320040"/>
          </a:xfrm>
          <a:prstGeom prst="rect">
            <a:avLst/>
          </a:prstGeom>
          <a:noFill/>
          <a:ln w="0">
            <a:noFill/>
          </a:ln>
        </p:spPr>
        <p:txBody>
          <a:bodyPr wrap="square" lIns="0" tIns="0" rIns="0" bIns="0" anchor="t">
            <a:noAutofit/>
          </a:bodyPr>
          <a:lstStyle/>
          <a:p>
            <a:pPr algn="l">
              <a:lnSpc>
                <a:spcPct val="112000"/>
              </a:lnSpc>
              <a:buNone/>
            </a:pPr>
            <a:r>
              <a:rPr lang="en-US" sz="1875" b="1">
                <a:solidFill>
                  <a:srgbClr val="102A43"/>
                </a:solidFill>
                <a:latin typeface="Arial"/>
                <a:ea typeface="Arial"/>
                <a:cs typeface="Arial"/>
              </a:rPr>
              <a:t>ERPNext workspace</a:t>
            </a:r>
          </a:p>
        </p:txBody>
      </p:sp>
      <p:sp>
        <p:nvSpPr>
          <p:cNvPr id="110" name="erp-s"/>
          <p:cNvSpPr/>
          <p:nvPr/>
        </p:nvSpPr>
        <p:spPr>
          <a:xfrm>
            <a:off x="6492240" y="5212080"/>
            <a:ext cx="4937760" cy="274320"/>
          </a:xfrm>
          <a:prstGeom prst="rect">
            <a:avLst/>
          </a:prstGeom>
          <a:noFill/>
          <a:ln w="0">
            <a:noFill/>
          </a:ln>
        </p:spPr>
        <p:txBody>
          <a:bodyPr wrap="square" lIns="0" tIns="0" rIns="0" bIns="0" anchor="t">
            <a:noAutofit/>
          </a:bodyPr>
          <a:lstStyle/>
          <a:p>
            <a:pPr algn="l">
              <a:lnSpc>
                <a:spcPct val="112000"/>
              </a:lnSpc>
              <a:buNone/>
            </a:pPr>
            <a:r>
              <a:rPr lang="en-US" sz="1575" b="0">
                <a:solidFill>
                  <a:srgbClr val="4D6270"/>
                </a:solidFill>
                <a:latin typeface="Arial"/>
                <a:ea typeface="Arial"/>
                <a:cs typeface="Arial"/>
              </a:rPr>
              <a:t>Observed view and filters</a:t>
            </a:r>
          </a:p>
        </p:txBody>
      </p:sp>
      <p:sp>
        <p:nvSpPr>
          <p:cNvPr id="111" name="arch-note"/>
          <p:cNvSpPr/>
          <p:nvPr/>
        </p:nvSpPr>
        <p:spPr>
          <a:xfrm>
            <a:off x="640080" y="5943600"/>
            <a:ext cx="10972800" cy="274320"/>
          </a:xfrm>
          <a:prstGeom prst="rect">
            <a:avLst/>
          </a:prstGeom>
          <a:noFill/>
          <a:ln w="0">
            <a:noFill/>
          </a:ln>
        </p:spPr>
        <p:txBody>
          <a:bodyPr wrap="square" lIns="0" tIns="0" rIns="0" bIns="0" anchor="t">
            <a:noAutofit/>
          </a:bodyPr>
          <a:lstStyle/>
          <a:p>
            <a:pPr algn="l">
              <a:lnSpc>
                <a:spcPct val="112000"/>
              </a:lnSpc>
              <a:buNone/>
            </a:pPr>
            <a:r>
              <a:rPr lang="en-US" sz="1500" b="0">
                <a:solidFill>
                  <a:srgbClr val="4D6270"/>
                </a:solidFill>
                <a:latin typeface="Arial"/>
                <a:ea typeface="Arial"/>
                <a:cs typeface="Arial"/>
              </a:rPr>
              <a:t>Solid: API agent, built and verified. Dashed: bridge, verified separately; joining it to the agent is pending.</a:t>
            </a:r>
          </a:p>
        </p:txBody>
      </p:sp>
    </p:spTree>
    <p:extLst>
      <p:ext uri="{BB962C8B-B14F-4D97-AF65-F5344CB8AC3E}">
        <p14:creationId xmlns:p14="http://schemas.microsoft.com/office/powerpoint/2010/main" val="10841020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cxnSp>
        <p:nvCxnSpPr>
          <p:cNvPr id="37" name="Straight Arrow Connector 36">
            <a:extLst>
              <a:ext uri="{FF2B5EF4-FFF2-40B4-BE49-F238E27FC236}">
                <a16:creationId xmlns:a16="http://schemas.microsoft.com/office/drawing/2014/main" id="{E8CBCE22-91DF-43E7-B6C3-584A4374FC93}"/>
              </a:ext>
            </a:extLst>
          </p:cNvPr>
          <p:cNvCxnSpPr>
            <a:stCxn id="32" idx="3"/>
            <a:endCxn id="34" idx="1"/>
          </p:cNvCxnSpPr>
          <p:nvPr/>
        </p:nvCxnSpPr>
        <p:spPr>
          <a:xfrm>
            <a:off x="9705975" y="5767388"/>
            <a:ext cx="266700" cy="0"/>
          </a:xfrm>
          <a:prstGeom prst="straightConnector1">
            <a:avLst/>
          </a:prstGeom>
          <a:ln w="19050">
            <a:solidFill>
              <a:srgbClr val="315E87"/>
            </a:solidFill>
            <a:prstDash val="solid"/>
            <a:tailEnd type="triangle" w="med" len="med"/>
          </a:ln>
        </p:spPr>
      </p:cxnSp>
      <p:cxnSp>
        <p:nvCxnSpPr>
          <p:cNvPr id="36" name="Straight Arrow Connector 35">
            <a:extLst>
              <a:ext uri="{FF2B5EF4-FFF2-40B4-BE49-F238E27FC236}">
                <a16:creationId xmlns:a16="http://schemas.microsoft.com/office/drawing/2014/main" id="{EAD5943C-EAC0-4232-82D5-9FA9C88E7B0B}"/>
              </a:ext>
            </a:extLst>
          </p:cNvPr>
          <p:cNvCxnSpPr>
            <a:stCxn id="30" idx="3"/>
            <a:endCxn id="32" idx="1"/>
          </p:cNvCxnSpPr>
          <p:nvPr/>
        </p:nvCxnSpPr>
        <p:spPr>
          <a:xfrm>
            <a:off x="7839075" y="5767388"/>
            <a:ext cx="257175" cy="0"/>
          </a:xfrm>
          <a:prstGeom prst="straightConnector1">
            <a:avLst/>
          </a:prstGeom>
          <a:ln w="19050">
            <a:solidFill>
              <a:srgbClr val="315E87"/>
            </a:solidFill>
            <a:prstDash val="solid"/>
            <a:tailEnd type="triangle" w="med" len="med"/>
          </a:ln>
        </p:spPr>
      </p:cxnSp>
      <p:sp>
        <p:nvSpPr>
          <p:cNvPr id="40" name="shape-180">
            <a:extLst>
              <a:ext uri="{FF2B5EF4-FFF2-40B4-BE49-F238E27FC236}">
                <a16:creationId xmlns:a16="http://schemas.microsoft.com/office/drawing/2014/main" id="{87AE5D47-0D0F-444D-88F1-3A8464F23D36}"/>
              </a:ext>
            </a:extLst>
          </p:cNvPr>
          <p:cNvSpPr>
            <a:spLocks noGrp="1"/>
          </p:cNvSpPr>
          <p:nvPr/>
        </p:nvSpPr>
        <p:spPr>
          <a:xfrm>
            <a:off x="0" y="0"/>
            <a:ext cx="12192000" cy="1066800"/>
          </a:xfrm>
          <a:prstGeom prst="rect">
            <a:avLst/>
          </a:prstGeom>
          <a:solidFill>
            <a:srgbClr val="F2F6F7"/>
          </a:solidFill>
          <a:ln w="0">
            <a:noFill/>
          </a:ln>
        </p:spPr>
      </p:sp>
      <p:sp>
        <p:nvSpPr>
          <p:cNvPr id="2" name="shape-181">
            <a:extLst>
              <a:ext uri="{FF2B5EF4-FFF2-40B4-BE49-F238E27FC236}">
                <a16:creationId xmlns:a16="http://schemas.microsoft.com/office/drawing/2014/main" id="{D4B33B3E-EC0B-41B2-B09E-945196896345}"/>
              </a:ext>
            </a:extLst>
          </p:cNvPr>
          <p:cNvSpPr>
            <a:spLocks noGrp="1"/>
          </p:cNvSpPr>
          <p:nvPr/>
        </p:nvSpPr>
        <p:spPr>
          <a:xfrm>
            <a:off x="0" y="1038225"/>
            <a:ext cx="12192000" cy="28575"/>
          </a:xfrm>
          <a:prstGeom prst="rect">
            <a:avLst/>
          </a:prstGeom>
          <a:solidFill>
            <a:srgbClr val="006D77"/>
          </a:solidFill>
          <a:ln w="0">
            <a:noFill/>
          </a:ln>
        </p:spPr>
      </p:sp>
      <p:sp>
        <p:nvSpPr>
          <p:cNvPr id="3" name="slide-7-title">
            <a:extLst>
              <a:ext uri="{FF2B5EF4-FFF2-40B4-BE49-F238E27FC236}">
                <a16:creationId xmlns:a16="http://schemas.microsoft.com/office/drawing/2014/main" id="{5AEDFE26-9D99-4F79-878B-0F9B042F94FD}"/>
              </a:ext>
            </a:extLst>
          </p:cNvPr>
          <p:cNvSpPr>
            <a:spLocks noGrp="1"/>
          </p:cNvSpPr>
          <p:nvPr/>
        </p:nvSpPr>
        <p:spPr>
          <a:xfrm>
            <a:off x="609600" y="304800"/>
            <a:ext cx="8239125" cy="542925"/>
          </a:xfrm>
          <a:prstGeom prst="rect">
            <a:avLst/>
          </a:prstGeom>
          <a:noFill/>
          <a:ln w="0">
            <a:noFill/>
          </a:ln>
        </p:spPr>
        <p:txBody>
          <a:bodyPr wrap="square" lIns="0" tIns="0" rIns="0" bIns="0" anchor="t">
            <a:noAutofit/>
          </a:bodyPr>
          <a:lstStyle>
            <a:defPPr algn="l">
              <a:defRPr sz="3150" b="1">
                <a:solidFill>
                  <a:srgbClr val="102A43"/>
                </a:solidFill>
                <a:latin typeface="Arial"/>
                <a:ea typeface="Arial"/>
                <a:cs typeface="Arial"/>
              </a:defRPr>
            </a:defPPr>
          </a:lstStyle>
          <a:p>
            <a:pPr algn="l">
              <a:lnSpc>
                <a:spcPct val="112000"/>
              </a:lnSpc>
              <a:buNone/>
              <a:defRPr sz="3150" b="1">
                <a:solidFill>
                  <a:srgbClr val="102A43"/>
                </a:solidFill>
                <a:latin typeface="Arial"/>
                <a:ea typeface="Arial"/>
                <a:cs typeface="Arial"/>
              </a:defRPr>
            </a:pPr>
            <a:r>
              <a:rPr sz="3150" b="1">
                <a:solidFill>
                  <a:srgbClr val="102A43"/>
                </a:solidFill>
                <a:latin typeface="Arial"/>
                <a:ea typeface="Arial"/>
                <a:cs typeface="Arial"/>
              </a:rPr>
              <a:t>Example workflow</a:t>
            </a:r>
          </a:p>
        </p:txBody>
      </p:sp>
      <p:sp>
        <p:nvSpPr>
          <p:cNvPr id="4" name="shape-182">
            <a:extLst>
              <a:ext uri="{FF2B5EF4-FFF2-40B4-BE49-F238E27FC236}">
                <a16:creationId xmlns:a16="http://schemas.microsoft.com/office/drawing/2014/main" id="{C3CE84BD-BCA6-4B3D-9674-F5BF9D0B1A89}"/>
              </a:ext>
            </a:extLst>
          </p:cNvPr>
          <p:cNvSpPr>
            <a:spLocks noGrp="1"/>
          </p:cNvSpPr>
          <p:nvPr/>
        </p:nvSpPr>
        <p:spPr>
          <a:xfrm>
            <a:off x="0" y="6381750"/>
            <a:ext cx="12192000" cy="476250"/>
          </a:xfrm>
          <a:prstGeom prst="rect">
            <a:avLst/>
          </a:prstGeom>
          <a:solidFill>
            <a:srgbClr val="102A43"/>
          </a:solidFill>
          <a:ln w="0">
            <a:noFill/>
          </a:ln>
        </p:spPr>
      </p:sp>
      <p:sp>
        <p:nvSpPr>
          <p:cNvPr id="5" name="brand-7">
            <a:extLst>
              <a:ext uri="{FF2B5EF4-FFF2-40B4-BE49-F238E27FC236}">
                <a16:creationId xmlns:a16="http://schemas.microsoft.com/office/drawing/2014/main" id="{83BB5955-9F62-4BD7-8BE5-356BCD03BFDE}"/>
              </a:ext>
            </a:extLst>
          </p:cNvPr>
          <p:cNvSpPr>
            <a:spLocks noGrp="1"/>
          </p:cNvSpPr>
          <p:nvPr/>
        </p:nvSpPr>
        <p:spPr>
          <a:xfrm>
            <a:off x="609600" y="6467475"/>
            <a:ext cx="3429000" cy="333375"/>
          </a:xfrm>
          <a:prstGeom prst="rect">
            <a:avLst/>
          </a:prstGeom>
          <a:noFill/>
          <a:ln w="0">
            <a:noFill/>
          </a:ln>
        </p:spPr>
        <p:txBody>
          <a:bodyPr wrap="square" lIns="0" tIns="0" rIns="0" bIns="0" anchor="t">
            <a:noAutofit/>
          </a:bodyPr>
          <a:lstStyle>
            <a:defPPr algn="l">
              <a:defRPr sz="1950" b="1">
                <a:solidFill>
                  <a:srgbClr val="8AE1D5"/>
                </a:solidFill>
                <a:latin typeface="Arial"/>
                <a:ea typeface="Arial"/>
                <a:cs typeface="Arial"/>
              </a:defRPr>
            </a:defPPr>
          </a:lstStyle>
          <a:p>
            <a:pPr algn="l">
              <a:lnSpc>
                <a:spcPct val="112000"/>
              </a:lnSpc>
              <a:buNone/>
              <a:defRPr sz="1950" b="1">
                <a:solidFill>
                  <a:srgbClr val="8AE1D5"/>
                </a:solidFill>
                <a:latin typeface="Arial"/>
                <a:ea typeface="Arial"/>
                <a:cs typeface="Arial"/>
              </a:defRPr>
            </a:pPr>
            <a:r>
              <a:rPr sz="1950" b="1">
                <a:solidFill>
                  <a:srgbClr val="8AE1D5"/>
                </a:solidFill>
                <a:latin typeface="Arial"/>
                <a:ea typeface="Arial"/>
                <a:cs typeface="Arial"/>
              </a:rPr>
              <a:t>Sapience</a:t>
            </a:r>
          </a:p>
        </p:txBody>
      </p:sp>
      <p:sp>
        <p:nvSpPr>
          <p:cNvPr id="6" name="page-7">
            <a:extLst>
              <a:ext uri="{FF2B5EF4-FFF2-40B4-BE49-F238E27FC236}">
                <a16:creationId xmlns:a16="http://schemas.microsoft.com/office/drawing/2014/main" id="{D30ED835-04B9-40E5-9394-3DD5828C1D0F}"/>
              </a:ext>
            </a:extLst>
          </p:cNvPr>
          <p:cNvSpPr>
            <a:spLocks noGrp="1"/>
          </p:cNvSpPr>
          <p:nvPr/>
        </p:nvSpPr>
        <p:spPr>
          <a:xfrm>
            <a:off x="10629900" y="6505575"/>
            <a:ext cx="952500" cy="276225"/>
          </a:xfrm>
          <a:prstGeom prst="rect">
            <a:avLst/>
          </a:prstGeom>
          <a:noFill/>
          <a:ln w="0">
            <a:noFill/>
          </a:ln>
        </p:spPr>
        <p:txBody>
          <a:bodyPr wrap="square" lIns="0" tIns="0" rIns="0" bIns="0" anchor="t">
            <a:noAutofit/>
          </a:bodyPr>
          <a:lstStyle>
            <a:defPPr algn="r">
              <a:defRPr sz="1575" b="0">
                <a:solidFill>
                  <a:srgbClr val="FFFFFF"/>
                </a:solidFill>
                <a:latin typeface="Arial"/>
                <a:ea typeface="Arial"/>
                <a:cs typeface="Arial"/>
              </a:defRPr>
            </a:defPPr>
          </a:lstStyle>
          <a:p>
            <a:pPr algn="r">
              <a:lnSpc>
                <a:spcPct val="112000"/>
              </a:lnSpc>
              <a:buNone/>
              <a:defRPr sz="1575" b="0">
                <a:solidFill>
                  <a:srgbClr val="FFFFFF"/>
                </a:solidFill>
                <a:latin typeface="Arial"/>
                <a:ea typeface="Arial"/>
                <a:cs typeface="Arial"/>
              </a:defRPr>
            </a:pPr>
            <a:r>
              <a:rPr sz="1575" b="0">
                <a:solidFill>
                  <a:srgbClr val="FFFFFF"/>
                </a:solidFill>
                <a:latin typeface="Arial"/>
                <a:ea typeface="Arial"/>
                <a:cs typeface="Arial"/>
              </a:rPr>
              <a:t>08 / 18</a:t>
            </a:r>
          </a:p>
        </p:txBody>
      </p:sp>
      <p:sp>
        <p:nvSpPr>
          <p:cNvPr id="7" name="text-183">
            <a:extLst>
              <a:ext uri="{FF2B5EF4-FFF2-40B4-BE49-F238E27FC236}">
                <a16:creationId xmlns:a16="http://schemas.microsoft.com/office/drawing/2014/main" id="{A0231EF7-6179-417D-92AA-EB6D0F2A4516}"/>
              </a:ext>
            </a:extLst>
          </p:cNvPr>
          <p:cNvSpPr>
            <a:spLocks noGrp="1"/>
          </p:cNvSpPr>
          <p:nvPr/>
        </p:nvSpPr>
        <p:spPr>
          <a:xfrm>
            <a:off x="609600" y="1381125"/>
            <a:ext cx="10972800" cy="552450"/>
          </a:xfrm>
          <a:prstGeom prst="rect">
            <a:avLst/>
          </a:prstGeom>
          <a:noFill/>
          <a:ln w="0">
            <a:noFill/>
          </a:ln>
        </p:spPr>
        <p:txBody>
          <a:bodyPr wrap="square" lIns="0" tIns="0" rIns="0" bIns="0" anchor="t">
            <a:noAutofit/>
          </a:bodyPr>
          <a:lstStyle>
            <a:defPPr algn="l">
              <a:defRPr sz="2700" b="1">
                <a:solidFill>
                  <a:srgbClr val="006D77"/>
                </a:solidFill>
                <a:latin typeface="Arial"/>
                <a:ea typeface="Arial"/>
                <a:cs typeface="Arial"/>
              </a:defRPr>
            </a:defPPr>
          </a:lstStyle>
          <a:p>
            <a:pPr algn="l">
              <a:lnSpc>
                <a:spcPct val="112000"/>
              </a:lnSpc>
              <a:buNone/>
              <a:defRPr sz="2700" b="1">
                <a:solidFill>
                  <a:srgbClr val="006D77"/>
                </a:solidFill>
                <a:latin typeface="Arial"/>
                <a:ea typeface="Arial"/>
                <a:cs typeface="Arial"/>
              </a:defRPr>
            </a:pPr>
            <a:r>
              <a:rPr sz="2700" b="1">
                <a:solidFill>
                  <a:srgbClr val="006D77"/>
                </a:solidFill>
                <a:latin typeface="Arial"/>
                <a:ea typeface="Arial"/>
                <a:cs typeface="Arial"/>
              </a:rPr>
              <a:t>“Compare total orders in April and May 2016.”</a:t>
            </a:r>
          </a:p>
        </p:txBody>
      </p:sp>
      <p:sp>
        <p:nvSpPr>
          <p:cNvPr id="8" name="text-184">
            <a:extLst>
              <a:ext uri="{FF2B5EF4-FFF2-40B4-BE49-F238E27FC236}">
                <a16:creationId xmlns:a16="http://schemas.microsoft.com/office/drawing/2014/main" id="{1AF28A4C-0A1C-4703-82E4-2B4654DE008E}"/>
              </a:ext>
            </a:extLst>
          </p:cNvPr>
          <p:cNvSpPr>
            <a:spLocks noGrp="1"/>
          </p:cNvSpPr>
          <p:nvPr/>
        </p:nvSpPr>
        <p:spPr>
          <a:xfrm>
            <a:off x="609600" y="2200275"/>
            <a:ext cx="609600" cy="361950"/>
          </a:xfrm>
          <a:prstGeom prst="rect">
            <a:avLst/>
          </a:prstGeom>
          <a:noFill/>
          <a:ln w="0">
            <a:noFill/>
          </a:ln>
        </p:spPr>
        <p:txBody>
          <a:bodyPr wrap="square" lIns="0" tIns="0" rIns="0" bIns="0" anchor="t">
            <a:noAutofit/>
          </a:bodyPr>
          <a:lstStyle>
            <a:defPPr algn="l">
              <a:defRPr sz="2025" b="1">
                <a:solidFill>
                  <a:srgbClr val="006D77"/>
                </a:solidFill>
                <a:latin typeface="Arial"/>
                <a:ea typeface="Arial"/>
                <a:cs typeface="Arial"/>
              </a:defRPr>
            </a:defPPr>
          </a:lstStyle>
          <a:p>
            <a:pPr algn="l">
              <a:lnSpc>
                <a:spcPct val="112000"/>
              </a:lnSpc>
              <a:buNone/>
              <a:defRPr sz="2025" b="1">
                <a:solidFill>
                  <a:srgbClr val="006D77"/>
                </a:solidFill>
                <a:latin typeface="Arial"/>
                <a:ea typeface="Arial"/>
                <a:cs typeface="Arial"/>
              </a:defRPr>
            </a:pPr>
            <a:r>
              <a:rPr sz="2025" b="1">
                <a:solidFill>
                  <a:srgbClr val="006D77"/>
                </a:solidFill>
                <a:latin typeface="Arial"/>
                <a:ea typeface="Arial"/>
                <a:cs typeface="Arial"/>
              </a:rPr>
              <a:t>01</a:t>
            </a:r>
          </a:p>
        </p:txBody>
      </p:sp>
      <p:sp>
        <p:nvSpPr>
          <p:cNvPr id="9" name="text-185">
            <a:extLst>
              <a:ext uri="{FF2B5EF4-FFF2-40B4-BE49-F238E27FC236}">
                <a16:creationId xmlns:a16="http://schemas.microsoft.com/office/drawing/2014/main" id="{46174C17-21BF-4E53-8D1C-C25E6511426A}"/>
              </a:ext>
            </a:extLst>
          </p:cNvPr>
          <p:cNvSpPr>
            <a:spLocks noGrp="1"/>
          </p:cNvSpPr>
          <p:nvPr/>
        </p:nvSpPr>
        <p:spPr>
          <a:xfrm>
            <a:off x="1438275" y="2200275"/>
            <a:ext cx="5591175" cy="352425"/>
          </a:xfrm>
          <a:prstGeom prst="rect">
            <a:avLst/>
          </a:prstGeom>
          <a:noFill/>
          <a:ln w="0">
            <a:noFill/>
          </a:ln>
        </p:spPr>
        <p:txBody>
          <a:bodyPr wrap="square" lIns="0" tIns="0" rIns="0" bIns="0" anchor="t">
            <a:noAutofit/>
          </a:bodyPr>
          <a:lstStyle>
            <a:defPPr algn="l">
              <a:defRPr sz="2025" b="1">
                <a:solidFill>
                  <a:srgbClr val="17324A"/>
                </a:solidFill>
                <a:latin typeface="Arial"/>
                <a:ea typeface="Arial"/>
                <a:cs typeface="Arial"/>
              </a:defRPr>
            </a:defPPr>
          </a:lstStyle>
          <a:p>
            <a:pPr algn="l">
              <a:lnSpc>
                <a:spcPct val="112000"/>
              </a:lnSpc>
              <a:buNone/>
              <a:defRPr sz="2025" b="1">
                <a:solidFill>
                  <a:srgbClr val="17324A"/>
                </a:solidFill>
                <a:latin typeface="Arial"/>
                <a:ea typeface="Arial"/>
                <a:cs typeface="Arial"/>
              </a:defRPr>
            </a:pPr>
            <a:r>
              <a:rPr sz="2025" b="1">
                <a:solidFill>
                  <a:srgbClr val="17324A"/>
                </a:solidFill>
                <a:latin typeface="Arial"/>
                <a:ea typeface="Arial"/>
                <a:cs typeface="Arial"/>
              </a:rPr>
              <a:t>Resolve the requested scope</a:t>
            </a:r>
          </a:p>
        </p:txBody>
      </p:sp>
      <p:sp>
        <p:nvSpPr>
          <p:cNvPr id="10" name="text-186">
            <a:extLst>
              <a:ext uri="{FF2B5EF4-FFF2-40B4-BE49-F238E27FC236}">
                <a16:creationId xmlns:a16="http://schemas.microsoft.com/office/drawing/2014/main" id="{BBB1E0C6-2CAD-48BF-B298-4137A7E181E8}"/>
              </a:ext>
            </a:extLst>
          </p:cNvPr>
          <p:cNvSpPr>
            <a:spLocks noGrp="1"/>
          </p:cNvSpPr>
          <p:nvPr/>
        </p:nvSpPr>
        <p:spPr>
          <a:xfrm>
            <a:off x="1438275" y="2552700"/>
            <a:ext cx="5591175" cy="323850"/>
          </a:xfrm>
          <a:prstGeom prst="rect">
            <a:avLst/>
          </a:prstGeom>
          <a:noFill/>
          <a:ln w="0">
            <a:noFill/>
          </a:ln>
        </p:spPr>
        <p:txBody>
          <a:bodyPr wrap="square" lIns="0" tIns="0" rIns="0" bIns="0" anchor="t">
            <a:noAutofit/>
          </a:bodyPr>
          <a:lstStyle>
            <a:defPPr algn="l">
              <a:defRPr sz="1650" b="0">
                <a:solidFill>
                  <a:srgbClr val="4D6270"/>
                </a:solidFill>
                <a:latin typeface="Arial"/>
                <a:ea typeface="Arial"/>
                <a:cs typeface="Arial"/>
              </a:defRPr>
            </a:defPPr>
          </a:lstStyle>
          <a:p>
            <a:pPr algn="l">
              <a:lnSpc>
                <a:spcPct val="112000"/>
              </a:lnSpc>
              <a:buNone/>
              <a:defRPr sz="1650" b="0">
                <a:solidFill>
                  <a:srgbClr val="4D6270"/>
                </a:solidFill>
                <a:latin typeface="Arial"/>
                <a:ea typeface="Arial"/>
                <a:cs typeface="Arial"/>
              </a:defRPr>
            </a:pPr>
            <a:r>
              <a:rPr sz="1650" b="0">
                <a:solidFill>
                  <a:srgbClr val="4D6270"/>
                </a:solidFill>
                <a:latin typeface="Arial"/>
                <a:ea typeface="Arial"/>
                <a:cs typeface="Arial"/>
              </a:rPr>
              <a:t>Total orders, two periods, the same year</a:t>
            </a:r>
          </a:p>
        </p:txBody>
      </p:sp>
      <p:sp>
        <p:nvSpPr>
          <p:cNvPr id="11" name="text-187">
            <a:extLst>
              <a:ext uri="{FF2B5EF4-FFF2-40B4-BE49-F238E27FC236}">
                <a16:creationId xmlns:a16="http://schemas.microsoft.com/office/drawing/2014/main" id="{92957B3C-7C03-4D15-80FF-17F935915A68}"/>
              </a:ext>
            </a:extLst>
          </p:cNvPr>
          <p:cNvSpPr>
            <a:spLocks noGrp="1"/>
          </p:cNvSpPr>
          <p:nvPr/>
        </p:nvSpPr>
        <p:spPr>
          <a:xfrm>
            <a:off x="609600" y="2924175"/>
            <a:ext cx="609600" cy="361950"/>
          </a:xfrm>
          <a:prstGeom prst="rect">
            <a:avLst/>
          </a:prstGeom>
          <a:noFill/>
          <a:ln w="0">
            <a:noFill/>
          </a:ln>
        </p:spPr>
        <p:txBody>
          <a:bodyPr wrap="square" lIns="0" tIns="0" rIns="0" bIns="0" anchor="t">
            <a:noAutofit/>
          </a:bodyPr>
          <a:lstStyle>
            <a:defPPr algn="l">
              <a:defRPr sz="2025" b="1">
                <a:solidFill>
                  <a:srgbClr val="006D77"/>
                </a:solidFill>
                <a:latin typeface="Arial"/>
                <a:ea typeface="Arial"/>
                <a:cs typeface="Arial"/>
              </a:defRPr>
            </a:defPPr>
          </a:lstStyle>
          <a:p>
            <a:pPr algn="l">
              <a:lnSpc>
                <a:spcPct val="112000"/>
              </a:lnSpc>
              <a:buNone/>
              <a:defRPr sz="2025" b="1">
                <a:solidFill>
                  <a:srgbClr val="006D77"/>
                </a:solidFill>
                <a:latin typeface="Arial"/>
                <a:ea typeface="Arial"/>
                <a:cs typeface="Arial"/>
              </a:defRPr>
            </a:pPr>
            <a:r>
              <a:rPr sz="2025" b="1">
                <a:solidFill>
                  <a:srgbClr val="006D77"/>
                </a:solidFill>
                <a:latin typeface="Arial"/>
                <a:ea typeface="Arial"/>
                <a:cs typeface="Arial"/>
              </a:rPr>
              <a:t>02</a:t>
            </a:r>
          </a:p>
        </p:txBody>
      </p:sp>
      <p:sp>
        <p:nvSpPr>
          <p:cNvPr id="12" name="text-188">
            <a:extLst>
              <a:ext uri="{FF2B5EF4-FFF2-40B4-BE49-F238E27FC236}">
                <a16:creationId xmlns:a16="http://schemas.microsoft.com/office/drawing/2014/main" id="{7AF37933-1F05-4834-BDB3-EBD4773E7407}"/>
              </a:ext>
            </a:extLst>
          </p:cNvPr>
          <p:cNvSpPr>
            <a:spLocks noGrp="1"/>
          </p:cNvSpPr>
          <p:nvPr/>
        </p:nvSpPr>
        <p:spPr>
          <a:xfrm>
            <a:off x="1438275" y="2924175"/>
            <a:ext cx="5591175" cy="352425"/>
          </a:xfrm>
          <a:prstGeom prst="rect">
            <a:avLst/>
          </a:prstGeom>
          <a:noFill/>
          <a:ln w="0">
            <a:noFill/>
          </a:ln>
        </p:spPr>
        <p:txBody>
          <a:bodyPr wrap="square" lIns="0" tIns="0" rIns="0" bIns="0" anchor="t">
            <a:noAutofit/>
          </a:bodyPr>
          <a:lstStyle>
            <a:defPPr algn="l">
              <a:defRPr sz="2025" b="1">
                <a:solidFill>
                  <a:srgbClr val="17324A"/>
                </a:solidFill>
                <a:latin typeface="Arial"/>
                <a:ea typeface="Arial"/>
                <a:cs typeface="Arial"/>
              </a:defRPr>
            </a:defPPr>
          </a:lstStyle>
          <a:p>
            <a:pPr algn="l">
              <a:lnSpc>
                <a:spcPct val="112000"/>
              </a:lnSpc>
              <a:buNone/>
              <a:defRPr sz="2025" b="1">
                <a:solidFill>
                  <a:srgbClr val="17324A"/>
                </a:solidFill>
                <a:latin typeface="Arial"/>
                <a:ea typeface="Arial"/>
                <a:cs typeface="Arial"/>
              </a:defRPr>
            </a:pPr>
            <a:r>
              <a:rPr sz="2025" b="1">
                <a:solidFill>
                  <a:srgbClr val="17324A"/>
                </a:solidFill>
                <a:latin typeface="Arial"/>
                <a:ea typeface="Arial"/>
                <a:cs typeface="Arial"/>
              </a:rPr>
              <a:t>Obtain the business facts</a:t>
            </a:r>
          </a:p>
        </p:txBody>
      </p:sp>
      <p:sp>
        <p:nvSpPr>
          <p:cNvPr id="13" name="text-189">
            <a:extLst>
              <a:ext uri="{FF2B5EF4-FFF2-40B4-BE49-F238E27FC236}">
                <a16:creationId xmlns:a16="http://schemas.microsoft.com/office/drawing/2014/main" id="{EABE11C5-72A4-4A23-8A53-C3865E73E090}"/>
              </a:ext>
            </a:extLst>
          </p:cNvPr>
          <p:cNvSpPr>
            <a:spLocks noGrp="1"/>
          </p:cNvSpPr>
          <p:nvPr/>
        </p:nvSpPr>
        <p:spPr>
          <a:xfrm>
            <a:off x="1438275" y="3276600"/>
            <a:ext cx="5591175" cy="323850"/>
          </a:xfrm>
          <a:prstGeom prst="rect">
            <a:avLst/>
          </a:prstGeom>
          <a:noFill/>
          <a:ln w="0">
            <a:noFill/>
          </a:ln>
        </p:spPr>
        <p:txBody>
          <a:bodyPr wrap="square" lIns="0" tIns="0" rIns="0" bIns="0" anchor="t">
            <a:noAutofit/>
          </a:bodyPr>
          <a:lstStyle>
            <a:defPPr algn="l">
              <a:defRPr sz="1650" b="0">
                <a:solidFill>
                  <a:srgbClr val="4D6270"/>
                </a:solidFill>
                <a:latin typeface="Arial"/>
                <a:ea typeface="Arial"/>
                <a:cs typeface="Arial"/>
              </a:defRPr>
            </a:defPPr>
          </a:lstStyle>
          <a:p>
            <a:pPr algn="l">
              <a:lnSpc>
                <a:spcPct val="112000"/>
              </a:lnSpc>
              <a:buNone/>
              <a:defRPr sz="1650" b="0">
                <a:solidFill>
                  <a:srgbClr val="4D6270"/>
                </a:solidFill>
                <a:latin typeface="Arial"/>
                <a:ea typeface="Arial"/>
                <a:cs typeface="Arial"/>
              </a:defRPr>
            </a:pPr>
            <a:r>
              <a:rPr sz="1650" b="0">
                <a:solidFill>
                  <a:srgbClr val="4D6270"/>
                </a:solidFill>
                <a:latin typeface="Arial"/>
                <a:ea typeface="Arial"/>
                <a:cs typeface="Arial"/>
              </a:rPr>
              <a:t>Run the supported comparison</a:t>
            </a:r>
          </a:p>
        </p:txBody>
      </p:sp>
      <p:sp>
        <p:nvSpPr>
          <p:cNvPr id="14" name="text-190">
            <a:extLst>
              <a:ext uri="{FF2B5EF4-FFF2-40B4-BE49-F238E27FC236}">
                <a16:creationId xmlns:a16="http://schemas.microsoft.com/office/drawing/2014/main" id="{4F28924C-3F66-454C-9BB8-915D9CADD022}"/>
              </a:ext>
            </a:extLst>
          </p:cNvPr>
          <p:cNvSpPr>
            <a:spLocks noGrp="1"/>
          </p:cNvSpPr>
          <p:nvPr/>
        </p:nvSpPr>
        <p:spPr>
          <a:xfrm>
            <a:off x="609600" y="3648075"/>
            <a:ext cx="609600" cy="361950"/>
          </a:xfrm>
          <a:prstGeom prst="rect">
            <a:avLst/>
          </a:prstGeom>
          <a:noFill/>
          <a:ln w="0">
            <a:noFill/>
          </a:ln>
        </p:spPr>
        <p:txBody>
          <a:bodyPr wrap="square" lIns="0" tIns="0" rIns="0" bIns="0" anchor="t">
            <a:noAutofit/>
          </a:bodyPr>
          <a:lstStyle>
            <a:defPPr algn="l">
              <a:defRPr sz="2025" b="1">
                <a:solidFill>
                  <a:srgbClr val="006D77"/>
                </a:solidFill>
                <a:latin typeface="Arial"/>
                <a:ea typeface="Arial"/>
                <a:cs typeface="Arial"/>
              </a:defRPr>
            </a:defPPr>
          </a:lstStyle>
          <a:p>
            <a:pPr algn="l">
              <a:lnSpc>
                <a:spcPct val="112000"/>
              </a:lnSpc>
              <a:buNone/>
              <a:defRPr sz="2025" b="1">
                <a:solidFill>
                  <a:srgbClr val="006D77"/>
                </a:solidFill>
                <a:latin typeface="Arial"/>
                <a:ea typeface="Arial"/>
                <a:cs typeface="Arial"/>
              </a:defRPr>
            </a:pPr>
            <a:r>
              <a:rPr sz="2025" b="1">
                <a:solidFill>
                  <a:srgbClr val="006D77"/>
                </a:solidFill>
                <a:latin typeface="Arial"/>
                <a:ea typeface="Arial"/>
                <a:cs typeface="Arial"/>
              </a:rPr>
              <a:t>03</a:t>
            </a:r>
          </a:p>
        </p:txBody>
      </p:sp>
      <p:sp>
        <p:nvSpPr>
          <p:cNvPr id="15" name="text-191">
            <a:extLst>
              <a:ext uri="{FF2B5EF4-FFF2-40B4-BE49-F238E27FC236}">
                <a16:creationId xmlns:a16="http://schemas.microsoft.com/office/drawing/2014/main" id="{B91E458B-006A-422B-B7D1-3F94DBE4E7A0}"/>
              </a:ext>
            </a:extLst>
          </p:cNvPr>
          <p:cNvSpPr>
            <a:spLocks noGrp="1"/>
          </p:cNvSpPr>
          <p:nvPr/>
        </p:nvSpPr>
        <p:spPr>
          <a:xfrm>
            <a:off x="1438275" y="3648075"/>
            <a:ext cx="5591175" cy="352425"/>
          </a:xfrm>
          <a:prstGeom prst="rect">
            <a:avLst/>
          </a:prstGeom>
          <a:noFill/>
          <a:ln w="0">
            <a:noFill/>
          </a:ln>
        </p:spPr>
        <p:txBody>
          <a:bodyPr wrap="square" lIns="0" tIns="0" rIns="0" bIns="0" anchor="t">
            <a:noAutofit/>
          </a:bodyPr>
          <a:lstStyle>
            <a:defPPr algn="l">
              <a:defRPr sz="2025" b="1">
                <a:solidFill>
                  <a:srgbClr val="17324A"/>
                </a:solidFill>
                <a:latin typeface="Arial"/>
                <a:ea typeface="Arial"/>
                <a:cs typeface="Arial"/>
              </a:defRPr>
            </a:defPPr>
          </a:lstStyle>
          <a:p>
            <a:pPr algn="l">
              <a:lnSpc>
                <a:spcPct val="112000"/>
              </a:lnSpc>
              <a:buNone/>
              <a:defRPr sz="2025" b="1">
                <a:solidFill>
                  <a:srgbClr val="17324A"/>
                </a:solidFill>
                <a:latin typeface="Arial"/>
                <a:ea typeface="Arial"/>
                <a:cs typeface="Arial"/>
              </a:defRPr>
            </a:pPr>
            <a:r>
              <a:rPr sz="2025" b="1">
                <a:solidFill>
                  <a:srgbClr val="17324A"/>
                </a:solidFill>
                <a:latin typeface="Arial"/>
                <a:ea typeface="Arial"/>
                <a:cs typeface="Arial"/>
              </a:rPr>
              <a:t>Verify the evidence</a:t>
            </a:r>
          </a:p>
        </p:txBody>
      </p:sp>
      <p:sp>
        <p:nvSpPr>
          <p:cNvPr id="16" name="text-192">
            <a:extLst>
              <a:ext uri="{FF2B5EF4-FFF2-40B4-BE49-F238E27FC236}">
                <a16:creationId xmlns:a16="http://schemas.microsoft.com/office/drawing/2014/main" id="{32F37BCF-3894-4115-B4E3-5F04411670D5}"/>
              </a:ext>
            </a:extLst>
          </p:cNvPr>
          <p:cNvSpPr>
            <a:spLocks noGrp="1"/>
          </p:cNvSpPr>
          <p:nvPr/>
        </p:nvSpPr>
        <p:spPr>
          <a:xfrm>
            <a:off x="1438275" y="4000500"/>
            <a:ext cx="5591175" cy="323850"/>
          </a:xfrm>
          <a:prstGeom prst="rect">
            <a:avLst/>
          </a:prstGeom>
          <a:noFill/>
          <a:ln w="0">
            <a:noFill/>
          </a:ln>
        </p:spPr>
        <p:txBody>
          <a:bodyPr wrap="square" lIns="0" tIns="0" rIns="0" bIns="0" anchor="t">
            <a:noAutofit/>
          </a:bodyPr>
          <a:lstStyle>
            <a:defPPr algn="l">
              <a:defRPr sz="1650" b="0">
                <a:solidFill>
                  <a:srgbClr val="4D6270"/>
                </a:solidFill>
                <a:latin typeface="Arial"/>
                <a:ea typeface="Arial"/>
                <a:cs typeface="Arial"/>
              </a:defRPr>
            </a:defPPr>
          </a:lstStyle>
          <a:p>
            <a:pPr algn="l">
              <a:lnSpc>
                <a:spcPct val="112000"/>
              </a:lnSpc>
              <a:buNone/>
              <a:defRPr sz="1650" b="0">
                <a:solidFill>
                  <a:srgbClr val="4D6270"/>
                </a:solidFill>
                <a:latin typeface="Arial"/>
                <a:ea typeface="Arial"/>
                <a:cs typeface="Arial"/>
              </a:defRPr>
            </a:pPr>
            <a:r>
              <a:rPr sz="1650" b="0">
                <a:solidFill>
                  <a:srgbClr val="4D6270"/>
                </a:solidFill>
                <a:latin typeface="Arial"/>
                <a:ea typeface="Arial"/>
                <a:cs typeface="Arial"/>
              </a:rPr>
              <a:t>Check dates, coverage, units and arithmetic</a:t>
            </a:r>
          </a:p>
        </p:txBody>
      </p:sp>
      <p:sp>
        <p:nvSpPr>
          <p:cNvPr id="17" name="text-193">
            <a:extLst>
              <a:ext uri="{FF2B5EF4-FFF2-40B4-BE49-F238E27FC236}">
                <a16:creationId xmlns:a16="http://schemas.microsoft.com/office/drawing/2014/main" id="{FFACEDCD-D608-4CC3-A95E-A58E61B3F165}"/>
              </a:ext>
            </a:extLst>
          </p:cNvPr>
          <p:cNvSpPr>
            <a:spLocks noGrp="1"/>
          </p:cNvSpPr>
          <p:nvPr/>
        </p:nvSpPr>
        <p:spPr>
          <a:xfrm>
            <a:off x="609600" y="4371975"/>
            <a:ext cx="609600" cy="361950"/>
          </a:xfrm>
          <a:prstGeom prst="rect">
            <a:avLst/>
          </a:prstGeom>
          <a:noFill/>
          <a:ln w="0">
            <a:noFill/>
          </a:ln>
        </p:spPr>
        <p:txBody>
          <a:bodyPr wrap="square" lIns="0" tIns="0" rIns="0" bIns="0" anchor="t">
            <a:noAutofit/>
          </a:bodyPr>
          <a:lstStyle>
            <a:defPPr algn="l">
              <a:defRPr sz="2025" b="1">
                <a:solidFill>
                  <a:srgbClr val="006D77"/>
                </a:solidFill>
                <a:latin typeface="Arial"/>
                <a:ea typeface="Arial"/>
                <a:cs typeface="Arial"/>
              </a:defRPr>
            </a:defPPr>
          </a:lstStyle>
          <a:p>
            <a:pPr algn="l">
              <a:lnSpc>
                <a:spcPct val="112000"/>
              </a:lnSpc>
              <a:buNone/>
              <a:defRPr sz="2025" b="1">
                <a:solidFill>
                  <a:srgbClr val="006D77"/>
                </a:solidFill>
                <a:latin typeface="Arial"/>
                <a:ea typeface="Arial"/>
                <a:cs typeface="Arial"/>
              </a:defRPr>
            </a:pPr>
            <a:r>
              <a:rPr sz="2025" b="1">
                <a:solidFill>
                  <a:srgbClr val="006D77"/>
                </a:solidFill>
                <a:latin typeface="Arial"/>
                <a:ea typeface="Arial"/>
                <a:cs typeface="Arial"/>
              </a:rPr>
              <a:t>04</a:t>
            </a:r>
          </a:p>
        </p:txBody>
      </p:sp>
      <p:sp>
        <p:nvSpPr>
          <p:cNvPr id="18" name="text-194">
            <a:extLst>
              <a:ext uri="{FF2B5EF4-FFF2-40B4-BE49-F238E27FC236}">
                <a16:creationId xmlns:a16="http://schemas.microsoft.com/office/drawing/2014/main" id="{EA8051DA-EA5A-48BB-BC69-775B662D7BB5}"/>
              </a:ext>
            </a:extLst>
          </p:cNvPr>
          <p:cNvSpPr>
            <a:spLocks noGrp="1"/>
          </p:cNvSpPr>
          <p:nvPr/>
        </p:nvSpPr>
        <p:spPr>
          <a:xfrm>
            <a:off x="1438275" y="4371975"/>
            <a:ext cx="5591175" cy="352425"/>
          </a:xfrm>
          <a:prstGeom prst="rect">
            <a:avLst/>
          </a:prstGeom>
          <a:noFill/>
          <a:ln w="0">
            <a:noFill/>
          </a:ln>
        </p:spPr>
        <p:txBody>
          <a:bodyPr wrap="square" lIns="0" tIns="0" rIns="0" bIns="0" anchor="t">
            <a:noAutofit/>
          </a:bodyPr>
          <a:lstStyle>
            <a:defPPr algn="l">
              <a:defRPr sz="2025" b="1">
                <a:solidFill>
                  <a:srgbClr val="17324A"/>
                </a:solidFill>
                <a:latin typeface="Arial"/>
                <a:ea typeface="Arial"/>
                <a:cs typeface="Arial"/>
              </a:defRPr>
            </a:defPPr>
          </a:lstStyle>
          <a:p>
            <a:pPr algn="l">
              <a:lnSpc>
                <a:spcPct val="112000"/>
              </a:lnSpc>
              <a:buNone/>
              <a:defRPr sz="2025" b="1">
                <a:solidFill>
                  <a:srgbClr val="17324A"/>
                </a:solidFill>
                <a:latin typeface="Arial"/>
                <a:ea typeface="Arial"/>
                <a:cs typeface="Arial"/>
              </a:defRPr>
            </a:pPr>
            <a:r>
              <a:rPr sz="2025" b="1">
                <a:solidFill>
                  <a:srgbClr val="17324A"/>
                </a:solidFill>
                <a:latin typeface="Arial"/>
                <a:ea typeface="Arial"/>
                <a:cs typeface="Arial"/>
              </a:rPr>
              <a:t>Explain the result</a:t>
            </a:r>
          </a:p>
        </p:txBody>
      </p:sp>
      <p:sp>
        <p:nvSpPr>
          <p:cNvPr id="19" name="text-195">
            <a:extLst>
              <a:ext uri="{FF2B5EF4-FFF2-40B4-BE49-F238E27FC236}">
                <a16:creationId xmlns:a16="http://schemas.microsoft.com/office/drawing/2014/main" id="{D358E61F-BDE1-4E1A-8CC3-6A029E20889E}"/>
              </a:ext>
            </a:extLst>
          </p:cNvPr>
          <p:cNvSpPr>
            <a:spLocks noGrp="1"/>
          </p:cNvSpPr>
          <p:nvPr/>
        </p:nvSpPr>
        <p:spPr>
          <a:xfrm>
            <a:off x="1438275" y="4724400"/>
            <a:ext cx="5591175" cy="323850"/>
          </a:xfrm>
          <a:prstGeom prst="rect">
            <a:avLst/>
          </a:prstGeom>
          <a:noFill/>
          <a:ln w="0">
            <a:noFill/>
          </a:ln>
        </p:spPr>
        <p:txBody>
          <a:bodyPr wrap="square" lIns="0" tIns="0" rIns="0" bIns="0" anchor="t">
            <a:noAutofit/>
          </a:bodyPr>
          <a:lstStyle>
            <a:defPPr algn="l">
              <a:defRPr sz="1650" b="0">
                <a:solidFill>
                  <a:srgbClr val="4D6270"/>
                </a:solidFill>
                <a:latin typeface="Arial"/>
                <a:ea typeface="Arial"/>
                <a:cs typeface="Arial"/>
              </a:defRPr>
            </a:defPPr>
          </a:lstStyle>
          <a:p>
            <a:pPr algn="l">
              <a:lnSpc>
                <a:spcPct val="112000"/>
              </a:lnSpc>
              <a:buNone/>
              <a:defRPr sz="1650" b="0">
                <a:solidFill>
                  <a:srgbClr val="4D6270"/>
                </a:solidFill>
                <a:latin typeface="Arial"/>
                <a:ea typeface="Arial"/>
                <a:cs typeface="Arial"/>
              </a:defRPr>
            </a:pPr>
            <a:r>
              <a:rPr sz="1650" b="0">
                <a:solidFill>
                  <a:srgbClr val="4D6270"/>
                </a:solidFill>
                <a:latin typeface="Arial"/>
                <a:ea typeface="Arial"/>
                <a:cs typeface="Arial"/>
              </a:rPr>
              <a:t>Return the comparison with source records</a:t>
            </a:r>
          </a:p>
        </p:txBody>
      </p:sp>
      <p:sp>
        <p:nvSpPr>
          <p:cNvPr id="20" name="text-196">
            <a:extLst>
              <a:ext uri="{FF2B5EF4-FFF2-40B4-BE49-F238E27FC236}">
                <a16:creationId xmlns:a16="http://schemas.microsoft.com/office/drawing/2014/main" id="{747110CF-0354-4B0F-927D-C29111CAE9DD}"/>
              </a:ext>
            </a:extLst>
          </p:cNvPr>
          <p:cNvSpPr>
            <a:spLocks noGrp="1"/>
          </p:cNvSpPr>
          <p:nvPr/>
        </p:nvSpPr>
        <p:spPr>
          <a:xfrm>
            <a:off x="7905750" y="2152650"/>
            <a:ext cx="3676650" cy="333375"/>
          </a:xfrm>
          <a:prstGeom prst="rect">
            <a:avLst/>
          </a:prstGeom>
          <a:noFill/>
          <a:ln w="0">
            <a:noFill/>
          </a:ln>
        </p:spPr>
        <p:txBody>
          <a:bodyPr wrap="square" lIns="0" tIns="0" rIns="0" bIns="0" anchor="t">
            <a:noAutofit/>
          </a:bodyPr>
          <a:lstStyle>
            <a:defPPr algn="l">
              <a:defRPr sz="1725" b="0">
                <a:solidFill>
                  <a:srgbClr val="4D6270"/>
                </a:solidFill>
                <a:latin typeface="Arial"/>
                <a:ea typeface="Arial"/>
                <a:cs typeface="Arial"/>
              </a:defRPr>
            </a:defPPr>
          </a:lstStyle>
          <a:p>
            <a:pPr algn="l">
              <a:lnSpc>
                <a:spcPct val="112000"/>
              </a:lnSpc>
              <a:buNone/>
              <a:defRPr sz="1725" b="0">
                <a:solidFill>
                  <a:srgbClr val="4D6270"/>
                </a:solidFill>
                <a:latin typeface="Arial"/>
                <a:ea typeface="Arial"/>
                <a:cs typeface="Arial"/>
              </a:defRPr>
            </a:pPr>
            <a:r>
              <a:rPr sz="1725" b="0">
                <a:solidFill>
                  <a:srgbClr val="4D6270"/>
                </a:solidFill>
                <a:latin typeface="Arial"/>
                <a:ea typeface="Arial"/>
                <a:cs typeface="Arial"/>
              </a:rPr>
              <a:t>Verified data example</a:t>
            </a:r>
          </a:p>
        </p:txBody>
      </p:sp>
      <p:sp>
        <p:nvSpPr>
          <p:cNvPr id="21" name="text-197">
            <a:extLst>
              <a:ext uri="{FF2B5EF4-FFF2-40B4-BE49-F238E27FC236}">
                <a16:creationId xmlns:a16="http://schemas.microsoft.com/office/drawing/2014/main" id="{EBB86C7D-9B2C-4A33-8E1C-9A2C47845F22}"/>
              </a:ext>
            </a:extLst>
          </p:cNvPr>
          <p:cNvSpPr>
            <a:spLocks noGrp="1"/>
          </p:cNvSpPr>
          <p:nvPr/>
        </p:nvSpPr>
        <p:spPr>
          <a:xfrm>
            <a:off x="7905750" y="2647950"/>
            <a:ext cx="1619250" cy="304800"/>
          </a:xfrm>
          <a:prstGeom prst="rect">
            <a:avLst/>
          </a:prstGeom>
          <a:noFill/>
          <a:ln w="0">
            <a:noFill/>
          </a:ln>
        </p:spPr>
        <p:txBody>
          <a:bodyPr wrap="square" lIns="0" tIns="0" rIns="0" bIns="0" anchor="t">
            <a:noAutofit/>
          </a:bodyPr>
          <a:lstStyle>
            <a:defPPr algn="l">
              <a:defRPr sz="1800" b="0">
                <a:solidFill>
                  <a:srgbClr val="17324A"/>
                </a:solidFill>
                <a:latin typeface="Arial"/>
                <a:ea typeface="Arial"/>
                <a:cs typeface="Arial"/>
              </a:defRPr>
            </a:defPPr>
          </a:lstStyle>
          <a:p>
            <a:pPr algn="l">
              <a:lnSpc>
                <a:spcPct val="112000"/>
              </a:lnSpc>
              <a:buNone/>
              <a:defRPr sz="1800" b="0">
                <a:solidFill>
                  <a:srgbClr val="17324A"/>
                </a:solidFill>
                <a:latin typeface="Arial"/>
                <a:ea typeface="Arial"/>
                <a:cs typeface="Arial"/>
              </a:defRPr>
            </a:pPr>
            <a:r>
              <a:rPr sz="1800" b="0">
                <a:solidFill>
                  <a:srgbClr val="17324A"/>
                </a:solidFill>
                <a:latin typeface="Arial"/>
                <a:ea typeface="Arial"/>
                <a:cs typeface="Arial"/>
              </a:rPr>
              <a:t>April</a:t>
            </a:r>
          </a:p>
        </p:txBody>
      </p:sp>
      <p:sp>
        <p:nvSpPr>
          <p:cNvPr id="22" name="text-198">
            <a:extLst>
              <a:ext uri="{FF2B5EF4-FFF2-40B4-BE49-F238E27FC236}">
                <a16:creationId xmlns:a16="http://schemas.microsoft.com/office/drawing/2014/main" id="{A01E17B8-B069-4515-B4E6-F6798587897F}"/>
              </a:ext>
            </a:extLst>
          </p:cNvPr>
          <p:cNvSpPr>
            <a:spLocks noGrp="1"/>
          </p:cNvSpPr>
          <p:nvPr/>
        </p:nvSpPr>
        <p:spPr>
          <a:xfrm>
            <a:off x="9915525" y="2647950"/>
            <a:ext cx="1666875" cy="304800"/>
          </a:xfrm>
          <a:prstGeom prst="rect">
            <a:avLst/>
          </a:prstGeom>
          <a:noFill/>
          <a:ln w="0">
            <a:noFill/>
          </a:ln>
        </p:spPr>
        <p:txBody>
          <a:bodyPr wrap="square" lIns="0" tIns="0" rIns="0" bIns="0" anchor="t">
            <a:noAutofit/>
          </a:bodyPr>
          <a:lstStyle>
            <a:defPPr algn="l">
              <a:defRPr sz="1800" b="0">
                <a:solidFill>
                  <a:srgbClr val="17324A"/>
                </a:solidFill>
                <a:latin typeface="Arial"/>
                <a:ea typeface="Arial"/>
                <a:cs typeface="Arial"/>
              </a:defRPr>
            </a:defPPr>
          </a:lstStyle>
          <a:p>
            <a:pPr algn="l">
              <a:lnSpc>
                <a:spcPct val="112000"/>
              </a:lnSpc>
              <a:buNone/>
              <a:defRPr sz="1800" b="0">
                <a:solidFill>
                  <a:srgbClr val="17324A"/>
                </a:solidFill>
                <a:latin typeface="Arial"/>
                <a:ea typeface="Arial"/>
                <a:cs typeface="Arial"/>
              </a:defRPr>
            </a:pPr>
            <a:r>
              <a:rPr sz="1800" b="0">
                <a:solidFill>
                  <a:srgbClr val="17324A"/>
                </a:solidFill>
                <a:latin typeface="Arial"/>
                <a:ea typeface="Arial"/>
                <a:cs typeface="Arial"/>
              </a:rPr>
              <a:t>May</a:t>
            </a:r>
          </a:p>
        </p:txBody>
      </p:sp>
      <p:sp>
        <p:nvSpPr>
          <p:cNvPr id="23" name="text-199">
            <a:extLst>
              <a:ext uri="{FF2B5EF4-FFF2-40B4-BE49-F238E27FC236}">
                <a16:creationId xmlns:a16="http://schemas.microsoft.com/office/drawing/2014/main" id="{3B2C672D-4B0A-441C-B320-EC64BF738673}"/>
              </a:ext>
            </a:extLst>
          </p:cNvPr>
          <p:cNvSpPr>
            <a:spLocks noGrp="1"/>
          </p:cNvSpPr>
          <p:nvPr/>
        </p:nvSpPr>
        <p:spPr>
          <a:xfrm>
            <a:off x="7877175" y="3048000"/>
            <a:ext cx="1733550" cy="619125"/>
          </a:xfrm>
          <a:prstGeom prst="rect">
            <a:avLst/>
          </a:prstGeom>
          <a:noFill/>
          <a:ln w="0">
            <a:noFill/>
          </a:ln>
        </p:spPr>
        <p:txBody>
          <a:bodyPr wrap="square" lIns="0" tIns="0" rIns="0" bIns="0" anchor="t">
            <a:noAutofit/>
          </a:bodyPr>
          <a:lstStyle>
            <a:defPPr algn="l">
              <a:defRPr sz="3900" b="1">
                <a:solidFill>
                  <a:srgbClr val="17324A"/>
                </a:solidFill>
                <a:latin typeface="Arial"/>
                <a:ea typeface="Arial"/>
                <a:cs typeface="Arial"/>
              </a:defRPr>
            </a:defPPr>
          </a:lstStyle>
          <a:p>
            <a:pPr algn="l">
              <a:lnSpc>
                <a:spcPct val="112000"/>
              </a:lnSpc>
              <a:buNone/>
              <a:defRPr sz="3900" b="1">
                <a:solidFill>
                  <a:srgbClr val="17324A"/>
                </a:solidFill>
                <a:latin typeface="Arial"/>
                <a:ea typeface="Arial"/>
                <a:cs typeface="Arial"/>
              </a:defRPr>
            </a:pPr>
            <a:r>
              <a:rPr sz="3900" b="1">
                <a:solidFill>
                  <a:srgbClr val="17324A"/>
                </a:solidFill>
                <a:latin typeface="Arial"/>
                <a:ea typeface="Arial"/>
                <a:cs typeface="Arial"/>
              </a:rPr>
              <a:t>1,951</a:t>
            </a:r>
          </a:p>
        </p:txBody>
      </p:sp>
      <p:sp>
        <p:nvSpPr>
          <p:cNvPr id="24" name="text-200">
            <a:extLst>
              <a:ext uri="{FF2B5EF4-FFF2-40B4-BE49-F238E27FC236}">
                <a16:creationId xmlns:a16="http://schemas.microsoft.com/office/drawing/2014/main" id="{A5CB7662-AEF3-45C4-8D12-466B0AAE8C05}"/>
              </a:ext>
            </a:extLst>
          </p:cNvPr>
          <p:cNvSpPr>
            <a:spLocks noGrp="1"/>
          </p:cNvSpPr>
          <p:nvPr/>
        </p:nvSpPr>
        <p:spPr>
          <a:xfrm>
            <a:off x="9877425" y="3048000"/>
            <a:ext cx="1704975" cy="619125"/>
          </a:xfrm>
          <a:prstGeom prst="rect">
            <a:avLst/>
          </a:prstGeom>
          <a:noFill/>
          <a:ln w="0">
            <a:noFill/>
          </a:ln>
        </p:spPr>
        <p:txBody>
          <a:bodyPr wrap="square" lIns="0" tIns="0" rIns="0" bIns="0" anchor="t">
            <a:noAutofit/>
          </a:bodyPr>
          <a:lstStyle>
            <a:defPPr algn="l">
              <a:defRPr sz="3900" b="1">
                <a:solidFill>
                  <a:srgbClr val="006D77"/>
                </a:solidFill>
                <a:latin typeface="Arial"/>
                <a:ea typeface="Arial"/>
                <a:cs typeface="Arial"/>
              </a:defRPr>
            </a:defPPr>
          </a:lstStyle>
          <a:p>
            <a:pPr algn="l">
              <a:lnSpc>
                <a:spcPct val="112000"/>
              </a:lnSpc>
              <a:buNone/>
              <a:defRPr sz="3900" b="1">
                <a:solidFill>
                  <a:srgbClr val="006D77"/>
                </a:solidFill>
                <a:latin typeface="Arial"/>
                <a:ea typeface="Arial"/>
                <a:cs typeface="Arial"/>
              </a:defRPr>
            </a:pPr>
            <a:r>
              <a:rPr sz="3900" b="1">
                <a:solidFill>
                  <a:srgbClr val="006D77"/>
                </a:solidFill>
                <a:latin typeface="Arial"/>
                <a:ea typeface="Arial"/>
                <a:cs typeface="Arial"/>
              </a:rPr>
              <a:t>2,047</a:t>
            </a:r>
          </a:p>
        </p:txBody>
      </p:sp>
      <p:sp>
        <p:nvSpPr>
          <p:cNvPr id="25" name="shape-201">
            <a:extLst>
              <a:ext uri="{FF2B5EF4-FFF2-40B4-BE49-F238E27FC236}">
                <a16:creationId xmlns:a16="http://schemas.microsoft.com/office/drawing/2014/main" id="{B55C4EC8-102D-4B95-AFB7-C7BB36AB94CB}"/>
              </a:ext>
            </a:extLst>
          </p:cNvPr>
          <p:cNvSpPr>
            <a:spLocks noGrp="1"/>
          </p:cNvSpPr>
          <p:nvPr/>
        </p:nvSpPr>
        <p:spPr>
          <a:xfrm>
            <a:off x="7905750" y="3848100"/>
            <a:ext cx="3676650" cy="14288"/>
          </a:xfrm>
          <a:prstGeom prst="rect">
            <a:avLst/>
          </a:prstGeom>
          <a:solidFill>
            <a:srgbClr val="CDD7D9"/>
          </a:solidFill>
          <a:ln w="0">
            <a:noFill/>
          </a:ln>
        </p:spPr>
      </p:sp>
      <p:sp>
        <p:nvSpPr>
          <p:cNvPr id="26" name="text-202">
            <a:extLst>
              <a:ext uri="{FF2B5EF4-FFF2-40B4-BE49-F238E27FC236}">
                <a16:creationId xmlns:a16="http://schemas.microsoft.com/office/drawing/2014/main" id="{2BE72091-00CC-4A12-8368-165540255BF6}"/>
              </a:ext>
            </a:extLst>
          </p:cNvPr>
          <p:cNvSpPr>
            <a:spLocks noGrp="1"/>
          </p:cNvSpPr>
          <p:nvPr/>
        </p:nvSpPr>
        <p:spPr>
          <a:xfrm>
            <a:off x="7905750" y="4086225"/>
            <a:ext cx="3676650" cy="400050"/>
          </a:xfrm>
          <a:prstGeom prst="rect">
            <a:avLst/>
          </a:prstGeom>
          <a:noFill/>
          <a:ln w="0">
            <a:noFill/>
          </a:ln>
        </p:spPr>
        <p:txBody>
          <a:bodyPr wrap="square" lIns="0" tIns="0" rIns="0" bIns="0" anchor="t">
            <a:noAutofit/>
          </a:bodyPr>
          <a:lstStyle>
            <a:defPPr algn="l">
              <a:defRPr sz="2325" b="1">
                <a:solidFill>
                  <a:srgbClr val="006D77"/>
                </a:solidFill>
                <a:latin typeface="Arial"/>
                <a:ea typeface="Arial"/>
                <a:cs typeface="Arial"/>
              </a:defRPr>
            </a:defPPr>
          </a:lstStyle>
          <a:p>
            <a:pPr algn="l">
              <a:lnSpc>
                <a:spcPct val="112000"/>
              </a:lnSpc>
              <a:buNone/>
              <a:defRPr sz="2325" b="1">
                <a:solidFill>
                  <a:srgbClr val="006D77"/>
                </a:solidFill>
                <a:latin typeface="Arial"/>
                <a:ea typeface="Arial"/>
                <a:cs typeface="Arial"/>
              </a:defRPr>
            </a:pPr>
            <a:r>
              <a:rPr sz="2325" b="1">
                <a:solidFill>
                  <a:srgbClr val="006D77"/>
                </a:solidFill>
                <a:latin typeface="Arial"/>
                <a:ea typeface="Arial"/>
                <a:cs typeface="Arial"/>
              </a:rPr>
              <a:t>96 more orders</a:t>
            </a:r>
          </a:p>
        </p:txBody>
      </p:sp>
      <p:sp>
        <p:nvSpPr>
          <p:cNvPr id="27" name="text-203">
            <a:extLst>
              <a:ext uri="{FF2B5EF4-FFF2-40B4-BE49-F238E27FC236}">
                <a16:creationId xmlns:a16="http://schemas.microsoft.com/office/drawing/2014/main" id="{7C44DBE1-C64D-4CC4-978E-D9E88968228E}"/>
              </a:ext>
            </a:extLst>
          </p:cNvPr>
          <p:cNvSpPr>
            <a:spLocks noGrp="1"/>
          </p:cNvSpPr>
          <p:nvPr/>
        </p:nvSpPr>
        <p:spPr>
          <a:xfrm>
            <a:off x="7905750" y="4552950"/>
            <a:ext cx="3676650" cy="361950"/>
          </a:xfrm>
          <a:prstGeom prst="rect">
            <a:avLst/>
          </a:prstGeom>
          <a:noFill/>
          <a:ln w="0">
            <a:noFill/>
          </a:ln>
        </p:spPr>
        <p:txBody>
          <a:bodyPr wrap="square" lIns="0" tIns="0" rIns="0" bIns="0" anchor="t">
            <a:noAutofit/>
          </a:bodyPr>
          <a:lstStyle>
            <a:defPPr algn="l">
              <a:defRPr sz="2025" b="0">
                <a:solidFill>
                  <a:srgbClr val="4D6270"/>
                </a:solidFill>
                <a:latin typeface="Arial"/>
                <a:ea typeface="Arial"/>
                <a:cs typeface="Arial"/>
              </a:defRPr>
            </a:defPPr>
          </a:lstStyle>
          <a:p>
            <a:pPr algn="l">
              <a:lnSpc>
                <a:spcPct val="112000"/>
              </a:lnSpc>
              <a:buNone/>
              <a:defRPr sz="2025" b="0">
                <a:solidFill>
                  <a:srgbClr val="4D6270"/>
                </a:solidFill>
                <a:latin typeface="Arial"/>
                <a:ea typeface="Arial"/>
                <a:cs typeface="Arial"/>
              </a:defRPr>
            </a:pPr>
            <a:r>
              <a:rPr sz="2025" b="0">
                <a:solidFill>
                  <a:srgbClr val="4D6270"/>
                </a:solidFill>
                <a:latin typeface="Arial"/>
                <a:ea typeface="Arial"/>
                <a:cs typeface="Arial"/>
              </a:rPr>
              <a:t>4.92% increase</a:t>
            </a:r>
          </a:p>
        </p:txBody>
      </p:sp>
      <p:sp>
        <p:nvSpPr>
          <p:cNvPr id="28" name="shape-204">
            <a:extLst>
              <a:ext uri="{FF2B5EF4-FFF2-40B4-BE49-F238E27FC236}">
                <a16:creationId xmlns:a16="http://schemas.microsoft.com/office/drawing/2014/main" id="{33302FAA-3B38-4F06-B9BD-6E7D83F0E27E}"/>
              </a:ext>
            </a:extLst>
          </p:cNvPr>
          <p:cNvSpPr>
            <a:spLocks noGrp="1"/>
          </p:cNvSpPr>
          <p:nvPr/>
        </p:nvSpPr>
        <p:spPr>
          <a:xfrm>
            <a:off x="609600" y="5305425"/>
            <a:ext cx="10972800" cy="14288"/>
          </a:xfrm>
          <a:prstGeom prst="rect">
            <a:avLst/>
          </a:prstGeom>
          <a:solidFill>
            <a:srgbClr val="006D77"/>
          </a:solidFill>
          <a:ln w="0">
            <a:noFill/>
          </a:ln>
        </p:spPr>
      </p:sp>
      <p:sp>
        <p:nvSpPr>
          <p:cNvPr id="29" name="text-205">
            <a:extLst>
              <a:ext uri="{FF2B5EF4-FFF2-40B4-BE49-F238E27FC236}">
                <a16:creationId xmlns:a16="http://schemas.microsoft.com/office/drawing/2014/main" id="{26A3CA39-3E43-48DC-8C2D-3F9FD648FA56}"/>
              </a:ext>
            </a:extLst>
          </p:cNvPr>
          <p:cNvSpPr>
            <a:spLocks noGrp="1"/>
          </p:cNvSpPr>
          <p:nvPr/>
        </p:nvSpPr>
        <p:spPr>
          <a:xfrm>
            <a:off x="609600" y="5591175"/>
            <a:ext cx="4914900" cy="438150"/>
          </a:xfrm>
          <a:prstGeom prst="rect">
            <a:avLst/>
          </a:prstGeom>
          <a:noFill/>
          <a:ln w="0">
            <a:noFill/>
          </a:ln>
        </p:spPr>
        <p:txBody>
          <a:bodyPr wrap="square" lIns="0" tIns="0" rIns="0" bIns="0" anchor="t">
            <a:noAutofit/>
          </a:bodyPr>
          <a:lstStyle>
            <a:defPPr algn="l">
              <a:defRPr sz="2250" b="1">
                <a:solidFill>
                  <a:srgbClr val="17324A"/>
                </a:solidFill>
                <a:latin typeface="Arial"/>
                <a:ea typeface="Arial"/>
                <a:cs typeface="Arial"/>
              </a:defRPr>
            </a:defPPr>
          </a:lstStyle>
          <a:p>
            <a:pPr algn="l">
              <a:lnSpc>
                <a:spcPct val="112000"/>
              </a:lnSpc>
              <a:buNone/>
              <a:defRPr sz="2250" b="1">
                <a:solidFill>
                  <a:srgbClr val="17324A"/>
                </a:solidFill>
                <a:latin typeface="Arial"/>
                <a:ea typeface="Arial"/>
                <a:cs typeface="Arial"/>
              </a:defRPr>
            </a:pPr>
            <a:r>
              <a:rPr sz="2250" b="1">
                <a:solidFill>
                  <a:srgbClr val="17324A"/>
                </a:solidFill>
                <a:latin typeface="Arial"/>
                <a:ea typeface="Arial"/>
                <a:cs typeface="Arial"/>
              </a:rPr>
              <a:t>“Show me May’s orders.”</a:t>
            </a:r>
          </a:p>
        </p:txBody>
      </p:sp>
      <p:sp>
        <p:nvSpPr>
          <p:cNvPr id="30" name="shape-206">
            <a:extLst>
              <a:ext uri="{FF2B5EF4-FFF2-40B4-BE49-F238E27FC236}">
                <a16:creationId xmlns:a16="http://schemas.microsoft.com/office/drawing/2014/main" id="{F40E70B6-C4C4-4DE7-AD36-3E7E03EC78DC}"/>
              </a:ext>
            </a:extLst>
          </p:cNvPr>
          <p:cNvSpPr>
            <a:spLocks noGrp="1"/>
          </p:cNvSpPr>
          <p:nvPr/>
        </p:nvSpPr>
        <p:spPr>
          <a:xfrm>
            <a:off x="6229350" y="5505450"/>
            <a:ext cx="1609725" cy="523875"/>
          </a:xfrm>
          <a:prstGeom prst="rect">
            <a:avLst/>
          </a:prstGeom>
          <a:solidFill>
            <a:srgbClr val="FFFFFF"/>
          </a:solidFill>
          <a:ln w="15240">
            <a:solidFill>
              <a:srgbClr val="006D77"/>
            </a:solidFill>
          </a:ln>
        </p:spPr>
      </p:sp>
      <p:sp>
        <p:nvSpPr>
          <p:cNvPr id="31" name="text-207">
            <a:extLst>
              <a:ext uri="{FF2B5EF4-FFF2-40B4-BE49-F238E27FC236}">
                <a16:creationId xmlns:a16="http://schemas.microsoft.com/office/drawing/2014/main" id="{F83D363C-DA9E-44EC-ABC4-0F26058AB4B5}"/>
              </a:ext>
            </a:extLst>
          </p:cNvPr>
          <p:cNvSpPr>
            <a:spLocks noGrp="1"/>
          </p:cNvSpPr>
          <p:nvPr/>
        </p:nvSpPr>
        <p:spPr>
          <a:xfrm>
            <a:off x="6381750" y="5650039"/>
            <a:ext cx="1304925" cy="272796"/>
          </a:xfrm>
          <a:prstGeom prst="rect">
            <a:avLst/>
          </a:prstGeom>
          <a:noFill/>
          <a:ln w="0">
            <a:noFill/>
          </a:ln>
        </p:spPr>
        <p:txBody>
          <a:bodyPr wrap="square" lIns="0" tIns="0" rIns="0" bIns="0" anchor="t">
            <a:noAutofit/>
          </a:bodyPr>
          <a:lstStyle>
            <a:defPPr algn="ctr">
              <a:defRPr sz="1650" b="1">
                <a:solidFill>
                  <a:srgbClr val="102A43"/>
                </a:solidFill>
                <a:latin typeface="Arial"/>
                <a:ea typeface="Arial"/>
                <a:cs typeface="Arial"/>
              </a:defRPr>
            </a:defPPr>
          </a:lstStyle>
          <a:p>
            <a:pPr algn="ctr">
              <a:lnSpc>
                <a:spcPct val="112000"/>
              </a:lnSpc>
              <a:buNone/>
              <a:defRPr sz="1650" b="1">
                <a:solidFill>
                  <a:srgbClr val="102A43"/>
                </a:solidFill>
                <a:latin typeface="Arial"/>
                <a:ea typeface="Arial"/>
                <a:cs typeface="Arial"/>
              </a:defRPr>
            </a:pPr>
            <a:r>
              <a:rPr sz="1650" b="1">
                <a:solidFill>
                  <a:srgbClr val="102A43"/>
                </a:solidFill>
                <a:latin typeface="Arial"/>
                <a:ea typeface="Arial"/>
                <a:cs typeface="Arial"/>
              </a:rPr>
              <a:t>Open view</a:t>
            </a:r>
          </a:p>
        </p:txBody>
      </p:sp>
      <p:sp>
        <p:nvSpPr>
          <p:cNvPr id="32" name="shape-208">
            <a:extLst>
              <a:ext uri="{FF2B5EF4-FFF2-40B4-BE49-F238E27FC236}">
                <a16:creationId xmlns:a16="http://schemas.microsoft.com/office/drawing/2014/main" id="{678A4208-D856-420F-8052-5EB8B55AB5FA}"/>
              </a:ext>
            </a:extLst>
          </p:cNvPr>
          <p:cNvSpPr>
            <a:spLocks noGrp="1"/>
          </p:cNvSpPr>
          <p:nvPr/>
        </p:nvSpPr>
        <p:spPr>
          <a:xfrm>
            <a:off x="8096250" y="5505450"/>
            <a:ext cx="1609725" cy="523875"/>
          </a:xfrm>
          <a:prstGeom prst="rect">
            <a:avLst/>
          </a:prstGeom>
          <a:solidFill>
            <a:srgbClr val="FFFFFF"/>
          </a:solidFill>
          <a:ln w="15240">
            <a:solidFill>
              <a:srgbClr val="006D77"/>
            </a:solidFill>
          </a:ln>
        </p:spPr>
      </p:sp>
      <p:sp>
        <p:nvSpPr>
          <p:cNvPr id="33" name="text-209">
            <a:extLst>
              <a:ext uri="{FF2B5EF4-FFF2-40B4-BE49-F238E27FC236}">
                <a16:creationId xmlns:a16="http://schemas.microsoft.com/office/drawing/2014/main" id="{3A8C8382-2A32-46C2-82E2-C596C1FEF584}"/>
              </a:ext>
            </a:extLst>
          </p:cNvPr>
          <p:cNvSpPr>
            <a:spLocks noGrp="1"/>
          </p:cNvSpPr>
          <p:nvPr/>
        </p:nvSpPr>
        <p:spPr>
          <a:xfrm>
            <a:off x="8248650" y="5650039"/>
            <a:ext cx="1304925" cy="272796"/>
          </a:xfrm>
          <a:prstGeom prst="rect">
            <a:avLst/>
          </a:prstGeom>
          <a:noFill/>
          <a:ln w="0">
            <a:noFill/>
          </a:ln>
        </p:spPr>
        <p:txBody>
          <a:bodyPr wrap="square" lIns="0" tIns="0" rIns="0" bIns="0" anchor="t">
            <a:noAutofit/>
          </a:bodyPr>
          <a:lstStyle>
            <a:defPPr algn="ctr">
              <a:defRPr sz="1650" b="1">
                <a:solidFill>
                  <a:srgbClr val="102A43"/>
                </a:solidFill>
                <a:latin typeface="Arial"/>
                <a:ea typeface="Arial"/>
                <a:cs typeface="Arial"/>
              </a:defRPr>
            </a:defPPr>
          </a:lstStyle>
          <a:p>
            <a:pPr algn="ctr">
              <a:lnSpc>
                <a:spcPct val="112000"/>
              </a:lnSpc>
              <a:buNone/>
              <a:defRPr sz="1650" b="1">
                <a:solidFill>
                  <a:srgbClr val="102A43"/>
                </a:solidFill>
                <a:latin typeface="Arial"/>
                <a:ea typeface="Arial"/>
                <a:cs typeface="Arial"/>
              </a:defRPr>
            </a:pPr>
            <a:r>
              <a:rPr sz="1650" b="1">
                <a:solidFill>
                  <a:srgbClr val="102A43"/>
                </a:solidFill>
                <a:latin typeface="Arial"/>
                <a:ea typeface="Arial"/>
                <a:cs typeface="Arial"/>
              </a:rPr>
              <a:t>Observe</a:t>
            </a:r>
          </a:p>
        </p:txBody>
      </p:sp>
      <p:sp>
        <p:nvSpPr>
          <p:cNvPr id="34" name="shape-210">
            <a:extLst>
              <a:ext uri="{FF2B5EF4-FFF2-40B4-BE49-F238E27FC236}">
                <a16:creationId xmlns:a16="http://schemas.microsoft.com/office/drawing/2014/main" id="{3BFE6690-E296-414C-A4BC-EBAB15CA8BDE}"/>
              </a:ext>
            </a:extLst>
          </p:cNvPr>
          <p:cNvSpPr>
            <a:spLocks noGrp="1"/>
          </p:cNvSpPr>
          <p:nvPr/>
        </p:nvSpPr>
        <p:spPr>
          <a:xfrm>
            <a:off x="9972675" y="5505450"/>
            <a:ext cx="1609725" cy="523875"/>
          </a:xfrm>
          <a:prstGeom prst="rect">
            <a:avLst/>
          </a:prstGeom>
          <a:solidFill>
            <a:srgbClr val="FFFFFF"/>
          </a:solidFill>
          <a:ln w="15240">
            <a:solidFill>
              <a:srgbClr val="006D77"/>
            </a:solidFill>
          </a:ln>
        </p:spPr>
      </p:sp>
      <p:sp>
        <p:nvSpPr>
          <p:cNvPr id="35" name="text-211">
            <a:extLst>
              <a:ext uri="{FF2B5EF4-FFF2-40B4-BE49-F238E27FC236}">
                <a16:creationId xmlns:a16="http://schemas.microsoft.com/office/drawing/2014/main" id="{4BBE9719-6443-43EC-AACE-BC42FFA4197D}"/>
              </a:ext>
            </a:extLst>
          </p:cNvPr>
          <p:cNvSpPr>
            <a:spLocks noGrp="1"/>
          </p:cNvSpPr>
          <p:nvPr/>
        </p:nvSpPr>
        <p:spPr>
          <a:xfrm>
            <a:off x="10125075" y="5650039"/>
            <a:ext cx="1304925" cy="272796"/>
          </a:xfrm>
          <a:prstGeom prst="rect">
            <a:avLst/>
          </a:prstGeom>
          <a:noFill/>
          <a:ln w="0">
            <a:noFill/>
          </a:ln>
        </p:spPr>
        <p:txBody>
          <a:bodyPr wrap="square" lIns="0" tIns="0" rIns="0" bIns="0" anchor="t">
            <a:noAutofit/>
          </a:bodyPr>
          <a:lstStyle>
            <a:defPPr algn="ctr">
              <a:defRPr sz="1650" b="1">
                <a:solidFill>
                  <a:srgbClr val="102A43"/>
                </a:solidFill>
                <a:latin typeface="Arial"/>
                <a:ea typeface="Arial"/>
                <a:cs typeface="Arial"/>
              </a:defRPr>
            </a:defPPr>
          </a:lstStyle>
          <a:p>
            <a:pPr algn="ctr">
              <a:lnSpc>
                <a:spcPct val="112000"/>
              </a:lnSpc>
              <a:buNone/>
              <a:defRPr sz="1650" b="1">
                <a:solidFill>
                  <a:srgbClr val="102A43"/>
                </a:solidFill>
                <a:latin typeface="Arial"/>
                <a:ea typeface="Arial"/>
                <a:cs typeface="Arial"/>
              </a:defRPr>
            </a:pPr>
            <a:r>
              <a:rPr sz="1650" b="1">
                <a:solidFill>
                  <a:srgbClr val="102A43"/>
                </a:solidFill>
                <a:latin typeface="Arial"/>
                <a:ea typeface="Arial"/>
                <a:cs typeface="Arial"/>
              </a:rPr>
              <a:t>Confirm</a:t>
            </a:r>
          </a:p>
        </p:txBody>
      </p:sp>
      <p:sp>
        <p:nvSpPr>
          <p:cNvPr id="38" name="text-212">
            <a:extLst>
              <a:ext uri="{FF2B5EF4-FFF2-40B4-BE49-F238E27FC236}">
                <a16:creationId xmlns:a16="http://schemas.microsoft.com/office/drawing/2014/main" id="{C29C955B-D990-47FA-9942-F8F1A86C200E}"/>
              </a:ext>
            </a:extLst>
          </p:cNvPr>
          <p:cNvSpPr>
            <a:spLocks noGrp="1"/>
          </p:cNvSpPr>
          <p:nvPr/>
        </p:nvSpPr>
        <p:spPr>
          <a:xfrm>
            <a:off x="609600" y="6029325"/>
            <a:ext cx="10972800" cy="285750"/>
          </a:xfrm>
          <a:prstGeom prst="rect">
            <a:avLst/>
          </a:prstGeom>
          <a:noFill/>
          <a:ln w="0">
            <a:noFill/>
          </a:ln>
        </p:spPr>
        <p:txBody>
          <a:bodyPr wrap="square" lIns="0" tIns="0" rIns="0" bIns="0" anchor="t">
            <a:noAutofit/>
          </a:bodyPr>
          <a:lstStyle>
            <a:defPPr algn="l">
              <a:defRPr sz="1500" b="0">
                <a:solidFill>
                  <a:srgbClr val="4D6270"/>
                </a:solidFill>
                <a:latin typeface="Arial"/>
                <a:ea typeface="Arial"/>
                <a:cs typeface="Arial"/>
              </a:defRPr>
            </a:defPPr>
          </a:lstStyle>
          <a:p>
            <a:pPr algn="l">
              <a:lnSpc>
                <a:spcPct val="112000"/>
              </a:lnSpc>
              <a:buNone/>
              <a:defRPr sz="1500" b="0">
                <a:solidFill>
                  <a:srgbClr val="4D6270"/>
                </a:solidFill>
                <a:latin typeface="Arial"/>
                <a:ea typeface="Arial"/>
                <a:cs typeface="Arial"/>
              </a:defRPr>
            </a:pPr>
            <a:r>
              <a:rPr sz="1500" b="0">
                <a:solidFill>
                  <a:srgbClr val="4D6270"/>
                </a:solidFill>
                <a:latin typeface="Arial"/>
                <a:ea typeface="Arial"/>
                <a:cs typeface="Arial"/>
              </a:rPr>
              <a:t>Counts are verified data controls. The integrated assistant workflow remains proposed.</a:t>
            </a:r>
          </a:p>
        </p:txBody>
      </p:sp>
      <p:pic>
        <p:nvPicPr>
          <p:cNvPr id="39" name="Picture 38">
            <a:extLst>
              <a:ext uri="{FF2B5EF4-FFF2-40B4-BE49-F238E27FC236}">
                <a16:creationId xmlns:a16="http://schemas.microsoft.com/office/drawing/2014/main" id="{DC9795D5-C37A-46D8-9D00-1CFDC6F588AD}"/>
              </a:ext>
            </a:extLst>
          </p:cNvPr>
          <p:cNvPicPr>
            <a:picLocks noChangeAspect="1"/>
          </p:cNvPicPr>
          <p:nvPr/>
        </p:nvPicPr>
        <p:blipFill>
          <a:blip r:embed="rId3"/>
          <a:stretch/>
        </p:blipFill>
        <p:spPr>
          <a:xfrm>
            <a:off x="9220220" y="295275"/>
            <a:ext cx="2362160" cy="442436"/>
          </a:xfrm>
          <a:prstGeom prst="rect">
            <a:avLst/>
          </a:prstGeom>
        </p:spPr>
      </p:pic>
      <p:sp>
        <p:nvSpPr>
          <p:cNvPr id="41" name="readback"/>
          <p:cNvSpPr/>
          <p:nvPr/>
        </p:nvSpPr>
        <p:spPr>
          <a:xfrm>
            <a:off x="7863840" y="4919472"/>
            <a:ext cx="3749039" cy="274320"/>
          </a:xfrm>
          <a:prstGeom prst="rect">
            <a:avLst/>
          </a:prstGeom>
          <a:noFill/>
          <a:ln w="0">
            <a:noFill/>
          </a:ln>
        </p:spPr>
        <p:txBody>
          <a:bodyPr wrap="square" lIns="0" tIns="0" rIns="0" bIns="0" anchor="t">
            <a:noAutofit/>
          </a:bodyPr>
          <a:lstStyle/>
          <a:p>
            <a:pPr algn="l">
              <a:lnSpc>
                <a:spcPct val="112000"/>
              </a:lnSpc>
              <a:buNone/>
            </a:pPr>
            <a:r>
              <a:rPr lang="en-US" sz="1500" b="0">
                <a:solidFill>
                  <a:srgbClr val="4D6270"/>
                </a:solidFill>
                <a:latin typeface="Arial"/>
                <a:ea typeface="Arial"/>
                <a:cs typeface="Arial"/>
              </a:rPr>
              <a:t>April's 1,951 read back from ERPNext</a:t>
            </a:r>
          </a:p>
        </p:txBody>
      </p:sp>
    </p:spTree>
    <p:extLst>
      <p:ext uri="{BB962C8B-B14F-4D97-AF65-F5344CB8AC3E}">
        <p14:creationId xmlns:p14="http://schemas.microsoft.com/office/powerpoint/2010/main" val="20952511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cxnSp>
        <p:nvCxnSpPr>
          <p:cNvPr id="50" name="Straight Arrow Connector 49">
            <a:extLst>
              <a:ext uri="{FF2B5EF4-FFF2-40B4-BE49-F238E27FC236}">
                <a16:creationId xmlns:a16="http://schemas.microsoft.com/office/drawing/2014/main" id="{84DBB906-8915-41F1-8CFD-A30530640DC8}"/>
              </a:ext>
            </a:extLst>
          </p:cNvPr>
          <p:cNvCxnSpPr>
            <a:stCxn id="44" idx="3"/>
            <a:endCxn id="46" idx="1"/>
          </p:cNvCxnSpPr>
          <p:nvPr/>
        </p:nvCxnSpPr>
        <p:spPr>
          <a:xfrm>
            <a:off x="8248650" y="5881688"/>
            <a:ext cx="428625" cy="0"/>
          </a:xfrm>
          <a:prstGeom prst="straightConnector1">
            <a:avLst/>
          </a:prstGeom>
          <a:ln w="19050">
            <a:solidFill>
              <a:srgbClr val="006D77"/>
            </a:solidFill>
            <a:prstDash val="solid"/>
            <a:tailEnd type="triangle" w="med" len="med"/>
          </a:ln>
        </p:spPr>
      </p:cxnSp>
      <p:cxnSp>
        <p:nvCxnSpPr>
          <p:cNvPr id="49" name="Straight Arrow Connector 48">
            <a:extLst>
              <a:ext uri="{FF2B5EF4-FFF2-40B4-BE49-F238E27FC236}">
                <a16:creationId xmlns:a16="http://schemas.microsoft.com/office/drawing/2014/main" id="{21A10EDE-AC16-4403-9823-7BF5978B5D8A}"/>
              </a:ext>
            </a:extLst>
          </p:cNvPr>
          <p:cNvCxnSpPr>
            <a:stCxn id="42" idx="3"/>
            <a:endCxn id="44" idx="1"/>
          </p:cNvCxnSpPr>
          <p:nvPr/>
        </p:nvCxnSpPr>
        <p:spPr>
          <a:xfrm>
            <a:off x="5276850" y="5881688"/>
            <a:ext cx="428625" cy="0"/>
          </a:xfrm>
          <a:prstGeom prst="straightConnector1">
            <a:avLst/>
          </a:prstGeom>
          <a:ln w="19050">
            <a:solidFill>
              <a:srgbClr val="006D77"/>
            </a:solidFill>
            <a:prstDash val="solid"/>
            <a:tailEnd type="triangle" w="med" len="med"/>
          </a:ln>
        </p:spPr>
      </p:cxnSp>
      <p:cxnSp>
        <p:nvCxnSpPr>
          <p:cNvPr id="48" name="Straight Arrow Connector 47">
            <a:extLst>
              <a:ext uri="{FF2B5EF4-FFF2-40B4-BE49-F238E27FC236}">
                <a16:creationId xmlns:a16="http://schemas.microsoft.com/office/drawing/2014/main" id="{2F578B6D-73C1-4B4A-8DB4-1D51C335A5FC}"/>
              </a:ext>
            </a:extLst>
          </p:cNvPr>
          <p:cNvCxnSpPr>
            <a:stCxn id="40" idx="3"/>
            <a:endCxn id="42" idx="1"/>
          </p:cNvCxnSpPr>
          <p:nvPr/>
        </p:nvCxnSpPr>
        <p:spPr>
          <a:xfrm>
            <a:off x="2305050" y="5881688"/>
            <a:ext cx="428625" cy="0"/>
          </a:xfrm>
          <a:prstGeom prst="straightConnector1">
            <a:avLst/>
          </a:prstGeom>
          <a:ln w="19050">
            <a:solidFill>
              <a:srgbClr val="006D77"/>
            </a:solidFill>
            <a:prstDash val="solid"/>
            <a:tailEnd type="triangle" w="med" len="med"/>
          </a:ln>
        </p:spPr>
      </p:cxnSp>
      <p:sp>
        <p:nvSpPr>
          <p:cNvPr id="52" name="shape-213">
            <a:extLst>
              <a:ext uri="{FF2B5EF4-FFF2-40B4-BE49-F238E27FC236}">
                <a16:creationId xmlns:a16="http://schemas.microsoft.com/office/drawing/2014/main" id="{7E74DD4E-A87A-4FA9-92DA-001EAFEBFB78}"/>
              </a:ext>
            </a:extLst>
          </p:cNvPr>
          <p:cNvSpPr>
            <a:spLocks noGrp="1"/>
          </p:cNvSpPr>
          <p:nvPr/>
        </p:nvSpPr>
        <p:spPr>
          <a:xfrm>
            <a:off x="0" y="0"/>
            <a:ext cx="12192000" cy="1066800"/>
          </a:xfrm>
          <a:prstGeom prst="rect">
            <a:avLst/>
          </a:prstGeom>
          <a:solidFill>
            <a:srgbClr val="F2F6F7"/>
          </a:solidFill>
          <a:ln w="0">
            <a:noFill/>
          </a:ln>
        </p:spPr>
      </p:sp>
      <p:sp>
        <p:nvSpPr>
          <p:cNvPr id="2" name="shape-214">
            <a:extLst>
              <a:ext uri="{FF2B5EF4-FFF2-40B4-BE49-F238E27FC236}">
                <a16:creationId xmlns:a16="http://schemas.microsoft.com/office/drawing/2014/main" id="{B31D0600-3586-4DFA-BB88-1A04F5C5C31F}"/>
              </a:ext>
            </a:extLst>
          </p:cNvPr>
          <p:cNvSpPr>
            <a:spLocks noGrp="1"/>
          </p:cNvSpPr>
          <p:nvPr/>
        </p:nvSpPr>
        <p:spPr>
          <a:xfrm>
            <a:off x="0" y="1038225"/>
            <a:ext cx="12192000" cy="28575"/>
          </a:xfrm>
          <a:prstGeom prst="rect">
            <a:avLst/>
          </a:prstGeom>
          <a:solidFill>
            <a:srgbClr val="006D77"/>
          </a:solidFill>
          <a:ln w="0">
            <a:noFill/>
          </a:ln>
        </p:spPr>
      </p:sp>
      <p:sp>
        <p:nvSpPr>
          <p:cNvPr id="3" name="slide-8-title">
            <a:extLst>
              <a:ext uri="{FF2B5EF4-FFF2-40B4-BE49-F238E27FC236}">
                <a16:creationId xmlns:a16="http://schemas.microsoft.com/office/drawing/2014/main" id="{D8726B03-504F-4CBF-A6AA-DBDC4965C03D}"/>
              </a:ext>
            </a:extLst>
          </p:cNvPr>
          <p:cNvSpPr>
            <a:spLocks noGrp="1"/>
          </p:cNvSpPr>
          <p:nvPr/>
        </p:nvSpPr>
        <p:spPr>
          <a:xfrm>
            <a:off x="609600" y="304800"/>
            <a:ext cx="8239125" cy="542925"/>
          </a:xfrm>
          <a:prstGeom prst="rect">
            <a:avLst/>
          </a:prstGeom>
          <a:noFill/>
          <a:ln w="0">
            <a:noFill/>
          </a:ln>
        </p:spPr>
        <p:txBody>
          <a:bodyPr wrap="square" lIns="0" tIns="0" rIns="0" bIns="0" anchor="t">
            <a:noAutofit/>
          </a:bodyPr>
          <a:lstStyle>
            <a:defPPr algn="l">
              <a:defRPr sz="3150" b="1">
                <a:solidFill>
                  <a:srgbClr val="102A43"/>
                </a:solidFill>
                <a:latin typeface="Arial"/>
                <a:ea typeface="Arial"/>
                <a:cs typeface="Arial"/>
              </a:defRPr>
            </a:defPPr>
          </a:lstStyle>
          <a:p>
            <a:pPr algn="l">
              <a:lnSpc>
                <a:spcPct val="112000"/>
              </a:lnSpc>
              <a:buNone/>
              <a:defRPr sz="3150" b="1">
                <a:solidFill>
                  <a:srgbClr val="102A43"/>
                </a:solidFill>
                <a:latin typeface="Arial"/>
                <a:ea typeface="Arial"/>
                <a:cs typeface="Arial"/>
              </a:defRPr>
            </a:pPr>
            <a:r>
              <a:rPr sz="3150" b="1">
                <a:solidFill>
                  <a:srgbClr val="102A43"/>
                </a:solidFill>
                <a:latin typeface="Arial"/>
                <a:ea typeface="Arial"/>
                <a:cs typeface="Arial"/>
              </a:rPr>
              <a:t>Context and state persistence</a:t>
            </a:r>
          </a:p>
        </p:txBody>
      </p:sp>
      <p:sp>
        <p:nvSpPr>
          <p:cNvPr id="4" name="shape-215">
            <a:extLst>
              <a:ext uri="{FF2B5EF4-FFF2-40B4-BE49-F238E27FC236}">
                <a16:creationId xmlns:a16="http://schemas.microsoft.com/office/drawing/2014/main" id="{F7A77C76-650C-4982-8647-3E7119B4563B}"/>
              </a:ext>
            </a:extLst>
          </p:cNvPr>
          <p:cNvSpPr>
            <a:spLocks noGrp="1"/>
          </p:cNvSpPr>
          <p:nvPr/>
        </p:nvSpPr>
        <p:spPr>
          <a:xfrm>
            <a:off x="0" y="6381750"/>
            <a:ext cx="12192000" cy="476250"/>
          </a:xfrm>
          <a:prstGeom prst="rect">
            <a:avLst/>
          </a:prstGeom>
          <a:solidFill>
            <a:srgbClr val="102A43"/>
          </a:solidFill>
          <a:ln w="0">
            <a:noFill/>
          </a:ln>
        </p:spPr>
      </p:sp>
      <p:sp>
        <p:nvSpPr>
          <p:cNvPr id="5" name="brand-8">
            <a:extLst>
              <a:ext uri="{FF2B5EF4-FFF2-40B4-BE49-F238E27FC236}">
                <a16:creationId xmlns:a16="http://schemas.microsoft.com/office/drawing/2014/main" id="{6D5AF13E-342A-442E-9131-E6F0B8460FEE}"/>
              </a:ext>
            </a:extLst>
          </p:cNvPr>
          <p:cNvSpPr>
            <a:spLocks noGrp="1"/>
          </p:cNvSpPr>
          <p:nvPr/>
        </p:nvSpPr>
        <p:spPr>
          <a:xfrm>
            <a:off x="609600" y="6467475"/>
            <a:ext cx="3429000" cy="333375"/>
          </a:xfrm>
          <a:prstGeom prst="rect">
            <a:avLst/>
          </a:prstGeom>
          <a:noFill/>
          <a:ln w="0">
            <a:noFill/>
          </a:ln>
        </p:spPr>
        <p:txBody>
          <a:bodyPr wrap="square" lIns="0" tIns="0" rIns="0" bIns="0" anchor="t">
            <a:noAutofit/>
          </a:bodyPr>
          <a:lstStyle>
            <a:defPPr algn="l">
              <a:defRPr sz="1950" b="1">
                <a:solidFill>
                  <a:srgbClr val="8AE1D5"/>
                </a:solidFill>
                <a:latin typeface="Arial"/>
                <a:ea typeface="Arial"/>
                <a:cs typeface="Arial"/>
              </a:defRPr>
            </a:defPPr>
          </a:lstStyle>
          <a:p>
            <a:pPr algn="l">
              <a:lnSpc>
                <a:spcPct val="112000"/>
              </a:lnSpc>
              <a:buNone/>
              <a:defRPr sz="1950" b="1">
                <a:solidFill>
                  <a:srgbClr val="8AE1D5"/>
                </a:solidFill>
                <a:latin typeface="Arial"/>
                <a:ea typeface="Arial"/>
                <a:cs typeface="Arial"/>
              </a:defRPr>
            </a:pPr>
            <a:r>
              <a:rPr sz="1950" b="1">
                <a:solidFill>
                  <a:srgbClr val="8AE1D5"/>
                </a:solidFill>
                <a:latin typeface="Arial"/>
                <a:ea typeface="Arial"/>
                <a:cs typeface="Arial"/>
              </a:rPr>
              <a:t>Sapience</a:t>
            </a:r>
          </a:p>
        </p:txBody>
      </p:sp>
      <p:sp>
        <p:nvSpPr>
          <p:cNvPr id="6" name="page-8">
            <a:extLst>
              <a:ext uri="{FF2B5EF4-FFF2-40B4-BE49-F238E27FC236}">
                <a16:creationId xmlns:a16="http://schemas.microsoft.com/office/drawing/2014/main" id="{7B77762F-9281-4739-B53E-B24EB7D82EB4}"/>
              </a:ext>
            </a:extLst>
          </p:cNvPr>
          <p:cNvSpPr>
            <a:spLocks noGrp="1"/>
          </p:cNvSpPr>
          <p:nvPr/>
        </p:nvSpPr>
        <p:spPr>
          <a:xfrm>
            <a:off x="10629900" y="6505575"/>
            <a:ext cx="952500" cy="276225"/>
          </a:xfrm>
          <a:prstGeom prst="rect">
            <a:avLst/>
          </a:prstGeom>
          <a:noFill/>
          <a:ln w="0">
            <a:noFill/>
          </a:ln>
        </p:spPr>
        <p:txBody>
          <a:bodyPr wrap="square" lIns="0" tIns="0" rIns="0" bIns="0" anchor="t">
            <a:noAutofit/>
          </a:bodyPr>
          <a:lstStyle>
            <a:defPPr algn="r">
              <a:defRPr sz="1575" b="0">
                <a:solidFill>
                  <a:srgbClr val="FFFFFF"/>
                </a:solidFill>
                <a:latin typeface="Arial"/>
                <a:ea typeface="Arial"/>
                <a:cs typeface="Arial"/>
              </a:defRPr>
            </a:defPPr>
          </a:lstStyle>
          <a:p>
            <a:pPr algn="r">
              <a:lnSpc>
                <a:spcPct val="112000"/>
              </a:lnSpc>
              <a:buNone/>
              <a:defRPr sz="1575" b="0">
                <a:solidFill>
                  <a:srgbClr val="FFFFFF"/>
                </a:solidFill>
                <a:latin typeface="Arial"/>
                <a:ea typeface="Arial"/>
                <a:cs typeface="Arial"/>
              </a:defRPr>
            </a:pPr>
            <a:r>
              <a:rPr sz="1575" b="0">
                <a:solidFill>
                  <a:srgbClr val="FFFFFF"/>
                </a:solidFill>
                <a:latin typeface="Arial"/>
                <a:ea typeface="Arial"/>
                <a:cs typeface="Arial"/>
              </a:rPr>
              <a:t>09 / 18</a:t>
            </a:r>
          </a:p>
        </p:txBody>
      </p:sp>
      <p:sp>
        <p:nvSpPr>
          <p:cNvPr id="7" name="text-216">
            <a:extLst>
              <a:ext uri="{FF2B5EF4-FFF2-40B4-BE49-F238E27FC236}">
                <a16:creationId xmlns:a16="http://schemas.microsoft.com/office/drawing/2014/main" id="{3C94C982-DE7A-4EE7-B3A3-8C2847B3DA55}"/>
              </a:ext>
            </a:extLst>
          </p:cNvPr>
          <p:cNvSpPr>
            <a:spLocks noGrp="1"/>
          </p:cNvSpPr>
          <p:nvPr/>
        </p:nvSpPr>
        <p:spPr>
          <a:xfrm>
            <a:off x="609600" y="1381125"/>
            <a:ext cx="10972800" cy="419100"/>
          </a:xfrm>
          <a:prstGeom prst="rect">
            <a:avLst/>
          </a:prstGeom>
          <a:noFill/>
          <a:ln w="0">
            <a:noFill/>
          </a:ln>
        </p:spPr>
        <p:txBody>
          <a:bodyPr wrap="square" lIns="0" tIns="0" rIns="0" bIns="0" anchor="t">
            <a:noAutofit/>
          </a:bodyPr>
          <a:lstStyle>
            <a:defPPr algn="l">
              <a:defRPr sz="2100" b="1">
                <a:solidFill>
                  <a:srgbClr val="006D77"/>
                </a:solidFill>
                <a:latin typeface="Arial"/>
                <a:ea typeface="Arial"/>
                <a:cs typeface="Arial"/>
              </a:defRPr>
            </a:defPPr>
          </a:lstStyle>
          <a:p>
            <a:pPr algn="l">
              <a:lnSpc>
                <a:spcPct val="112000"/>
              </a:lnSpc>
              <a:buNone/>
              <a:defRPr sz="2100" b="1">
                <a:solidFill>
                  <a:srgbClr val="006D77"/>
                </a:solidFill>
                <a:latin typeface="Arial"/>
                <a:ea typeface="Arial"/>
                <a:cs typeface="Arial"/>
              </a:defRPr>
            </a:pPr>
            <a:r>
              <a:rPr sz="2100" b="1">
                <a:solidFill>
                  <a:srgbClr val="006D77"/>
                </a:solidFill>
                <a:latin typeface="Arial"/>
                <a:ea typeface="Arial"/>
                <a:cs typeface="Arial"/>
              </a:rPr>
              <a:t>Planned runtime state retains meaning while the application changes</a:t>
            </a:r>
          </a:p>
        </p:txBody>
      </p:sp>
      <p:sp>
        <p:nvSpPr>
          <p:cNvPr id="8" name="symbol-browser-217">
            <a:extLst>
              <a:ext uri="{FF2B5EF4-FFF2-40B4-BE49-F238E27FC236}">
                <a16:creationId xmlns:a16="http://schemas.microsoft.com/office/drawing/2014/main" id="{6245CA5F-FF2C-4AC7-8B64-7A04679BDDB4}"/>
              </a:ext>
            </a:extLst>
          </p:cNvPr>
          <p:cNvSpPr>
            <a:spLocks noGrp="1"/>
          </p:cNvSpPr>
          <p:nvPr/>
        </p:nvSpPr>
        <p:spPr>
          <a:xfrm>
            <a:off x="609600" y="2152650"/>
            <a:ext cx="390525" cy="288989"/>
          </a:xfrm>
          <a:prstGeom prst="roundRect">
            <a:avLst>
              <a:gd name="adj" fmla="val 26368"/>
            </a:avLst>
          </a:prstGeom>
          <a:solidFill>
            <a:srgbClr val="FFFFFF"/>
          </a:solidFill>
          <a:ln w="19050">
            <a:solidFill>
              <a:srgbClr val="315E87"/>
            </a:solidFill>
          </a:ln>
        </p:spPr>
      </p:sp>
      <p:cxnSp>
        <p:nvCxnSpPr>
          <p:cNvPr id="9" name="link-218">
            <a:extLst>
              <a:ext uri="{FF2B5EF4-FFF2-40B4-BE49-F238E27FC236}">
                <a16:creationId xmlns:a16="http://schemas.microsoft.com/office/drawing/2014/main" id="{F0CC07B0-8058-4311-8767-9DB8FBA80C18}"/>
              </a:ext>
            </a:extLst>
          </p:cNvPr>
          <p:cNvCxnSpPr/>
          <p:nvPr/>
        </p:nvCxnSpPr>
        <p:spPr>
          <a:xfrm>
            <a:off x="609600" y="2286000"/>
            <a:ext cx="390525" cy="0"/>
          </a:xfrm>
          <a:prstGeom prst="straightConnector1">
            <a:avLst/>
          </a:prstGeom>
          <a:ln w="19050">
            <a:solidFill>
              <a:srgbClr val="315E87"/>
            </a:solidFill>
            <a:prstDash val="solid"/>
          </a:ln>
        </p:spPr>
      </p:cxnSp>
      <p:sp>
        <p:nvSpPr>
          <p:cNvPr id="10" name="symbol-browser-219">
            <a:extLst>
              <a:ext uri="{FF2B5EF4-FFF2-40B4-BE49-F238E27FC236}">
                <a16:creationId xmlns:a16="http://schemas.microsoft.com/office/drawing/2014/main" id="{EC97E9F6-139B-41FE-A310-1DC63AA53426}"/>
              </a:ext>
            </a:extLst>
          </p:cNvPr>
          <p:cNvSpPr>
            <a:spLocks noGrp="1"/>
          </p:cNvSpPr>
          <p:nvPr/>
        </p:nvSpPr>
        <p:spPr>
          <a:xfrm>
            <a:off x="685800" y="2200275"/>
            <a:ext cx="28575" cy="28575"/>
          </a:xfrm>
          <a:prstGeom prst="ellipse">
            <a:avLst/>
          </a:prstGeom>
          <a:solidFill>
            <a:srgbClr val="315E87"/>
          </a:solidFill>
          <a:ln w="19050">
            <a:solidFill>
              <a:srgbClr val="315E87"/>
            </a:solidFill>
          </a:ln>
        </p:spPr>
      </p:sp>
      <p:sp>
        <p:nvSpPr>
          <p:cNvPr id="11" name="symbol-browser-220">
            <a:extLst>
              <a:ext uri="{FF2B5EF4-FFF2-40B4-BE49-F238E27FC236}">
                <a16:creationId xmlns:a16="http://schemas.microsoft.com/office/drawing/2014/main" id="{CCCA751E-AD93-4256-ADD1-EE80D6C516C1}"/>
              </a:ext>
            </a:extLst>
          </p:cNvPr>
          <p:cNvSpPr>
            <a:spLocks noGrp="1"/>
          </p:cNvSpPr>
          <p:nvPr/>
        </p:nvSpPr>
        <p:spPr>
          <a:xfrm>
            <a:off x="762000" y="2200275"/>
            <a:ext cx="28575" cy="28575"/>
          </a:xfrm>
          <a:prstGeom prst="ellipse">
            <a:avLst/>
          </a:prstGeom>
          <a:solidFill>
            <a:srgbClr val="315E87"/>
          </a:solidFill>
          <a:ln w="19050">
            <a:solidFill>
              <a:srgbClr val="315E87"/>
            </a:solidFill>
          </a:ln>
        </p:spPr>
      </p:sp>
      <p:sp>
        <p:nvSpPr>
          <p:cNvPr id="12" name="symbol-browser-221">
            <a:extLst>
              <a:ext uri="{FF2B5EF4-FFF2-40B4-BE49-F238E27FC236}">
                <a16:creationId xmlns:a16="http://schemas.microsoft.com/office/drawing/2014/main" id="{BF4301EB-77A0-401B-8DF3-6E99F88A81DF}"/>
              </a:ext>
            </a:extLst>
          </p:cNvPr>
          <p:cNvSpPr>
            <a:spLocks noGrp="1"/>
          </p:cNvSpPr>
          <p:nvPr/>
        </p:nvSpPr>
        <p:spPr>
          <a:xfrm>
            <a:off x="838200" y="2200275"/>
            <a:ext cx="28575" cy="28575"/>
          </a:xfrm>
          <a:prstGeom prst="ellipse">
            <a:avLst/>
          </a:prstGeom>
          <a:solidFill>
            <a:srgbClr val="315E87"/>
          </a:solidFill>
          <a:ln w="19050">
            <a:solidFill>
              <a:srgbClr val="315E87"/>
            </a:solidFill>
          </a:ln>
        </p:spPr>
      </p:sp>
      <p:cxnSp>
        <p:nvCxnSpPr>
          <p:cNvPr id="13" name="link-222">
            <a:extLst>
              <a:ext uri="{FF2B5EF4-FFF2-40B4-BE49-F238E27FC236}">
                <a16:creationId xmlns:a16="http://schemas.microsoft.com/office/drawing/2014/main" id="{7716306F-AC6A-4981-BE0A-70E592924A8F}"/>
              </a:ext>
            </a:extLst>
          </p:cNvPr>
          <p:cNvCxnSpPr/>
          <p:nvPr/>
        </p:nvCxnSpPr>
        <p:spPr>
          <a:xfrm>
            <a:off x="695325" y="2390775"/>
            <a:ext cx="219075" cy="0"/>
          </a:xfrm>
          <a:prstGeom prst="straightConnector1">
            <a:avLst/>
          </a:prstGeom>
          <a:ln w="19050">
            <a:solidFill>
              <a:srgbClr val="315E87"/>
            </a:solidFill>
            <a:prstDash val="solid"/>
          </a:ln>
        </p:spPr>
      </p:cxnSp>
      <p:sp>
        <p:nvSpPr>
          <p:cNvPr id="14" name="text-223">
            <a:extLst>
              <a:ext uri="{FF2B5EF4-FFF2-40B4-BE49-F238E27FC236}">
                <a16:creationId xmlns:a16="http://schemas.microsoft.com/office/drawing/2014/main" id="{4B7A9CE4-E15B-42EC-810F-1FA75FADCE17}"/>
              </a:ext>
            </a:extLst>
          </p:cNvPr>
          <p:cNvSpPr>
            <a:spLocks noGrp="1"/>
          </p:cNvSpPr>
          <p:nvPr/>
        </p:nvSpPr>
        <p:spPr>
          <a:xfrm>
            <a:off x="609600" y="2733675"/>
            <a:ext cx="3352800" cy="400050"/>
          </a:xfrm>
          <a:prstGeom prst="rect">
            <a:avLst/>
          </a:prstGeom>
          <a:noFill/>
          <a:ln w="0">
            <a:noFill/>
          </a:ln>
        </p:spPr>
        <p:txBody>
          <a:bodyPr wrap="square" lIns="0" tIns="0" rIns="0" bIns="0" anchor="t">
            <a:noAutofit/>
          </a:bodyPr>
          <a:lstStyle>
            <a:defPPr algn="l">
              <a:defRPr sz="2025" b="1">
                <a:solidFill>
                  <a:srgbClr val="315E87"/>
                </a:solidFill>
                <a:latin typeface="Arial"/>
                <a:ea typeface="Arial"/>
                <a:cs typeface="Arial"/>
              </a:defRPr>
            </a:defPPr>
          </a:lstStyle>
          <a:p>
            <a:pPr algn="l">
              <a:lnSpc>
                <a:spcPct val="112000"/>
              </a:lnSpc>
              <a:buNone/>
              <a:defRPr sz="2025" b="1">
                <a:solidFill>
                  <a:srgbClr val="315E87"/>
                </a:solidFill>
                <a:latin typeface="Arial"/>
                <a:ea typeface="Arial"/>
                <a:cs typeface="Arial"/>
              </a:defRPr>
            </a:pPr>
            <a:r>
              <a:rPr sz="2025" b="1">
                <a:solidFill>
                  <a:srgbClr val="315E87"/>
                </a:solidFill>
                <a:latin typeface="Arial"/>
                <a:ea typeface="Arial"/>
                <a:cs typeface="Arial"/>
              </a:rPr>
              <a:t>Live application state</a:t>
            </a:r>
          </a:p>
        </p:txBody>
      </p:sp>
      <p:sp>
        <p:nvSpPr>
          <p:cNvPr id="15" name="citation-224">
            <a:extLst>
              <a:ext uri="{FF2B5EF4-FFF2-40B4-BE49-F238E27FC236}">
                <a16:creationId xmlns:a16="http://schemas.microsoft.com/office/drawing/2014/main" id="{5AF71573-8B8A-4C5A-BBCE-EF76FF664F14}"/>
              </a:ext>
            </a:extLst>
          </p:cNvPr>
          <p:cNvSpPr>
            <a:spLocks noGrp="1"/>
          </p:cNvSpPr>
          <p:nvPr/>
        </p:nvSpPr>
        <p:spPr>
          <a:xfrm>
            <a:off x="3272504" y="2667000"/>
            <a:ext cx="495300" cy="266700"/>
          </a:xfrm>
          <a:prstGeom prst="rect">
            <a:avLst/>
          </a:prstGeom>
          <a:noFill/>
          <a:ln w="0">
            <a:noFill/>
          </a:ln>
        </p:spPr>
        <p:txBody>
          <a:bodyPr wrap="square" lIns="0" tIns="0" rIns="0" bIns="0" anchor="t">
            <a:noAutofit/>
          </a:bodyPr>
          <a:lstStyle>
            <a:defPPr algn="l">
              <a:defRPr sz="1500" b="1">
                <a:solidFill>
                  <a:srgbClr val="315E87"/>
                </a:solidFill>
                <a:latin typeface="Arial"/>
                <a:ea typeface="Arial"/>
                <a:cs typeface="Arial"/>
              </a:defRPr>
            </a:defPPr>
          </a:lstStyle>
          <a:p>
            <a:pPr algn="l">
              <a:lnSpc>
                <a:spcPct val="112000"/>
              </a:lnSpc>
              <a:buNone/>
              <a:defRPr sz="1500" b="1">
                <a:solidFill>
                  <a:srgbClr val="315E87"/>
                </a:solidFill>
                <a:latin typeface="Arial"/>
                <a:ea typeface="Arial"/>
                <a:cs typeface="Arial"/>
              </a:defRPr>
            </a:pPr>
            <a:r>
              <a:rPr sz="1500" b="1">
                <a:solidFill>
                  <a:srgbClr val="315E87"/>
                </a:solidFill>
                <a:latin typeface="Arial"/>
                <a:ea typeface="Arial"/>
                <a:cs typeface="Arial"/>
              </a:rPr>
              <a:t>3</a:t>
            </a:r>
          </a:p>
        </p:txBody>
      </p:sp>
      <p:sp>
        <p:nvSpPr>
          <p:cNvPr id="16" name="shape-225">
            <a:extLst>
              <a:ext uri="{FF2B5EF4-FFF2-40B4-BE49-F238E27FC236}">
                <a16:creationId xmlns:a16="http://schemas.microsoft.com/office/drawing/2014/main" id="{78489458-F7D6-4909-B9B6-A2276FF1266A}"/>
              </a:ext>
            </a:extLst>
          </p:cNvPr>
          <p:cNvSpPr>
            <a:spLocks noGrp="1"/>
          </p:cNvSpPr>
          <p:nvPr/>
        </p:nvSpPr>
        <p:spPr>
          <a:xfrm>
            <a:off x="609600" y="3257550"/>
            <a:ext cx="3352800" cy="14288"/>
          </a:xfrm>
          <a:prstGeom prst="rect">
            <a:avLst/>
          </a:prstGeom>
          <a:solidFill>
            <a:srgbClr val="315E87"/>
          </a:solidFill>
          <a:ln w="0">
            <a:noFill/>
          </a:ln>
        </p:spPr>
      </p:sp>
      <p:sp>
        <p:nvSpPr>
          <p:cNvPr id="17" name="text-226">
            <a:extLst>
              <a:ext uri="{FF2B5EF4-FFF2-40B4-BE49-F238E27FC236}">
                <a16:creationId xmlns:a16="http://schemas.microsoft.com/office/drawing/2014/main" id="{E10E6F39-F088-419E-8377-D1134AC20C26}"/>
              </a:ext>
            </a:extLst>
          </p:cNvPr>
          <p:cNvSpPr>
            <a:spLocks noGrp="1"/>
          </p:cNvSpPr>
          <p:nvPr/>
        </p:nvSpPr>
        <p:spPr>
          <a:xfrm>
            <a:off x="609600" y="3524250"/>
            <a:ext cx="3352800" cy="361950"/>
          </a:xfrm>
          <a:prstGeom prst="rect">
            <a:avLst/>
          </a:prstGeom>
          <a:noFill/>
          <a:ln w="0">
            <a:noFill/>
          </a:ln>
        </p:spPr>
        <p:txBody>
          <a:bodyPr wrap="square" lIns="0" tIns="0" rIns="0" bIns="0" anchor="t">
            <a:noAutofit/>
          </a:bodyPr>
          <a:lstStyle>
            <a:defPPr algn="l">
              <a:defRPr sz="1800" b="0">
                <a:solidFill>
                  <a:srgbClr val="17324A"/>
                </a:solidFill>
                <a:latin typeface="Arial"/>
                <a:ea typeface="Arial"/>
                <a:cs typeface="Arial"/>
              </a:defRPr>
            </a:defPPr>
          </a:lstStyle>
          <a:p>
            <a:pPr algn="l">
              <a:lnSpc>
                <a:spcPct val="112000"/>
              </a:lnSpc>
              <a:buNone/>
              <a:defRPr sz="1800" b="0">
                <a:solidFill>
                  <a:srgbClr val="17324A"/>
                </a:solidFill>
                <a:latin typeface="Arial"/>
                <a:ea typeface="Arial"/>
                <a:cs typeface="Arial"/>
              </a:defRPr>
            </a:pPr>
            <a:r>
              <a:rPr sz="1800" b="0">
                <a:solidFill>
                  <a:srgbClr val="17324A"/>
                </a:solidFill>
                <a:latin typeface="Arial"/>
                <a:ea typeface="Arial"/>
                <a:cs typeface="Arial"/>
              </a:rPr>
              <a:t>Current view and filters</a:t>
            </a:r>
          </a:p>
        </p:txBody>
      </p:sp>
      <p:sp>
        <p:nvSpPr>
          <p:cNvPr id="18" name="text-227">
            <a:extLst>
              <a:ext uri="{FF2B5EF4-FFF2-40B4-BE49-F238E27FC236}">
                <a16:creationId xmlns:a16="http://schemas.microsoft.com/office/drawing/2014/main" id="{1AD48571-E87C-426F-A28B-D98243B41A2A}"/>
              </a:ext>
            </a:extLst>
          </p:cNvPr>
          <p:cNvSpPr>
            <a:spLocks noGrp="1"/>
          </p:cNvSpPr>
          <p:nvPr/>
        </p:nvSpPr>
        <p:spPr>
          <a:xfrm>
            <a:off x="609600" y="3952875"/>
            <a:ext cx="3352800" cy="361950"/>
          </a:xfrm>
          <a:prstGeom prst="rect">
            <a:avLst/>
          </a:prstGeom>
          <a:noFill/>
          <a:ln w="0">
            <a:noFill/>
          </a:ln>
        </p:spPr>
        <p:txBody>
          <a:bodyPr wrap="square" lIns="0" tIns="0" rIns="0" bIns="0" anchor="t">
            <a:noAutofit/>
          </a:bodyPr>
          <a:lstStyle>
            <a:defPPr algn="l">
              <a:defRPr sz="1800" b="0">
                <a:solidFill>
                  <a:srgbClr val="17324A"/>
                </a:solidFill>
                <a:latin typeface="Arial"/>
                <a:ea typeface="Arial"/>
                <a:cs typeface="Arial"/>
              </a:defRPr>
            </a:defPPr>
          </a:lstStyle>
          <a:p>
            <a:pPr algn="l">
              <a:lnSpc>
                <a:spcPct val="112000"/>
              </a:lnSpc>
              <a:buNone/>
              <a:defRPr sz="1800" b="0">
                <a:solidFill>
                  <a:srgbClr val="17324A"/>
                </a:solidFill>
                <a:latin typeface="Arial"/>
                <a:ea typeface="Arial"/>
                <a:cs typeface="Arial"/>
              </a:defRPr>
            </a:pPr>
            <a:r>
              <a:rPr sz="1800" b="0">
                <a:solidFill>
                  <a:srgbClr val="17324A"/>
                </a:solidFill>
                <a:latin typeface="Arial"/>
                <a:ea typeface="Arial"/>
                <a:cs typeface="Arial"/>
              </a:rPr>
              <a:t>Selected record</a:t>
            </a:r>
          </a:p>
        </p:txBody>
      </p:sp>
      <p:sp>
        <p:nvSpPr>
          <p:cNvPr id="19" name="text-228">
            <a:extLst>
              <a:ext uri="{FF2B5EF4-FFF2-40B4-BE49-F238E27FC236}">
                <a16:creationId xmlns:a16="http://schemas.microsoft.com/office/drawing/2014/main" id="{8249BA07-0A8C-4C49-97D2-3A08C09A3E06}"/>
              </a:ext>
            </a:extLst>
          </p:cNvPr>
          <p:cNvSpPr>
            <a:spLocks noGrp="1"/>
          </p:cNvSpPr>
          <p:nvPr/>
        </p:nvSpPr>
        <p:spPr>
          <a:xfrm>
            <a:off x="609600" y="4381500"/>
            <a:ext cx="3352800" cy="361950"/>
          </a:xfrm>
          <a:prstGeom prst="rect">
            <a:avLst/>
          </a:prstGeom>
          <a:noFill/>
          <a:ln w="0">
            <a:noFill/>
          </a:ln>
        </p:spPr>
        <p:txBody>
          <a:bodyPr wrap="square" lIns="0" tIns="0" rIns="0" bIns="0" anchor="t">
            <a:noAutofit/>
          </a:bodyPr>
          <a:lstStyle>
            <a:defPPr algn="l">
              <a:defRPr sz="1800" b="0">
                <a:solidFill>
                  <a:srgbClr val="17324A"/>
                </a:solidFill>
                <a:latin typeface="Arial"/>
                <a:ea typeface="Arial"/>
                <a:cs typeface="Arial"/>
              </a:defRPr>
            </a:defPPr>
          </a:lstStyle>
          <a:p>
            <a:pPr algn="l">
              <a:lnSpc>
                <a:spcPct val="112000"/>
              </a:lnSpc>
              <a:buNone/>
              <a:defRPr sz="1800" b="0">
                <a:solidFill>
                  <a:srgbClr val="17324A"/>
                </a:solidFill>
                <a:latin typeface="Arial"/>
                <a:ea typeface="Arial"/>
                <a:cs typeface="Arial"/>
              </a:defRPr>
            </a:pPr>
            <a:r>
              <a:rPr sz="1800" b="0">
                <a:solidFill>
                  <a:srgbClr val="17324A"/>
                </a:solidFill>
                <a:latin typeface="Arial"/>
                <a:ea typeface="Arial"/>
                <a:cs typeface="Arial"/>
              </a:rPr>
              <a:t>Instance and revision</a:t>
            </a:r>
          </a:p>
        </p:txBody>
      </p:sp>
      <p:sp>
        <p:nvSpPr>
          <p:cNvPr id="20" name="text-229">
            <a:extLst>
              <a:ext uri="{FF2B5EF4-FFF2-40B4-BE49-F238E27FC236}">
                <a16:creationId xmlns:a16="http://schemas.microsoft.com/office/drawing/2014/main" id="{8945B605-085C-45F5-BB13-A88FFFA07BB8}"/>
              </a:ext>
            </a:extLst>
          </p:cNvPr>
          <p:cNvSpPr>
            <a:spLocks noGrp="1"/>
          </p:cNvSpPr>
          <p:nvPr/>
        </p:nvSpPr>
        <p:spPr>
          <a:xfrm>
            <a:off x="609600" y="4933950"/>
            <a:ext cx="3352800" cy="495300"/>
          </a:xfrm>
          <a:prstGeom prst="rect">
            <a:avLst/>
          </a:prstGeom>
          <a:noFill/>
          <a:ln w="0">
            <a:noFill/>
          </a:ln>
        </p:spPr>
        <p:txBody>
          <a:bodyPr wrap="square" lIns="0" tIns="0" rIns="0" bIns="0" anchor="t">
            <a:noAutofit/>
          </a:bodyPr>
          <a:lstStyle>
            <a:defPPr algn="l">
              <a:defRPr sz="1650" b="0">
                <a:solidFill>
                  <a:srgbClr val="4D6270"/>
                </a:solidFill>
                <a:latin typeface="Arial"/>
                <a:ea typeface="Arial"/>
                <a:cs typeface="Arial"/>
              </a:defRPr>
            </a:defPPr>
          </a:lstStyle>
          <a:p>
            <a:pPr algn="l">
              <a:lnSpc>
                <a:spcPct val="112000"/>
              </a:lnSpc>
              <a:buNone/>
              <a:defRPr sz="1650" b="0">
                <a:solidFill>
                  <a:srgbClr val="4D6270"/>
                </a:solidFill>
                <a:latin typeface="Arial"/>
                <a:ea typeface="Arial"/>
                <a:cs typeface="Arial"/>
              </a:defRPr>
            </a:pPr>
            <a:r>
              <a:rPr sz="1650" b="0">
                <a:solidFill>
                  <a:srgbClr val="4D6270"/>
                </a:solidFill>
                <a:latin typeface="Arial"/>
                <a:ea typeface="Arial"/>
                <a:cs typeface="Arial"/>
              </a:rPr>
              <a:t>What the application shows now</a:t>
            </a:r>
          </a:p>
        </p:txBody>
      </p:sp>
      <p:sp>
        <p:nvSpPr>
          <p:cNvPr id="21" name="symbol-ledger-230">
            <a:extLst>
              <a:ext uri="{FF2B5EF4-FFF2-40B4-BE49-F238E27FC236}">
                <a16:creationId xmlns:a16="http://schemas.microsoft.com/office/drawing/2014/main" id="{DAF56534-A1A2-4008-BCA5-2B6A7B3AECC6}"/>
              </a:ext>
            </a:extLst>
          </p:cNvPr>
          <p:cNvSpPr>
            <a:spLocks noGrp="1"/>
          </p:cNvSpPr>
          <p:nvPr/>
        </p:nvSpPr>
        <p:spPr>
          <a:xfrm>
            <a:off x="4467225" y="2114550"/>
            <a:ext cx="312420" cy="390525"/>
          </a:xfrm>
          <a:prstGeom prst="can">
            <a:avLst/>
          </a:prstGeom>
          <a:solidFill>
            <a:srgbClr val="FFFFFF"/>
          </a:solidFill>
          <a:ln w="19050">
            <a:solidFill>
              <a:srgbClr val="006D77"/>
            </a:solidFill>
          </a:ln>
        </p:spPr>
      </p:sp>
      <p:cxnSp>
        <p:nvCxnSpPr>
          <p:cNvPr id="22" name="link-231">
            <a:extLst>
              <a:ext uri="{FF2B5EF4-FFF2-40B4-BE49-F238E27FC236}">
                <a16:creationId xmlns:a16="http://schemas.microsoft.com/office/drawing/2014/main" id="{84CF8E06-DEC3-4B7B-92C0-F628E0F05461}"/>
              </a:ext>
            </a:extLst>
          </p:cNvPr>
          <p:cNvCxnSpPr/>
          <p:nvPr/>
        </p:nvCxnSpPr>
        <p:spPr>
          <a:xfrm>
            <a:off x="4562475" y="2352675"/>
            <a:ext cx="156210" cy="0"/>
          </a:xfrm>
          <a:prstGeom prst="straightConnector1">
            <a:avLst/>
          </a:prstGeom>
          <a:ln w="19050">
            <a:solidFill>
              <a:srgbClr val="006D77"/>
            </a:solidFill>
            <a:prstDash val="solid"/>
          </a:ln>
        </p:spPr>
      </p:cxnSp>
      <p:sp>
        <p:nvSpPr>
          <p:cNvPr id="23" name="text-232">
            <a:extLst>
              <a:ext uri="{FF2B5EF4-FFF2-40B4-BE49-F238E27FC236}">
                <a16:creationId xmlns:a16="http://schemas.microsoft.com/office/drawing/2014/main" id="{45D0234F-576D-4B52-9501-D7F23B71D0E9}"/>
              </a:ext>
            </a:extLst>
          </p:cNvPr>
          <p:cNvSpPr>
            <a:spLocks noGrp="1"/>
          </p:cNvSpPr>
          <p:nvPr/>
        </p:nvSpPr>
        <p:spPr>
          <a:xfrm>
            <a:off x="4419600" y="2733675"/>
            <a:ext cx="3352800" cy="400050"/>
          </a:xfrm>
          <a:prstGeom prst="rect">
            <a:avLst/>
          </a:prstGeom>
          <a:noFill/>
          <a:ln w="0">
            <a:noFill/>
          </a:ln>
        </p:spPr>
        <p:txBody>
          <a:bodyPr wrap="square" lIns="0" tIns="0" rIns="0" bIns="0" anchor="t">
            <a:noAutofit/>
          </a:bodyPr>
          <a:lstStyle>
            <a:defPPr algn="l">
              <a:defRPr sz="2025" b="1">
                <a:solidFill>
                  <a:srgbClr val="006D77"/>
                </a:solidFill>
                <a:latin typeface="Arial"/>
                <a:ea typeface="Arial"/>
                <a:cs typeface="Arial"/>
              </a:defRPr>
            </a:defPPr>
          </a:lstStyle>
          <a:p>
            <a:pPr algn="l">
              <a:lnSpc>
                <a:spcPct val="112000"/>
              </a:lnSpc>
              <a:buNone/>
              <a:defRPr sz="2025" b="1">
                <a:solidFill>
                  <a:srgbClr val="006D77"/>
                </a:solidFill>
                <a:latin typeface="Arial"/>
                <a:ea typeface="Arial"/>
                <a:cs typeface="Arial"/>
              </a:defRPr>
            </a:pPr>
            <a:r>
              <a:rPr sz="2025" b="1">
                <a:solidFill>
                  <a:srgbClr val="006D77"/>
                </a:solidFill>
                <a:latin typeface="Arial"/>
                <a:ea typeface="Arial"/>
                <a:cs typeface="Arial"/>
              </a:rPr>
              <a:t>Conversation anchors</a:t>
            </a:r>
          </a:p>
        </p:txBody>
      </p:sp>
      <p:sp>
        <p:nvSpPr>
          <p:cNvPr id="24" name="citation-233">
            <a:extLst>
              <a:ext uri="{FF2B5EF4-FFF2-40B4-BE49-F238E27FC236}">
                <a16:creationId xmlns:a16="http://schemas.microsoft.com/office/drawing/2014/main" id="{D48B8A76-2BFD-478A-A2AD-1BC0484BCA2C}"/>
              </a:ext>
            </a:extLst>
          </p:cNvPr>
          <p:cNvSpPr>
            <a:spLocks noGrp="1"/>
          </p:cNvSpPr>
          <p:nvPr/>
        </p:nvSpPr>
        <p:spPr>
          <a:xfrm>
            <a:off x="7182517" y="2667000"/>
            <a:ext cx="495300" cy="266700"/>
          </a:xfrm>
          <a:prstGeom prst="rect">
            <a:avLst/>
          </a:prstGeom>
          <a:noFill/>
          <a:ln w="0">
            <a:noFill/>
          </a:ln>
        </p:spPr>
        <p:txBody>
          <a:bodyPr wrap="square" lIns="0" tIns="0" rIns="0" bIns="0" anchor="t">
            <a:noAutofit/>
          </a:bodyPr>
          <a:lstStyle>
            <a:defPPr algn="l">
              <a:defRPr sz="1500" b="1">
                <a:solidFill>
                  <a:srgbClr val="006D77"/>
                </a:solidFill>
                <a:latin typeface="Arial"/>
                <a:ea typeface="Arial"/>
                <a:cs typeface="Arial"/>
              </a:defRPr>
            </a:defPPr>
          </a:lstStyle>
          <a:p>
            <a:pPr algn="l">
              <a:lnSpc>
                <a:spcPct val="112000"/>
              </a:lnSpc>
              <a:buNone/>
              <a:defRPr sz="1500" b="1">
                <a:solidFill>
                  <a:srgbClr val="006D77"/>
                </a:solidFill>
                <a:latin typeface="Arial"/>
                <a:ea typeface="Arial"/>
                <a:cs typeface="Arial"/>
              </a:defRPr>
            </a:pPr>
            <a:r>
              <a:rPr sz="1500" b="1">
                <a:solidFill>
                  <a:srgbClr val="006D77"/>
                </a:solidFill>
                <a:latin typeface="Arial"/>
                <a:ea typeface="Arial"/>
                <a:cs typeface="Arial"/>
              </a:rPr>
              <a:t>4</a:t>
            </a:r>
          </a:p>
        </p:txBody>
      </p:sp>
      <p:sp>
        <p:nvSpPr>
          <p:cNvPr id="25" name="shape-234">
            <a:extLst>
              <a:ext uri="{FF2B5EF4-FFF2-40B4-BE49-F238E27FC236}">
                <a16:creationId xmlns:a16="http://schemas.microsoft.com/office/drawing/2014/main" id="{ACF7920C-D961-4238-A094-B1FEB1FC3269}"/>
              </a:ext>
            </a:extLst>
          </p:cNvPr>
          <p:cNvSpPr>
            <a:spLocks noGrp="1"/>
          </p:cNvSpPr>
          <p:nvPr/>
        </p:nvSpPr>
        <p:spPr>
          <a:xfrm>
            <a:off x="4419600" y="3257550"/>
            <a:ext cx="3352800" cy="14288"/>
          </a:xfrm>
          <a:prstGeom prst="rect">
            <a:avLst/>
          </a:prstGeom>
          <a:solidFill>
            <a:srgbClr val="006D77"/>
          </a:solidFill>
          <a:ln w="0">
            <a:noFill/>
          </a:ln>
        </p:spPr>
      </p:sp>
      <p:sp>
        <p:nvSpPr>
          <p:cNvPr id="26" name="text-235">
            <a:extLst>
              <a:ext uri="{FF2B5EF4-FFF2-40B4-BE49-F238E27FC236}">
                <a16:creationId xmlns:a16="http://schemas.microsoft.com/office/drawing/2014/main" id="{067FE1AD-0214-4067-9580-723A0B22639B}"/>
              </a:ext>
            </a:extLst>
          </p:cNvPr>
          <p:cNvSpPr>
            <a:spLocks noGrp="1"/>
          </p:cNvSpPr>
          <p:nvPr/>
        </p:nvSpPr>
        <p:spPr>
          <a:xfrm>
            <a:off x="4419600" y="3524250"/>
            <a:ext cx="3352800" cy="361950"/>
          </a:xfrm>
          <a:prstGeom prst="rect">
            <a:avLst/>
          </a:prstGeom>
          <a:noFill/>
          <a:ln w="0">
            <a:noFill/>
          </a:ln>
        </p:spPr>
        <p:txBody>
          <a:bodyPr wrap="square" lIns="0" tIns="0" rIns="0" bIns="0" anchor="t">
            <a:noAutofit/>
          </a:bodyPr>
          <a:lstStyle>
            <a:defPPr algn="l">
              <a:defRPr sz="1800" b="0">
                <a:solidFill>
                  <a:srgbClr val="17324A"/>
                </a:solidFill>
                <a:latin typeface="Arial"/>
                <a:ea typeface="Arial"/>
                <a:cs typeface="Arial"/>
              </a:defRPr>
            </a:defPPr>
          </a:lstStyle>
          <a:p>
            <a:pPr algn="l">
              <a:lnSpc>
                <a:spcPct val="112000"/>
              </a:lnSpc>
              <a:buNone/>
              <a:defRPr sz="1800" b="0">
                <a:solidFill>
                  <a:srgbClr val="17324A"/>
                </a:solidFill>
                <a:latin typeface="Arial"/>
                <a:ea typeface="Arial"/>
                <a:cs typeface="Arial"/>
              </a:defRPr>
            </a:pPr>
            <a:r>
              <a:rPr sz="1800" b="0">
                <a:solidFill>
                  <a:srgbClr val="17324A"/>
                </a:solidFill>
                <a:latin typeface="Arial"/>
                <a:ea typeface="Arial"/>
                <a:cs typeface="Arial"/>
              </a:rPr>
              <a:t>Agreed entity and period</a:t>
            </a:r>
          </a:p>
        </p:txBody>
      </p:sp>
      <p:sp>
        <p:nvSpPr>
          <p:cNvPr id="27" name="text-236">
            <a:extLst>
              <a:ext uri="{FF2B5EF4-FFF2-40B4-BE49-F238E27FC236}">
                <a16:creationId xmlns:a16="http://schemas.microsoft.com/office/drawing/2014/main" id="{6905385F-CF12-4D65-9CDC-9E04E8709193}"/>
              </a:ext>
            </a:extLst>
          </p:cNvPr>
          <p:cNvSpPr>
            <a:spLocks noGrp="1"/>
          </p:cNvSpPr>
          <p:nvPr/>
        </p:nvSpPr>
        <p:spPr>
          <a:xfrm>
            <a:off x="4419600" y="3952875"/>
            <a:ext cx="3352800" cy="361950"/>
          </a:xfrm>
          <a:prstGeom prst="rect">
            <a:avLst/>
          </a:prstGeom>
          <a:noFill/>
          <a:ln w="0">
            <a:noFill/>
          </a:ln>
        </p:spPr>
        <p:txBody>
          <a:bodyPr wrap="square" lIns="0" tIns="0" rIns="0" bIns="0" anchor="t">
            <a:noAutofit/>
          </a:bodyPr>
          <a:lstStyle>
            <a:defPPr algn="l">
              <a:defRPr sz="1800" b="0">
                <a:solidFill>
                  <a:srgbClr val="17324A"/>
                </a:solidFill>
                <a:latin typeface="Arial"/>
                <a:ea typeface="Arial"/>
                <a:cs typeface="Arial"/>
              </a:defRPr>
            </a:defPPr>
          </a:lstStyle>
          <a:p>
            <a:pPr algn="l">
              <a:lnSpc>
                <a:spcPct val="112000"/>
              </a:lnSpc>
              <a:buNone/>
              <a:defRPr sz="1800" b="0">
                <a:solidFill>
                  <a:srgbClr val="17324A"/>
                </a:solidFill>
                <a:latin typeface="Arial"/>
                <a:ea typeface="Arial"/>
                <a:cs typeface="Arial"/>
              </a:defRPr>
            </a:pPr>
            <a:r>
              <a:rPr sz="1800" b="0">
                <a:solidFill>
                  <a:srgbClr val="17324A"/>
                </a:solidFill>
                <a:latin typeface="Arial"/>
                <a:ea typeface="Arial"/>
                <a:cs typeface="Arial"/>
              </a:rPr>
              <a:t>Earlier question references</a:t>
            </a:r>
          </a:p>
        </p:txBody>
      </p:sp>
      <p:sp>
        <p:nvSpPr>
          <p:cNvPr id="28" name="text-237">
            <a:extLst>
              <a:ext uri="{FF2B5EF4-FFF2-40B4-BE49-F238E27FC236}">
                <a16:creationId xmlns:a16="http://schemas.microsoft.com/office/drawing/2014/main" id="{DD0654F2-92C7-4814-846C-1BF3F3E3E98E}"/>
              </a:ext>
            </a:extLst>
          </p:cNvPr>
          <p:cNvSpPr>
            <a:spLocks noGrp="1"/>
          </p:cNvSpPr>
          <p:nvPr/>
        </p:nvSpPr>
        <p:spPr>
          <a:xfrm>
            <a:off x="4419600" y="4381500"/>
            <a:ext cx="3352800" cy="361950"/>
          </a:xfrm>
          <a:prstGeom prst="rect">
            <a:avLst/>
          </a:prstGeom>
          <a:noFill/>
          <a:ln w="0">
            <a:noFill/>
          </a:ln>
        </p:spPr>
        <p:txBody>
          <a:bodyPr wrap="square" lIns="0" tIns="0" rIns="0" bIns="0" anchor="t">
            <a:noAutofit/>
          </a:bodyPr>
          <a:lstStyle>
            <a:defPPr algn="l">
              <a:defRPr sz="1800" b="0">
                <a:solidFill>
                  <a:srgbClr val="17324A"/>
                </a:solidFill>
                <a:latin typeface="Arial"/>
                <a:ea typeface="Arial"/>
                <a:cs typeface="Arial"/>
              </a:defRPr>
            </a:defPPr>
          </a:lstStyle>
          <a:p>
            <a:pPr algn="l">
              <a:lnSpc>
                <a:spcPct val="112000"/>
              </a:lnSpc>
              <a:buNone/>
              <a:defRPr sz="1800" b="0">
                <a:solidFill>
                  <a:srgbClr val="17324A"/>
                </a:solidFill>
                <a:latin typeface="Arial"/>
                <a:ea typeface="Arial"/>
                <a:cs typeface="Arial"/>
              </a:defRPr>
            </a:pPr>
            <a:r>
              <a:rPr sz="1800" b="0">
                <a:solidFill>
                  <a:srgbClr val="17324A"/>
                </a:solidFill>
                <a:latin typeface="Arial"/>
                <a:ea typeface="Arial"/>
                <a:cs typeface="Arial"/>
              </a:rPr>
              <a:t>Task progress</a:t>
            </a:r>
          </a:p>
        </p:txBody>
      </p:sp>
      <p:sp>
        <p:nvSpPr>
          <p:cNvPr id="29" name="text-238">
            <a:extLst>
              <a:ext uri="{FF2B5EF4-FFF2-40B4-BE49-F238E27FC236}">
                <a16:creationId xmlns:a16="http://schemas.microsoft.com/office/drawing/2014/main" id="{BCC4BC01-291B-4FA2-A202-1787B954200D}"/>
              </a:ext>
            </a:extLst>
          </p:cNvPr>
          <p:cNvSpPr>
            <a:spLocks noGrp="1"/>
          </p:cNvSpPr>
          <p:nvPr/>
        </p:nvSpPr>
        <p:spPr>
          <a:xfrm>
            <a:off x="4419600" y="4933950"/>
            <a:ext cx="3352800" cy="495300"/>
          </a:xfrm>
          <a:prstGeom prst="rect">
            <a:avLst/>
          </a:prstGeom>
          <a:noFill/>
          <a:ln w="0">
            <a:noFill/>
          </a:ln>
        </p:spPr>
        <p:txBody>
          <a:bodyPr wrap="square" lIns="0" tIns="0" rIns="0" bIns="0" anchor="t">
            <a:noAutofit/>
          </a:bodyPr>
          <a:lstStyle>
            <a:defPPr algn="l">
              <a:defRPr sz="1650" b="0">
                <a:solidFill>
                  <a:srgbClr val="4D6270"/>
                </a:solidFill>
                <a:latin typeface="Arial"/>
                <a:ea typeface="Arial"/>
                <a:cs typeface="Arial"/>
              </a:defRPr>
            </a:defPPr>
          </a:lstStyle>
          <a:p>
            <a:pPr algn="l">
              <a:lnSpc>
                <a:spcPct val="112000"/>
              </a:lnSpc>
              <a:buNone/>
              <a:defRPr sz="1650" b="0">
                <a:solidFill>
                  <a:srgbClr val="4D6270"/>
                </a:solidFill>
                <a:latin typeface="Arial"/>
                <a:ea typeface="Arial"/>
                <a:cs typeface="Arial"/>
              </a:defRPr>
            </a:pPr>
            <a:r>
              <a:rPr sz="1650" b="0">
                <a:solidFill>
                  <a:srgbClr val="4D6270"/>
                </a:solidFill>
                <a:latin typeface="Arial"/>
                <a:ea typeface="Arial"/>
                <a:cs typeface="Arial"/>
              </a:rPr>
              <a:t>What the conversation refers to</a:t>
            </a:r>
          </a:p>
        </p:txBody>
      </p:sp>
      <p:sp>
        <p:nvSpPr>
          <p:cNvPr id="30" name="symbol-check-239">
            <a:extLst>
              <a:ext uri="{FF2B5EF4-FFF2-40B4-BE49-F238E27FC236}">
                <a16:creationId xmlns:a16="http://schemas.microsoft.com/office/drawing/2014/main" id="{C92AD24C-575D-46E9-916E-3665E8EFF198}"/>
              </a:ext>
            </a:extLst>
          </p:cNvPr>
          <p:cNvSpPr>
            <a:spLocks noGrp="1"/>
          </p:cNvSpPr>
          <p:nvPr/>
        </p:nvSpPr>
        <p:spPr>
          <a:xfrm>
            <a:off x="8229600" y="2114550"/>
            <a:ext cx="390525" cy="390525"/>
          </a:xfrm>
          <a:prstGeom prst="hexagon">
            <a:avLst/>
          </a:prstGeom>
          <a:solidFill>
            <a:srgbClr val="FFFFFF"/>
          </a:solidFill>
          <a:ln w="19050">
            <a:solidFill>
              <a:srgbClr val="A4630B"/>
            </a:solidFill>
          </a:ln>
        </p:spPr>
      </p:sp>
      <p:cxnSp>
        <p:nvCxnSpPr>
          <p:cNvPr id="31" name="link-240">
            <a:extLst>
              <a:ext uri="{FF2B5EF4-FFF2-40B4-BE49-F238E27FC236}">
                <a16:creationId xmlns:a16="http://schemas.microsoft.com/office/drawing/2014/main" id="{1F9176C6-CA59-407A-A07B-65401BB5F9AA}"/>
              </a:ext>
            </a:extLst>
          </p:cNvPr>
          <p:cNvCxnSpPr/>
          <p:nvPr/>
        </p:nvCxnSpPr>
        <p:spPr>
          <a:xfrm>
            <a:off x="8327231" y="2309813"/>
            <a:ext cx="70295" cy="70295"/>
          </a:xfrm>
          <a:prstGeom prst="straightConnector1">
            <a:avLst/>
          </a:prstGeom>
          <a:ln w="19050">
            <a:solidFill>
              <a:srgbClr val="A4630B"/>
            </a:solidFill>
            <a:prstDash val="solid"/>
          </a:ln>
        </p:spPr>
      </p:cxnSp>
      <p:cxnSp>
        <p:nvCxnSpPr>
          <p:cNvPr id="32" name="link-241">
            <a:extLst>
              <a:ext uri="{FF2B5EF4-FFF2-40B4-BE49-F238E27FC236}">
                <a16:creationId xmlns:a16="http://schemas.microsoft.com/office/drawing/2014/main" id="{7F5B9E44-7B70-42DC-A6AB-60DDCD007420}"/>
              </a:ext>
            </a:extLst>
          </p:cNvPr>
          <p:cNvCxnSpPr/>
          <p:nvPr/>
        </p:nvCxnSpPr>
        <p:spPr>
          <a:xfrm flipV="1">
            <a:off x="8397526" y="2223897"/>
            <a:ext cx="128873" cy="156210"/>
          </a:xfrm>
          <a:prstGeom prst="straightConnector1">
            <a:avLst/>
          </a:prstGeom>
          <a:ln w="19050">
            <a:solidFill>
              <a:srgbClr val="A4630B"/>
            </a:solidFill>
            <a:prstDash val="solid"/>
          </a:ln>
        </p:spPr>
      </p:cxnSp>
      <p:sp>
        <p:nvSpPr>
          <p:cNvPr id="33" name="text-242">
            <a:extLst>
              <a:ext uri="{FF2B5EF4-FFF2-40B4-BE49-F238E27FC236}">
                <a16:creationId xmlns:a16="http://schemas.microsoft.com/office/drawing/2014/main" id="{43F68DD1-C8B0-4B25-AE80-C70769C5C64B}"/>
              </a:ext>
            </a:extLst>
          </p:cNvPr>
          <p:cNvSpPr>
            <a:spLocks noGrp="1"/>
          </p:cNvSpPr>
          <p:nvPr/>
        </p:nvSpPr>
        <p:spPr>
          <a:xfrm>
            <a:off x="8229600" y="2733675"/>
            <a:ext cx="3352800" cy="400050"/>
          </a:xfrm>
          <a:prstGeom prst="rect">
            <a:avLst/>
          </a:prstGeom>
          <a:noFill/>
          <a:ln w="0">
            <a:noFill/>
          </a:ln>
        </p:spPr>
        <p:txBody>
          <a:bodyPr wrap="square" lIns="0" tIns="0" rIns="0" bIns="0" anchor="t">
            <a:noAutofit/>
          </a:bodyPr>
          <a:lstStyle>
            <a:defPPr algn="l">
              <a:defRPr sz="2025" b="1">
                <a:solidFill>
                  <a:srgbClr val="A4630B"/>
                </a:solidFill>
                <a:latin typeface="Arial"/>
                <a:ea typeface="Arial"/>
                <a:cs typeface="Arial"/>
              </a:defRPr>
            </a:defPPr>
          </a:lstStyle>
          <a:p>
            <a:pPr algn="l">
              <a:lnSpc>
                <a:spcPct val="112000"/>
              </a:lnSpc>
              <a:buNone/>
              <a:defRPr sz="2025" b="1">
                <a:solidFill>
                  <a:srgbClr val="A4630B"/>
                </a:solidFill>
                <a:latin typeface="Arial"/>
                <a:ea typeface="Arial"/>
                <a:cs typeface="Arial"/>
              </a:defRPr>
            </a:pPr>
            <a:r>
              <a:rPr sz="2025" b="1">
                <a:solidFill>
                  <a:srgbClr val="A4630B"/>
                </a:solidFill>
                <a:latin typeface="Arial"/>
                <a:ea typeface="Arial"/>
                <a:cs typeface="Arial"/>
              </a:rPr>
              <a:t>Execution evidence</a:t>
            </a:r>
          </a:p>
        </p:txBody>
      </p:sp>
      <p:sp>
        <p:nvSpPr>
          <p:cNvPr id="34" name="citation-243">
            <a:extLst>
              <a:ext uri="{FF2B5EF4-FFF2-40B4-BE49-F238E27FC236}">
                <a16:creationId xmlns:a16="http://schemas.microsoft.com/office/drawing/2014/main" id="{40845381-AFC2-49CE-9377-D238E68E18BB}"/>
              </a:ext>
            </a:extLst>
          </p:cNvPr>
          <p:cNvSpPr>
            <a:spLocks noGrp="1"/>
          </p:cNvSpPr>
          <p:nvPr/>
        </p:nvSpPr>
        <p:spPr>
          <a:xfrm>
            <a:off x="10678478" y="2667000"/>
            <a:ext cx="495300" cy="266700"/>
          </a:xfrm>
          <a:prstGeom prst="rect">
            <a:avLst/>
          </a:prstGeom>
          <a:noFill/>
          <a:ln w="0">
            <a:noFill/>
          </a:ln>
        </p:spPr>
        <p:txBody>
          <a:bodyPr wrap="square" lIns="0" tIns="0" rIns="0" bIns="0" anchor="t">
            <a:noAutofit/>
          </a:bodyPr>
          <a:lstStyle>
            <a:defPPr algn="l">
              <a:defRPr sz="1500" b="1">
                <a:solidFill>
                  <a:srgbClr val="A4630B"/>
                </a:solidFill>
                <a:latin typeface="Arial"/>
                <a:ea typeface="Arial"/>
                <a:cs typeface="Arial"/>
              </a:defRPr>
            </a:defPPr>
          </a:lstStyle>
          <a:p>
            <a:pPr algn="l">
              <a:lnSpc>
                <a:spcPct val="112000"/>
              </a:lnSpc>
              <a:buNone/>
              <a:defRPr sz="1500" b="1">
                <a:solidFill>
                  <a:srgbClr val="A4630B"/>
                </a:solidFill>
                <a:latin typeface="Arial"/>
                <a:ea typeface="Arial"/>
                <a:cs typeface="Arial"/>
              </a:defRPr>
            </a:pPr>
            <a:r>
              <a:rPr sz="1500" b="1">
                <a:solidFill>
                  <a:srgbClr val="A4630B"/>
                </a:solidFill>
                <a:latin typeface="Arial"/>
                <a:ea typeface="Arial"/>
                <a:cs typeface="Arial"/>
              </a:rPr>
              <a:t>4</a:t>
            </a:r>
          </a:p>
        </p:txBody>
      </p:sp>
      <p:sp>
        <p:nvSpPr>
          <p:cNvPr id="35" name="shape-244">
            <a:extLst>
              <a:ext uri="{FF2B5EF4-FFF2-40B4-BE49-F238E27FC236}">
                <a16:creationId xmlns:a16="http://schemas.microsoft.com/office/drawing/2014/main" id="{214883D0-4557-42D0-B4A9-5FFCE3C08734}"/>
              </a:ext>
            </a:extLst>
          </p:cNvPr>
          <p:cNvSpPr>
            <a:spLocks noGrp="1"/>
          </p:cNvSpPr>
          <p:nvPr/>
        </p:nvSpPr>
        <p:spPr>
          <a:xfrm>
            <a:off x="8229600" y="3257550"/>
            <a:ext cx="3352800" cy="14288"/>
          </a:xfrm>
          <a:prstGeom prst="rect">
            <a:avLst/>
          </a:prstGeom>
          <a:solidFill>
            <a:srgbClr val="A4630B"/>
          </a:solidFill>
          <a:ln w="0">
            <a:noFill/>
          </a:ln>
        </p:spPr>
      </p:sp>
      <p:sp>
        <p:nvSpPr>
          <p:cNvPr id="36" name="text-245">
            <a:extLst>
              <a:ext uri="{FF2B5EF4-FFF2-40B4-BE49-F238E27FC236}">
                <a16:creationId xmlns:a16="http://schemas.microsoft.com/office/drawing/2014/main" id="{DADE4C57-24F2-474A-8DEB-3813ACD2BB88}"/>
              </a:ext>
            </a:extLst>
          </p:cNvPr>
          <p:cNvSpPr>
            <a:spLocks noGrp="1"/>
          </p:cNvSpPr>
          <p:nvPr/>
        </p:nvSpPr>
        <p:spPr>
          <a:xfrm>
            <a:off x="8229600" y="3524250"/>
            <a:ext cx="3352800" cy="361950"/>
          </a:xfrm>
          <a:prstGeom prst="rect">
            <a:avLst/>
          </a:prstGeom>
          <a:noFill/>
          <a:ln w="0">
            <a:noFill/>
          </a:ln>
        </p:spPr>
        <p:txBody>
          <a:bodyPr wrap="square" lIns="0" tIns="0" rIns="0" bIns="0" anchor="t">
            <a:noAutofit/>
          </a:bodyPr>
          <a:lstStyle>
            <a:defPPr algn="l">
              <a:defRPr sz="1800" b="0">
                <a:solidFill>
                  <a:srgbClr val="17324A"/>
                </a:solidFill>
                <a:latin typeface="Arial"/>
                <a:ea typeface="Arial"/>
                <a:cs typeface="Arial"/>
              </a:defRPr>
            </a:defPPr>
          </a:lstStyle>
          <a:p>
            <a:pPr algn="l">
              <a:lnSpc>
                <a:spcPct val="112000"/>
              </a:lnSpc>
              <a:buNone/>
              <a:defRPr sz="1800" b="0">
                <a:solidFill>
                  <a:srgbClr val="17324A"/>
                </a:solidFill>
                <a:latin typeface="Arial"/>
                <a:ea typeface="Arial"/>
                <a:cs typeface="Arial"/>
              </a:defRPr>
            </a:pPr>
            <a:r>
              <a:rPr sz="1800" b="0">
                <a:solidFill>
                  <a:srgbClr val="17324A"/>
                </a:solidFill>
                <a:latin typeface="Arial"/>
                <a:ea typeface="Arial"/>
                <a:cs typeface="Arial"/>
              </a:rPr>
              <a:t>Committed result identities</a:t>
            </a:r>
          </a:p>
        </p:txBody>
      </p:sp>
      <p:sp>
        <p:nvSpPr>
          <p:cNvPr id="37" name="text-246">
            <a:extLst>
              <a:ext uri="{FF2B5EF4-FFF2-40B4-BE49-F238E27FC236}">
                <a16:creationId xmlns:a16="http://schemas.microsoft.com/office/drawing/2014/main" id="{F5237A11-AC5A-402E-86F7-2E7C0CE9ACB8}"/>
              </a:ext>
            </a:extLst>
          </p:cNvPr>
          <p:cNvSpPr>
            <a:spLocks noGrp="1"/>
          </p:cNvSpPr>
          <p:nvPr/>
        </p:nvSpPr>
        <p:spPr>
          <a:xfrm>
            <a:off x="8229600" y="3952875"/>
            <a:ext cx="3352800" cy="361950"/>
          </a:xfrm>
          <a:prstGeom prst="rect">
            <a:avLst/>
          </a:prstGeom>
          <a:noFill/>
          <a:ln w="0">
            <a:noFill/>
          </a:ln>
        </p:spPr>
        <p:txBody>
          <a:bodyPr wrap="square" lIns="0" tIns="0" rIns="0" bIns="0" anchor="t">
            <a:noAutofit/>
          </a:bodyPr>
          <a:lstStyle>
            <a:defPPr algn="l">
              <a:defRPr sz="1800" b="0">
                <a:solidFill>
                  <a:srgbClr val="17324A"/>
                </a:solidFill>
                <a:latin typeface="Arial"/>
                <a:ea typeface="Arial"/>
                <a:cs typeface="Arial"/>
              </a:defRPr>
            </a:defPPr>
          </a:lstStyle>
          <a:p>
            <a:pPr algn="l">
              <a:lnSpc>
                <a:spcPct val="112000"/>
              </a:lnSpc>
              <a:buNone/>
              <a:defRPr sz="1800" b="0">
                <a:solidFill>
                  <a:srgbClr val="17324A"/>
                </a:solidFill>
                <a:latin typeface="Arial"/>
                <a:ea typeface="Arial"/>
                <a:cs typeface="Arial"/>
              </a:defRPr>
            </a:pPr>
            <a:r>
              <a:rPr sz="1800" b="0">
                <a:solidFill>
                  <a:srgbClr val="17324A"/>
                </a:solidFill>
                <a:latin typeface="Arial"/>
                <a:ea typeface="Arial"/>
                <a:cs typeface="Arial"/>
              </a:rPr>
              <a:t>Applied scope and coverage</a:t>
            </a:r>
          </a:p>
        </p:txBody>
      </p:sp>
      <p:sp>
        <p:nvSpPr>
          <p:cNvPr id="38" name="text-247">
            <a:extLst>
              <a:ext uri="{FF2B5EF4-FFF2-40B4-BE49-F238E27FC236}">
                <a16:creationId xmlns:a16="http://schemas.microsoft.com/office/drawing/2014/main" id="{FDF1C7D6-E177-4F89-B658-215FE3E6E9F0}"/>
              </a:ext>
            </a:extLst>
          </p:cNvPr>
          <p:cNvSpPr>
            <a:spLocks noGrp="1"/>
          </p:cNvSpPr>
          <p:nvPr/>
        </p:nvSpPr>
        <p:spPr>
          <a:xfrm>
            <a:off x="8229600" y="4381500"/>
            <a:ext cx="3352800" cy="361950"/>
          </a:xfrm>
          <a:prstGeom prst="rect">
            <a:avLst/>
          </a:prstGeom>
          <a:noFill/>
          <a:ln w="0">
            <a:noFill/>
          </a:ln>
        </p:spPr>
        <p:txBody>
          <a:bodyPr wrap="square" lIns="0" tIns="0" rIns="0" bIns="0" anchor="t">
            <a:noAutofit/>
          </a:bodyPr>
          <a:lstStyle>
            <a:defPPr algn="l">
              <a:defRPr sz="1800" b="0">
                <a:solidFill>
                  <a:srgbClr val="17324A"/>
                </a:solidFill>
                <a:latin typeface="Arial"/>
                <a:ea typeface="Arial"/>
                <a:cs typeface="Arial"/>
              </a:defRPr>
            </a:defPPr>
          </a:lstStyle>
          <a:p>
            <a:pPr algn="l">
              <a:lnSpc>
                <a:spcPct val="112000"/>
              </a:lnSpc>
              <a:buNone/>
              <a:defRPr sz="1800" b="0">
                <a:solidFill>
                  <a:srgbClr val="17324A"/>
                </a:solidFill>
                <a:latin typeface="Arial"/>
                <a:ea typeface="Arial"/>
                <a:cs typeface="Arial"/>
              </a:defRPr>
            </a:pPr>
            <a:r>
              <a:rPr sz="1800" b="0">
                <a:solidFill>
                  <a:srgbClr val="17324A"/>
                </a:solidFill>
                <a:latin typeface="Arial"/>
                <a:ea typeface="Arial"/>
                <a:cs typeface="Arial"/>
              </a:rPr>
              <a:t>Observed action outcomes</a:t>
            </a:r>
          </a:p>
        </p:txBody>
      </p:sp>
      <p:sp>
        <p:nvSpPr>
          <p:cNvPr id="39" name="text-248">
            <a:extLst>
              <a:ext uri="{FF2B5EF4-FFF2-40B4-BE49-F238E27FC236}">
                <a16:creationId xmlns:a16="http://schemas.microsoft.com/office/drawing/2014/main" id="{138F645B-7D1D-4243-880B-6AD48D84898A}"/>
              </a:ext>
            </a:extLst>
          </p:cNvPr>
          <p:cNvSpPr>
            <a:spLocks noGrp="1"/>
          </p:cNvSpPr>
          <p:nvPr/>
        </p:nvSpPr>
        <p:spPr>
          <a:xfrm>
            <a:off x="8229600" y="4933950"/>
            <a:ext cx="3352800" cy="495300"/>
          </a:xfrm>
          <a:prstGeom prst="rect">
            <a:avLst/>
          </a:prstGeom>
          <a:noFill/>
          <a:ln w="0">
            <a:noFill/>
          </a:ln>
        </p:spPr>
        <p:txBody>
          <a:bodyPr wrap="square" lIns="0" tIns="0" rIns="0" bIns="0" anchor="t">
            <a:noAutofit/>
          </a:bodyPr>
          <a:lstStyle>
            <a:defPPr algn="l">
              <a:defRPr sz="1650" b="0">
                <a:solidFill>
                  <a:srgbClr val="4D6270"/>
                </a:solidFill>
                <a:latin typeface="Arial"/>
                <a:ea typeface="Arial"/>
                <a:cs typeface="Arial"/>
              </a:defRPr>
            </a:defPPr>
          </a:lstStyle>
          <a:p>
            <a:pPr algn="l">
              <a:lnSpc>
                <a:spcPct val="112000"/>
              </a:lnSpc>
              <a:buNone/>
              <a:defRPr sz="1650" b="0">
                <a:solidFill>
                  <a:srgbClr val="4D6270"/>
                </a:solidFill>
                <a:latin typeface="Arial"/>
                <a:ea typeface="Arial"/>
                <a:cs typeface="Arial"/>
              </a:defRPr>
            </a:pPr>
            <a:r>
              <a:rPr sz="1650" b="0">
                <a:solidFill>
                  <a:srgbClr val="4D6270"/>
                </a:solidFill>
                <a:latin typeface="Arial"/>
                <a:ea typeface="Arial"/>
                <a:cs typeface="Arial"/>
              </a:rPr>
              <a:t>What execution established</a:t>
            </a:r>
          </a:p>
        </p:txBody>
      </p:sp>
      <p:sp>
        <p:nvSpPr>
          <p:cNvPr id="40" name="shape-249">
            <a:extLst>
              <a:ext uri="{FF2B5EF4-FFF2-40B4-BE49-F238E27FC236}">
                <a16:creationId xmlns:a16="http://schemas.microsoft.com/office/drawing/2014/main" id="{EEA264DE-289F-4774-88D0-9341F15769E2}"/>
              </a:ext>
            </a:extLst>
          </p:cNvPr>
          <p:cNvSpPr>
            <a:spLocks noGrp="1"/>
          </p:cNvSpPr>
          <p:nvPr/>
        </p:nvSpPr>
        <p:spPr>
          <a:xfrm>
            <a:off x="609600" y="5619750"/>
            <a:ext cx="1695450" cy="523875"/>
          </a:xfrm>
          <a:prstGeom prst="rect">
            <a:avLst/>
          </a:prstGeom>
          <a:solidFill>
            <a:srgbClr val="FFFFFF"/>
          </a:solidFill>
          <a:ln w="15240">
            <a:solidFill>
              <a:srgbClr val="006D77"/>
            </a:solidFill>
          </a:ln>
        </p:spPr>
      </p:sp>
      <p:sp>
        <p:nvSpPr>
          <p:cNvPr id="41" name="text-250">
            <a:extLst>
              <a:ext uri="{FF2B5EF4-FFF2-40B4-BE49-F238E27FC236}">
                <a16:creationId xmlns:a16="http://schemas.microsoft.com/office/drawing/2014/main" id="{5A9FBA1C-81A0-4E1E-8EC2-BABFD83958F3}"/>
              </a:ext>
            </a:extLst>
          </p:cNvPr>
          <p:cNvSpPr>
            <a:spLocks noGrp="1"/>
          </p:cNvSpPr>
          <p:nvPr/>
        </p:nvSpPr>
        <p:spPr>
          <a:xfrm>
            <a:off x="762000" y="5753671"/>
            <a:ext cx="1390650" cy="294132"/>
          </a:xfrm>
          <a:prstGeom prst="rect">
            <a:avLst/>
          </a:prstGeom>
          <a:noFill/>
          <a:ln w="0">
            <a:noFill/>
          </a:ln>
        </p:spPr>
        <p:txBody>
          <a:bodyPr wrap="square" lIns="0" tIns="0" rIns="0" bIns="0" anchor="t">
            <a:noAutofit/>
          </a:bodyPr>
          <a:lstStyle>
            <a:defPPr algn="ctr">
              <a:defRPr sz="1800" b="1">
                <a:solidFill>
                  <a:srgbClr val="102A43"/>
                </a:solidFill>
                <a:latin typeface="Arial"/>
                <a:ea typeface="Arial"/>
                <a:cs typeface="Arial"/>
              </a:defRPr>
            </a:defPPr>
          </a:lstStyle>
          <a:p>
            <a:pPr algn="ctr">
              <a:lnSpc>
                <a:spcPct val="112000"/>
              </a:lnSpc>
              <a:buNone/>
              <a:defRPr sz="1800" b="1">
                <a:solidFill>
                  <a:srgbClr val="102A43"/>
                </a:solidFill>
                <a:latin typeface="Arial"/>
                <a:ea typeface="Arial"/>
                <a:cs typeface="Arial"/>
              </a:defRPr>
            </a:pPr>
            <a:r>
              <a:rPr sz="1800" b="1">
                <a:solidFill>
                  <a:srgbClr val="102A43"/>
                </a:solidFill>
                <a:latin typeface="Arial"/>
                <a:ea typeface="Arial"/>
                <a:cs typeface="Arial"/>
              </a:rPr>
              <a:t>Reload</a:t>
            </a:r>
          </a:p>
        </p:txBody>
      </p:sp>
      <p:sp>
        <p:nvSpPr>
          <p:cNvPr id="42" name="shape-251">
            <a:extLst>
              <a:ext uri="{FF2B5EF4-FFF2-40B4-BE49-F238E27FC236}">
                <a16:creationId xmlns:a16="http://schemas.microsoft.com/office/drawing/2014/main" id="{889B24F4-87E1-4FB3-9A19-C5B0A4491F33}"/>
              </a:ext>
            </a:extLst>
          </p:cNvPr>
          <p:cNvSpPr>
            <a:spLocks noGrp="1"/>
          </p:cNvSpPr>
          <p:nvPr/>
        </p:nvSpPr>
        <p:spPr>
          <a:xfrm>
            <a:off x="2733675" y="5619750"/>
            <a:ext cx="2543175" cy="523875"/>
          </a:xfrm>
          <a:prstGeom prst="rect">
            <a:avLst/>
          </a:prstGeom>
          <a:solidFill>
            <a:srgbClr val="FFFFFF"/>
          </a:solidFill>
          <a:ln w="15240">
            <a:solidFill>
              <a:srgbClr val="006D77"/>
            </a:solidFill>
          </a:ln>
        </p:spPr>
      </p:sp>
      <p:sp>
        <p:nvSpPr>
          <p:cNvPr id="43" name="text-252">
            <a:extLst>
              <a:ext uri="{FF2B5EF4-FFF2-40B4-BE49-F238E27FC236}">
                <a16:creationId xmlns:a16="http://schemas.microsoft.com/office/drawing/2014/main" id="{9950BC40-4E0A-45D9-9FD9-D27BEE9B7044}"/>
              </a:ext>
            </a:extLst>
          </p:cNvPr>
          <p:cNvSpPr>
            <a:spLocks noGrp="1"/>
          </p:cNvSpPr>
          <p:nvPr/>
        </p:nvSpPr>
        <p:spPr>
          <a:xfrm>
            <a:off x="2886075" y="5759006"/>
            <a:ext cx="2238375" cy="283464"/>
          </a:xfrm>
          <a:prstGeom prst="rect">
            <a:avLst/>
          </a:prstGeom>
          <a:noFill/>
          <a:ln w="0">
            <a:noFill/>
          </a:ln>
        </p:spPr>
        <p:txBody>
          <a:bodyPr wrap="square" lIns="0" tIns="0" rIns="0" bIns="0" anchor="t">
            <a:noAutofit/>
          </a:bodyPr>
          <a:lstStyle>
            <a:defPPr algn="ctr">
              <a:defRPr sz="1725" b="1">
                <a:solidFill>
                  <a:srgbClr val="102A43"/>
                </a:solidFill>
                <a:latin typeface="Arial"/>
                <a:ea typeface="Arial"/>
                <a:cs typeface="Arial"/>
              </a:defRPr>
            </a:defPPr>
          </a:lstStyle>
          <a:p>
            <a:pPr algn="ctr">
              <a:lnSpc>
                <a:spcPct val="112000"/>
              </a:lnSpc>
              <a:buNone/>
              <a:defRPr sz="1725" b="1">
                <a:solidFill>
                  <a:srgbClr val="102A43"/>
                </a:solidFill>
                <a:latin typeface="Arial"/>
                <a:ea typeface="Arial"/>
                <a:cs typeface="Arial"/>
              </a:defRPr>
            </a:pPr>
            <a:r>
              <a:rPr sz="1725" b="1">
                <a:solidFill>
                  <a:srgbClr val="102A43"/>
                </a:solidFill>
                <a:latin typeface="Arial"/>
                <a:ea typeface="Arial"/>
                <a:cs typeface="Arial"/>
              </a:rPr>
              <a:t>Restore anchors</a:t>
            </a:r>
          </a:p>
        </p:txBody>
      </p:sp>
      <p:sp>
        <p:nvSpPr>
          <p:cNvPr id="44" name="shape-253">
            <a:extLst>
              <a:ext uri="{FF2B5EF4-FFF2-40B4-BE49-F238E27FC236}">
                <a16:creationId xmlns:a16="http://schemas.microsoft.com/office/drawing/2014/main" id="{738C6C89-D953-41C0-8F1F-6A9130E77292}"/>
              </a:ext>
            </a:extLst>
          </p:cNvPr>
          <p:cNvSpPr>
            <a:spLocks noGrp="1"/>
          </p:cNvSpPr>
          <p:nvPr/>
        </p:nvSpPr>
        <p:spPr>
          <a:xfrm>
            <a:off x="5705475" y="5619750"/>
            <a:ext cx="2543175" cy="523875"/>
          </a:xfrm>
          <a:prstGeom prst="rect">
            <a:avLst/>
          </a:prstGeom>
          <a:solidFill>
            <a:srgbClr val="FFFFFF"/>
          </a:solidFill>
          <a:ln w="15240">
            <a:solidFill>
              <a:srgbClr val="006D77"/>
            </a:solidFill>
          </a:ln>
        </p:spPr>
      </p:sp>
      <p:sp>
        <p:nvSpPr>
          <p:cNvPr id="45" name="text-254">
            <a:extLst>
              <a:ext uri="{FF2B5EF4-FFF2-40B4-BE49-F238E27FC236}">
                <a16:creationId xmlns:a16="http://schemas.microsoft.com/office/drawing/2014/main" id="{533BB35D-1F9D-44E5-A4CE-BF201F2E45CD}"/>
              </a:ext>
            </a:extLst>
          </p:cNvPr>
          <p:cNvSpPr>
            <a:spLocks noGrp="1"/>
          </p:cNvSpPr>
          <p:nvPr/>
        </p:nvSpPr>
        <p:spPr>
          <a:xfrm>
            <a:off x="5857875" y="5759006"/>
            <a:ext cx="2238375" cy="283464"/>
          </a:xfrm>
          <a:prstGeom prst="rect">
            <a:avLst/>
          </a:prstGeom>
          <a:noFill/>
          <a:ln w="0">
            <a:noFill/>
          </a:ln>
        </p:spPr>
        <p:txBody>
          <a:bodyPr wrap="square" lIns="0" tIns="0" rIns="0" bIns="0" anchor="t">
            <a:noAutofit/>
          </a:bodyPr>
          <a:lstStyle>
            <a:defPPr algn="ctr">
              <a:defRPr sz="1725" b="1">
                <a:solidFill>
                  <a:srgbClr val="102A43"/>
                </a:solidFill>
                <a:latin typeface="Arial"/>
                <a:ea typeface="Arial"/>
                <a:cs typeface="Arial"/>
              </a:defRPr>
            </a:defPPr>
          </a:lstStyle>
          <a:p>
            <a:pPr algn="ctr">
              <a:lnSpc>
                <a:spcPct val="112000"/>
              </a:lnSpc>
              <a:buNone/>
              <a:defRPr sz="1725" b="1">
                <a:solidFill>
                  <a:srgbClr val="102A43"/>
                </a:solidFill>
                <a:latin typeface="Arial"/>
                <a:ea typeface="Arial"/>
                <a:cs typeface="Arial"/>
              </a:defRPr>
            </a:pPr>
            <a:r>
              <a:rPr sz="1725" b="1">
                <a:solidFill>
                  <a:srgbClr val="102A43"/>
                </a:solidFill>
                <a:latin typeface="Arial"/>
                <a:ea typeface="Arial"/>
                <a:cs typeface="Arial"/>
              </a:rPr>
              <a:t>Reobserve view</a:t>
            </a:r>
          </a:p>
        </p:txBody>
      </p:sp>
      <p:sp>
        <p:nvSpPr>
          <p:cNvPr id="46" name="shape-255">
            <a:extLst>
              <a:ext uri="{FF2B5EF4-FFF2-40B4-BE49-F238E27FC236}">
                <a16:creationId xmlns:a16="http://schemas.microsoft.com/office/drawing/2014/main" id="{B4E6C38B-DB78-49EF-9E1D-709A246A2BFB}"/>
              </a:ext>
            </a:extLst>
          </p:cNvPr>
          <p:cNvSpPr>
            <a:spLocks noGrp="1"/>
          </p:cNvSpPr>
          <p:nvPr/>
        </p:nvSpPr>
        <p:spPr>
          <a:xfrm>
            <a:off x="8677275" y="5619750"/>
            <a:ext cx="2905125" cy="523875"/>
          </a:xfrm>
          <a:prstGeom prst="rect">
            <a:avLst/>
          </a:prstGeom>
          <a:solidFill>
            <a:srgbClr val="FFFFFF"/>
          </a:solidFill>
          <a:ln w="15240">
            <a:solidFill>
              <a:srgbClr val="006D77"/>
            </a:solidFill>
          </a:ln>
        </p:spPr>
      </p:sp>
      <p:sp>
        <p:nvSpPr>
          <p:cNvPr id="47" name="text-256">
            <a:extLst>
              <a:ext uri="{FF2B5EF4-FFF2-40B4-BE49-F238E27FC236}">
                <a16:creationId xmlns:a16="http://schemas.microsoft.com/office/drawing/2014/main" id="{EF9227A6-B193-4C39-A51F-C8D1AD53350F}"/>
              </a:ext>
            </a:extLst>
          </p:cNvPr>
          <p:cNvSpPr>
            <a:spLocks noGrp="1"/>
          </p:cNvSpPr>
          <p:nvPr/>
        </p:nvSpPr>
        <p:spPr>
          <a:xfrm>
            <a:off x="8829675" y="5759006"/>
            <a:ext cx="2600325" cy="283464"/>
          </a:xfrm>
          <a:prstGeom prst="rect">
            <a:avLst/>
          </a:prstGeom>
          <a:noFill/>
          <a:ln w="0">
            <a:noFill/>
          </a:ln>
        </p:spPr>
        <p:txBody>
          <a:bodyPr wrap="square" lIns="0" tIns="0" rIns="0" bIns="0" anchor="t">
            <a:noAutofit/>
          </a:bodyPr>
          <a:lstStyle>
            <a:defPPr algn="ctr">
              <a:defRPr sz="1725" b="1">
                <a:solidFill>
                  <a:srgbClr val="102A43"/>
                </a:solidFill>
                <a:latin typeface="Arial"/>
                <a:ea typeface="Arial"/>
                <a:cs typeface="Arial"/>
              </a:defRPr>
            </a:defPPr>
          </a:lstStyle>
          <a:p>
            <a:pPr algn="ctr">
              <a:lnSpc>
                <a:spcPct val="112000"/>
              </a:lnSpc>
              <a:buNone/>
              <a:defRPr sz="1725" b="1">
                <a:solidFill>
                  <a:srgbClr val="102A43"/>
                </a:solidFill>
                <a:latin typeface="Arial"/>
                <a:ea typeface="Arial"/>
                <a:cs typeface="Arial"/>
              </a:defRPr>
            </a:pPr>
            <a:r>
              <a:rPr sz="1725" b="1">
                <a:solidFill>
                  <a:srgbClr val="102A43"/>
                </a:solidFill>
                <a:latin typeface="Arial"/>
                <a:ea typeface="Arial"/>
                <a:cs typeface="Arial"/>
              </a:rPr>
              <a:t>Revalidate evidence</a:t>
            </a:r>
          </a:p>
        </p:txBody>
      </p:sp>
      <p:pic>
        <p:nvPicPr>
          <p:cNvPr id="51" name="Picture 50">
            <a:extLst>
              <a:ext uri="{FF2B5EF4-FFF2-40B4-BE49-F238E27FC236}">
                <a16:creationId xmlns:a16="http://schemas.microsoft.com/office/drawing/2014/main" id="{A3276BEC-6C97-4928-A770-C5C0DE5F12A2}"/>
              </a:ext>
            </a:extLst>
          </p:cNvPr>
          <p:cNvPicPr>
            <a:picLocks noChangeAspect="1"/>
          </p:cNvPicPr>
          <p:nvPr/>
        </p:nvPicPr>
        <p:blipFill>
          <a:blip r:embed="rId3"/>
          <a:stretch/>
        </p:blipFill>
        <p:spPr>
          <a:xfrm>
            <a:off x="9220220" y="295275"/>
            <a:ext cx="2362160" cy="442436"/>
          </a:xfrm>
          <a:prstGeom prst="rect">
            <a:avLst/>
          </a:prstGeom>
        </p:spPr>
      </p:pic>
    </p:spTree>
    <p:extLst>
      <p:ext uri="{BB962C8B-B14F-4D97-AF65-F5344CB8AC3E}">
        <p14:creationId xmlns:p14="http://schemas.microsoft.com/office/powerpoint/2010/main" val="4466734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 name="shape-257">
            <a:extLst>
              <a:ext uri="{FF2B5EF4-FFF2-40B4-BE49-F238E27FC236}">
                <a16:creationId xmlns:a16="http://schemas.microsoft.com/office/drawing/2014/main" id="{240110AF-D9B2-4C15-A774-6651822F3AD3}"/>
              </a:ext>
            </a:extLst>
          </p:cNvPr>
          <p:cNvSpPr>
            <a:spLocks noGrp="1"/>
          </p:cNvSpPr>
          <p:nvPr/>
        </p:nvSpPr>
        <p:spPr>
          <a:xfrm>
            <a:off x="0" y="0"/>
            <a:ext cx="12192000" cy="1066800"/>
          </a:xfrm>
          <a:prstGeom prst="rect">
            <a:avLst/>
          </a:prstGeom>
          <a:solidFill>
            <a:srgbClr val="F2F6F7"/>
          </a:solidFill>
          <a:ln w="0">
            <a:noFill/>
          </a:ln>
        </p:spPr>
      </p:sp>
      <p:sp>
        <p:nvSpPr>
          <p:cNvPr id="2" name="shape-258">
            <a:extLst>
              <a:ext uri="{FF2B5EF4-FFF2-40B4-BE49-F238E27FC236}">
                <a16:creationId xmlns:a16="http://schemas.microsoft.com/office/drawing/2014/main" id="{59FC26BD-A415-43EF-B777-A45DDA60A82A}"/>
              </a:ext>
            </a:extLst>
          </p:cNvPr>
          <p:cNvSpPr>
            <a:spLocks noGrp="1"/>
          </p:cNvSpPr>
          <p:nvPr/>
        </p:nvSpPr>
        <p:spPr>
          <a:xfrm>
            <a:off x="0" y="1038225"/>
            <a:ext cx="12192000" cy="28575"/>
          </a:xfrm>
          <a:prstGeom prst="rect">
            <a:avLst/>
          </a:prstGeom>
          <a:solidFill>
            <a:srgbClr val="006D77"/>
          </a:solidFill>
          <a:ln w="0">
            <a:noFill/>
          </a:ln>
        </p:spPr>
      </p:sp>
      <p:sp>
        <p:nvSpPr>
          <p:cNvPr id="3" name="slide-9-title">
            <a:extLst>
              <a:ext uri="{FF2B5EF4-FFF2-40B4-BE49-F238E27FC236}">
                <a16:creationId xmlns:a16="http://schemas.microsoft.com/office/drawing/2014/main" id="{446D9689-09A8-4116-A094-5B8EC6E8A08B}"/>
              </a:ext>
            </a:extLst>
          </p:cNvPr>
          <p:cNvSpPr>
            <a:spLocks noGrp="1"/>
          </p:cNvSpPr>
          <p:nvPr/>
        </p:nvSpPr>
        <p:spPr>
          <a:xfrm>
            <a:off x="609600" y="304800"/>
            <a:ext cx="8239125" cy="542925"/>
          </a:xfrm>
          <a:prstGeom prst="rect">
            <a:avLst/>
          </a:prstGeom>
          <a:noFill/>
          <a:ln w="0">
            <a:noFill/>
          </a:ln>
        </p:spPr>
        <p:txBody>
          <a:bodyPr wrap="square" lIns="0" tIns="0" rIns="0" bIns="0" anchor="t">
            <a:noAutofit/>
          </a:bodyPr>
          <a:lstStyle>
            <a:defPPr algn="l">
              <a:defRPr sz="3150" b="1">
                <a:solidFill>
                  <a:srgbClr val="102A43"/>
                </a:solidFill>
                <a:latin typeface="Arial"/>
                <a:ea typeface="Arial"/>
                <a:cs typeface="Arial"/>
              </a:defRPr>
            </a:defPPr>
          </a:lstStyle>
          <a:p>
            <a:pPr algn="l">
              <a:lnSpc>
                <a:spcPct val="112000"/>
              </a:lnSpc>
              <a:buNone/>
              <a:defRPr sz="3150" b="1">
                <a:solidFill>
                  <a:srgbClr val="102A43"/>
                </a:solidFill>
                <a:latin typeface="Arial"/>
                <a:ea typeface="Arial"/>
                <a:cs typeface="Arial"/>
              </a:defRPr>
            </a:pPr>
            <a:r>
              <a:rPr sz="3150" b="1">
                <a:solidFill>
                  <a:srgbClr val="102A43"/>
                </a:solidFill>
                <a:latin typeface="Arial"/>
                <a:ea typeface="Arial"/>
                <a:cs typeface="Arial"/>
              </a:rPr>
              <a:t>Why is our solution better?</a:t>
            </a:r>
          </a:p>
        </p:txBody>
      </p:sp>
      <p:sp>
        <p:nvSpPr>
          <p:cNvPr id="4" name="shape-259">
            <a:extLst>
              <a:ext uri="{FF2B5EF4-FFF2-40B4-BE49-F238E27FC236}">
                <a16:creationId xmlns:a16="http://schemas.microsoft.com/office/drawing/2014/main" id="{FF007119-BDFE-4C99-AC7F-6A184D564B3C}"/>
              </a:ext>
            </a:extLst>
          </p:cNvPr>
          <p:cNvSpPr>
            <a:spLocks noGrp="1"/>
          </p:cNvSpPr>
          <p:nvPr/>
        </p:nvSpPr>
        <p:spPr>
          <a:xfrm>
            <a:off x="0" y="6381750"/>
            <a:ext cx="12192000" cy="476250"/>
          </a:xfrm>
          <a:prstGeom prst="rect">
            <a:avLst/>
          </a:prstGeom>
          <a:solidFill>
            <a:srgbClr val="102A43"/>
          </a:solidFill>
          <a:ln w="0">
            <a:noFill/>
          </a:ln>
        </p:spPr>
      </p:sp>
      <p:sp>
        <p:nvSpPr>
          <p:cNvPr id="5" name="brand-9">
            <a:extLst>
              <a:ext uri="{FF2B5EF4-FFF2-40B4-BE49-F238E27FC236}">
                <a16:creationId xmlns:a16="http://schemas.microsoft.com/office/drawing/2014/main" id="{4DB976CB-32B5-43FD-BE2E-4AC88AFC77E9}"/>
              </a:ext>
            </a:extLst>
          </p:cNvPr>
          <p:cNvSpPr>
            <a:spLocks noGrp="1"/>
          </p:cNvSpPr>
          <p:nvPr/>
        </p:nvSpPr>
        <p:spPr>
          <a:xfrm>
            <a:off x="609600" y="6467475"/>
            <a:ext cx="3429000" cy="333375"/>
          </a:xfrm>
          <a:prstGeom prst="rect">
            <a:avLst/>
          </a:prstGeom>
          <a:noFill/>
          <a:ln w="0">
            <a:noFill/>
          </a:ln>
        </p:spPr>
        <p:txBody>
          <a:bodyPr wrap="square" lIns="0" tIns="0" rIns="0" bIns="0" anchor="t">
            <a:noAutofit/>
          </a:bodyPr>
          <a:lstStyle>
            <a:defPPr algn="l">
              <a:defRPr sz="1950" b="1">
                <a:solidFill>
                  <a:srgbClr val="8AE1D5"/>
                </a:solidFill>
                <a:latin typeface="Arial"/>
                <a:ea typeface="Arial"/>
                <a:cs typeface="Arial"/>
              </a:defRPr>
            </a:defPPr>
          </a:lstStyle>
          <a:p>
            <a:pPr algn="l">
              <a:lnSpc>
                <a:spcPct val="112000"/>
              </a:lnSpc>
              <a:buNone/>
              <a:defRPr sz="1950" b="1">
                <a:solidFill>
                  <a:srgbClr val="8AE1D5"/>
                </a:solidFill>
                <a:latin typeface="Arial"/>
                <a:ea typeface="Arial"/>
                <a:cs typeface="Arial"/>
              </a:defRPr>
            </a:pPr>
            <a:r>
              <a:rPr sz="1950" b="1">
                <a:solidFill>
                  <a:srgbClr val="8AE1D5"/>
                </a:solidFill>
                <a:latin typeface="Arial"/>
                <a:ea typeface="Arial"/>
                <a:cs typeface="Arial"/>
              </a:rPr>
              <a:t>Sapience</a:t>
            </a:r>
          </a:p>
        </p:txBody>
      </p:sp>
      <p:sp>
        <p:nvSpPr>
          <p:cNvPr id="6" name="page-9">
            <a:extLst>
              <a:ext uri="{FF2B5EF4-FFF2-40B4-BE49-F238E27FC236}">
                <a16:creationId xmlns:a16="http://schemas.microsoft.com/office/drawing/2014/main" id="{920A760D-4835-47DB-8F54-E7B9391FF56B}"/>
              </a:ext>
            </a:extLst>
          </p:cNvPr>
          <p:cNvSpPr>
            <a:spLocks noGrp="1"/>
          </p:cNvSpPr>
          <p:nvPr/>
        </p:nvSpPr>
        <p:spPr>
          <a:xfrm>
            <a:off x="10629900" y="6505575"/>
            <a:ext cx="952500" cy="276225"/>
          </a:xfrm>
          <a:prstGeom prst="rect">
            <a:avLst/>
          </a:prstGeom>
          <a:noFill/>
          <a:ln w="0">
            <a:noFill/>
          </a:ln>
        </p:spPr>
        <p:txBody>
          <a:bodyPr wrap="square" lIns="0" tIns="0" rIns="0" bIns="0" anchor="t">
            <a:noAutofit/>
          </a:bodyPr>
          <a:lstStyle>
            <a:defPPr algn="r">
              <a:defRPr sz="1575" b="0">
                <a:solidFill>
                  <a:srgbClr val="FFFFFF"/>
                </a:solidFill>
                <a:latin typeface="Arial"/>
                <a:ea typeface="Arial"/>
                <a:cs typeface="Arial"/>
              </a:defRPr>
            </a:defPPr>
          </a:lstStyle>
          <a:p>
            <a:pPr algn="r">
              <a:lnSpc>
                <a:spcPct val="112000"/>
              </a:lnSpc>
              <a:buNone/>
              <a:defRPr sz="1575" b="0">
                <a:solidFill>
                  <a:srgbClr val="FFFFFF"/>
                </a:solidFill>
                <a:latin typeface="Arial"/>
                <a:ea typeface="Arial"/>
                <a:cs typeface="Arial"/>
              </a:defRPr>
            </a:pPr>
            <a:r>
              <a:rPr sz="1575" b="0">
                <a:solidFill>
                  <a:srgbClr val="FFFFFF"/>
                </a:solidFill>
                <a:latin typeface="Arial"/>
                <a:ea typeface="Arial"/>
                <a:cs typeface="Arial"/>
              </a:rPr>
              <a:t>10 / 18</a:t>
            </a:r>
          </a:p>
        </p:txBody>
      </p:sp>
      <p:sp>
        <p:nvSpPr>
          <p:cNvPr id="7" name="text-260">
            <a:extLst>
              <a:ext uri="{FF2B5EF4-FFF2-40B4-BE49-F238E27FC236}">
                <a16:creationId xmlns:a16="http://schemas.microsoft.com/office/drawing/2014/main" id="{243072B7-EE1A-4808-AD6C-D94E7BC4E9C4}"/>
              </a:ext>
            </a:extLst>
          </p:cNvPr>
          <p:cNvSpPr>
            <a:spLocks noGrp="1"/>
          </p:cNvSpPr>
          <p:nvPr/>
        </p:nvSpPr>
        <p:spPr>
          <a:xfrm>
            <a:off x="609600" y="1381125"/>
            <a:ext cx="10972800" cy="419100"/>
          </a:xfrm>
          <a:prstGeom prst="rect">
            <a:avLst/>
          </a:prstGeom>
          <a:noFill/>
          <a:ln w="0">
            <a:noFill/>
          </a:ln>
        </p:spPr>
        <p:txBody>
          <a:bodyPr wrap="square" lIns="0" tIns="0" rIns="0" bIns="0" anchor="t">
            <a:noAutofit/>
          </a:bodyPr>
          <a:lstStyle>
            <a:defPPr algn="l">
              <a:defRPr sz="2175" b="1">
                <a:solidFill>
                  <a:srgbClr val="006D77"/>
                </a:solidFill>
                <a:latin typeface="Arial"/>
                <a:ea typeface="Arial"/>
                <a:cs typeface="Arial"/>
              </a:defRPr>
            </a:defPPr>
          </a:lstStyle>
          <a:p>
            <a:pPr algn="l">
              <a:lnSpc>
                <a:spcPct val="112000"/>
              </a:lnSpc>
              <a:buNone/>
              <a:defRPr sz="2175" b="1">
                <a:solidFill>
                  <a:srgbClr val="006D77"/>
                </a:solidFill>
                <a:latin typeface="Arial"/>
                <a:ea typeface="Arial"/>
                <a:cs typeface="Arial"/>
              </a:defRPr>
            </a:pPr>
            <a:r>
              <a:rPr sz="2175" b="1">
                <a:solidFill>
                  <a:srgbClr val="006D77"/>
                </a:solidFill>
                <a:latin typeface="Arial"/>
                <a:ea typeface="Arial"/>
                <a:cs typeface="Arial"/>
              </a:rPr>
              <a:t>Expected advantages to validate during evaluation</a:t>
            </a:r>
          </a:p>
        </p:txBody>
      </p:sp>
      <p:graphicFrame>
        <p:nvGraphicFramePr>
          <p:cNvPr id="8" name="Table 7">
            <a:extLst>
              <a:ext uri="{FF2B5EF4-FFF2-40B4-BE49-F238E27FC236}">
                <a16:creationId xmlns:a16="http://schemas.microsoft.com/office/drawing/2014/main" id="{0AC86C14-3DD1-44DC-87C1-FB92F0E84864}"/>
              </a:ext>
            </a:extLst>
          </p:cNvPr>
          <p:cNvGraphicFramePr/>
          <p:nvPr/>
        </p:nvGraphicFramePr>
        <p:xfrm>
          <a:off x="609600" y="2019300"/>
          <a:ext cx="10972800" cy="3638550"/>
        </p:xfrm>
        <a:graphic>
          <a:graphicData uri="http://schemas.openxmlformats.org/drawingml/2006/table">
            <a:tbl>
              <a:tblPr/>
              <a:tblGrid>
                <a:gridCol w="3143250">
                  <a:extLst>
                    <a:ext uri="{9D8B030D-6E8A-4147-A177-3AD203B41FA5}">
                      <a16:colId xmlns:a16="http://schemas.microsoft.com/office/drawing/2014/main" val="20000"/>
                    </a:ext>
                  </a:extLst>
                </a:gridCol>
                <a:gridCol w="4305300">
                  <a:extLst>
                    <a:ext uri="{9D8B030D-6E8A-4147-A177-3AD203B41FA5}">
                      <a16:colId xmlns:a16="http://schemas.microsoft.com/office/drawing/2014/main" val="20001"/>
                    </a:ext>
                  </a:extLst>
                </a:gridCol>
                <a:gridCol w="3524250">
                  <a:extLst>
                    <a:ext uri="{9D8B030D-6E8A-4147-A177-3AD203B41FA5}">
                      <a16:colId xmlns:a16="http://schemas.microsoft.com/office/drawing/2014/main" val="20002"/>
                    </a:ext>
                  </a:extLst>
                </a:gridCol>
              </a:tblGrid>
              <a:tr h="438150">
                <a:tc>
                  <a:txBody>
                    <a:bodyPr/>
                    <a:lstStyle/>
                    <a:p>
                      <a:pPr>
                        <a:lnSpc>
                          <a:spcPct val="108000"/>
                        </a:lnSpc>
                        <a:buNone/>
                      </a:pPr>
                      <a:r>
                        <a:rPr sz="1800" b="1">
                          <a:solidFill>
                            <a:srgbClr val="FFFFFF"/>
                          </a:solidFill>
                          <a:latin typeface="Arial"/>
                          <a:ea typeface="Arial"/>
                          <a:cs typeface="Arial"/>
                        </a:rPr>
                        <a:t>Challenge</a:t>
                      </a:r>
                    </a:p>
                  </a:txBody>
                  <a:tcPr marL="133350" marR="133350" marT="95250" marB="85725" anchor="ctr">
                    <a:lnL w="0">
                      <a:solidFill>
                        <a:srgbClr val="FFFFFF"/>
                      </a:solidFill>
                    </a:lnL>
                    <a:lnT w="7620">
                      <a:solidFill>
                        <a:srgbClr val="CDD7D9"/>
                      </a:solidFill>
                    </a:lnT>
                    <a:solidFill>
                      <a:srgbClr val="006D77"/>
                    </a:solidFill>
                  </a:tcPr>
                </a:tc>
                <a:tc>
                  <a:txBody>
                    <a:bodyPr/>
                    <a:lstStyle/>
                    <a:p>
                      <a:pPr>
                        <a:lnSpc>
                          <a:spcPct val="108000"/>
                        </a:lnSpc>
                        <a:buNone/>
                      </a:pPr>
                      <a:r>
                        <a:rPr sz="1800" b="1">
                          <a:solidFill>
                            <a:srgbClr val="FFFFFF"/>
                          </a:solidFill>
                          <a:latin typeface="Arial"/>
                          <a:ea typeface="Arial"/>
                          <a:cs typeface="Arial"/>
                        </a:rPr>
                        <a:t>Design response</a:t>
                      </a:r>
                    </a:p>
                  </a:txBody>
                  <a:tcPr marL="133350" marR="133350" marT="95250" marB="85725" anchor="ctr">
                    <a:lnT w="7620">
                      <a:solidFill>
                        <a:srgbClr val="CDD7D9"/>
                      </a:solidFill>
                    </a:lnT>
                    <a:solidFill>
                      <a:srgbClr val="006D77"/>
                    </a:solidFill>
                  </a:tcPr>
                </a:tc>
                <a:tc>
                  <a:txBody>
                    <a:bodyPr/>
                    <a:lstStyle/>
                    <a:p>
                      <a:pPr>
                        <a:lnSpc>
                          <a:spcPct val="108000"/>
                        </a:lnSpc>
                        <a:buNone/>
                      </a:pPr>
                      <a:r>
                        <a:rPr sz="1800" b="1">
                          <a:solidFill>
                            <a:srgbClr val="FFFFFF"/>
                          </a:solidFill>
                          <a:latin typeface="Arial"/>
                          <a:ea typeface="Arial"/>
                          <a:cs typeface="Arial"/>
                        </a:rPr>
                        <a:t>Evaluation measure</a:t>
                      </a:r>
                    </a:p>
                  </a:txBody>
                  <a:tcPr marL="133350" marR="133350" marT="95250" marB="85725" anchor="ctr">
                    <a:lnR w="0">
                      <a:solidFill>
                        <a:srgbClr val="FFFFFF"/>
                      </a:solidFill>
                    </a:lnR>
                    <a:lnT w="7620">
                      <a:solidFill>
                        <a:srgbClr val="CDD7D9"/>
                      </a:solidFill>
                    </a:lnT>
                    <a:solidFill>
                      <a:srgbClr val="006D77"/>
                    </a:solidFill>
                  </a:tcPr>
                </a:tc>
                <a:extLst>
                  <a:ext uri="{0D108BD9-81ED-4DB2-BD59-A6C34878D82A}">
                    <a16:rowId xmlns:a16="http://schemas.microsoft.com/office/drawing/2014/main" val="10000"/>
                  </a:ext>
                </a:extLst>
              </a:tr>
              <a:tr h="800100">
                <a:tc>
                  <a:txBody>
                    <a:bodyPr/>
                    <a:lstStyle/>
                    <a:p>
                      <a:pPr>
                        <a:lnSpc>
                          <a:spcPct val="108000"/>
                        </a:lnSpc>
                        <a:buNone/>
                      </a:pPr>
                      <a:r>
                        <a:rPr sz="1800">
                          <a:solidFill>
                            <a:srgbClr val="17324A"/>
                          </a:solidFill>
                          <a:latin typeface="Arial"/>
                          <a:ea typeface="Arial"/>
                          <a:cs typeface="Arial"/>
                        </a:rPr>
                        <a:t>Unclear task scope</a:t>
                      </a:r>
                    </a:p>
                  </a:txBody>
                  <a:tcPr marL="133350" marR="133350" marT="95250" marB="85725" anchor="ctr">
                    <a:lnL w="0">
                      <a:solidFill>
                        <a:srgbClr val="FFFFFF"/>
                      </a:solidFill>
                    </a:lnL>
                    <a:solidFill>
                      <a:srgbClr val="F1F6F6"/>
                    </a:solidFill>
                  </a:tcPr>
                </a:tc>
                <a:tc>
                  <a:txBody>
                    <a:bodyPr/>
                    <a:lstStyle/>
                    <a:p>
                      <a:pPr>
                        <a:lnSpc>
                          <a:spcPct val="108000"/>
                        </a:lnSpc>
                        <a:buNone/>
                      </a:pPr>
                      <a:r>
                        <a:rPr sz="1800">
                          <a:solidFill>
                            <a:srgbClr val="17324A"/>
                          </a:solidFill>
                          <a:latin typeface="Arial"/>
                          <a:ea typeface="Arial"/>
                          <a:cs typeface="Arial"/>
                        </a:rPr>
                        <a:t>Semantic context and</a:t>
                      </a:r>
                    </a:p>
                    <a:p>
                      <a:pPr>
                        <a:lnSpc>
                          <a:spcPct val="108000"/>
                        </a:lnSpc>
                        <a:buNone/>
                      </a:pPr>
                      <a:r>
                        <a:rPr sz="1800">
                          <a:solidFill>
                            <a:srgbClr val="17324A"/>
                          </a:solidFill>
                          <a:latin typeface="Arial"/>
                          <a:ea typeface="Arial"/>
                          <a:cs typeface="Arial"/>
                        </a:rPr>
                        <a:t>retained facts</a:t>
                      </a:r>
                    </a:p>
                  </a:txBody>
                  <a:tcPr marL="133350" marR="133350" marT="95250" marB="85725" anchor="ctr">
                    <a:solidFill>
                      <a:srgbClr val="F1F6F6"/>
                    </a:solidFill>
                  </a:tcPr>
                </a:tc>
                <a:tc>
                  <a:txBody>
                    <a:bodyPr/>
                    <a:lstStyle/>
                    <a:p>
                      <a:pPr>
                        <a:lnSpc>
                          <a:spcPct val="108000"/>
                        </a:lnSpc>
                        <a:buNone/>
                      </a:pPr>
                      <a:r>
                        <a:rPr sz="1800">
                          <a:solidFill>
                            <a:srgbClr val="17324A"/>
                          </a:solidFill>
                          <a:latin typeface="Arial"/>
                          <a:ea typeface="Arial"/>
                          <a:cs typeface="Arial"/>
                        </a:rPr>
                        <a:t>Follow-up accuracy</a:t>
                      </a:r>
                    </a:p>
                  </a:txBody>
                  <a:tcPr marL="133350" marR="133350" marT="95250" marB="85725" anchor="ctr">
                    <a:lnR w="0">
                      <a:solidFill>
                        <a:srgbClr val="FFFFFF"/>
                      </a:solidFill>
                    </a:lnR>
                    <a:solidFill>
                      <a:srgbClr val="F1F6F6"/>
                    </a:solidFill>
                  </a:tcPr>
                </a:tc>
                <a:extLst>
                  <a:ext uri="{0D108BD9-81ED-4DB2-BD59-A6C34878D82A}">
                    <a16:rowId xmlns:a16="http://schemas.microsoft.com/office/drawing/2014/main" val="10001"/>
                  </a:ext>
                </a:extLst>
              </a:tr>
              <a:tr h="800100">
                <a:tc>
                  <a:txBody>
                    <a:bodyPr/>
                    <a:lstStyle/>
                    <a:p>
                      <a:pPr>
                        <a:lnSpc>
                          <a:spcPct val="108000"/>
                        </a:lnSpc>
                        <a:buNone/>
                      </a:pPr>
                      <a:r>
                        <a:rPr sz="1800">
                          <a:solidFill>
                            <a:srgbClr val="17324A"/>
                          </a:solidFill>
                          <a:latin typeface="Arial"/>
                          <a:ea typeface="Arial"/>
                          <a:cs typeface="Arial"/>
                        </a:rPr>
                        <a:t>Wrong business meaning</a:t>
                      </a:r>
                    </a:p>
                  </a:txBody>
                  <a:tcPr marL="133350" marR="133350" marT="95250" marB="85725" anchor="ctr">
                    <a:lnL w="0">
                      <a:solidFill>
                        <a:srgbClr val="FFFFFF"/>
                      </a:solidFill>
                    </a:lnL>
                    <a:solidFill>
                      <a:srgbClr val="FFFFFF"/>
                    </a:solidFill>
                  </a:tcPr>
                </a:tc>
                <a:tc>
                  <a:txBody>
                    <a:bodyPr/>
                    <a:lstStyle/>
                    <a:p>
                      <a:pPr>
                        <a:lnSpc>
                          <a:spcPct val="108000"/>
                        </a:lnSpc>
                        <a:buNone/>
                      </a:pPr>
                      <a:r>
                        <a:rPr sz="1800">
                          <a:solidFill>
                            <a:srgbClr val="17324A"/>
                          </a:solidFill>
                          <a:latin typeface="Arial"/>
                          <a:ea typeface="Arial"/>
                          <a:cs typeface="Arial"/>
                        </a:rPr>
                        <a:t>Governed, composable</a:t>
                      </a:r>
                    </a:p>
                    <a:p>
                      <a:pPr>
                        <a:lnSpc>
                          <a:spcPct val="108000"/>
                        </a:lnSpc>
                        <a:buNone/>
                      </a:pPr>
                      <a:r>
                        <a:rPr sz="1800">
                          <a:solidFill>
                            <a:srgbClr val="17324A"/>
                          </a:solidFill>
                          <a:latin typeface="Arial"/>
                          <a:ea typeface="Arial"/>
                          <a:cs typeface="Arial"/>
                        </a:rPr>
                        <a:t>analytics tools</a:t>
                      </a:r>
                    </a:p>
                  </a:txBody>
                  <a:tcPr marL="133350" marR="133350" marT="95250" marB="85725" anchor="ctr">
                    <a:solidFill>
                      <a:srgbClr val="FFFFFF"/>
                    </a:solidFill>
                  </a:tcPr>
                </a:tc>
                <a:tc>
                  <a:txBody>
                    <a:bodyPr/>
                    <a:lstStyle/>
                    <a:p>
                      <a:pPr>
                        <a:lnSpc>
                          <a:spcPct val="108000"/>
                        </a:lnSpc>
                        <a:buNone/>
                      </a:pPr>
                      <a:r>
                        <a:rPr sz="1800">
                          <a:solidFill>
                            <a:srgbClr val="17324A"/>
                          </a:solidFill>
                          <a:latin typeface="Arial"/>
                          <a:ea typeface="Arial"/>
                          <a:cs typeface="Arial"/>
                        </a:rPr>
                        <a:t>Value and scope correctness</a:t>
                      </a:r>
                    </a:p>
                  </a:txBody>
                  <a:tcPr marL="133350" marR="133350" marT="95250" marB="85725" anchor="ctr">
                    <a:lnR w="0">
                      <a:solidFill>
                        <a:srgbClr val="FFFFFF"/>
                      </a:solidFill>
                    </a:lnR>
                    <a:solidFill>
                      <a:srgbClr val="FFFFFF"/>
                    </a:solidFill>
                  </a:tcPr>
                </a:tc>
                <a:extLst>
                  <a:ext uri="{0D108BD9-81ED-4DB2-BD59-A6C34878D82A}">
                    <a16:rowId xmlns:a16="http://schemas.microsoft.com/office/drawing/2014/main" val="10002"/>
                  </a:ext>
                </a:extLst>
              </a:tr>
              <a:tr h="800100">
                <a:tc>
                  <a:txBody>
                    <a:bodyPr/>
                    <a:lstStyle/>
                    <a:p>
                      <a:pPr>
                        <a:lnSpc>
                          <a:spcPct val="108000"/>
                        </a:lnSpc>
                        <a:buNone/>
                      </a:pPr>
                      <a:r>
                        <a:rPr sz="1800">
                          <a:solidFill>
                            <a:srgbClr val="17324A"/>
                          </a:solidFill>
                          <a:latin typeface="Arial"/>
                          <a:ea typeface="Arial"/>
                          <a:cs typeface="Arial"/>
                        </a:rPr>
                        <a:t>False completion</a:t>
                      </a:r>
                    </a:p>
                  </a:txBody>
                  <a:tcPr marL="133350" marR="133350" marT="95250" marB="85725" anchor="ctr">
                    <a:lnL w="0">
                      <a:solidFill>
                        <a:srgbClr val="FFFFFF"/>
                      </a:solidFill>
                    </a:lnL>
                    <a:solidFill>
                      <a:srgbClr val="F1F6F6"/>
                    </a:solidFill>
                  </a:tcPr>
                </a:tc>
                <a:tc>
                  <a:txBody>
                    <a:bodyPr/>
                    <a:lstStyle/>
                    <a:p>
                      <a:pPr>
                        <a:lnSpc>
                          <a:spcPct val="108000"/>
                        </a:lnSpc>
                        <a:buNone/>
                      </a:pPr>
                      <a:r>
                        <a:rPr sz="1800">
                          <a:solidFill>
                            <a:srgbClr val="17324A"/>
                          </a:solidFill>
                          <a:latin typeface="Arial"/>
                          <a:ea typeface="Arial"/>
                          <a:cs typeface="Arial"/>
                        </a:rPr>
                        <a:t>Independent checks and</a:t>
                      </a:r>
                    </a:p>
                    <a:p>
                      <a:pPr>
                        <a:lnSpc>
                          <a:spcPct val="108000"/>
                        </a:lnSpc>
                        <a:buNone/>
                      </a:pPr>
                      <a:r>
                        <a:rPr sz="1800">
                          <a:solidFill>
                            <a:srgbClr val="17324A"/>
                          </a:solidFill>
                          <a:latin typeface="Arial"/>
                          <a:ea typeface="Arial"/>
                          <a:cs typeface="Arial"/>
                        </a:rPr>
                        <a:t>bounded execution</a:t>
                      </a:r>
                    </a:p>
                  </a:txBody>
                  <a:tcPr marL="133350" marR="133350" marT="95250" marB="85725" anchor="ctr">
                    <a:solidFill>
                      <a:srgbClr val="F1F6F6"/>
                    </a:solidFill>
                  </a:tcPr>
                </a:tc>
                <a:tc>
                  <a:txBody>
                    <a:bodyPr/>
                    <a:lstStyle/>
                    <a:p>
                      <a:pPr>
                        <a:lnSpc>
                          <a:spcPct val="108000"/>
                        </a:lnSpc>
                        <a:buNone/>
                      </a:pPr>
                      <a:r>
                        <a:rPr sz="1800">
                          <a:solidFill>
                            <a:srgbClr val="17324A"/>
                          </a:solidFill>
                          <a:latin typeface="Arial"/>
                          <a:ea typeface="Arial"/>
                          <a:cs typeface="Arial"/>
                        </a:rPr>
                        <a:t>False-completion rate</a:t>
                      </a:r>
                    </a:p>
                  </a:txBody>
                  <a:tcPr marL="133350" marR="133350" marT="95250" marB="85725" anchor="ctr">
                    <a:lnR w="0">
                      <a:solidFill>
                        <a:srgbClr val="FFFFFF"/>
                      </a:solidFill>
                    </a:lnR>
                    <a:solidFill>
                      <a:srgbClr val="F1F6F6"/>
                    </a:solidFill>
                  </a:tcPr>
                </a:tc>
                <a:extLst>
                  <a:ext uri="{0D108BD9-81ED-4DB2-BD59-A6C34878D82A}">
                    <a16:rowId xmlns:a16="http://schemas.microsoft.com/office/drawing/2014/main" val="10003"/>
                  </a:ext>
                </a:extLst>
              </a:tr>
              <a:tr h="800100">
                <a:tc>
                  <a:txBody>
                    <a:bodyPr/>
                    <a:lstStyle/>
                    <a:p>
                      <a:pPr>
                        <a:lnSpc>
                          <a:spcPct val="108000"/>
                        </a:lnSpc>
                        <a:buNone/>
                      </a:pPr>
                      <a:r>
                        <a:rPr sz="1800">
                          <a:solidFill>
                            <a:srgbClr val="17324A"/>
                          </a:solidFill>
                          <a:latin typeface="Arial"/>
                          <a:ea typeface="Arial"/>
                          <a:cs typeface="Arial"/>
                        </a:rPr>
                        <a:t>Answer disconnected</a:t>
                      </a:r>
                    </a:p>
                    <a:p>
                      <a:pPr>
                        <a:lnSpc>
                          <a:spcPct val="108000"/>
                        </a:lnSpc>
                        <a:buNone/>
                      </a:pPr>
                      <a:r>
                        <a:rPr sz="1800">
                          <a:solidFill>
                            <a:srgbClr val="17324A"/>
                          </a:solidFill>
                          <a:latin typeface="Arial"/>
                          <a:ea typeface="Arial"/>
                          <a:cs typeface="Arial"/>
                        </a:rPr>
                        <a:t>from the workspace</a:t>
                      </a:r>
                    </a:p>
                  </a:txBody>
                  <a:tcPr marL="133350" marR="133350" marT="95250" marB="85725" anchor="ctr">
                    <a:lnL w="0">
                      <a:solidFill>
                        <a:srgbClr val="FFFFFF"/>
                      </a:solidFill>
                    </a:lnL>
                    <a:lnB w="7620">
                      <a:solidFill>
                        <a:srgbClr val="CDD7D9"/>
                      </a:solidFill>
                    </a:lnB>
                    <a:solidFill>
                      <a:srgbClr val="FFFFFF"/>
                    </a:solidFill>
                  </a:tcPr>
                </a:tc>
                <a:tc>
                  <a:txBody>
                    <a:bodyPr/>
                    <a:lstStyle/>
                    <a:p>
                      <a:pPr>
                        <a:lnSpc>
                          <a:spcPct val="108000"/>
                        </a:lnSpc>
                        <a:buNone/>
                      </a:pPr>
                      <a:r>
                        <a:rPr sz="1800">
                          <a:solidFill>
                            <a:srgbClr val="17324A"/>
                          </a:solidFill>
                          <a:latin typeface="Arial"/>
                          <a:ea typeface="Arial"/>
                          <a:cs typeface="Arial"/>
                        </a:rPr>
                        <a:t>One task loop for facts</a:t>
                      </a:r>
                    </a:p>
                    <a:p>
                      <a:pPr>
                        <a:lnSpc>
                          <a:spcPct val="108000"/>
                        </a:lnSpc>
                        <a:buNone/>
                      </a:pPr>
                      <a:r>
                        <a:rPr sz="1800">
                          <a:solidFill>
                            <a:srgbClr val="17324A"/>
                          </a:solidFill>
                          <a:latin typeface="Arial"/>
                          <a:ea typeface="Arial"/>
                          <a:cs typeface="Arial"/>
                        </a:rPr>
                        <a:t>and application state</a:t>
                      </a:r>
                    </a:p>
                  </a:txBody>
                  <a:tcPr marL="133350" marR="133350" marT="95250" marB="85725" anchor="ctr">
                    <a:lnB w="7620">
                      <a:solidFill>
                        <a:srgbClr val="CDD7D9"/>
                      </a:solidFill>
                    </a:lnB>
                    <a:solidFill>
                      <a:srgbClr val="FFFFFF"/>
                    </a:solidFill>
                  </a:tcPr>
                </a:tc>
                <a:tc>
                  <a:txBody>
                    <a:bodyPr/>
                    <a:lstStyle/>
                    <a:p>
                      <a:pPr>
                        <a:lnSpc>
                          <a:spcPct val="108000"/>
                        </a:lnSpc>
                        <a:buNone/>
                      </a:pPr>
                      <a:r>
                        <a:rPr sz="1800">
                          <a:solidFill>
                            <a:srgbClr val="17324A"/>
                          </a:solidFill>
                          <a:latin typeface="Arial"/>
                          <a:ea typeface="Arial"/>
                          <a:cs typeface="Arial"/>
                        </a:rPr>
                        <a:t>Task and destination success</a:t>
                      </a:r>
                    </a:p>
                  </a:txBody>
                  <a:tcPr marL="133350" marR="133350" marT="95250" marB="85725" anchor="ctr">
                    <a:lnR w="0">
                      <a:solidFill>
                        <a:srgbClr val="FFFFFF"/>
                      </a:solidFill>
                    </a:lnR>
                    <a:lnB w="7620">
                      <a:solidFill>
                        <a:srgbClr val="CDD7D9"/>
                      </a:solidFill>
                    </a:lnB>
                    <a:solidFill>
                      <a:srgbClr val="FFFFFF"/>
                    </a:solidFill>
                  </a:tcPr>
                </a:tc>
                <a:extLst>
                  <a:ext uri="{0D108BD9-81ED-4DB2-BD59-A6C34878D82A}">
                    <a16:rowId xmlns:a16="http://schemas.microsoft.com/office/drawing/2014/main" val="10004"/>
                  </a:ext>
                </a:extLst>
              </a:tr>
            </a:tbl>
          </a:graphicData>
        </a:graphic>
      </p:graphicFrame>
      <p:sp>
        <p:nvSpPr>
          <p:cNvPr id="9" name="text-261">
            <a:extLst>
              <a:ext uri="{FF2B5EF4-FFF2-40B4-BE49-F238E27FC236}">
                <a16:creationId xmlns:a16="http://schemas.microsoft.com/office/drawing/2014/main" id="{959E025A-383E-47B6-9CD2-DE09C087EC9A}"/>
              </a:ext>
            </a:extLst>
          </p:cNvPr>
          <p:cNvSpPr>
            <a:spLocks noGrp="1"/>
          </p:cNvSpPr>
          <p:nvPr/>
        </p:nvSpPr>
        <p:spPr>
          <a:xfrm>
            <a:off x="7372350" y="2847975"/>
            <a:ext cx="523875" cy="276225"/>
          </a:xfrm>
          <a:prstGeom prst="rect">
            <a:avLst/>
          </a:prstGeom>
          <a:noFill/>
          <a:ln w="0">
            <a:noFill/>
          </a:ln>
        </p:spPr>
        <p:txBody>
          <a:bodyPr wrap="square" lIns="0" tIns="0" rIns="0" bIns="0" anchor="t">
            <a:noAutofit/>
          </a:bodyPr>
          <a:lstStyle>
            <a:defPPr algn="l">
              <a:defRPr sz="1500" b="1">
                <a:solidFill>
                  <a:srgbClr val="006D77"/>
                </a:solidFill>
                <a:latin typeface="Arial"/>
                <a:ea typeface="Arial"/>
                <a:cs typeface="Arial"/>
              </a:defRPr>
            </a:defPPr>
          </a:lstStyle>
          <a:p>
            <a:pPr algn="l">
              <a:lnSpc>
                <a:spcPct val="112000"/>
              </a:lnSpc>
              <a:buNone/>
              <a:defRPr sz="1500" b="1">
                <a:solidFill>
                  <a:srgbClr val="006D77"/>
                </a:solidFill>
                <a:latin typeface="Arial"/>
                <a:ea typeface="Arial"/>
                <a:cs typeface="Arial"/>
              </a:defRPr>
            </a:pPr>
            <a:r>
              <a:rPr sz="1500" b="1">
                <a:solidFill>
                  <a:srgbClr val="006D77"/>
                </a:solidFill>
                <a:latin typeface="Arial"/>
                <a:ea typeface="Arial"/>
                <a:cs typeface="Arial"/>
              </a:rPr>
              <a:t>3,4</a:t>
            </a:r>
          </a:p>
        </p:txBody>
      </p:sp>
      <p:sp>
        <p:nvSpPr>
          <p:cNvPr id="10" name="text-262">
            <a:extLst>
              <a:ext uri="{FF2B5EF4-FFF2-40B4-BE49-F238E27FC236}">
                <a16:creationId xmlns:a16="http://schemas.microsoft.com/office/drawing/2014/main" id="{DEC6990C-1E95-4F01-B965-19136B4A03E2}"/>
              </a:ext>
            </a:extLst>
          </p:cNvPr>
          <p:cNvSpPr>
            <a:spLocks noGrp="1"/>
          </p:cNvSpPr>
          <p:nvPr/>
        </p:nvSpPr>
        <p:spPr>
          <a:xfrm>
            <a:off x="7372350" y="3648075"/>
            <a:ext cx="523875" cy="276225"/>
          </a:xfrm>
          <a:prstGeom prst="rect">
            <a:avLst/>
          </a:prstGeom>
          <a:noFill/>
          <a:ln w="0">
            <a:noFill/>
          </a:ln>
        </p:spPr>
        <p:txBody>
          <a:bodyPr wrap="square" lIns="0" tIns="0" rIns="0" bIns="0" anchor="t">
            <a:noAutofit/>
          </a:bodyPr>
          <a:lstStyle>
            <a:defPPr algn="l">
              <a:defRPr sz="1500" b="1">
                <a:solidFill>
                  <a:srgbClr val="006D77"/>
                </a:solidFill>
                <a:latin typeface="Arial"/>
                <a:ea typeface="Arial"/>
                <a:cs typeface="Arial"/>
              </a:defRPr>
            </a:defPPr>
          </a:lstStyle>
          <a:p>
            <a:pPr algn="l">
              <a:lnSpc>
                <a:spcPct val="112000"/>
              </a:lnSpc>
              <a:buNone/>
              <a:defRPr sz="1500" b="1">
                <a:solidFill>
                  <a:srgbClr val="006D77"/>
                </a:solidFill>
                <a:latin typeface="Arial"/>
                <a:ea typeface="Arial"/>
                <a:cs typeface="Arial"/>
              </a:defRPr>
            </a:pPr>
            <a:r>
              <a:rPr sz="1500" b="1">
                <a:solidFill>
                  <a:srgbClr val="006D77"/>
                </a:solidFill>
                <a:latin typeface="Arial"/>
                <a:ea typeface="Arial"/>
                <a:cs typeface="Arial"/>
              </a:rPr>
              <a:t>6,7</a:t>
            </a:r>
          </a:p>
        </p:txBody>
      </p:sp>
      <p:sp>
        <p:nvSpPr>
          <p:cNvPr id="11" name="text-263">
            <a:extLst>
              <a:ext uri="{FF2B5EF4-FFF2-40B4-BE49-F238E27FC236}">
                <a16:creationId xmlns:a16="http://schemas.microsoft.com/office/drawing/2014/main" id="{029F646A-2901-4DE9-BEF2-7B016D9F9D8A}"/>
              </a:ext>
            </a:extLst>
          </p:cNvPr>
          <p:cNvSpPr>
            <a:spLocks noGrp="1"/>
          </p:cNvSpPr>
          <p:nvPr/>
        </p:nvSpPr>
        <p:spPr>
          <a:xfrm>
            <a:off x="7372350" y="4448175"/>
            <a:ext cx="523875" cy="276225"/>
          </a:xfrm>
          <a:prstGeom prst="rect">
            <a:avLst/>
          </a:prstGeom>
          <a:noFill/>
          <a:ln w="0">
            <a:noFill/>
          </a:ln>
        </p:spPr>
        <p:txBody>
          <a:bodyPr wrap="square" lIns="0" tIns="0" rIns="0" bIns="0" anchor="t">
            <a:noAutofit/>
          </a:bodyPr>
          <a:lstStyle>
            <a:defPPr algn="l">
              <a:defRPr sz="1500" b="1">
                <a:solidFill>
                  <a:srgbClr val="006D77"/>
                </a:solidFill>
                <a:latin typeface="Arial"/>
                <a:ea typeface="Arial"/>
                <a:cs typeface="Arial"/>
              </a:defRPr>
            </a:defPPr>
          </a:lstStyle>
          <a:p>
            <a:pPr algn="l">
              <a:lnSpc>
                <a:spcPct val="112000"/>
              </a:lnSpc>
              <a:buNone/>
              <a:defRPr sz="1500" b="1">
                <a:solidFill>
                  <a:srgbClr val="006D77"/>
                </a:solidFill>
                <a:latin typeface="Arial"/>
                <a:ea typeface="Arial"/>
                <a:cs typeface="Arial"/>
              </a:defRPr>
            </a:pPr>
            <a:r>
              <a:rPr sz="1500" b="1">
                <a:solidFill>
                  <a:srgbClr val="006D77"/>
                </a:solidFill>
                <a:latin typeface="Arial"/>
                <a:ea typeface="Arial"/>
                <a:cs typeface="Arial"/>
              </a:rPr>
              <a:t>5,8</a:t>
            </a:r>
          </a:p>
        </p:txBody>
      </p:sp>
      <p:sp>
        <p:nvSpPr>
          <p:cNvPr id="12" name="text-264">
            <a:extLst>
              <a:ext uri="{FF2B5EF4-FFF2-40B4-BE49-F238E27FC236}">
                <a16:creationId xmlns:a16="http://schemas.microsoft.com/office/drawing/2014/main" id="{8323D278-2B24-4E0E-822C-D9A58C8ABB9F}"/>
              </a:ext>
            </a:extLst>
          </p:cNvPr>
          <p:cNvSpPr>
            <a:spLocks noGrp="1"/>
          </p:cNvSpPr>
          <p:nvPr/>
        </p:nvSpPr>
        <p:spPr>
          <a:xfrm>
            <a:off x="7372350" y="5248275"/>
            <a:ext cx="523875" cy="276225"/>
          </a:xfrm>
          <a:prstGeom prst="rect">
            <a:avLst/>
          </a:prstGeom>
          <a:noFill/>
          <a:ln w="0">
            <a:noFill/>
          </a:ln>
        </p:spPr>
        <p:txBody>
          <a:bodyPr wrap="square" lIns="0" tIns="0" rIns="0" bIns="0" anchor="t">
            <a:noAutofit/>
          </a:bodyPr>
          <a:lstStyle>
            <a:defPPr algn="l">
              <a:defRPr sz="1500" b="1">
                <a:solidFill>
                  <a:srgbClr val="006D77"/>
                </a:solidFill>
                <a:latin typeface="Arial"/>
                <a:ea typeface="Arial"/>
                <a:cs typeface="Arial"/>
              </a:defRPr>
            </a:defPPr>
          </a:lstStyle>
          <a:p>
            <a:pPr algn="l">
              <a:lnSpc>
                <a:spcPct val="112000"/>
              </a:lnSpc>
              <a:buNone/>
              <a:defRPr sz="1500" b="1">
                <a:solidFill>
                  <a:srgbClr val="006D77"/>
                </a:solidFill>
                <a:latin typeface="Arial"/>
                <a:ea typeface="Arial"/>
                <a:cs typeface="Arial"/>
              </a:defRPr>
            </a:pPr>
            <a:r>
              <a:rPr sz="1500" b="1">
                <a:solidFill>
                  <a:srgbClr val="006D77"/>
                </a:solidFill>
                <a:latin typeface="Arial"/>
                <a:ea typeface="Arial"/>
                <a:cs typeface="Arial"/>
              </a:rPr>
              <a:t>2,3</a:t>
            </a:r>
          </a:p>
        </p:txBody>
      </p:sp>
      <p:sp>
        <p:nvSpPr>
          <p:cNvPr id="13" name="text-265">
            <a:extLst>
              <a:ext uri="{FF2B5EF4-FFF2-40B4-BE49-F238E27FC236}">
                <a16:creationId xmlns:a16="http://schemas.microsoft.com/office/drawing/2014/main" id="{BD728642-069C-4EF0-8EEE-14D9551BED82}"/>
              </a:ext>
            </a:extLst>
          </p:cNvPr>
          <p:cNvSpPr>
            <a:spLocks noGrp="1"/>
          </p:cNvSpPr>
          <p:nvPr/>
        </p:nvSpPr>
        <p:spPr>
          <a:xfrm>
            <a:off x="609600" y="6029325"/>
            <a:ext cx="10972800" cy="285750"/>
          </a:xfrm>
          <a:prstGeom prst="rect">
            <a:avLst/>
          </a:prstGeom>
          <a:noFill/>
          <a:ln w="0">
            <a:noFill/>
          </a:ln>
        </p:spPr>
        <p:txBody>
          <a:bodyPr wrap="square" lIns="0" tIns="0" rIns="0" bIns="0" anchor="t">
            <a:noAutofit/>
          </a:bodyPr>
          <a:lstStyle>
            <a:defPPr algn="l">
              <a:defRPr sz="1500" b="0">
                <a:solidFill>
                  <a:srgbClr val="4D6270"/>
                </a:solidFill>
                <a:latin typeface="Arial"/>
                <a:ea typeface="Arial"/>
                <a:cs typeface="Arial"/>
              </a:defRPr>
            </a:defPPr>
          </a:lstStyle>
          <a:p>
            <a:pPr algn="l">
              <a:lnSpc>
                <a:spcPct val="112000"/>
              </a:lnSpc>
              <a:buNone/>
              <a:defRPr sz="1500" b="0">
                <a:solidFill>
                  <a:srgbClr val="4D6270"/>
                </a:solidFill>
                <a:latin typeface="Arial"/>
                <a:ea typeface="Arial"/>
                <a:cs typeface="Arial"/>
              </a:defRPr>
            </a:pPr>
            <a:r>
              <a:rPr sz="1500" b="0">
                <a:solidFill>
                  <a:srgbClr val="4D6270"/>
                </a:solidFill>
                <a:latin typeface="Arial"/>
                <a:ea typeface="Arial"/>
                <a:cs typeface="Arial"/>
              </a:rPr>
              <a:t>Research-informed design hypotheses. No baseline comparison yet; first development-set evidence on slide 14.</a:t>
            </a:r>
          </a:p>
        </p:txBody>
      </p:sp>
      <p:pic>
        <p:nvPicPr>
          <p:cNvPr id="14" name="Picture 13">
            <a:extLst>
              <a:ext uri="{FF2B5EF4-FFF2-40B4-BE49-F238E27FC236}">
                <a16:creationId xmlns:a16="http://schemas.microsoft.com/office/drawing/2014/main" id="{E125EB7B-860F-4F4E-9021-3F42770A1D13}"/>
              </a:ext>
            </a:extLst>
          </p:cNvPr>
          <p:cNvPicPr>
            <a:picLocks noChangeAspect="1"/>
          </p:cNvPicPr>
          <p:nvPr/>
        </p:nvPicPr>
        <p:blipFill>
          <a:blip r:embed="rId3"/>
          <a:stretch/>
        </p:blipFill>
        <p:spPr>
          <a:xfrm>
            <a:off x="9220220" y="295275"/>
            <a:ext cx="2362160" cy="442436"/>
          </a:xfrm>
          <a:prstGeom prst="rect">
            <a:avLst/>
          </a:prstGeom>
        </p:spPr>
      </p:pic>
    </p:spTree>
    <p:extLst>
      <p:ext uri="{BB962C8B-B14F-4D97-AF65-F5344CB8AC3E}">
        <p14:creationId xmlns:p14="http://schemas.microsoft.com/office/powerpoint/2010/main" val="8918199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cxnSp>
        <p:nvCxnSpPr>
          <p:cNvPr id="38" name="Connector: Elbow 37">
            <a:extLst>
              <a:ext uri="{FF2B5EF4-FFF2-40B4-BE49-F238E27FC236}">
                <a16:creationId xmlns:a16="http://schemas.microsoft.com/office/drawing/2014/main" id="{6558FA5D-275F-4E3F-B01C-AD3CFE751B87}"/>
              </a:ext>
            </a:extLst>
          </p:cNvPr>
          <p:cNvCxnSpPr>
            <a:stCxn id="31" idx="3"/>
            <a:endCxn id="25" idx="2"/>
          </p:cNvCxnSpPr>
          <p:nvPr/>
        </p:nvCxnSpPr>
        <p:spPr>
          <a:xfrm flipV="1">
            <a:off x="8115300" y="4705350"/>
            <a:ext cx="2209800" cy="261938"/>
          </a:xfrm>
          <a:prstGeom prst="bentConnector2">
            <a:avLst/>
          </a:prstGeom>
          <a:ln w="19050">
            <a:solidFill>
              <a:srgbClr val="006D77"/>
            </a:solidFill>
            <a:prstDash val="solid"/>
            <a:tailEnd type="triangle" w="med" len="med"/>
          </a:ln>
        </p:spPr>
      </p:cxnSp>
      <p:cxnSp>
        <p:nvCxnSpPr>
          <p:cNvPr id="37" name="Straight Arrow Connector 36">
            <a:extLst>
              <a:ext uri="{FF2B5EF4-FFF2-40B4-BE49-F238E27FC236}">
                <a16:creationId xmlns:a16="http://schemas.microsoft.com/office/drawing/2014/main" id="{23D5EF0A-7BB7-4E73-A081-5CEB29FA5640}"/>
              </a:ext>
            </a:extLst>
          </p:cNvPr>
          <p:cNvCxnSpPr>
            <a:stCxn id="29" idx="3"/>
            <a:endCxn id="31" idx="1"/>
          </p:cNvCxnSpPr>
          <p:nvPr/>
        </p:nvCxnSpPr>
        <p:spPr>
          <a:xfrm>
            <a:off x="5314950" y="4967288"/>
            <a:ext cx="419100" cy="0"/>
          </a:xfrm>
          <a:prstGeom prst="straightConnector1">
            <a:avLst/>
          </a:prstGeom>
          <a:ln w="19050">
            <a:solidFill>
              <a:srgbClr val="006D77"/>
            </a:solidFill>
            <a:prstDash val="solid"/>
            <a:tailEnd type="triangle" w="med" len="med"/>
          </a:ln>
        </p:spPr>
      </p:cxnSp>
      <p:cxnSp>
        <p:nvCxnSpPr>
          <p:cNvPr id="36" name="Straight Arrow Connector 35">
            <a:extLst>
              <a:ext uri="{FF2B5EF4-FFF2-40B4-BE49-F238E27FC236}">
                <a16:creationId xmlns:a16="http://schemas.microsoft.com/office/drawing/2014/main" id="{8045AC2B-92FB-448E-B6A5-9371E8A315AD}"/>
              </a:ext>
            </a:extLst>
          </p:cNvPr>
          <p:cNvCxnSpPr>
            <a:stCxn id="27" idx="3"/>
            <a:endCxn id="29" idx="1"/>
          </p:cNvCxnSpPr>
          <p:nvPr/>
        </p:nvCxnSpPr>
        <p:spPr>
          <a:xfrm>
            <a:off x="2705100" y="4967288"/>
            <a:ext cx="419100" cy="0"/>
          </a:xfrm>
          <a:prstGeom prst="straightConnector1">
            <a:avLst/>
          </a:prstGeom>
          <a:ln w="19050">
            <a:solidFill>
              <a:srgbClr val="006D77"/>
            </a:solidFill>
            <a:prstDash val="solid"/>
            <a:tailEnd type="triangle" w="med" len="med"/>
          </a:ln>
        </p:spPr>
      </p:cxnSp>
      <p:cxnSp>
        <p:nvCxnSpPr>
          <p:cNvPr id="35" name="Connector: Elbow 34">
            <a:extLst>
              <a:ext uri="{FF2B5EF4-FFF2-40B4-BE49-F238E27FC236}">
                <a16:creationId xmlns:a16="http://schemas.microsoft.com/office/drawing/2014/main" id="{A5787E6C-C58E-49E6-B0D6-DDFF827339CA}"/>
              </a:ext>
            </a:extLst>
          </p:cNvPr>
          <p:cNvCxnSpPr>
            <a:stCxn id="23" idx="3"/>
            <a:endCxn id="25" idx="0"/>
          </p:cNvCxnSpPr>
          <p:nvPr/>
        </p:nvCxnSpPr>
        <p:spPr>
          <a:xfrm>
            <a:off x="8115300" y="3929063"/>
            <a:ext cx="2209800" cy="233363"/>
          </a:xfrm>
          <a:prstGeom prst="bentConnector2">
            <a:avLst/>
          </a:prstGeom>
          <a:ln w="19050">
            <a:solidFill>
              <a:srgbClr val="006D77"/>
            </a:solidFill>
            <a:prstDash val="solid"/>
            <a:tailEnd type="triangle" w="med" len="med"/>
          </a:ln>
        </p:spPr>
      </p:cxnSp>
      <p:cxnSp>
        <p:nvCxnSpPr>
          <p:cNvPr id="34" name="Straight Arrow Connector 33">
            <a:extLst>
              <a:ext uri="{FF2B5EF4-FFF2-40B4-BE49-F238E27FC236}">
                <a16:creationId xmlns:a16="http://schemas.microsoft.com/office/drawing/2014/main" id="{3F94AC0D-9958-4455-ACE1-3A5B9E05FC35}"/>
              </a:ext>
            </a:extLst>
          </p:cNvPr>
          <p:cNvCxnSpPr>
            <a:stCxn id="21" idx="3"/>
            <a:endCxn id="23" idx="1"/>
          </p:cNvCxnSpPr>
          <p:nvPr/>
        </p:nvCxnSpPr>
        <p:spPr>
          <a:xfrm>
            <a:off x="5314950" y="3929063"/>
            <a:ext cx="419100" cy="0"/>
          </a:xfrm>
          <a:prstGeom prst="straightConnector1">
            <a:avLst/>
          </a:prstGeom>
          <a:ln w="19050">
            <a:solidFill>
              <a:srgbClr val="006D77"/>
            </a:solidFill>
            <a:prstDash val="solid"/>
            <a:tailEnd type="triangle" w="med" len="med"/>
          </a:ln>
        </p:spPr>
      </p:cxnSp>
      <p:cxnSp>
        <p:nvCxnSpPr>
          <p:cNvPr id="33" name="Straight Arrow Connector 32">
            <a:extLst>
              <a:ext uri="{FF2B5EF4-FFF2-40B4-BE49-F238E27FC236}">
                <a16:creationId xmlns:a16="http://schemas.microsoft.com/office/drawing/2014/main" id="{95F9FE10-2616-403B-81A6-38B75C39CDAA}"/>
              </a:ext>
            </a:extLst>
          </p:cNvPr>
          <p:cNvCxnSpPr>
            <a:stCxn id="19" idx="3"/>
            <a:endCxn id="21" idx="1"/>
          </p:cNvCxnSpPr>
          <p:nvPr/>
        </p:nvCxnSpPr>
        <p:spPr>
          <a:xfrm>
            <a:off x="2705100" y="3929063"/>
            <a:ext cx="419100" cy="0"/>
          </a:xfrm>
          <a:prstGeom prst="straightConnector1">
            <a:avLst/>
          </a:prstGeom>
          <a:ln w="19050">
            <a:solidFill>
              <a:srgbClr val="006D77"/>
            </a:solidFill>
            <a:prstDash val="solid"/>
            <a:tailEnd type="triangle" w="med" len="med"/>
          </a:ln>
        </p:spPr>
      </p:cxnSp>
      <p:sp>
        <p:nvSpPr>
          <p:cNvPr id="46" name="shape-266">
            <a:extLst>
              <a:ext uri="{FF2B5EF4-FFF2-40B4-BE49-F238E27FC236}">
                <a16:creationId xmlns:a16="http://schemas.microsoft.com/office/drawing/2014/main" id="{4E66810F-B2B7-4C15-B595-A49FCA6BDAD9}"/>
              </a:ext>
            </a:extLst>
          </p:cNvPr>
          <p:cNvSpPr>
            <a:spLocks noGrp="1"/>
          </p:cNvSpPr>
          <p:nvPr/>
        </p:nvSpPr>
        <p:spPr>
          <a:xfrm>
            <a:off x="0" y="0"/>
            <a:ext cx="12192000" cy="1066800"/>
          </a:xfrm>
          <a:prstGeom prst="rect">
            <a:avLst/>
          </a:prstGeom>
          <a:solidFill>
            <a:srgbClr val="F2F6F7"/>
          </a:solidFill>
          <a:ln w="0">
            <a:noFill/>
          </a:ln>
        </p:spPr>
      </p:sp>
      <p:sp>
        <p:nvSpPr>
          <p:cNvPr id="2" name="shape-267">
            <a:extLst>
              <a:ext uri="{FF2B5EF4-FFF2-40B4-BE49-F238E27FC236}">
                <a16:creationId xmlns:a16="http://schemas.microsoft.com/office/drawing/2014/main" id="{3894F425-DCFE-473E-ACA1-022F6380EA64}"/>
              </a:ext>
            </a:extLst>
          </p:cNvPr>
          <p:cNvSpPr>
            <a:spLocks noGrp="1"/>
          </p:cNvSpPr>
          <p:nvPr/>
        </p:nvSpPr>
        <p:spPr>
          <a:xfrm>
            <a:off x="0" y="1038225"/>
            <a:ext cx="12192000" cy="28575"/>
          </a:xfrm>
          <a:prstGeom prst="rect">
            <a:avLst/>
          </a:prstGeom>
          <a:solidFill>
            <a:srgbClr val="006D77"/>
          </a:solidFill>
          <a:ln w="0">
            <a:noFill/>
          </a:ln>
        </p:spPr>
      </p:sp>
      <p:sp>
        <p:nvSpPr>
          <p:cNvPr id="3" name="slide-10-title">
            <a:extLst>
              <a:ext uri="{FF2B5EF4-FFF2-40B4-BE49-F238E27FC236}">
                <a16:creationId xmlns:a16="http://schemas.microsoft.com/office/drawing/2014/main" id="{E39225C1-D561-4D76-BF50-9EAADB40248B}"/>
              </a:ext>
            </a:extLst>
          </p:cNvPr>
          <p:cNvSpPr>
            <a:spLocks noGrp="1"/>
          </p:cNvSpPr>
          <p:nvPr/>
        </p:nvSpPr>
        <p:spPr>
          <a:xfrm>
            <a:off x="609600" y="304800"/>
            <a:ext cx="8239125" cy="542925"/>
          </a:xfrm>
          <a:prstGeom prst="rect">
            <a:avLst/>
          </a:prstGeom>
          <a:noFill/>
          <a:ln w="0">
            <a:noFill/>
          </a:ln>
        </p:spPr>
        <p:txBody>
          <a:bodyPr wrap="square" lIns="0" tIns="0" rIns="0" bIns="0" anchor="t">
            <a:noAutofit/>
          </a:bodyPr>
          <a:lstStyle>
            <a:defPPr algn="l">
              <a:defRPr sz="3150" b="1">
                <a:solidFill>
                  <a:srgbClr val="102A43"/>
                </a:solidFill>
                <a:latin typeface="Arial"/>
                <a:ea typeface="Arial"/>
                <a:cs typeface="Arial"/>
              </a:defRPr>
            </a:defPPr>
          </a:lstStyle>
          <a:p>
            <a:pPr algn="l">
              <a:lnSpc>
                <a:spcPct val="112000"/>
              </a:lnSpc>
              <a:buNone/>
              <a:defRPr sz="3150" b="1">
                <a:solidFill>
                  <a:srgbClr val="102A43"/>
                </a:solidFill>
                <a:latin typeface="Arial"/>
                <a:ea typeface="Arial"/>
                <a:cs typeface="Arial"/>
              </a:defRPr>
            </a:pPr>
            <a:r>
              <a:rPr sz="3150" b="1">
                <a:solidFill>
                  <a:srgbClr val="102A43"/>
                </a:solidFill>
                <a:latin typeface="Arial"/>
                <a:ea typeface="Arial"/>
                <a:cs typeface="Arial"/>
              </a:rPr>
              <a:t>Dataset information</a:t>
            </a:r>
          </a:p>
        </p:txBody>
      </p:sp>
      <p:sp>
        <p:nvSpPr>
          <p:cNvPr id="4" name="shape-268">
            <a:extLst>
              <a:ext uri="{FF2B5EF4-FFF2-40B4-BE49-F238E27FC236}">
                <a16:creationId xmlns:a16="http://schemas.microsoft.com/office/drawing/2014/main" id="{C1825EE7-A51F-423D-B67F-CE97CC320C7E}"/>
              </a:ext>
            </a:extLst>
          </p:cNvPr>
          <p:cNvSpPr>
            <a:spLocks noGrp="1"/>
          </p:cNvSpPr>
          <p:nvPr/>
        </p:nvSpPr>
        <p:spPr>
          <a:xfrm>
            <a:off x="0" y="6381750"/>
            <a:ext cx="12192000" cy="476250"/>
          </a:xfrm>
          <a:prstGeom prst="rect">
            <a:avLst/>
          </a:prstGeom>
          <a:solidFill>
            <a:srgbClr val="102A43"/>
          </a:solidFill>
          <a:ln w="0">
            <a:noFill/>
          </a:ln>
        </p:spPr>
      </p:sp>
      <p:sp>
        <p:nvSpPr>
          <p:cNvPr id="5" name="brand-10">
            <a:extLst>
              <a:ext uri="{FF2B5EF4-FFF2-40B4-BE49-F238E27FC236}">
                <a16:creationId xmlns:a16="http://schemas.microsoft.com/office/drawing/2014/main" id="{777EA4BB-5795-4DEB-91EA-DA244130E737}"/>
              </a:ext>
            </a:extLst>
          </p:cNvPr>
          <p:cNvSpPr>
            <a:spLocks noGrp="1"/>
          </p:cNvSpPr>
          <p:nvPr/>
        </p:nvSpPr>
        <p:spPr>
          <a:xfrm>
            <a:off x="609600" y="6467475"/>
            <a:ext cx="3429000" cy="333375"/>
          </a:xfrm>
          <a:prstGeom prst="rect">
            <a:avLst/>
          </a:prstGeom>
          <a:noFill/>
          <a:ln w="0">
            <a:noFill/>
          </a:ln>
        </p:spPr>
        <p:txBody>
          <a:bodyPr wrap="square" lIns="0" tIns="0" rIns="0" bIns="0" anchor="t">
            <a:noAutofit/>
          </a:bodyPr>
          <a:lstStyle>
            <a:defPPr algn="l">
              <a:defRPr sz="1950" b="1">
                <a:solidFill>
                  <a:srgbClr val="8AE1D5"/>
                </a:solidFill>
                <a:latin typeface="Arial"/>
                <a:ea typeface="Arial"/>
                <a:cs typeface="Arial"/>
              </a:defRPr>
            </a:defPPr>
          </a:lstStyle>
          <a:p>
            <a:pPr algn="l">
              <a:lnSpc>
                <a:spcPct val="112000"/>
              </a:lnSpc>
              <a:buNone/>
              <a:defRPr sz="1950" b="1">
                <a:solidFill>
                  <a:srgbClr val="8AE1D5"/>
                </a:solidFill>
                <a:latin typeface="Arial"/>
                <a:ea typeface="Arial"/>
                <a:cs typeface="Arial"/>
              </a:defRPr>
            </a:pPr>
            <a:r>
              <a:rPr sz="1950" b="1">
                <a:solidFill>
                  <a:srgbClr val="8AE1D5"/>
                </a:solidFill>
                <a:latin typeface="Arial"/>
                <a:ea typeface="Arial"/>
                <a:cs typeface="Arial"/>
              </a:rPr>
              <a:t>Sapience</a:t>
            </a:r>
          </a:p>
        </p:txBody>
      </p:sp>
      <p:sp>
        <p:nvSpPr>
          <p:cNvPr id="6" name="page-10">
            <a:extLst>
              <a:ext uri="{FF2B5EF4-FFF2-40B4-BE49-F238E27FC236}">
                <a16:creationId xmlns:a16="http://schemas.microsoft.com/office/drawing/2014/main" id="{87B63402-34C3-4D16-B397-38C16C07DF1C}"/>
              </a:ext>
            </a:extLst>
          </p:cNvPr>
          <p:cNvSpPr>
            <a:spLocks noGrp="1"/>
          </p:cNvSpPr>
          <p:nvPr/>
        </p:nvSpPr>
        <p:spPr>
          <a:xfrm>
            <a:off x="10629900" y="6505575"/>
            <a:ext cx="952500" cy="276225"/>
          </a:xfrm>
          <a:prstGeom prst="rect">
            <a:avLst/>
          </a:prstGeom>
          <a:noFill/>
          <a:ln w="0">
            <a:noFill/>
          </a:ln>
        </p:spPr>
        <p:txBody>
          <a:bodyPr wrap="square" lIns="0" tIns="0" rIns="0" bIns="0" anchor="t">
            <a:noAutofit/>
          </a:bodyPr>
          <a:lstStyle>
            <a:defPPr algn="r">
              <a:defRPr sz="1575" b="0">
                <a:solidFill>
                  <a:srgbClr val="FFFFFF"/>
                </a:solidFill>
                <a:latin typeface="Arial"/>
                <a:ea typeface="Arial"/>
                <a:cs typeface="Arial"/>
              </a:defRPr>
            </a:defPPr>
          </a:lstStyle>
          <a:p>
            <a:pPr algn="r">
              <a:lnSpc>
                <a:spcPct val="112000"/>
              </a:lnSpc>
              <a:buNone/>
              <a:defRPr sz="1575" b="0">
                <a:solidFill>
                  <a:srgbClr val="FFFFFF"/>
                </a:solidFill>
                <a:latin typeface="Arial"/>
                <a:ea typeface="Arial"/>
                <a:cs typeface="Arial"/>
              </a:defRPr>
            </a:pPr>
            <a:r>
              <a:rPr sz="1575" b="0">
                <a:solidFill>
                  <a:srgbClr val="FFFFFF"/>
                </a:solidFill>
                <a:latin typeface="Arial"/>
                <a:ea typeface="Arial"/>
                <a:cs typeface="Arial"/>
              </a:rPr>
              <a:t>11 / 18</a:t>
            </a:r>
          </a:p>
        </p:txBody>
      </p:sp>
      <p:sp>
        <p:nvSpPr>
          <p:cNvPr id="7" name="symbol-database-269">
            <a:extLst>
              <a:ext uri="{FF2B5EF4-FFF2-40B4-BE49-F238E27FC236}">
                <a16:creationId xmlns:a16="http://schemas.microsoft.com/office/drawing/2014/main" id="{71386154-2B7C-457C-8FB5-C0DECFD91DEF}"/>
              </a:ext>
            </a:extLst>
          </p:cNvPr>
          <p:cNvSpPr>
            <a:spLocks noGrp="1"/>
          </p:cNvSpPr>
          <p:nvPr/>
        </p:nvSpPr>
        <p:spPr>
          <a:xfrm>
            <a:off x="657225" y="1371600"/>
            <a:ext cx="342900" cy="428625"/>
          </a:xfrm>
          <a:prstGeom prst="can">
            <a:avLst/>
          </a:prstGeom>
          <a:solidFill>
            <a:srgbClr val="FFFFFF"/>
          </a:solidFill>
          <a:ln w="19050">
            <a:solidFill>
              <a:srgbClr val="006D77"/>
            </a:solidFill>
          </a:ln>
        </p:spPr>
      </p:sp>
      <p:sp>
        <p:nvSpPr>
          <p:cNvPr id="8" name="text-270">
            <a:extLst>
              <a:ext uri="{FF2B5EF4-FFF2-40B4-BE49-F238E27FC236}">
                <a16:creationId xmlns:a16="http://schemas.microsoft.com/office/drawing/2014/main" id="{072D07D5-30A4-4605-BD59-B92F8CF1BE25}"/>
              </a:ext>
            </a:extLst>
          </p:cNvPr>
          <p:cNvSpPr>
            <a:spLocks noGrp="1"/>
          </p:cNvSpPr>
          <p:nvPr/>
        </p:nvSpPr>
        <p:spPr>
          <a:xfrm>
            <a:off x="1209675" y="1381125"/>
            <a:ext cx="9477375" cy="419100"/>
          </a:xfrm>
          <a:prstGeom prst="rect">
            <a:avLst/>
          </a:prstGeom>
          <a:noFill/>
          <a:ln w="0">
            <a:noFill/>
          </a:ln>
        </p:spPr>
        <p:txBody>
          <a:bodyPr wrap="square" lIns="0" tIns="0" rIns="0" bIns="0" anchor="t">
            <a:noAutofit/>
          </a:bodyPr>
          <a:lstStyle>
            <a:defPPr algn="l">
              <a:defRPr sz="2250" b="1">
                <a:solidFill>
                  <a:srgbClr val="006D77"/>
                </a:solidFill>
                <a:latin typeface="Arial"/>
                <a:ea typeface="Arial"/>
                <a:cs typeface="Arial"/>
              </a:defRPr>
            </a:defPPr>
          </a:lstStyle>
          <a:p>
            <a:pPr algn="l">
              <a:lnSpc>
                <a:spcPct val="112000"/>
              </a:lnSpc>
              <a:buNone/>
              <a:defRPr sz="2250" b="1">
                <a:solidFill>
                  <a:srgbClr val="006D77"/>
                </a:solidFill>
                <a:latin typeface="Arial"/>
                <a:ea typeface="Arial"/>
                <a:cs typeface="Arial"/>
              </a:defRPr>
            </a:pPr>
            <a:r>
              <a:rPr sz="2250" b="1">
                <a:solidFill>
                  <a:srgbClr val="006D77"/>
                </a:solidFill>
                <a:latin typeface="Arial"/>
                <a:ea typeface="Arial"/>
                <a:cs typeface="Arial"/>
              </a:rPr>
              <a:t>Microsoft Wide World Importers</a:t>
            </a:r>
          </a:p>
        </p:txBody>
      </p:sp>
      <p:sp>
        <p:nvSpPr>
          <p:cNvPr id="9" name="citation-271">
            <a:extLst>
              <a:ext uri="{FF2B5EF4-FFF2-40B4-BE49-F238E27FC236}">
                <a16:creationId xmlns:a16="http://schemas.microsoft.com/office/drawing/2014/main" id="{880B53D3-D9C9-47B1-A538-ECFD105893A1}"/>
              </a:ext>
            </a:extLst>
          </p:cNvPr>
          <p:cNvSpPr>
            <a:spLocks noGrp="1"/>
          </p:cNvSpPr>
          <p:nvPr/>
        </p:nvSpPr>
        <p:spPr>
          <a:xfrm>
            <a:off x="5583555" y="1314450"/>
            <a:ext cx="495300" cy="266700"/>
          </a:xfrm>
          <a:prstGeom prst="rect">
            <a:avLst/>
          </a:prstGeom>
          <a:noFill/>
          <a:ln w="0">
            <a:noFill/>
          </a:ln>
        </p:spPr>
        <p:txBody>
          <a:bodyPr wrap="square" lIns="0" tIns="0" rIns="0" bIns="0" anchor="t">
            <a:noAutofit/>
          </a:bodyPr>
          <a:lstStyle>
            <a:defPPr algn="l">
              <a:defRPr sz="1500" b="1">
                <a:solidFill>
                  <a:srgbClr val="006D77"/>
                </a:solidFill>
                <a:latin typeface="Arial"/>
                <a:ea typeface="Arial"/>
                <a:cs typeface="Arial"/>
              </a:defRPr>
            </a:defPPr>
          </a:lstStyle>
          <a:p>
            <a:pPr algn="l">
              <a:lnSpc>
                <a:spcPct val="112000"/>
              </a:lnSpc>
              <a:buNone/>
              <a:defRPr sz="1500" b="1">
                <a:solidFill>
                  <a:srgbClr val="006D77"/>
                </a:solidFill>
                <a:latin typeface="Arial"/>
                <a:ea typeface="Arial"/>
                <a:cs typeface="Arial"/>
              </a:defRPr>
            </a:pPr>
            <a:r>
              <a:rPr sz="1500" b="1">
                <a:solidFill>
                  <a:srgbClr val="006D77"/>
                </a:solidFill>
                <a:latin typeface="Arial"/>
                <a:ea typeface="Arial"/>
                <a:cs typeface="Arial"/>
              </a:rPr>
              <a:t>9</a:t>
            </a:r>
          </a:p>
        </p:txBody>
      </p:sp>
      <p:sp>
        <p:nvSpPr>
          <p:cNvPr id="10" name="text-272">
            <a:extLst>
              <a:ext uri="{FF2B5EF4-FFF2-40B4-BE49-F238E27FC236}">
                <a16:creationId xmlns:a16="http://schemas.microsoft.com/office/drawing/2014/main" id="{23768959-3045-42C5-ADA5-3FA5C1559977}"/>
              </a:ext>
            </a:extLst>
          </p:cNvPr>
          <p:cNvSpPr>
            <a:spLocks noGrp="1"/>
          </p:cNvSpPr>
          <p:nvPr/>
        </p:nvSpPr>
        <p:spPr>
          <a:xfrm>
            <a:off x="1209675" y="1828800"/>
            <a:ext cx="10372725" cy="285750"/>
          </a:xfrm>
          <a:prstGeom prst="rect">
            <a:avLst/>
          </a:prstGeom>
          <a:noFill/>
          <a:ln w="0">
            <a:noFill/>
          </a:ln>
        </p:spPr>
        <p:txBody>
          <a:bodyPr wrap="square" lIns="0" tIns="0" rIns="0" bIns="0" anchor="t">
            <a:noAutofit/>
          </a:bodyPr>
          <a:lstStyle>
            <a:defPPr algn="l">
              <a:defRPr sz="1650" b="0">
                <a:solidFill>
                  <a:srgbClr val="4D6270"/>
                </a:solidFill>
                <a:latin typeface="Arial"/>
                <a:ea typeface="Arial"/>
                <a:cs typeface="Arial"/>
              </a:defRPr>
            </a:defPPr>
          </a:lstStyle>
          <a:p>
            <a:pPr algn="l">
              <a:lnSpc>
                <a:spcPct val="112000"/>
              </a:lnSpc>
              <a:buNone/>
              <a:defRPr sz="1650" b="0">
                <a:solidFill>
                  <a:srgbClr val="4D6270"/>
                </a:solidFill>
                <a:latin typeface="Arial"/>
                <a:ea typeface="Arial"/>
                <a:cs typeface="Arial"/>
              </a:defRPr>
            </a:pPr>
            <a:r>
              <a:rPr sz="1650" b="0">
                <a:solidFill>
                  <a:srgbClr val="4D6270"/>
                </a:solidFill>
                <a:latin typeface="Arial"/>
                <a:ea typeface="Arial"/>
                <a:cs typeface="Arial"/>
              </a:rPr>
              <a:t>Prepared WWI package</a:t>
            </a:r>
          </a:p>
        </p:txBody>
      </p:sp>
      <p:sp>
        <p:nvSpPr>
          <p:cNvPr id="11" name="text-273">
            <a:extLst>
              <a:ext uri="{FF2B5EF4-FFF2-40B4-BE49-F238E27FC236}">
                <a16:creationId xmlns:a16="http://schemas.microsoft.com/office/drawing/2014/main" id="{F120FF8A-A63D-48BB-92A0-AE2DB562DC94}"/>
              </a:ext>
            </a:extLst>
          </p:cNvPr>
          <p:cNvSpPr>
            <a:spLocks noGrp="1"/>
          </p:cNvSpPr>
          <p:nvPr/>
        </p:nvSpPr>
        <p:spPr>
          <a:xfrm>
            <a:off x="609600" y="2324100"/>
            <a:ext cx="2647950" cy="600075"/>
          </a:xfrm>
          <a:prstGeom prst="rect">
            <a:avLst/>
          </a:prstGeom>
          <a:noFill/>
          <a:ln w="0">
            <a:noFill/>
          </a:ln>
        </p:spPr>
        <p:txBody>
          <a:bodyPr wrap="square" lIns="0" tIns="0" rIns="0" bIns="0" anchor="t">
            <a:noAutofit/>
          </a:bodyPr>
          <a:lstStyle>
            <a:defPPr algn="l">
              <a:defRPr sz="3600" b="1">
                <a:solidFill>
                  <a:srgbClr val="17324A"/>
                </a:solidFill>
                <a:latin typeface="Arial"/>
                <a:ea typeface="Arial"/>
                <a:cs typeface="Arial"/>
              </a:defRPr>
            </a:defPPr>
          </a:lstStyle>
          <a:p>
            <a:pPr algn="l">
              <a:lnSpc>
                <a:spcPct val="112000"/>
              </a:lnSpc>
              <a:buNone/>
              <a:defRPr sz="3600" b="1">
                <a:solidFill>
                  <a:srgbClr val="17324A"/>
                </a:solidFill>
                <a:latin typeface="Arial"/>
                <a:ea typeface="Arial"/>
                <a:cs typeface="Arial"/>
              </a:defRPr>
            </a:pPr>
            <a:r>
              <a:rPr sz="3600" b="1">
                <a:solidFill>
                  <a:srgbClr val="17324A"/>
                </a:solidFill>
                <a:latin typeface="Arial"/>
                <a:ea typeface="Arial"/>
                <a:cs typeface="Arial"/>
              </a:rPr>
              <a:t>21</a:t>
            </a:r>
          </a:p>
        </p:txBody>
      </p:sp>
      <p:sp>
        <p:nvSpPr>
          <p:cNvPr id="12" name="text-274">
            <a:extLst>
              <a:ext uri="{FF2B5EF4-FFF2-40B4-BE49-F238E27FC236}">
                <a16:creationId xmlns:a16="http://schemas.microsoft.com/office/drawing/2014/main" id="{AB1B261F-B8F4-48AA-8B2B-293866CB4614}"/>
              </a:ext>
            </a:extLst>
          </p:cNvPr>
          <p:cNvSpPr>
            <a:spLocks noGrp="1"/>
          </p:cNvSpPr>
          <p:nvPr/>
        </p:nvSpPr>
        <p:spPr>
          <a:xfrm>
            <a:off x="609600" y="2924175"/>
            <a:ext cx="2647950" cy="323850"/>
          </a:xfrm>
          <a:prstGeom prst="rect">
            <a:avLst/>
          </a:prstGeom>
          <a:noFill/>
          <a:ln w="0">
            <a:noFill/>
          </a:ln>
        </p:spPr>
        <p:txBody>
          <a:bodyPr wrap="square" lIns="0" tIns="0" rIns="0" bIns="0" anchor="t">
            <a:noAutofit/>
          </a:bodyPr>
          <a:lstStyle>
            <a:defPPr algn="l">
              <a:defRPr sz="1725" b="0">
                <a:solidFill>
                  <a:srgbClr val="4D6270"/>
                </a:solidFill>
                <a:latin typeface="Arial"/>
                <a:ea typeface="Arial"/>
                <a:cs typeface="Arial"/>
              </a:defRPr>
            </a:defPPr>
          </a:lstStyle>
          <a:p>
            <a:pPr algn="l">
              <a:lnSpc>
                <a:spcPct val="112000"/>
              </a:lnSpc>
              <a:buNone/>
              <a:defRPr sz="1725" b="0">
                <a:solidFill>
                  <a:srgbClr val="4D6270"/>
                </a:solidFill>
                <a:latin typeface="Arial"/>
                <a:ea typeface="Arial"/>
                <a:cs typeface="Arial"/>
              </a:defRPr>
            </a:pPr>
            <a:r>
              <a:rPr sz="1725" b="0">
                <a:solidFill>
                  <a:srgbClr val="4D6270"/>
                </a:solidFill>
                <a:latin typeface="Arial"/>
                <a:ea typeface="Arial"/>
                <a:cs typeface="Arial"/>
              </a:rPr>
              <a:t>source tables</a:t>
            </a:r>
          </a:p>
        </p:txBody>
      </p:sp>
      <p:sp>
        <p:nvSpPr>
          <p:cNvPr id="13" name="text-275">
            <a:extLst>
              <a:ext uri="{FF2B5EF4-FFF2-40B4-BE49-F238E27FC236}">
                <a16:creationId xmlns:a16="http://schemas.microsoft.com/office/drawing/2014/main" id="{EEDF5180-D71B-46C0-B6FF-497D9FD315D0}"/>
              </a:ext>
            </a:extLst>
          </p:cNvPr>
          <p:cNvSpPr>
            <a:spLocks noGrp="1"/>
          </p:cNvSpPr>
          <p:nvPr/>
        </p:nvSpPr>
        <p:spPr>
          <a:xfrm>
            <a:off x="3390900" y="2324100"/>
            <a:ext cx="2647950" cy="600075"/>
          </a:xfrm>
          <a:prstGeom prst="rect">
            <a:avLst/>
          </a:prstGeom>
          <a:noFill/>
          <a:ln w="0">
            <a:noFill/>
          </a:ln>
        </p:spPr>
        <p:txBody>
          <a:bodyPr wrap="square" lIns="0" tIns="0" rIns="0" bIns="0" anchor="t">
            <a:noAutofit/>
          </a:bodyPr>
          <a:lstStyle>
            <a:defPPr algn="l">
              <a:defRPr sz="3600" b="1">
                <a:solidFill>
                  <a:srgbClr val="17324A"/>
                </a:solidFill>
                <a:latin typeface="Arial"/>
                <a:ea typeface="Arial"/>
                <a:cs typeface="Arial"/>
              </a:defRPr>
            </a:defPPr>
          </a:lstStyle>
          <a:p>
            <a:pPr algn="l">
              <a:lnSpc>
                <a:spcPct val="112000"/>
              </a:lnSpc>
              <a:buNone/>
              <a:defRPr sz="3600" b="1">
                <a:solidFill>
                  <a:srgbClr val="17324A"/>
                </a:solidFill>
                <a:latin typeface="Arial"/>
                <a:ea typeface="Arial"/>
                <a:cs typeface="Arial"/>
              </a:defRPr>
            </a:pPr>
            <a:r>
              <a:rPr sz="3600" b="1">
                <a:solidFill>
                  <a:srgbClr val="17324A"/>
                </a:solidFill>
                <a:latin typeface="Arial"/>
                <a:ea typeface="Arial"/>
                <a:cs typeface="Arial"/>
              </a:rPr>
              <a:t>73,595</a:t>
            </a:r>
          </a:p>
        </p:txBody>
      </p:sp>
      <p:sp>
        <p:nvSpPr>
          <p:cNvPr id="14" name="text-276">
            <a:extLst>
              <a:ext uri="{FF2B5EF4-FFF2-40B4-BE49-F238E27FC236}">
                <a16:creationId xmlns:a16="http://schemas.microsoft.com/office/drawing/2014/main" id="{EB093BCB-B84A-4EA5-9FE4-A0ED6ECD760C}"/>
              </a:ext>
            </a:extLst>
          </p:cNvPr>
          <p:cNvSpPr>
            <a:spLocks noGrp="1"/>
          </p:cNvSpPr>
          <p:nvPr/>
        </p:nvSpPr>
        <p:spPr>
          <a:xfrm>
            <a:off x="3390900" y="2924175"/>
            <a:ext cx="2647950" cy="323850"/>
          </a:xfrm>
          <a:prstGeom prst="rect">
            <a:avLst/>
          </a:prstGeom>
          <a:noFill/>
          <a:ln w="0">
            <a:noFill/>
          </a:ln>
        </p:spPr>
        <p:txBody>
          <a:bodyPr wrap="square" lIns="0" tIns="0" rIns="0" bIns="0" anchor="t">
            <a:noAutofit/>
          </a:bodyPr>
          <a:lstStyle>
            <a:defPPr algn="l">
              <a:defRPr sz="1725" b="0">
                <a:solidFill>
                  <a:srgbClr val="4D6270"/>
                </a:solidFill>
                <a:latin typeface="Arial"/>
                <a:ea typeface="Arial"/>
                <a:cs typeface="Arial"/>
              </a:defRPr>
            </a:defPPr>
          </a:lstStyle>
          <a:p>
            <a:pPr algn="l">
              <a:lnSpc>
                <a:spcPct val="112000"/>
              </a:lnSpc>
              <a:buNone/>
              <a:defRPr sz="1725" b="0">
                <a:solidFill>
                  <a:srgbClr val="4D6270"/>
                </a:solidFill>
                <a:latin typeface="Arial"/>
                <a:ea typeface="Arial"/>
                <a:cs typeface="Arial"/>
              </a:defRPr>
            </a:pPr>
            <a:r>
              <a:rPr sz="1725" b="0">
                <a:solidFill>
                  <a:srgbClr val="4D6270"/>
                </a:solidFill>
                <a:latin typeface="Arial"/>
                <a:ea typeface="Arial"/>
                <a:cs typeface="Arial"/>
              </a:rPr>
              <a:t>sales orders</a:t>
            </a:r>
          </a:p>
        </p:txBody>
      </p:sp>
      <p:sp>
        <p:nvSpPr>
          <p:cNvPr id="15" name="text-277">
            <a:extLst>
              <a:ext uri="{FF2B5EF4-FFF2-40B4-BE49-F238E27FC236}">
                <a16:creationId xmlns:a16="http://schemas.microsoft.com/office/drawing/2014/main" id="{DE1B5E36-BFC7-480D-A984-AEDFCDAEE54F}"/>
              </a:ext>
            </a:extLst>
          </p:cNvPr>
          <p:cNvSpPr>
            <a:spLocks noGrp="1"/>
          </p:cNvSpPr>
          <p:nvPr/>
        </p:nvSpPr>
        <p:spPr>
          <a:xfrm>
            <a:off x="6172200" y="2324100"/>
            <a:ext cx="2647950" cy="600075"/>
          </a:xfrm>
          <a:prstGeom prst="rect">
            <a:avLst/>
          </a:prstGeom>
          <a:noFill/>
          <a:ln w="0">
            <a:noFill/>
          </a:ln>
        </p:spPr>
        <p:txBody>
          <a:bodyPr wrap="square" lIns="0" tIns="0" rIns="0" bIns="0" anchor="t">
            <a:noAutofit/>
          </a:bodyPr>
          <a:lstStyle>
            <a:defPPr algn="l">
              <a:defRPr sz="3600" b="1">
                <a:solidFill>
                  <a:srgbClr val="17324A"/>
                </a:solidFill>
                <a:latin typeface="Arial"/>
                <a:ea typeface="Arial"/>
                <a:cs typeface="Arial"/>
              </a:defRPr>
            </a:defPPr>
          </a:lstStyle>
          <a:p>
            <a:pPr algn="l">
              <a:lnSpc>
                <a:spcPct val="112000"/>
              </a:lnSpc>
              <a:buNone/>
              <a:defRPr sz="3600" b="1">
                <a:solidFill>
                  <a:srgbClr val="17324A"/>
                </a:solidFill>
                <a:latin typeface="Arial"/>
                <a:ea typeface="Arial"/>
                <a:cs typeface="Arial"/>
              </a:defRPr>
            </a:pPr>
            <a:r>
              <a:rPr sz="3600" b="1">
                <a:solidFill>
                  <a:srgbClr val="17324A"/>
                </a:solidFill>
                <a:latin typeface="Arial"/>
                <a:ea typeface="Arial"/>
                <a:cs typeface="Arial"/>
              </a:rPr>
              <a:t>231,412</a:t>
            </a:r>
          </a:p>
        </p:txBody>
      </p:sp>
      <p:sp>
        <p:nvSpPr>
          <p:cNvPr id="16" name="text-278">
            <a:extLst>
              <a:ext uri="{FF2B5EF4-FFF2-40B4-BE49-F238E27FC236}">
                <a16:creationId xmlns:a16="http://schemas.microsoft.com/office/drawing/2014/main" id="{2F5D9789-8B1F-4C36-B0C7-6CD1DC911584}"/>
              </a:ext>
            </a:extLst>
          </p:cNvPr>
          <p:cNvSpPr>
            <a:spLocks noGrp="1"/>
          </p:cNvSpPr>
          <p:nvPr/>
        </p:nvSpPr>
        <p:spPr>
          <a:xfrm>
            <a:off x="6172200" y="2924175"/>
            <a:ext cx="2647950" cy="323850"/>
          </a:xfrm>
          <a:prstGeom prst="rect">
            <a:avLst/>
          </a:prstGeom>
          <a:noFill/>
          <a:ln w="0">
            <a:noFill/>
          </a:ln>
        </p:spPr>
        <p:txBody>
          <a:bodyPr wrap="square" lIns="0" tIns="0" rIns="0" bIns="0" anchor="t">
            <a:noAutofit/>
          </a:bodyPr>
          <a:lstStyle>
            <a:defPPr algn="l">
              <a:defRPr sz="1725" b="0">
                <a:solidFill>
                  <a:srgbClr val="4D6270"/>
                </a:solidFill>
                <a:latin typeface="Arial"/>
                <a:ea typeface="Arial"/>
                <a:cs typeface="Arial"/>
              </a:defRPr>
            </a:defPPr>
          </a:lstStyle>
          <a:p>
            <a:pPr algn="l">
              <a:lnSpc>
                <a:spcPct val="112000"/>
              </a:lnSpc>
              <a:buNone/>
              <a:defRPr sz="1725" b="0">
                <a:solidFill>
                  <a:srgbClr val="4D6270"/>
                </a:solidFill>
                <a:latin typeface="Arial"/>
                <a:ea typeface="Arial"/>
                <a:cs typeface="Arial"/>
              </a:defRPr>
            </a:pPr>
            <a:r>
              <a:rPr sz="1725" b="0">
                <a:solidFill>
                  <a:srgbClr val="4D6270"/>
                </a:solidFill>
                <a:latin typeface="Arial"/>
                <a:ea typeface="Arial"/>
                <a:cs typeface="Arial"/>
              </a:rPr>
              <a:t>order lines</a:t>
            </a:r>
          </a:p>
        </p:txBody>
      </p:sp>
      <p:sp>
        <p:nvSpPr>
          <p:cNvPr id="17" name="text-279">
            <a:extLst>
              <a:ext uri="{FF2B5EF4-FFF2-40B4-BE49-F238E27FC236}">
                <a16:creationId xmlns:a16="http://schemas.microsoft.com/office/drawing/2014/main" id="{8B7D775D-3C1B-444B-B64E-C86A9F23477A}"/>
              </a:ext>
            </a:extLst>
          </p:cNvPr>
          <p:cNvSpPr>
            <a:spLocks noGrp="1"/>
          </p:cNvSpPr>
          <p:nvPr/>
        </p:nvSpPr>
        <p:spPr>
          <a:xfrm>
            <a:off x="8953500" y="2324100"/>
            <a:ext cx="2647950" cy="600075"/>
          </a:xfrm>
          <a:prstGeom prst="rect">
            <a:avLst/>
          </a:prstGeom>
          <a:noFill/>
          <a:ln w="0">
            <a:noFill/>
          </a:ln>
        </p:spPr>
        <p:txBody>
          <a:bodyPr wrap="square" lIns="0" tIns="0" rIns="0" bIns="0" anchor="t">
            <a:noAutofit/>
          </a:bodyPr>
          <a:lstStyle>
            <a:defPPr algn="l">
              <a:defRPr sz="3000" b="1">
                <a:solidFill>
                  <a:srgbClr val="17324A"/>
                </a:solidFill>
                <a:latin typeface="Arial"/>
                <a:ea typeface="Arial"/>
                <a:cs typeface="Arial"/>
              </a:defRPr>
            </a:defPPr>
          </a:lstStyle>
          <a:p>
            <a:pPr algn="l">
              <a:lnSpc>
                <a:spcPct val="112000"/>
              </a:lnSpc>
              <a:buNone/>
              <a:defRPr sz="3000" b="1">
                <a:solidFill>
                  <a:srgbClr val="17324A"/>
                </a:solidFill>
                <a:latin typeface="Arial"/>
                <a:ea typeface="Arial"/>
                <a:cs typeface="Arial"/>
              </a:defRPr>
            </a:pPr>
            <a:r>
              <a:rPr sz="3000" b="1">
                <a:solidFill>
                  <a:srgbClr val="17324A"/>
                </a:solidFill>
                <a:latin typeface="Arial"/>
                <a:ea typeface="Arial"/>
                <a:cs typeface="Arial"/>
              </a:rPr>
              <a:t>24 Feb 2016</a:t>
            </a:r>
          </a:p>
        </p:txBody>
      </p:sp>
      <p:sp>
        <p:nvSpPr>
          <p:cNvPr id="18" name="text-280">
            <a:extLst>
              <a:ext uri="{FF2B5EF4-FFF2-40B4-BE49-F238E27FC236}">
                <a16:creationId xmlns:a16="http://schemas.microsoft.com/office/drawing/2014/main" id="{46574597-2967-49C8-B984-BCD952BE6591}"/>
              </a:ext>
            </a:extLst>
          </p:cNvPr>
          <p:cNvSpPr>
            <a:spLocks noGrp="1"/>
          </p:cNvSpPr>
          <p:nvPr/>
        </p:nvSpPr>
        <p:spPr>
          <a:xfrm>
            <a:off x="8953500" y="2924175"/>
            <a:ext cx="2647950" cy="323850"/>
          </a:xfrm>
          <a:prstGeom prst="rect">
            <a:avLst/>
          </a:prstGeom>
          <a:noFill/>
          <a:ln w="0">
            <a:noFill/>
          </a:ln>
        </p:spPr>
        <p:txBody>
          <a:bodyPr wrap="square" lIns="0" tIns="0" rIns="0" bIns="0" anchor="t">
            <a:noAutofit/>
          </a:bodyPr>
          <a:lstStyle>
            <a:defPPr algn="l">
              <a:defRPr sz="1725" b="0">
                <a:solidFill>
                  <a:srgbClr val="4D6270"/>
                </a:solidFill>
                <a:latin typeface="Arial"/>
                <a:ea typeface="Arial"/>
                <a:cs typeface="Arial"/>
              </a:defRPr>
            </a:defPPr>
          </a:lstStyle>
          <a:p>
            <a:pPr algn="l">
              <a:lnSpc>
                <a:spcPct val="112000"/>
              </a:lnSpc>
              <a:buNone/>
              <a:defRPr sz="1725" b="0">
                <a:solidFill>
                  <a:srgbClr val="4D6270"/>
                </a:solidFill>
                <a:latin typeface="Arial"/>
                <a:ea typeface="Arial"/>
                <a:cs typeface="Arial"/>
              </a:defRPr>
            </a:pPr>
            <a:r>
              <a:rPr sz="1725" b="0">
                <a:solidFill>
                  <a:srgbClr val="4D6270"/>
                </a:solidFill>
                <a:latin typeface="Arial"/>
                <a:ea typeface="Arial"/>
                <a:cs typeface="Arial"/>
              </a:rPr>
              <a:t>ERPNext invoice cut-off</a:t>
            </a:r>
          </a:p>
        </p:txBody>
      </p:sp>
      <p:sp>
        <p:nvSpPr>
          <p:cNvPr id="19" name="shape-281">
            <a:extLst>
              <a:ext uri="{FF2B5EF4-FFF2-40B4-BE49-F238E27FC236}">
                <a16:creationId xmlns:a16="http://schemas.microsoft.com/office/drawing/2014/main" id="{C8AF1360-B6C6-4271-8297-26F75564E411}"/>
              </a:ext>
            </a:extLst>
          </p:cNvPr>
          <p:cNvSpPr>
            <a:spLocks noGrp="1"/>
          </p:cNvSpPr>
          <p:nvPr/>
        </p:nvSpPr>
        <p:spPr>
          <a:xfrm>
            <a:off x="609600" y="3657600"/>
            <a:ext cx="2095500" cy="542925"/>
          </a:xfrm>
          <a:prstGeom prst="rect">
            <a:avLst/>
          </a:prstGeom>
          <a:solidFill>
            <a:srgbClr val="FFFFFF"/>
          </a:solidFill>
          <a:ln w="15240">
            <a:solidFill>
              <a:srgbClr val="006D77"/>
            </a:solidFill>
          </a:ln>
        </p:spPr>
      </p:sp>
      <p:sp>
        <p:nvSpPr>
          <p:cNvPr id="20" name="text-282">
            <a:extLst>
              <a:ext uri="{FF2B5EF4-FFF2-40B4-BE49-F238E27FC236}">
                <a16:creationId xmlns:a16="http://schemas.microsoft.com/office/drawing/2014/main" id="{44E4AD95-2FDB-4B56-8ABD-FEE15B6DAC45}"/>
              </a:ext>
            </a:extLst>
          </p:cNvPr>
          <p:cNvSpPr>
            <a:spLocks noGrp="1"/>
          </p:cNvSpPr>
          <p:nvPr/>
        </p:nvSpPr>
        <p:spPr>
          <a:xfrm>
            <a:off x="762000" y="3801047"/>
            <a:ext cx="1790700" cy="294132"/>
          </a:xfrm>
          <a:prstGeom prst="rect">
            <a:avLst/>
          </a:prstGeom>
          <a:noFill/>
          <a:ln w="0">
            <a:noFill/>
          </a:ln>
        </p:spPr>
        <p:txBody>
          <a:bodyPr wrap="square" lIns="0" tIns="0" rIns="0" bIns="0" anchor="t">
            <a:noAutofit/>
          </a:bodyPr>
          <a:lstStyle>
            <a:defPPr algn="ctr">
              <a:defRPr sz="1800" b="1">
                <a:solidFill>
                  <a:srgbClr val="102A43"/>
                </a:solidFill>
                <a:latin typeface="Arial"/>
                <a:ea typeface="Arial"/>
                <a:cs typeface="Arial"/>
              </a:defRPr>
            </a:defPPr>
          </a:lstStyle>
          <a:p>
            <a:pPr algn="ctr">
              <a:lnSpc>
                <a:spcPct val="112000"/>
              </a:lnSpc>
              <a:buNone/>
              <a:defRPr sz="1800" b="1">
                <a:solidFill>
                  <a:srgbClr val="102A43"/>
                </a:solidFill>
                <a:latin typeface="Arial"/>
                <a:ea typeface="Arial"/>
                <a:cs typeface="Arial"/>
              </a:defRPr>
            </a:pPr>
            <a:r>
              <a:rPr sz="1800" b="1">
                <a:solidFill>
                  <a:srgbClr val="102A43"/>
                </a:solidFill>
                <a:latin typeface="Arial"/>
                <a:ea typeface="Arial"/>
                <a:cs typeface="Arial"/>
              </a:rPr>
              <a:t>Customer</a:t>
            </a:r>
          </a:p>
        </p:txBody>
      </p:sp>
      <p:sp>
        <p:nvSpPr>
          <p:cNvPr id="21" name="shape-283">
            <a:extLst>
              <a:ext uri="{FF2B5EF4-FFF2-40B4-BE49-F238E27FC236}">
                <a16:creationId xmlns:a16="http://schemas.microsoft.com/office/drawing/2014/main" id="{C599726B-6E01-4B80-9E54-488ED6CFB46B}"/>
              </a:ext>
            </a:extLst>
          </p:cNvPr>
          <p:cNvSpPr>
            <a:spLocks noGrp="1"/>
          </p:cNvSpPr>
          <p:nvPr/>
        </p:nvSpPr>
        <p:spPr>
          <a:xfrm>
            <a:off x="3124200" y="3657600"/>
            <a:ext cx="2190750" cy="542925"/>
          </a:xfrm>
          <a:prstGeom prst="rect">
            <a:avLst/>
          </a:prstGeom>
          <a:solidFill>
            <a:srgbClr val="FFFFFF"/>
          </a:solidFill>
          <a:ln w="15240">
            <a:solidFill>
              <a:srgbClr val="006D77"/>
            </a:solidFill>
          </a:ln>
        </p:spPr>
      </p:sp>
      <p:sp>
        <p:nvSpPr>
          <p:cNvPr id="22" name="text-284">
            <a:extLst>
              <a:ext uri="{FF2B5EF4-FFF2-40B4-BE49-F238E27FC236}">
                <a16:creationId xmlns:a16="http://schemas.microsoft.com/office/drawing/2014/main" id="{EA08B1DD-D2FF-4C4B-A0AB-7AB63FE7A08A}"/>
              </a:ext>
            </a:extLst>
          </p:cNvPr>
          <p:cNvSpPr>
            <a:spLocks noGrp="1"/>
          </p:cNvSpPr>
          <p:nvPr/>
        </p:nvSpPr>
        <p:spPr>
          <a:xfrm>
            <a:off x="3276600" y="3801047"/>
            <a:ext cx="1885950" cy="294132"/>
          </a:xfrm>
          <a:prstGeom prst="rect">
            <a:avLst/>
          </a:prstGeom>
          <a:noFill/>
          <a:ln w="0">
            <a:noFill/>
          </a:ln>
        </p:spPr>
        <p:txBody>
          <a:bodyPr wrap="square" lIns="0" tIns="0" rIns="0" bIns="0" anchor="t">
            <a:noAutofit/>
          </a:bodyPr>
          <a:lstStyle>
            <a:defPPr algn="ctr">
              <a:defRPr sz="1800" b="1">
                <a:solidFill>
                  <a:srgbClr val="102A43"/>
                </a:solidFill>
                <a:latin typeface="Arial"/>
                <a:ea typeface="Arial"/>
                <a:cs typeface="Arial"/>
              </a:defRPr>
            </a:defPPr>
          </a:lstStyle>
          <a:p>
            <a:pPr algn="ctr">
              <a:lnSpc>
                <a:spcPct val="112000"/>
              </a:lnSpc>
              <a:buNone/>
              <a:defRPr sz="1800" b="1">
                <a:solidFill>
                  <a:srgbClr val="102A43"/>
                </a:solidFill>
                <a:latin typeface="Arial"/>
                <a:ea typeface="Arial"/>
                <a:cs typeface="Arial"/>
              </a:defRPr>
            </a:pPr>
            <a:r>
              <a:rPr sz="1800" b="1">
                <a:solidFill>
                  <a:srgbClr val="102A43"/>
                </a:solidFill>
                <a:latin typeface="Arial"/>
                <a:ea typeface="Arial"/>
                <a:cs typeface="Arial"/>
              </a:rPr>
              <a:t>Order</a:t>
            </a:r>
          </a:p>
        </p:txBody>
      </p:sp>
      <p:sp>
        <p:nvSpPr>
          <p:cNvPr id="23" name="shape-285">
            <a:extLst>
              <a:ext uri="{FF2B5EF4-FFF2-40B4-BE49-F238E27FC236}">
                <a16:creationId xmlns:a16="http://schemas.microsoft.com/office/drawing/2014/main" id="{D88DCE34-44F8-4E2B-B32A-DF24E5C74ED1}"/>
              </a:ext>
            </a:extLst>
          </p:cNvPr>
          <p:cNvSpPr>
            <a:spLocks noGrp="1"/>
          </p:cNvSpPr>
          <p:nvPr/>
        </p:nvSpPr>
        <p:spPr>
          <a:xfrm>
            <a:off x="5734050" y="3657600"/>
            <a:ext cx="2381250" cy="542925"/>
          </a:xfrm>
          <a:prstGeom prst="rect">
            <a:avLst/>
          </a:prstGeom>
          <a:solidFill>
            <a:srgbClr val="FFFFFF"/>
          </a:solidFill>
          <a:ln w="15240">
            <a:solidFill>
              <a:srgbClr val="006D77"/>
            </a:solidFill>
          </a:ln>
        </p:spPr>
      </p:sp>
      <p:sp>
        <p:nvSpPr>
          <p:cNvPr id="24" name="text-286">
            <a:extLst>
              <a:ext uri="{FF2B5EF4-FFF2-40B4-BE49-F238E27FC236}">
                <a16:creationId xmlns:a16="http://schemas.microsoft.com/office/drawing/2014/main" id="{E2FC207A-173F-4120-A59B-64FDBEAC7224}"/>
              </a:ext>
            </a:extLst>
          </p:cNvPr>
          <p:cNvSpPr>
            <a:spLocks noGrp="1"/>
          </p:cNvSpPr>
          <p:nvPr/>
        </p:nvSpPr>
        <p:spPr>
          <a:xfrm>
            <a:off x="5886450" y="3801047"/>
            <a:ext cx="2076450" cy="294132"/>
          </a:xfrm>
          <a:prstGeom prst="rect">
            <a:avLst/>
          </a:prstGeom>
          <a:noFill/>
          <a:ln w="0">
            <a:noFill/>
          </a:ln>
        </p:spPr>
        <p:txBody>
          <a:bodyPr wrap="square" lIns="0" tIns="0" rIns="0" bIns="0" anchor="t">
            <a:noAutofit/>
          </a:bodyPr>
          <a:lstStyle>
            <a:defPPr algn="ctr">
              <a:defRPr sz="1800" b="1">
                <a:solidFill>
                  <a:srgbClr val="102A43"/>
                </a:solidFill>
                <a:latin typeface="Arial"/>
                <a:ea typeface="Arial"/>
                <a:cs typeface="Arial"/>
              </a:defRPr>
            </a:defPPr>
          </a:lstStyle>
          <a:p>
            <a:pPr algn="ctr">
              <a:lnSpc>
                <a:spcPct val="112000"/>
              </a:lnSpc>
              <a:buNone/>
              <a:defRPr sz="1800" b="1">
                <a:solidFill>
                  <a:srgbClr val="102A43"/>
                </a:solidFill>
                <a:latin typeface="Arial"/>
                <a:ea typeface="Arial"/>
                <a:cs typeface="Arial"/>
              </a:defRPr>
            </a:pPr>
            <a:r>
              <a:rPr sz="1800" b="1">
                <a:solidFill>
                  <a:srgbClr val="102A43"/>
                </a:solidFill>
                <a:latin typeface="Arial"/>
                <a:ea typeface="Arial"/>
                <a:cs typeface="Arial"/>
              </a:rPr>
              <a:t>Order line</a:t>
            </a:r>
          </a:p>
        </p:txBody>
      </p:sp>
      <p:sp>
        <p:nvSpPr>
          <p:cNvPr id="25" name="shape-287">
            <a:extLst>
              <a:ext uri="{FF2B5EF4-FFF2-40B4-BE49-F238E27FC236}">
                <a16:creationId xmlns:a16="http://schemas.microsoft.com/office/drawing/2014/main" id="{B9A18F88-B3D6-4438-A354-4824D336D770}"/>
              </a:ext>
            </a:extLst>
          </p:cNvPr>
          <p:cNvSpPr>
            <a:spLocks noGrp="1"/>
          </p:cNvSpPr>
          <p:nvPr/>
        </p:nvSpPr>
        <p:spPr>
          <a:xfrm>
            <a:off x="9067800" y="4162425"/>
            <a:ext cx="2514600" cy="542925"/>
          </a:xfrm>
          <a:prstGeom prst="rect">
            <a:avLst/>
          </a:prstGeom>
          <a:solidFill>
            <a:srgbClr val="EAF2F1"/>
          </a:solidFill>
          <a:ln w="15240">
            <a:solidFill>
              <a:srgbClr val="006D77"/>
            </a:solidFill>
          </a:ln>
        </p:spPr>
      </p:sp>
      <p:sp>
        <p:nvSpPr>
          <p:cNvPr id="26" name="text-288">
            <a:extLst>
              <a:ext uri="{FF2B5EF4-FFF2-40B4-BE49-F238E27FC236}">
                <a16:creationId xmlns:a16="http://schemas.microsoft.com/office/drawing/2014/main" id="{EBF4BF07-A96F-4E85-8693-9231044D2D1C}"/>
              </a:ext>
            </a:extLst>
          </p:cNvPr>
          <p:cNvSpPr>
            <a:spLocks noGrp="1"/>
          </p:cNvSpPr>
          <p:nvPr/>
        </p:nvSpPr>
        <p:spPr>
          <a:xfrm>
            <a:off x="9220200" y="4300538"/>
            <a:ext cx="2209800" cy="304800"/>
          </a:xfrm>
          <a:prstGeom prst="rect">
            <a:avLst/>
          </a:prstGeom>
          <a:noFill/>
          <a:ln w="0">
            <a:noFill/>
          </a:ln>
        </p:spPr>
        <p:txBody>
          <a:bodyPr wrap="square" lIns="0" tIns="0" rIns="0" bIns="0" anchor="t">
            <a:noAutofit/>
          </a:bodyPr>
          <a:lstStyle>
            <a:defPPr algn="ctr">
              <a:defRPr sz="1875" b="1">
                <a:solidFill>
                  <a:srgbClr val="102A43"/>
                </a:solidFill>
                <a:latin typeface="Arial"/>
                <a:ea typeface="Arial"/>
                <a:cs typeface="Arial"/>
              </a:defRPr>
            </a:defPPr>
          </a:lstStyle>
          <a:p>
            <a:pPr algn="ctr">
              <a:lnSpc>
                <a:spcPct val="112000"/>
              </a:lnSpc>
              <a:buNone/>
              <a:defRPr sz="1875" b="1">
                <a:solidFill>
                  <a:srgbClr val="102A43"/>
                </a:solidFill>
                <a:latin typeface="Arial"/>
                <a:ea typeface="Arial"/>
                <a:cs typeface="Arial"/>
              </a:defRPr>
            </a:pPr>
            <a:r>
              <a:rPr sz="1875" b="1">
                <a:solidFill>
                  <a:srgbClr val="102A43"/>
                </a:solidFill>
                <a:latin typeface="Arial"/>
                <a:ea typeface="Arial"/>
                <a:cs typeface="Arial"/>
              </a:rPr>
              <a:t>Item</a:t>
            </a:r>
          </a:p>
        </p:txBody>
      </p:sp>
      <p:sp>
        <p:nvSpPr>
          <p:cNvPr id="27" name="shape-289">
            <a:extLst>
              <a:ext uri="{FF2B5EF4-FFF2-40B4-BE49-F238E27FC236}">
                <a16:creationId xmlns:a16="http://schemas.microsoft.com/office/drawing/2014/main" id="{3B6542F2-A0C2-4877-9966-669DD2FA13AA}"/>
              </a:ext>
            </a:extLst>
          </p:cNvPr>
          <p:cNvSpPr>
            <a:spLocks noGrp="1"/>
          </p:cNvSpPr>
          <p:nvPr/>
        </p:nvSpPr>
        <p:spPr>
          <a:xfrm>
            <a:off x="609600" y="4695825"/>
            <a:ext cx="2095500" cy="542925"/>
          </a:xfrm>
          <a:prstGeom prst="rect">
            <a:avLst/>
          </a:prstGeom>
          <a:solidFill>
            <a:srgbClr val="FFFFFF"/>
          </a:solidFill>
          <a:ln w="15240">
            <a:solidFill>
              <a:srgbClr val="006D77"/>
            </a:solidFill>
          </a:ln>
        </p:spPr>
      </p:sp>
      <p:sp>
        <p:nvSpPr>
          <p:cNvPr id="28" name="text-290">
            <a:extLst>
              <a:ext uri="{FF2B5EF4-FFF2-40B4-BE49-F238E27FC236}">
                <a16:creationId xmlns:a16="http://schemas.microsoft.com/office/drawing/2014/main" id="{3A0D000A-4674-4ADE-B061-0AFA4A4BF9A2}"/>
              </a:ext>
            </a:extLst>
          </p:cNvPr>
          <p:cNvSpPr>
            <a:spLocks noGrp="1"/>
          </p:cNvSpPr>
          <p:nvPr/>
        </p:nvSpPr>
        <p:spPr>
          <a:xfrm>
            <a:off x="762000" y="4839272"/>
            <a:ext cx="1790700" cy="294132"/>
          </a:xfrm>
          <a:prstGeom prst="rect">
            <a:avLst/>
          </a:prstGeom>
          <a:noFill/>
          <a:ln w="0">
            <a:noFill/>
          </a:ln>
        </p:spPr>
        <p:txBody>
          <a:bodyPr wrap="square" lIns="0" tIns="0" rIns="0" bIns="0" anchor="t">
            <a:noAutofit/>
          </a:bodyPr>
          <a:lstStyle>
            <a:defPPr algn="ctr">
              <a:defRPr sz="1800" b="1">
                <a:solidFill>
                  <a:srgbClr val="102A43"/>
                </a:solidFill>
                <a:latin typeface="Arial"/>
                <a:ea typeface="Arial"/>
                <a:cs typeface="Arial"/>
              </a:defRPr>
            </a:defPPr>
          </a:lstStyle>
          <a:p>
            <a:pPr algn="ctr">
              <a:lnSpc>
                <a:spcPct val="112000"/>
              </a:lnSpc>
              <a:buNone/>
              <a:defRPr sz="1800" b="1">
                <a:solidFill>
                  <a:srgbClr val="102A43"/>
                </a:solidFill>
                <a:latin typeface="Arial"/>
                <a:ea typeface="Arial"/>
                <a:cs typeface="Arial"/>
              </a:defRPr>
            </a:pPr>
            <a:r>
              <a:rPr sz="1800" b="1">
                <a:solidFill>
                  <a:srgbClr val="102A43"/>
                </a:solidFill>
                <a:latin typeface="Arial"/>
                <a:ea typeface="Arial"/>
                <a:cs typeface="Arial"/>
              </a:rPr>
              <a:t>Supplier</a:t>
            </a:r>
          </a:p>
        </p:txBody>
      </p:sp>
      <p:sp>
        <p:nvSpPr>
          <p:cNvPr id="29" name="shape-291">
            <a:extLst>
              <a:ext uri="{FF2B5EF4-FFF2-40B4-BE49-F238E27FC236}">
                <a16:creationId xmlns:a16="http://schemas.microsoft.com/office/drawing/2014/main" id="{6105495C-0C89-4200-BE29-07F66A21B2C3}"/>
              </a:ext>
            </a:extLst>
          </p:cNvPr>
          <p:cNvSpPr>
            <a:spLocks noGrp="1"/>
          </p:cNvSpPr>
          <p:nvPr/>
        </p:nvSpPr>
        <p:spPr>
          <a:xfrm>
            <a:off x="3124200" y="4695825"/>
            <a:ext cx="2190750" cy="542925"/>
          </a:xfrm>
          <a:prstGeom prst="rect">
            <a:avLst/>
          </a:prstGeom>
          <a:solidFill>
            <a:srgbClr val="FFFFFF"/>
          </a:solidFill>
          <a:ln w="15240">
            <a:solidFill>
              <a:srgbClr val="006D77"/>
            </a:solidFill>
          </a:ln>
        </p:spPr>
      </p:sp>
      <p:sp>
        <p:nvSpPr>
          <p:cNvPr id="30" name="text-292">
            <a:extLst>
              <a:ext uri="{FF2B5EF4-FFF2-40B4-BE49-F238E27FC236}">
                <a16:creationId xmlns:a16="http://schemas.microsoft.com/office/drawing/2014/main" id="{FB94C3A9-E796-449D-953D-6C4383E1E254}"/>
              </a:ext>
            </a:extLst>
          </p:cNvPr>
          <p:cNvSpPr>
            <a:spLocks noGrp="1"/>
          </p:cNvSpPr>
          <p:nvPr/>
        </p:nvSpPr>
        <p:spPr>
          <a:xfrm>
            <a:off x="3276600" y="4839272"/>
            <a:ext cx="1885950" cy="294132"/>
          </a:xfrm>
          <a:prstGeom prst="rect">
            <a:avLst/>
          </a:prstGeom>
          <a:noFill/>
          <a:ln w="0">
            <a:noFill/>
          </a:ln>
        </p:spPr>
        <p:txBody>
          <a:bodyPr wrap="square" lIns="0" tIns="0" rIns="0" bIns="0" anchor="t">
            <a:noAutofit/>
          </a:bodyPr>
          <a:lstStyle>
            <a:defPPr algn="ctr">
              <a:defRPr sz="1800" b="1">
                <a:solidFill>
                  <a:srgbClr val="102A43"/>
                </a:solidFill>
                <a:latin typeface="Arial"/>
                <a:ea typeface="Arial"/>
                <a:cs typeface="Arial"/>
              </a:defRPr>
            </a:defPPr>
          </a:lstStyle>
          <a:p>
            <a:pPr algn="ctr">
              <a:lnSpc>
                <a:spcPct val="112000"/>
              </a:lnSpc>
              <a:buNone/>
              <a:defRPr sz="1800" b="1">
                <a:solidFill>
                  <a:srgbClr val="102A43"/>
                </a:solidFill>
                <a:latin typeface="Arial"/>
                <a:ea typeface="Arial"/>
                <a:cs typeface="Arial"/>
              </a:defRPr>
            </a:pPr>
            <a:r>
              <a:rPr sz="1800" b="1">
                <a:solidFill>
                  <a:srgbClr val="102A43"/>
                </a:solidFill>
                <a:latin typeface="Arial"/>
                <a:ea typeface="Arial"/>
                <a:cs typeface="Arial"/>
              </a:rPr>
              <a:t>Purchase order</a:t>
            </a:r>
          </a:p>
        </p:txBody>
      </p:sp>
      <p:sp>
        <p:nvSpPr>
          <p:cNvPr id="31" name="shape-293">
            <a:extLst>
              <a:ext uri="{FF2B5EF4-FFF2-40B4-BE49-F238E27FC236}">
                <a16:creationId xmlns:a16="http://schemas.microsoft.com/office/drawing/2014/main" id="{75FD1CEC-C84B-4653-A613-364FDE1790A0}"/>
              </a:ext>
            </a:extLst>
          </p:cNvPr>
          <p:cNvSpPr>
            <a:spLocks noGrp="1"/>
          </p:cNvSpPr>
          <p:nvPr/>
        </p:nvSpPr>
        <p:spPr>
          <a:xfrm>
            <a:off x="5734050" y="4695825"/>
            <a:ext cx="2381250" cy="542925"/>
          </a:xfrm>
          <a:prstGeom prst="rect">
            <a:avLst/>
          </a:prstGeom>
          <a:solidFill>
            <a:srgbClr val="FFFFFF"/>
          </a:solidFill>
          <a:ln w="15240">
            <a:solidFill>
              <a:srgbClr val="006D77"/>
            </a:solidFill>
          </a:ln>
        </p:spPr>
      </p:sp>
      <p:sp>
        <p:nvSpPr>
          <p:cNvPr id="32" name="text-294">
            <a:extLst>
              <a:ext uri="{FF2B5EF4-FFF2-40B4-BE49-F238E27FC236}">
                <a16:creationId xmlns:a16="http://schemas.microsoft.com/office/drawing/2014/main" id="{A18B44D1-BCDF-4A85-8BE0-4FFBAE5F8280}"/>
              </a:ext>
            </a:extLst>
          </p:cNvPr>
          <p:cNvSpPr>
            <a:spLocks noGrp="1"/>
          </p:cNvSpPr>
          <p:nvPr/>
        </p:nvSpPr>
        <p:spPr>
          <a:xfrm>
            <a:off x="5886450" y="4839272"/>
            <a:ext cx="2076450" cy="294132"/>
          </a:xfrm>
          <a:prstGeom prst="rect">
            <a:avLst/>
          </a:prstGeom>
          <a:noFill/>
          <a:ln w="0">
            <a:noFill/>
          </a:ln>
        </p:spPr>
        <p:txBody>
          <a:bodyPr wrap="square" lIns="0" tIns="0" rIns="0" bIns="0" anchor="t">
            <a:noAutofit/>
          </a:bodyPr>
          <a:lstStyle>
            <a:defPPr algn="ctr">
              <a:defRPr sz="1800" b="1">
                <a:solidFill>
                  <a:srgbClr val="102A43"/>
                </a:solidFill>
                <a:latin typeface="Arial"/>
                <a:ea typeface="Arial"/>
                <a:cs typeface="Arial"/>
              </a:defRPr>
            </a:defPPr>
          </a:lstStyle>
          <a:p>
            <a:pPr algn="ctr">
              <a:lnSpc>
                <a:spcPct val="112000"/>
              </a:lnSpc>
              <a:buNone/>
              <a:defRPr sz="1800" b="1">
                <a:solidFill>
                  <a:srgbClr val="102A43"/>
                </a:solidFill>
                <a:latin typeface="Arial"/>
                <a:ea typeface="Arial"/>
                <a:cs typeface="Arial"/>
              </a:defRPr>
            </a:pPr>
            <a:r>
              <a:rPr sz="1800" b="1">
                <a:solidFill>
                  <a:srgbClr val="102A43"/>
                </a:solidFill>
                <a:latin typeface="Arial"/>
                <a:ea typeface="Arial"/>
                <a:cs typeface="Arial"/>
              </a:rPr>
              <a:t>Purchase line</a:t>
            </a:r>
          </a:p>
        </p:txBody>
      </p:sp>
      <p:sp>
        <p:nvSpPr>
          <p:cNvPr id="39" name="shape-295">
            <a:extLst>
              <a:ext uri="{FF2B5EF4-FFF2-40B4-BE49-F238E27FC236}">
                <a16:creationId xmlns:a16="http://schemas.microsoft.com/office/drawing/2014/main" id="{ADBF6DC4-B2D3-4F81-882D-94314BB6C897}"/>
              </a:ext>
            </a:extLst>
          </p:cNvPr>
          <p:cNvSpPr>
            <a:spLocks noGrp="1"/>
          </p:cNvSpPr>
          <p:nvPr/>
        </p:nvSpPr>
        <p:spPr>
          <a:xfrm>
            <a:off x="609600" y="5505450"/>
            <a:ext cx="10972800" cy="14288"/>
          </a:xfrm>
          <a:prstGeom prst="rect">
            <a:avLst/>
          </a:prstGeom>
          <a:solidFill>
            <a:srgbClr val="CDD7D9"/>
          </a:solidFill>
          <a:ln w="0">
            <a:noFill/>
          </a:ln>
        </p:spPr>
      </p:sp>
      <p:sp>
        <p:nvSpPr>
          <p:cNvPr id="40" name="text-296">
            <a:extLst>
              <a:ext uri="{FF2B5EF4-FFF2-40B4-BE49-F238E27FC236}">
                <a16:creationId xmlns:a16="http://schemas.microsoft.com/office/drawing/2014/main" id="{CF3D5DE3-4815-4446-BD41-C17C34722BB2}"/>
              </a:ext>
            </a:extLst>
          </p:cNvPr>
          <p:cNvSpPr>
            <a:spLocks noGrp="1"/>
          </p:cNvSpPr>
          <p:nvPr/>
        </p:nvSpPr>
        <p:spPr>
          <a:xfrm>
            <a:off x="609600" y="5695950"/>
            <a:ext cx="5905500" cy="314325"/>
          </a:xfrm>
          <a:prstGeom prst="rect">
            <a:avLst/>
          </a:prstGeom>
          <a:noFill/>
          <a:ln w="0">
            <a:noFill/>
          </a:ln>
        </p:spPr>
        <p:txBody>
          <a:bodyPr wrap="square" lIns="0" tIns="0" rIns="0" bIns="0" anchor="t">
            <a:noAutofit/>
          </a:bodyPr>
          <a:lstStyle>
            <a:defPPr algn="l">
              <a:defRPr sz="1875" b="1">
                <a:solidFill>
                  <a:srgbClr val="17324A"/>
                </a:solidFill>
                <a:latin typeface="Arial"/>
                <a:ea typeface="Arial"/>
                <a:cs typeface="Arial"/>
              </a:defRPr>
            </a:defPPr>
          </a:lstStyle>
          <a:p>
            <a:pPr algn="l">
              <a:lnSpc>
                <a:spcPct val="112000"/>
              </a:lnSpc>
              <a:buNone/>
              <a:defRPr sz="1875" b="1">
                <a:solidFill>
                  <a:srgbClr val="17324A"/>
                </a:solidFill>
                <a:latin typeface="Arial"/>
                <a:ea typeface="Arial"/>
                <a:cs typeface="Arial"/>
              </a:defRPr>
            </a:pPr>
            <a:r>
              <a:rPr sz="1875" b="1">
                <a:solidFill>
                  <a:srgbClr val="17324A"/>
                </a:solidFill>
                <a:latin typeface="Arial"/>
                <a:ea typeface="Arial"/>
                <a:cs typeface="Arial"/>
              </a:rPr>
              <a:t>Current: WWI relational sample data</a:t>
            </a:r>
          </a:p>
        </p:txBody>
      </p:sp>
      <p:sp>
        <p:nvSpPr>
          <p:cNvPr id="41" name="text-297">
            <a:extLst>
              <a:ext uri="{FF2B5EF4-FFF2-40B4-BE49-F238E27FC236}">
                <a16:creationId xmlns:a16="http://schemas.microsoft.com/office/drawing/2014/main" id="{42BCE020-6ADE-4D89-8B6F-84FE68DDE09C}"/>
              </a:ext>
            </a:extLst>
          </p:cNvPr>
          <p:cNvSpPr>
            <a:spLocks noGrp="1"/>
          </p:cNvSpPr>
          <p:nvPr/>
        </p:nvSpPr>
        <p:spPr>
          <a:xfrm>
            <a:off x="5852160" y="5695950"/>
            <a:ext cx="3383280" cy="314325"/>
          </a:xfrm>
          <a:prstGeom prst="rect">
            <a:avLst/>
          </a:prstGeom>
          <a:noFill/>
          <a:ln w="0">
            <a:noFill/>
          </a:ln>
        </p:spPr>
        <p:txBody>
          <a:bodyPr wrap="square" lIns="0" tIns="0" rIns="0" bIns="0" anchor="t">
            <a:noAutofit/>
          </a:bodyPr>
          <a:lstStyle>
            <a:defPPr algn="l">
              <a:defRPr sz="1875" b="1">
                <a:solidFill>
                  <a:srgbClr val="006D77"/>
                </a:solidFill>
                <a:latin typeface="Arial"/>
                <a:ea typeface="Arial"/>
                <a:cs typeface="Arial"/>
              </a:defRPr>
            </a:defPPr>
          </a:lstStyle>
          <a:p>
            <a:pPr algn="l">
              <a:lnSpc>
                <a:spcPct val="112000"/>
              </a:lnSpc>
              <a:buNone/>
              <a:defRPr sz="1875" b="1">
                <a:solidFill>
                  <a:srgbClr val="006D77"/>
                </a:solidFill>
                <a:latin typeface="Arial"/>
                <a:ea typeface="Arial"/>
                <a:cs typeface="Arial"/>
              </a:defRPr>
            </a:pPr>
            <a:r>
              <a:rPr sz="1875" b="1">
                <a:solidFill>
                  <a:srgbClr val="006D77"/>
                </a:solidFill>
                <a:latin typeface="Arial"/>
                <a:ea typeface="Arial"/>
                <a:cs typeface="Arial"/>
              </a:rPr>
              <a:t>ERPNext 15 with WWI loaded</a:t>
            </a:r>
          </a:p>
        </p:txBody>
      </p:sp>
      <p:sp>
        <p:nvSpPr>
          <p:cNvPr id="42" name="citation-298">
            <a:extLst>
              <a:ext uri="{FF2B5EF4-FFF2-40B4-BE49-F238E27FC236}">
                <a16:creationId xmlns:a16="http://schemas.microsoft.com/office/drawing/2014/main" id="{11BE4339-0B19-4DC2-858B-DA6ED64DD02A}"/>
              </a:ext>
            </a:extLst>
          </p:cNvPr>
          <p:cNvSpPr>
            <a:spLocks noGrp="1"/>
          </p:cNvSpPr>
          <p:nvPr/>
        </p:nvSpPr>
        <p:spPr>
          <a:xfrm>
            <a:off x="9235440" y="5629275"/>
            <a:ext cx="495300" cy="266700"/>
          </a:xfrm>
          <a:prstGeom prst="rect">
            <a:avLst/>
          </a:prstGeom>
          <a:noFill/>
          <a:ln w="0">
            <a:noFill/>
          </a:ln>
        </p:spPr>
        <p:txBody>
          <a:bodyPr wrap="square" lIns="0" tIns="0" rIns="0" bIns="0" anchor="t">
            <a:noAutofit/>
          </a:bodyPr>
          <a:lstStyle>
            <a:defPPr algn="l">
              <a:defRPr sz="1500" b="1">
                <a:solidFill>
                  <a:srgbClr val="006D77"/>
                </a:solidFill>
                <a:latin typeface="Arial"/>
                <a:ea typeface="Arial"/>
                <a:cs typeface="Arial"/>
              </a:defRPr>
            </a:defPPr>
          </a:lstStyle>
          <a:p>
            <a:pPr algn="l">
              <a:lnSpc>
                <a:spcPct val="112000"/>
              </a:lnSpc>
              <a:buNone/>
              <a:defRPr sz="1500" b="1">
                <a:solidFill>
                  <a:srgbClr val="006D77"/>
                </a:solidFill>
                <a:latin typeface="Arial"/>
                <a:ea typeface="Arial"/>
                <a:cs typeface="Arial"/>
              </a:defRPr>
            </a:pPr>
            <a:r>
              <a:rPr sz="1500" b="1">
                <a:solidFill>
                  <a:srgbClr val="006D77"/>
                </a:solidFill>
                <a:latin typeface="Arial"/>
                <a:ea typeface="Arial"/>
                <a:cs typeface="Arial"/>
              </a:rPr>
              <a:t>10,11</a:t>
            </a:r>
          </a:p>
        </p:txBody>
      </p:sp>
      <p:sp>
        <p:nvSpPr>
          <p:cNvPr id="43" name="text-299">
            <a:extLst>
              <a:ext uri="{FF2B5EF4-FFF2-40B4-BE49-F238E27FC236}">
                <a16:creationId xmlns:a16="http://schemas.microsoft.com/office/drawing/2014/main" id="{E101C3C0-F706-4CDF-9395-D3FD374BDBF3}"/>
              </a:ext>
            </a:extLst>
          </p:cNvPr>
          <p:cNvSpPr>
            <a:spLocks noGrp="1"/>
          </p:cNvSpPr>
          <p:nvPr/>
        </p:nvSpPr>
        <p:spPr>
          <a:xfrm>
            <a:off x="609600" y="6067425"/>
            <a:ext cx="5905500" cy="266700"/>
          </a:xfrm>
          <a:prstGeom prst="rect">
            <a:avLst/>
          </a:prstGeom>
          <a:noFill/>
          <a:ln w="0">
            <a:noFill/>
          </a:ln>
        </p:spPr>
        <p:txBody>
          <a:bodyPr wrap="square" lIns="0" tIns="0" rIns="0" bIns="0" anchor="t">
            <a:noAutofit/>
          </a:bodyPr>
          <a:lstStyle>
            <a:defPPr algn="l">
              <a:defRPr sz="1500" b="0">
                <a:solidFill>
                  <a:srgbClr val="4D6270"/>
                </a:solidFill>
                <a:latin typeface="Arial"/>
                <a:ea typeface="Arial"/>
                <a:cs typeface="Arial"/>
              </a:defRPr>
            </a:defPPr>
          </a:lstStyle>
          <a:p>
            <a:pPr algn="l">
              <a:lnSpc>
                <a:spcPct val="112000"/>
              </a:lnSpc>
              <a:buNone/>
              <a:defRPr sz="1500" b="0">
                <a:solidFill>
                  <a:srgbClr val="4D6270"/>
                </a:solidFill>
                <a:latin typeface="Arial"/>
                <a:ea typeface="Arial"/>
                <a:cs typeface="Arial"/>
              </a:defRPr>
            </a:pPr>
            <a:r>
              <a:rPr sz="1500" b="0">
                <a:solidFill>
                  <a:srgbClr val="4D6270"/>
                </a:solidFill>
                <a:latin typeface="Arial"/>
                <a:ea typeface="Arial"/>
                <a:cs typeface="Arial"/>
              </a:rPr>
              <a:t>Read-only data with preserved source IDs</a:t>
            </a:r>
          </a:p>
        </p:txBody>
      </p:sp>
      <p:sp>
        <p:nvSpPr>
          <p:cNvPr id="44" name="text-300">
            <a:extLst>
              <a:ext uri="{FF2B5EF4-FFF2-40B4-BE49-F238E27FC236}">
                <a16:creationId xmlns:a16="http://schemas.microsoft.com/office/drawing/2014/main" id="{9243508D-0853-4CA1-BA30-567DD428424E}"/>
              </a:ext>
            </a:extLst>
          </p:cNvPr>
          <p:cNvSpPr>
            <a:spLocks noGrp="1"/>
          </p:cNvSpPr>
          <p:nvPr/>
        </p:nvSpPr>
        <p:spPr>
          <a:xfrm>
            <a:off x="5852160" y="6067425"/>
            <a:ext cx="5760720" cy="266700"/>
          </a:xfrm>
          <a:prstGeom prst="rect">
            <a:avLst/>
          </a:prstGeom>
          <a:noFill/>
          <a:ln w="0">
            <a:noFill/>
          </a:ln>
        </p:spPr>
        <p:txBody>
          <a:bodyPr wrap="square" lIns="0" tIns="0" rIns="0" bIns="0" anchor="t">
            <a:noAutofit/>
          </a:bodyPr>
          <a:lstStyle>
            <a:defPPr algn="l">
              <a:defRPr sz="1500" b="0">
                <a:solidFill>
                  <a:srgbClr val="4D6270"/>
                </a:solidFill>
                <a:latin typeface="Arial"/>
                <a:ea typeface="Arial"/>
                <a:cs typeface="Arial"/>
              </a:defRPr>
            </a:defPPr>
          </a:lstStyle>
          <a:p>
            <a:pPr algn="l">
              <a:lnSpc>
                <a:spcPct val="112000"/>
              </a:lnSpc>
              <a:buNone/>
              <a:defRPr sz="1500" b="0">
                <a:solidFill>
                  <a:srgbClr val="4D6270"/>
                </a:solidFill>
                <a:latin typeface="Arial"/>
                <a:ea typeface="Arial"/>
                <a:cs typeface="Arial"/>
              </a:defRPr>
            </a:pPr>
            <a:r>
              <a:rPr sz="1500" b="0">
                <a:solidFill>
                  <a:srgbClr val="4D6270"/>
                </a:solidFill>
                <a:latin typeface="Arial"/>
                <a:ea typeface="Arial"/>
                <a:cs typeface="Arial"/>
              </a:rPr>
              <a:t>73,596 orders, 64,500 invoices; 8 of 8 checks pass</a:t>
            </a:r>
          </a:p>
        </p:txBody>
      </p:sp>
      <p:pic>
        <p:nvPicPr>
          <p:cNvPr id="45" name="Picture 44">
            <a:extLst>
              <a:ext uri="{FF2B5EF4-FFF2-40B4-BE49-F238E27FC236}">
                <a16:creationId xmlns:a16="http://schemas.microsoft.com/office/drawing/2014/main" id="{E53B259F-4D55-408F-BF26-502ACCE665AE}"/>
              </a:ext>
            </a:extLst>
          </p:cNvPr>
          <p:cNvPicPr>
            <a:picLocks noChangeAspect="1"/>
          </p:cNvPicPr>
          <p:nvPr/>
        </p:nvPicPr>
        <p:blipFill>
          <a:blip r:embed="rId3"/>
          <a:stretch/>
        </p:blipFill>
        <p:spPr>
          <a:xfrm>
            <a:off x="9220220" y="295275"/>
            <a:ext cx="2362160" cy="442436"/>
          </a:xfrm>
          <a:prstGeom prst="rect">
            <a:avLst/>
          </a:prstGeom>
        </p:spPr>
      </p:pic>
    </p:spTree>
    <p:extLst>
      <p:ext uri="{BB962C8B-B14F-4D97-AF65-F5344CB8AC3E}">
        <p14:creationId xmlns:p14="http://schemas.microsoft.com/office/powerpoint/2010/main" val="12536588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2" name="shape-301">
            <a:extLst>
              <a:ext uri="{FF2B5EF4-FFF2-40B4-BE49-F238E27FC236}">
                <a16:creationId xmlns:a16="http://schemas.microsoft.com/office/drawing/2014/main" id="{95CF6F9F-9BB3-4DC5-940F-94565FB433F4}"/>
              </a:ext>
            </a:extLst>
          </p:cNvPr>
          <p:cNvSpPr>
            <a:spLocks noGrp="1"/>
          </p:cNvSpPr>
          <p:nvPr/>
        </p:nvSpPr>
        <p:spPr>
          <a:xfrm>
            <a:off x="0" y="0"/>
            <a:ext cx="12192000" cy="1066800"/>
          </a:xfrm>
          <a:prstGeom prst="rect">
            <a:avLst/>
          </a:prstGeom>
          <a:solidFill>
            <a:srgbClr val="F2F6F7"/>
          </a:solidFill>
          <a:ln w="0">
            <a:noFill/>
          </a:ln>
        </p:spPr>
      </p:sp>
      <p:sp>
        <p:nvSpPr>
          <p:cNvPr id="2" name="shape-302">
            <a:extLst>
              <a:ext uri="{FF2B5EF4-FFF2-40B4-BE49-F238E27FC236}">
                <a16:creationId xmlns:a16="http://schemas.microsoft.com/office/drawing/2014/main" id="{3A6E29A4-C674-491A-B91C-A5E05F94FD2F}"/>
              </a:ext>
            </a:extLst>
          </p:cNvPr>
          <p:cNvSpPr>
            <a:spLocks noGrp="1"/>
          </p:cNvSpPr>
          <p:nvPr/>
        </p:nvSpPr>
        <p:spPr>
          <a:xfrm>
            <a:off x="0" y="1038225"/>
            <a:ext cx="12192000" cy="28575"/>
          </a:xfrm>
          <a:prstGeom prst="rect">
            <a:avLst/>
          </a:prstGeom>
          <a:solidFill>
            <a:srgbClr val="006D77"/>
          </a:solidFill>
          <a:ln w="0">
            <a:noFill/>
          </a:ln>
        </p:spPr>
      </p:sp>
      <p:sp>
        <p:nvSpPr>
          <p:cNvPr id="3" name="slide-11-title">
            <a:extLst>
              <a:ext uri="{FF2B5EF4-FFF2-40B4-BE49-F238E27FC236}">
                <a16:creationId xmlns:a16="http://schemas.microsoft.com/office/drawing/2014/main" id="{710092CD-A091-49DC-8E92-053D86CF366B}"/>
              </a:ext>
            </a:extLst>
          </p:cNvPr>
          <p:cNvSpPr>
            <a:spLocks noGrp="1"/>
          </p:cNvSpPr>
          <p:nvPr/>
        </p:nvSpPr>
        <p:spPr>
          <a:xfrm>
            <a:off x="609600" y="304800"/>
            <a:ext cx="8239125" cy="542925"/>
          </a:xfrm>
          <a:prstGeom prst="rect">
            <a:avLst/>
          </a:prstGeom>
          <a:noFill/>
          <a:ln w="0">
            <a:noFill/>
          </a:ln>
        </p:spPr>
        <p:txBody>
          <a:bodyPr wrap="square" lIns="0" tIns="0" rIns="0" bIns="0" anchor="t">
            <a:noAutofit/>
          </a:bodyPr>
          <a:lstStyle>
            <a:defPPr algn="l">
              <a:defRPr sz="3150" b="1">
                <a:solidFill>
                  <a:srgbClr val="102A43"/>
                </a:solidFill>
                <a:latin typeface="Arial"/>
                <a:ea typeface="Arial"/>
                <a:cs typeface="Arial"/>
              </a:defRPr>
            </a:defPPr>
          </a:lstStyle>
          <a:p>
            <a:pPr algn="l">
              <a:lnSpc>
                <a:spcPct val="112000"/>
              </a:lnSpc>
              <a:buNone/>
              <a:defRPr sz="3150" b="1">
                <a:solidFill>
                  <a:srgbClr val="102A43"/>
                </a:solidFill>
                <a:latin typeface="Arial"/>
                <a:ea typeface="Arial"/>
                <a:cs typeface="Arial"/>
              </a:defRPr>
            </a:pPr>
            <a:r>
              <a:rPr sz="3150" b="1">
                <a:solidFill>
                  <a:srgbClr val="102A43"/>
                </a:solidFill>
                <a:latin typeface="Arial"/>
                <a:ea typeface="Arial"/>
                <a:cs typeface="Arial"/>
              </a:rPr>
              <a:t>Evaluation plan</a:t>
            </a:r>
          </a:p>
        </p:txBody>
      </p:sp>
      <p:sp>
        <p:nvSpPr>
          <p:cNvPr id="4" name="shape-303">
            <a:extLst>
              <a:ext uri="{FF2B5EF4-FFF2-40B4-BE49-F238E27FC236}">
                <a16:creationId xmlns:a16="http://schemas.microsoft.com/office/drawing/2014/main" id="{C9D29AB5-353F-40F8-A8AF-48739E79E91D}"/>
              </a:ext>
            </a:extLst>
          </p:cNvPr>
          <p:cNvSpPr>
            <a:spLocks noGrp="1"/>
          </p:cNvSpPr>
          <p:nvPr/>
        </p:nvSpPr>
        <p:spPr>
          <a:xfrm>
            <a:off x="0" y="6381750"/>
            <a:ext cx="12192000" cy="476250"/>
          </a:xfrm>
          <a:prstGeom prst="rect">
            <a:avLst/>
          </a:prstGeom>
          <a:solidFill>
            <a:srgbClr val="102A43"/>
          </a:solidFill>
          <a:ln w="0">
            <a:noFill/>
          </a:ln>
        </p:spPr>
      </p:sp>
      <p:sp>
        <p:nvSpPr>
          <p:cNvPr id="5" name="brand-11">
            <a:extLst>
              <a:ext uri="{FF2B5EF4-FFF2-40B4-BE49-F238E27FC236}">
                <a16:creationId xmlns:a16="http://schemas.microsoft.com/office/drawing/2014/main" id="{244D9C01-DAF6-4168-9DA2-28A8D3734977}"/>
              </a:ext>
            </a:extLst>
          </p:cNvPr>
          <p:cNvSpPr>
            <a:spLocks noGrp="1"/>
          </p:cNvSpPr>
          <p:nvPr/>
        </p:nvSpPr>
        <p:spPr>
          <a:xfrm>
            <a:off x="609600" y="6467475"/>
            <a:ext cx="3429000" cy="333375"/>
          </a:xfrm>
          <a:prstGeom prst="rect">
            <a:avLst/>
          </a:prstGeom>
          <a:noFill/>
          <a:ln w="0">
            <a:noFill/>
          </a:ln>
        </p:spPr>
        <p:txBody>
          <a:bodyPr wrap="square" lIns="0" tIns="0" rIns="0" bIns="0" anchor="t">
            <a:noAutofit/>
          </a:bodyPr>
          <a:lstStyle>
            <a:defPPr algn="l">
              <a:defRPr sz="1950" b="1">
                <a:solidFill>
                  <a:srgbClr val="8AE1D5"/>
                </a:solidFill>
                <a:latin typeface="Arial"/>
                <a:ea typeface="Arial"/>
                <a:cs typeface="Arial"/>
              </a:defRPr>
            </a:defPPr>
          </a:lstStyle>
          <a:p>
            <a:pPr algn="l">
              <a:lnSpc>
                <a:spcPct val="112000"/>
              </a:lnSpc>
              <a:buNone/>
              <a:defRPr sz="1950" b="1">
                <a:solidFill>
                  <a:srgbClr val="8AE1D5"/>
                </a:solidFill>
                <a:latin typeface="Arial"/>
                <a:ea typeface="Arial"/>
                <a:cs typeface="Arial"/>
              </a:defRPr>
            </a:pPr>
            <a:r>
              <a:rPr sz="1950" b="1">
                <a:solidFill>
                  <a:srgbClr val="8AE1D5"/>
                </a:solidFill>
                <a:latin typeface="Arial"/>
                <a:ea typeface="Arial"/>
                <a:cs typeface="Arial"/>
              </a:rPr>
              <a:t>Sapience</a:t>
            </a:r>
          </a:p>
        </p:txBody>
      </p:sp>
      <p:sp>
        <p:nvSpPr>
          <p:cNvPr id="6" name="page-11">
            <a:extLst>
              <a:ext uri="{FF2B5EF4-FFF2-40B4-BE49-F238E27FC236}">
                <a16:creationId xmlns:a16="http://schemas.microsoft.com/office/drawing/2014/main" id="{933BAC26-35F3-4609-9B3E-F11EE901280A}"/>
              </a:ext>
            </a:extLst>
          </p:cNvPr>
          <p:cNvSpPr>
            <a:spLocks noGrp="1"/>
          </p:cNvSpPr>
          <p:nvPr/>
        </p:nvSpPr>
        <p:spPr>
          <a:xfrm>
            <a:off x="10629900" y="6505575"/>
            <a:ext cx="952500" cy="276225"/>
          </a:xfrm>
          <a:prstGeom prst="rect">
            <a:avLst/>
          </a:prstGeom>
          <a:noFill/>
          <a:ln w="0">
            <a:noFill/>
          </a:ln>
        </p:spPr>
        <p:txBody>
          <a:bodyPr wrap="square" lIns="0" tIns="0" rIns="0" bIns="0" anchor="t">
            <a:noAutofit/>
          </a:bodyPr>
          <a:lstStyle>
            <a:defPPr algn="r">
              <a:defRPr sz="1575" b="0">
                <a:solidFill>
                  <a:srgbClr val="FFFFFF"/>
                </a:solidFill>
                <a:latin typeface="Arial"/>
                <a:ea typeface="Arial"/>
                <a:cs typeface="Arial"/>
              </a:defRPr>
            </a:defPPr>
          </a:lstStyle>
          <a:p>
            <a:pPr algn="r">
              <a:lnSpc>
                <a:spcPct val="112000"/>
              </a:lnSpc>
              <a:buNone/>
              <a:defRPr sz="1575" b="0">
                <a:solidFill>
                  <a:srgbClr val="FFFFFF"/>
                </a:solidFill>
                <a:latin typeface="Arial"/>
                <a:ea typeface="Arial"/>
                <a:cs typeface="Arial"/>
              </a:defRPr>
            </a:pPr>
            <a:r>
              <a:rPr sz="1575" b="0">
                <a:solidFill>
                  <a:srgbClr val="FFFFFF"/>
                </a:solidFill>
                <a:latin typeface="Arial"/>
                <a:ea typeface="Arial"/>
                <a:cs typeface="Arial"/>
              </a:rPr>
              <a:t>12 / 18</a:t>
            </a:r>
          </a:p>
        </p:txBody>
      </p:sp>
      <p:sp>
        <p:nvSpPr>
          <p:cNvPr id="7" name="text-304">
            <a:extLst>
              <a:ext uri="{FF2B5EF4-FFF2-40B4-BE49-F238E27FC236}">
                <a16:creationId xmlns:a16="http://schemas.microsoft.com/office/drawing/2014/main" id="{B8D79435-3F7D-46A3-9263-ADF4686B8C1F}"/>
              </a:ext>
            </a:extLst>
          </p:cNvPr>
          <p:cNvSpPr>
            <a:spLocks noGrp="1"/>
          </p:cNvSpPr>
          <p:nvPr/>
        </p:nvSpPr>
        <p:spPr>
          <a:xfrm>
            <a:off x="609600" y="1381125"/>
            <a:ext cx="10972800" cy="419100"/>
          </a:xfrm>
          <a:prstGeom prst="rect">
            <a:avLst/>
          </a:prstGeom>
          <a:noFill/>
          <a:ln w="0">
            <a:noFill/>
          </a:ln>
        </p:spPr>
        <p:txBody>
          <a:bodyPr wrap="square" lIns="0" tIns="0" rIns="0" bIns="0" anchor="t">
            <a:noAutofit/>
          </a:bodyPr>
          <a:lstStyle>
            <a:defPPr algn="l">
              <a:defRPr sz="2100" b="1">
                <a:solidFill>
                  <a:srgbClr val="006D77"/>
                </a:solidFill>
                <a:latin typeface="Arial"/>
                <a:ea typeface="Arial"/>
                <a:cs typeface="Arial"/>
              </a:defRPr>
            </a:defPPr>
          </a:lstStyle>
          <a:p>
            <a:pPr algn="l">
              <a:lnSpc>
                <a:spcPct val="112000"/>
              </a:lnSpc>
              <a:buNone/>
              <a:defRPr sz="2100" b="1">
                <a:solidFill>
                  <a:srgbClr val="006D77"/>
                </a:solidFill>
                <a:latin typeface="Arial"/>
                <a:ea typeface="Arial"/>
                <a:cs typeface="Arial"/>
              </a:defRPr>
            </a:pPr>
            <a:r>
              <a:rPr sz="2100" b="1">
                <a:solidFill>
                  <a:srgbClr val="006D77"/>
                </a:solidFill>
                <a:latin typeface="Arial"/>
                <a:ea typeface="Arial"/>
                <a:cs typeface="Arial"/>
              </a:rPr>
              <a:t>Planned evaluation across web and enterprise task environments</a:t>
            </a:r>
          </a:p>
        </p:txBody>
      </p:sp>
      <p:sp>
        <p:nvSpPr>
          <p:cNvPr id="8" name="text-305">
            <a:extLst>
              <a:ext uri="{FF2B5EF4-FFF2-40B4-BE49-F238E27FC236}">
                <a16:creationId xmlns:a16="http://schemas.microsoft.com/office/drawing/2014/main" id="{7DC549D0-0F23-49B9-BFD4-8CB13F2CED46}"/>
              </a:ext>
            </a:extLst>
          </p:cNvPr>
          <p:cNvSpPr>
            <a:spLocks noGrp="1"/>
          </p:cNvSpPr>
          <p:nvPr/>
        </p:nvSpPr>
        <p:spPr>
          <a:xfrm>
            <a:off x="609600" y="2162175"/>
            <a:ext cx="4953000" cy="419100"/>
          </a:xfrm>
          <a:prstGeom prst="rect">
            <a:avLst/>
          </a:prstGeom>
          <a:noFill/>
          <a:ln w="0">
            <a:noFill/>
          </a:ln>
        </p:spPr>
        <p:txBody>
          <a:bodyPr wrap="square" lIns="0" tIns="0" rIns="0" bIns="0" anchor="t">
            <a:noAutofit/>
          </a:bodyPr>
          <a:lstStyle>
            <a:defPPr algn="l">
              <a:defRPr sz="2325" b="1">
                <a:solidFill>
                  <a:srgbClr val="315E87"/>
                </a:solidFill>
                <a:latin typeface="Arial"/>
                <a:ea typeface="Arial"/>
                <a:cs typeface="Arial"/>
              </a:defRPr>
            </a:defPPr>
          </a:lstStyle>
          <a:p>
            <a:pPr algn="l">
              <a:lnSpc>
                <a:spcPct val="112000"/>
              </a:lnSpc>
              <a:buNone/>
              <a:defRPr sz="2325" b="1">
                <a:solidFill>
                  <a:srgbClr val="315E87"/>
                </a:solidFill>
                <a:latin typeface="Arial"/>
                <a:ea typeface="Arial"/>
                <a:cs typeface="Arial"/>
              </a:defRPr>
            </a:pPr>
            <a:r>
              <a:rPr sz="2325" b="1">
                <a:solidFill>
                  <a:srgbClr val="315E87"/>
                </a:solidFill>
                <a:latin typeface="Arial"/>
                <a:ea typeface="Arial"/>
                <a:cs typeface="Arial"/>
              </a:rPr>
              <a:t>WebArena</a:t>
            </a:r>
          </a:p>
        </p:txBody>
      </p:sp>
      <p:sp>
        <p:nvSpPr>
          <p:cNvPr id="9" name="citation-306">
            <a:extLst>
              <a:ext uri="{FF2B5EF4-FFF2-40B4-BE49-F238E27FC236}">
                <a16:creationId xmlns:a16="http://schemas.microsoft.com/office/drawing/2014/main" id="{A4872A7B-C038-4840-9F00-9D4139532EA1}"/>
              </a:ext>
            </a:extLst>
          </p:cNvPr>
          <p:cNvSpPr>
            <a:spLocks noGrp="1"/>
          </p:cNvSpPr>
          <p:nvPr/>
        </p:nvSpPr>
        <p:spPr>
          <a:xfrm>
            <a:off x="2112074" y="2095500"/>
            <a:ext cx="495300" cy="266700"/>
          </a:xfrm>
          <a:prstGeom prst="rect">
            <a:avLst/>
          </a:prstGeom>
          <a:noFill/>
          <a:ln w="0">
            <a:noFill/>
          </a:ln>
        </p:spPr>
        <p:txBody>
          <a:bodyPr wrap="square" lIns="0" tIns="0" rIns="0" bIns="0" anchor="t">
            <a:noAutofit/>
          </a:bodyPr>
          <a:lstStyle>
            <a:defPPr algn="l">
              <a:defRPr sz="1500" b="1">
                <a:solidFill>
                  <a:srgbClr val="315E87"/>
                </a:solidFill>
                <a:latin typeface="Arial"/>
                <a:ea typeface="Arial"/>
                <a:cs typeface="Arial"/>
              </a:defRPr>
            </a:defPPr>
          </a:lstStyle>
          <a:p>
            <a:pPr algn="l">
              <a:lnSpc>
                <a:spcPct val="112000"/>
              </a:lnSpc>
              <a:buNone/>
              <a:defRPr sz="1500" b="1">
                <a:solidFill>
                  <a:srgbClr val="315E87"/>
                </a:solidFill>
                <a:latin typeface="Arial"/>
                <a:ea typeface="Arial"/>
                <a:cs typeface="Arial"/>
              </a:defRPr>
            </a:pPr>
            <a:r>
              <a:rPr sz="1500" b="1">
                <a:solidFill>
                  <a:srgbClr val="315E87"/>
                </a:solidFill>
                <a:latin typeface="Arial"/>
                <a:ea typeface="Arial"/>
                <a:cs typeface="Arial"/>
              </a:rPr>
              <a:t>12</a:t>
            </a:r>
          </a:p>
        </p:txBody>
      </p:sp>
      <p:sp>
        <p:nvSpPr>
          <p:cNvPr id="10" name="text-307">
            <a:extLst>
              <a:ext uri="{FF2B5EF4-FFF2-40B4-BE49-F238E27FC236}">
                <a16:creationId xmlns:a16="http://schemas.microsoft.com/office/drawing/2014/main" id="{422E0AAE-0AA9-426E-9556-0D2CC2C7CB36}"/>
              </a:ext>
            </a:extLst>
          </p:cNvPr>
          <p:cNvSpPr>
            <a:spLocks noGrp="1"/>
          </p:cNvSpPr>
          <p:nvPr/>
        </p:nvSpPr>
        <p:spPr>
          <a:xfrm>
            <a:off x="609600" y="2752725"/>
            <a:ext cx="4953000" cy="771525"/>
          </a:xfrm>
          <a:prstGeom prst="rect">
            <a:avLst/>
          </a:prstGeom>
          <a:noFill/>
          <a:ln w="0">
            <a:noFill/>
          </a:ln>
        </p:spPr>
        <p:txBody>
          <a:bodyPr wrap="square" lIns="0" tIns="0" rIns="0" bIns="0" anchor="t">
            <a:noAutofit/>
          </a:bodyPr>
          <a:lstStyle>
            <a:defPPr algn="l">
              <a:defRPr sz="4875" b="1">
                <a:solidFill>
                  <a:srgbClr val="315E87"/>
                </a:solidFill>
                <a:latin typeface="Arial"/>
                <a:ea typeface="Arial"/>
                <a:cs typeface="Arial"/>
              </a:defRPr>
            </a:defPPr>
          </a:lstStyle>
          <a:p>
            <a:pPr algn="l">
              <a:lnSpc>
                <a:spcPct val="112000"/>
              </a:lnSpc>
              <a:buNone/>
              <a:defRPr sz="4875" b="1">
                <a:solidFill>
                  <a:srgbClr val="315E87"/>
                </a:solidFill>
                <a:latin typeface="Arial"/>
                <a:ea typeface="Arial"/>
                <a:cs typeface="Arial"/>
              </a:defRPr>
            </a:pPr>
            <a:r>
              <a:rPr sz="4875" b="1">
                <a:solidFill>
                  <a:srgbClr val="315E87"/>
                </a:solidFill>
                <a:latin typeface="Arial"/>
                <a:ea typeface="Arial"/>
                <a:cs typeface="Arial"/>
              </a:rPr>
              <a:t>812</a:t>
            </a:r>
          </a:p>
        </p:txBody>
      </p:sp>
      <p:sp>
        <p:nvSpPr>
          <p:cNvPr id="11" name="text-308">
            <a:extLst>
              <a:ext uri="{FF2B5EF4-FFF2-40B4-BE49-F238E27FC236}">
                <a16:creationId xmlns:a16="http://schemas.microsoft.com/office/drawing/2014/main" id="{781E96D2-A36F-428B-92B9-5DBA46E93CF4}"/>
              </a:ext>
            </a:extLst>
          </p:cNvPr>
          <p:cNvSpPr>
            <a:spLocks noGrp="1"/>
          </p:cNvSpPr>
          <p:nvPr/>
        </p:nvSpPr>
        <p:spPr>
          <a:xfrm>
            <a:off x="609600" y="3600450"/>
            <a:ext cx="4953000" cy="381000"/>
          </a:xfrm>
          <a:prstGeom prst="rect">
            <a:avLst/>
          </a:prstGeom>
          <a:noFill/>
          <a:ln w="0">
            <a:noFill/>
          </a:ln>
        </p:spPr>
        <p:txBody>
          <a:bodyPr wrap="square" lIns="0" tIns="0" rIns="0" bIns="0" anchor="t">
            <a:noAutofit/>
          </a:bodyPr>
          <a:lstStyle>
            <a:defPPr algn="l">
              <a:defRPr sz="1875" b="0">
                <a:solidFill>
                  <a:srgbClr val="17324A"/>
                </a:solidFill>
                <a:latin typeface="Arial"/>
                <a:ea typeface="Arial"/>
                <a:cs typeface="Arial"/>
              </a:defRPr>
            </a:defPPr>
          </a:lstStyle>
          <a:p>
            <a:pPr algn="l">
              <a:lnSpc>
                <a:spcPct val="112000"/>
              </a:lnSpc>
              <a:buNone/>
              <a:defRPr sz="1875" b="0">
                <a:solidFill>
                  <a:srgbClr val="17324A"/>
                </a:solidFill>
                <a:latin typeface="Arial"/>
                <a:ea typeface="Arial"/>
                <a:cs typeface="Arial"/>
              </a:defRPr>
            </a:pPr>
            <a:r>
              <a:rPr sz="1875" b="0">
                <a:solidFill>
                  <a:srgbClr val="17324A"/>
                </a:solidFill>
                <a:latin typeface="Arial"/>
                <a:ea typeface="Arial"/>
                <a:cs typeface="Arial"/>
              </a:rPr>
              <a:t>tasks in the original benchmark</a:t>
            </a:r>
          </a:p>
        </p:txBody>
      </p:sp>
      <p:sp>
        <p:nvSpPr>
          <p:cNvPr id="12" name="text-309">
            <a:extLst>
              <a:ext uri="{FF2B5EF4-FFF2-40B4-BE49-F238E27FC236}">
                <a16:creationId xmlns:a16="http://schemas.microsoft.com/office/drawing/2014/main" id="{FC6714F1-BE60-4094-9843-E73D087D5744}"/>
              </a:ext>
            </a:extLst>
          </p:cNvPr>
          <p:cNvSpPr>
            <a:spLocks noGrp="1"/>
          </p:cNvSpPr>
          <p:nvPr/>
        </p:nvSpPr>
        <p:spPr>
          <a:xfrm>
            <a:off x="609600" y="4210050"/>
            <a:ext cx="4953000" cy="1200150"/>
          </a:xfrm>
          <a:prstGeom prst="rect">
            <a:avLst/>
          </a:prstGeom>
          <a:noFill/>
          <a:ln w="0">
            <a:noFill/>
          </a:ln>
        </p:spPr>
        <p:txBody>
          <a:bodyPr wrap="square" lIns="0" tIns="0" rIns="0" bIns="0" anchor="t">
            <a:noAutofit/>
          </a:bodyPr>
          <a:lstStyle>
            <a:defPPr algn="l">
              <a:defRPr sz="1800" b="0">
                <a:solidFill>
                  <a:srgbClr val="17324A"/>
                </a:solidFill>
                <a:latin typeface="Arial"/>
                <a:ea typeface="Arial"/>
                <a:cs typeface="Arial"/>
              </a:defRPr>
            </a:defPPr>
          </a:lstStyle>
          <a:p>
            <a:pPr algn="l">
              <a:lnSpc>
                <a:spcPct val="112000"/>
              </a:lnSpc>
              <a:buNone/>
              <a:defRPr sz="1800" b="0">
                <a:solidFill>
                  <a:srgbClr val="17324A"/>
                </a:solidFill>
                <a:latin typeface="Arial"/>
                <a:ea typeface="Arial"/>
                <a:cs typeface="Arial"/>
              </a:defRPr>
            </a:pPr>
            <a:r>
              <a:rPr sz="1800" b="0">
                <a:solidFill>
                  <a:srgbClr val="17324A"/>
                </a:solidFill>
                <a:latin typeface="Arial"/>
                <a:ea typeface="Arial"/>
                <a:cs typeface="Arial"/>
              </a:rPr>
              <a:t>Self-hosted shopping, forums, code and content</a:t>
            </a:r>
          </a:p>
          <a:p>
            <a:pPr algn="l">
              <a:lnSpc>
                <a:spcPct val="112000"/>
              </a:lnSpc>
              <a:buNone/>
              <a:defRPr sz="1800" b="0">
                <a:solidFill>
                  <a:srgbClr val="17324A"/>
                </a:solidFill>
                <a:latin typeface="Arial"/>
                <a:ea typeface="Arial"/>
                <a:cs typeface="Arial"/>
              </a:defRPr>
            </a:pPr>
            <a:r>
              <a:rPr sz="1800" b="0">
                <a:solidFill>
                  <a:srgbClr val="17324A"/>
                </a:solidFill>
                <a:latin typeface="Arial"/>
                <a:ea typeface="Arial"/>
                <a:cs typeface="Arial"/>
              </a:rPr>
              <a:t>Functional completion of declared tasks</a:t>
            </a:r>
          </a:p>
          <a:p>
            <a:pPr algn="l">
              <a:lnSpc>
                <a:spcPct val="112000"/>
              </a:lnSpc>
              <a:buNone/>
              <a:defRPr sz="1800" b="0">
                <a:solidFill>
                  <a:srgbClr val="17324A"/>
                </a:solidFill>
                <a:latin typeface="Arial"/>
                <a:ea typeface="Arial"/>
                <a:cs typeface="Arial"/>
              </a:defRPr>
            </a:pPr>
            <a:r>
              <a:rPr sz="1800" b="0">
                <a:solidFill>
                  <a:srgbClr val="17324A"/>
                </a:solidFill>
                <a:latin typeface="Arial"/>
                <a:ea typeface="Arial"/>
                <a:cs typeface="Arial"/>
              </a:rPr>
              <a:t>Fixed budgets and observation permissions</a:t>
            </a:r>
          </a:p>
        </p:txBody>
      </p:sp>
      <p:sp>
        <p:nvSpPr>
          <p:cNvPr id="13" name="shape-310">
            <a:extLst>
              <a:ext uri="{FF2B5EF4-FFF2-40B4-BE49-F238E27FC236}">
                <a16:creationId xmlns:a16="http://schemas.microsoft.com/office/drawing/2014/main" id="{F0189572-7368-42DC-A244-C71CC5DFC93C}"/>
              </a:ext>
            </a:extLst>
          </p:cNvPr>
          <p:cNvSpPr>
            <a:spLocks noGrp="1"/>
          </p:cNvSpPr>
          <p:nvPr/>
        </p:nvSpPr>
        <p:spPr>
          <a:xfrm>
            <a:off x="6096000" y="2162175"/>
            <a:ext cx="14288" cy="3067050"/>
          </a:xfrm>
          <a:prstGeom prst="rect">
            <a:avLst/>
          </a:prstGeom>
          <a:solidFill>
            <a:srgbClr val="CDD7D9"/>
          </a:solidFill>
          <a:ln w="0">
            <a:noFill/>
          </a:ln>
        </p:spPr>
      </p:sp>
      <p:sp>
        <p:nvSpPr>
          <p:cNvPr id="14" name="text-311">
            <a:extLst>
              <a:ext uri="{FF2B5EF4-FFF2-40B4-BE49-F238E27FC236}">
                <a16:creationId xmlns:a16="http://schemas.microsoft.com/office/drawing/2014/main" id="{C433EC1A-6E43-44D1-A5FB-866C14418BBA}"/>
              </a:ext>
            </a:extLst>
          </p:cNvPr>
          <p:cNvSpPr>
            <a:spLocks noGrp="1"/>
          </p:cNvSpPr>
          <p:nvPr/>
        </p:nvSpPr>
        <p:spPr>
          <a:xfrm>
            <a:off x="6705600" y="2162175"/>
            <a:ext cx="4876800" cy="419100"/>
          </a:xfrm>
          <a:prstGeom prst="rect">
            <a:avLst/>
          </a:prstGeom>
          <a:noFill/>
          <a:ln w="0">
            <a:noFill/>
          </a:ln>
        </p:spPr>
        <p:txBody>
          <a:bodyPr wrap="square" lIns="0" tIns="0" rIns="0" bIns="0" anchor="t">
            <a:noAutofit/>
          </a:bodyPr>
          <a:lstStyle>
            <a:defPPr algn="l">
              <a:defRPr sz="2325" b="1">
                <a:solidFill>
                  <a:srgbClr val="006D77"/>
                </a:solidFill>
                <a:latin typeface="Arial"/>
                <a:ea typeface="Arial"/>
                <a:cs typeface="Arial"/>
              </a:defRPr>
            </a:defPPr>
          </a:lstStyle>
          <a:p>
            <a:pPr algn="l">
              <a:lnSpc>
                <a:spcPct val="112000"/>
              </a:lnSpc>
              <a:buNone/>
              <a:defRPr sz="2325" b="1">
                <a:solidFill>
                  <a:srgbClr val="006D77"/>
                </a:solidFill>
                <a:latin typeface="Arial"/>
                <a:ea typeface="Arial"/>
                <a:cs typeface="Arial"/>
              </a:defRPr>
            </a:pPr>
            <a:r>
              <a:rPr sz="2325" b="1">
                <a:solidFill>
                  <a:srgbClr val="006D77"/>
                </a:solidFill>
                <a:latin typeface="Arial"/>
                <a:ea typeface="Arial"/>
                <a:cs typeface="Arial"/>
              </a:rPr>
              <a:t>WWI / ERP task suite</a:t>
            </a:r>
          </a:p>
        </p:txBody>
      </p:sp>
      <p:sp>
        <p:nvSpPr>
          <p:cNvPr id="15" name="text-312">
            <a:extLst>
              <a:ext uri="{FF2B5EF4-FFF2-40B4-BE49-F238E27FC236}">
                <a16:creationId xmlns:a16="http://schemas.microsoft.com/office/drawing/2014/main" id="{473D9169-48E0-441D-AF9A-CA45B0452A68}"/>
              </a:ext>
            </a:extLst>
          </p:cNvPr>
          <p:cNvSpPr>
            <a:spLocks noGrp="1"/>
          </p:cNvSpPr>
          <p:nvPr/>
        </p:nvSpPr>
        <p:spPr>
          <a:xfrm>
            <a:off x="6705600" y="2752725"/>
            <a:ext cx="4876800" cy="771525"/>
          </a:xfrm>
          <a:prstGeom prst="rect">
            <a:avLst/>
          </a:prstGeom>
          <a:noFill/>
          <a:ln w="0">
            <a:noFill/>
          </a:ln>
        </p:spPr>
        <p:txBody>
          <a:bodyPr wrap="square" lIns="0" tIns="0" rIns="0" bIns="0" anchor="t">
            <a:noAutofit/>
          </a:bodyPr>
          <a:lstStyle>
            <a:defPPr algn="l">
              <a:defRPr sz="4500" b="1">
                <a:solidFill>
                  <a:srgbClr val="006D77"/>
                </a:solidFill>
                <a:latin typeface="Arial"/>
                <a:ea typeface="Arial"/>
                <a:cs typeface="Arial"/>
              </a:defRPr>
            </a:defPPr>
          </a:lstStyle>
          <a:p>
            <a:pPr algn="l">
              <a:lnSpc>
                <a:spcPct val="112000"/>
              </a:lnSpc>
              <a:buNone/>
              <a:defRPr sz="4500" b="1">
                <a:solidFill>
                  <a:srgbClr val="006D77"/>
                </a:solidFill>
                <a:latin typeface="Arial"/>
                <a:ea typeface="Arial"/>
                <a:cs typeface="Arial"/>
              </a:defRPr>
            </a:pPr>
            <a:r>
              <a:rPr sz="4500" b="1">
                <a:solidFill>
                  <a:srgbClr val="006D77"/>
                </a:solidFill>
                <a:latin typeface="Arial"/>
                <a:ea typeface="Arial"/>
                <a:cs typeface="Arial"/>
              </a:rPr>
              <a:t>12 + 18</a:t>
            </a:r>
          </a:p>
        </p:txBody>
      </p:sp>
      <p:sp>
        <p:nvSpPr>
          <p:cNvPr id="16" name="text-313">
            <a:extLst>
              <a:ext uri="{FF2B5EF4-FFF2-40B4-BE49-F238E27FC236}">
                <a16:creationId xmlns:a16="http://schemas.microsoft.com/office/drawing/2014/main" id="{72B78407-C55A-41EC-B60F-F2D61E6D2A82}"/>
              </a:ext>
            </a:extLst>
          </p:cNvPr>
          <p:cNvSpPr>
            <a:spLocks noGrp="1"/>
          </p:cNvSpPr>
          <p:nvPr/>
        </p:nvSpPr>
        <p:spPr>
          <a:xfrm>
            <a:off x="6705600" y="3600450"/>
            <a:ext cx="4876800" cy="381000"/>
          </a:xfrm>
          <a:prstGeom prst="rect">
            <a:avLst/>
          </a:prstGeom>
          <a:noFill/>
          <a:ln w="0">
            <a:noFill/>
          </a:ln>
        </p:spPr>
        <p:txBody>
          <a:bodyPr wrap="square" lIns="0" tIns="0" rIns="0" bIns="0" anchor="t">
            <a:noAutofit/>
          </a:bodyPr>
          <a:lstStyle>
            <a:defPPr algn="l">
              <a:defRPr sz="1875" b="0">
                <a:solidFill>
                  <a:srgbClr val="17324A"/>
                </a:solidFill>
                <a:latin typeface="Arial"/>
                <a:ea typeface="Arial"/>
                <a:cs typeface="Arial"/>
              </a:defRPr>
            </a:defPPr>
          </a:lstStyle>
          <a:p>
            <a:pPr algn="l">
              <a:lnSpc>
                <a:spcPct val="112000"/>
              </a:lnSpc>
              <a:buNone/>
              <a:defRPr sz="1875" b="0">
                <a:solidFill>
                  <a:srgbClr val="17324A"/>
                </a:solidFill>
                <a:latin typeface="Arial"/>
                <a:ea typeface="Arial"/>
                <a:cs typeface="Arial"/>
              </a:defRPr>
            </a:pPr>
            <a:r>
              <a:rPr sz="1875" b="0">
                <a:solidFill>
                  <a:srgbClr val="17324A"/>
                </a:solidFill>
                <a:latin typeface="Arial"/>
                <a:ea typeface="Arial"/>
                <a:cs typeface="Arial"/>
              </a:rPr>
              <a:t>development + held-out tasks</a:t>
            </a:r>
          </a:p>
        </p:txBody>
      </p:sp>
      <p:sp>
        <p:nvSpPr>
          <p:cNvPr id="17" name="text-314">
            <a:extLst>
              <a:ext uri="{FF2B5EF4-FFF2-40B4-BE49-F238E27FC236}">
                <a16:creationId xmlns:a16="http://schemas.microsoft.com/office/drawing/2014/main" id="{1A7A623C-B2A6-49D3-BA76-2AF431EE8D29}"/>
              </a:ext>
            </a:extLst>
          </p:cNvPr>
          <p:cNvSpPr>
            <a:spLocks noGrp="1"/>
          </p:cNvSpPr>
          <p:nvPr/>
        </p:nvSpPr>
        <p:spPr>
          <a:xfrm>
            <a:off x="6705600" y="4210050"/>
            <a:ext cx="4876800" cy="1200150"/>
          </a:xfrm>
          <a:prstGeom prst="rect">
            <a:avLst/>
          </a:prstGeom>
          <a:noFill/>
          <a:ln w="0">
            <a:noFill/>
          </a:ln>
        </p:spPr>
        <p:txBody>
          <a:bodyPr wrap="square" lIns="0" tIns="0" rIns="0" bIns="0" anchor="t">
            <a:noAutofit/>
          </a:bodyPr>
          <a:lstStyle>
            <a:defPPr algn="l">
              <a:defRPr sz="1800" b="0">
                <a:solidFill>
                  <a:srgbClr val="17324A"/>
                </a:solidFill>
                <a:latin typeface="Arial"/>
                <a:ea typeface="Arial"/>
                <a:cs typeface="Arial"/>
              </a:defRPr>
            </a:defPPr>
          </a:lstStyle>
          <a:p>
            <a:pPr algn="l">
              <a:lnSpc>
                <a:spcPct val="112000"/>
              </a:lnSpc>
              <a:buNone/>
              <a:defRPr sz="1800" b="0">
                <a:solidFill>
                  <a:srgbClr val="17324A"/>
                </a:solidFill>
                <a:latin typeface="Arial"/>
                <a:ea typeface="Arial"/>
                <a:cs typeface="Arial"/>
              </a:defRPr>
            </a:pPr>
            <a:r>
              <a:rPr sz="1800" b="0">
                <a:solidFill>
                  <a:srgbClr val="17324A"/>
                </a:solidFill>
                <a:latin typeface="Arial"/>
                <a:ea typeface="Arial"/>
                <a:cs typeface="Arial"/>
              </a:rPr>
              <a:t>Business values and applied scope</a:t>
            </a:r>
          </a:p>
          <a:p>
            <a:pPr algn="l">
              <a:lnSpc>
                <a:spcPct val="112000"/>
              </a:lnSpc>
              <a:buNone/>
              <a:defRPr sz="1800" b="0">
                <a:solidFill>
                  <a:srgbClr val="17324A"/>
                </a:solidFill>
                <a:latin typeface="Arial"/>
                <a:ea typeface="Arial"/>
                <a:cs typeface="Arial"/>
              </a:defRPr>
            </a:pPr>
            <a:r>
              <a:rPr sz="1800" b="0">
                <a:solidFill>
                  <a:srgbClr val="17324A"/>
                </a:solidFill>
                <a:latin typeface="Arial"/>
                <a:ea typeface="Arial"/>
                <a:cs typeface="Arial"/>
              </a:rPr>
              <a:t>Follow-up context and supporting evidence</a:t>
            </a:r>
          </a:p>
          <a:p>
            <a:pPr algn="l">
              <a:lnSpc>
                <a:spcPct val="112000"/>
              </a:lnSpc>
              <a:buNone/>
              <a:defRPr sz="1800" b="0">
                <a:solidFill>
                  <a:srgbClr val="17324A"/>
                </a:solidFill>
                <a:latin typeface="Arial"/>
                <a:ea typeface="Arial"/>
                <a:cs typeface="Arial"/>
              </a:defRPr>
            </a:pPr>
            <a:r>
              <a:rPr sz="1800" b="0">
                <a:solidFill>
                  <a:srgbClr val="17324A"/>
                </a:solidFill>
                <a:latin typeface="Arial"/>
                <a:ea typeface="Arial"/>
                <a:cs typeface="Arial"/>
              </a:rPr>
              <a:t>Observed destination and recovery</a:t>
            </a:r>
          </a:p>
        </p:txBody>
      </p:sp>
      <p:sp>
        <p:nvSpPr>
          <p:cNvPr id="18" name="shape-315">
            <a:extLst>
              <a:ext uri="{FF2B5EF4-FFF2-40B4-BE49-F238E27FC236}">
                <a16:creationId xmlns:a16="http://schemas.microsoft.com/office/drawing/2014/main" id="{8F17DC8D-BFE5-4D31-A28B-C8637C123869}"/>
              </a:ext>
            </a:extLst>
          </p:cNvPr>
          <p:cNvSpPr>
            <a:spLocks noGrp="1"/>
          </p:cNvSpPr>
          <p:nvPr/>
        </p:nvSpPr>
        <p:spPr>
          <a:xfrm>
            <a:off x="609600" y="5562600"/>
            <a:ext cx="10972800" cy="14288"/>
          </a:xfrm>
          <a:prstGeom prst="rect">
            <a:avLst/>
          </a:prstGeom>
          <a:solidFill>
            <a:srgbClr val="CDD7D9"/>
          </a:solidFill>
          <a:ln w="0">
            <a:noFill/>
          </a:ln>
        </p:spPr>
      </p:sp>
      <p:sp>
        <p:nvSpPr>
          <p:cNvPr id="19" name="text-316">
            <a:extLst>
              <a:ext uri="{FF2B5EF4-FFF2-40B4-BE49-F238E27FC236}">
                <a16:creationId xmlns:a16="http://schemas.microsoft.com/office/drawing/2014/main" id="{9CB824F0-13AB-4F44-9C8F-8C12392997FC}"/>
              </a:ext>
            </a:extLst>
          </p:cNvPr>
          <p:cNvSpPr>
            <a:spLocks noGrp="1"/>
          </p:cNvSpPr>
          <p:nvPr/>
        </p:nvSpPr>
        <p:spPr>
          <a:xfrm>
            <a:off x="609600" y="5657850"/>
            <a:ext cx="10972800" cy="323850"/>
          </a:xfrm>
          <a:prstGeom prst="rect">
            <a:avLst/>
          </a:prstGeom>
          <a:noFill/>
          <a:ln w="0">
            <a:noFill/>
          </a:ln>
        </p:spPr>
        <p:txBody>
          <a:bodyPr wrap="square" lIns="0" tIns="0" rIns="0" bIns="0" anchor="t">
            <a:noAutofit/>
          </a:bodyPr>
          <a:lstStyle>
            <a:defPPr algn="l">
              <a:defRPr sz="2025" b="1">
                <a:solidFill>
                  <a:srgbClr val="17324A"/>
                </a:solidFill>
                <a:latin typeface="Arial"/>
                <a:ea typeface="Arial"/>
                <a:cs typeface="Arial"/>
              </a:defRPr>
            </a:defPPr>
          </a:lstStyle>
          <a:p>
            <a:pPr algn="l">
              <a:lnSpc>
                <a:spcPct val="112000"/>
              </a:lnSpc>
              <a:buNone/>
              <a:defRPr sz="2025" b="1">
                <a:solidFill>
                  <a:srgbClr val="17324A"/>
                </a:solidFill>
                <a:latin typeface="Arial"/>
                <a:ea typeface="Arial"/>
                <a:cs typeface="Arial"/>
              </a:defRPr>
            </a:pPr>
            <a:r>
              <a:rPr sz="2025" b="1">
                <a:solidFill>
                  <a:srgbClr val="17324A"/>
                </a:solidFill>
                <a:latin typeface="Arial"/>
                <a:ea typeface="Arial"/>
                <a:cs typeface="Arial"/>
              </a:rPr>
              <a:t>Separate environments and scores</a:t>
            </a:r>
          </a:p>
        </p:txBody>
      </p:sp>
      <p:sp>
        <p:nvSpPr>
          <p:cNvPr id="20" name="text-317">
            <a:extLst>
              <a:ext uri="{FF2B5EF4-FFF2-40B4-BE49-F238E27FC236}">
                <a16:creationId xmlns:a16="http://schemas.microsoft.com/office/drawing/2014/main" id="{D51FC2A5-8FF5-41A6-BEF0-CE1BD7FE6E37}"/>
              </a:ext>
            </a:extLst>
          </p:cNvPr>
          <p:cNvSpPr>
            <a:spLocks noGrp="1"/>
          </p:cNvSpPr>
          <p:nvPr/>
        </p:nvSpPr>
        <p:spPr>
          <a:xfrm>
            <a:off x="609600" y="6029325"/>
            <a:ext cx="10972800" cy="285750"/>
          </a:xfrm>
          <a:prstGeom prst="rect">
            <a:avLst/>
          </a:prstGeom>
          <a:noFill/>
          <a:ln w="0">
            <a:noFill/>
          </a:ln>
        </p:spPr>
        <p:txBody>
          <a:bodyPr wrap="square" lIns="0" tIns="0" rIns="0" bIns="0" anchor="t">
            <a:noAutofit/>
          </a:bodyPr>
          <a:lstStyle>
            <a:defPPr algn="l">
              <a:defRPr sz="1500" b="0">
                <a:solidFill>
                  <a:srgbClr val="4D6270"/>
                </a:solidFill>
                <a:latin typeface="Arial"/>
                <a:ea typeface="Arial"/>
                <a:cs typeface="Arial"/>
              </a:defRPr>
            </a:defPPr>
          </a:lstStyle>
          <a:p>
            <a:pPr algn="l">
              <a:lnSpc>
                <a:spcPct val="112000"/>
              </a:lnSpc>
              <a:buNone/>
              <a:defRPr sz="1500" b="0">
                <a:solidFill>
                  <a:srgbClr val="4D6270"/>
                </a:solidFill>
                <a:latin typeface="Arial"/>
                <a:ea typeface="Arial"/>
                <a:cs typeface="Arial"/>
              </a:defRPr>
            </a:pPr>
            <a:r>
              <a:rPr sz="1500" b="0">
                <a:solidFill>
                  <a:srgbClr val="4D6270"/>
                </a:solidFill>
                <a:latin typeface="Arial"/>
                <a:ea typeface="Arial"/>
                <a:cs typeface="Arial"/>
              </a:rPr>
              <a:t>Added API or semantic-context access creates an adapted WebArena protocol, reported separately.</a:t>
            </a:r>
          </a:p>
        </p:txBody>
      </p:sp>
      <p:pic>
        <p:nvPicPr>
          <p:cNvPr id="21" name="Picture 20">
            <a:extLst>
              <a:ext uri="{FF2B5EF4-FFF2-40B4-BE49-F238E27FC236}">
                <a16:creationId xmlns:a16="http://schemas.microsoft.com/office/drawing/2014/main" id="{BAA600A7-8AA5-487A-973D-0CC0F433ED43}"/>
              </a:ext>
            </a:extLst>
          </p:cNvPr>
          <p:cNvPicPr>
            <a:picLocks noChangeAspect="1"/>
          </p:cNvPicPr>
          <p:nvPr/>
        </p:nvPicPr>
        <p:blipFill>
          <a:blip r:embed="rId3"/>
          <a:stretch/>
        </p:blipFill>
        <p:spPr>
          <a:xfrm>
            <a:off x="9220220" y="295275"/>
            <a:ext cx="2362160" cy="442436"/>
          </a:xfrm>
          <a:prstGeom prst="rect">
            <a:avLst/>
          </a:prstGeom>
        </p:spPr>
      </p:pic>
    </p:spTree>
    <p:extLst>
      <p:ext uri="{BB962C8B-B14F-4D97-AF65-F5344CB8AC3E}">
        <p14:creationId xmlns:p14="http://schemas.microsoft.com/office/powerpoint/2010/main" val="4009794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2" name="shape-318">
            <a:extLst>
              <a:ext uri="{FF2B5EF4-FFF2-40B4-BE49-F238E27FC236}">
                <a16:creationId xmlns:a16="http://schemas.microsoft.com/office/drawing/2014/main" id="{FC1169AB-5671-45AE-AF57-958CDB9BF17A}"/>
              </a:ext>
            </a:extLst>
          </p:cNvPr>
          <p:cNvSpPr>
            <a:spLocks noGrp="1"/>
          </p:cNvSpPr>
          <p:nvPr/>
        </p:nvSpPr>
        <p:spPr>
          <a:xfrm>
            <a:off x="0" y="0"/>
            <a:ext cx="12192000" cy="1066800"/>
          </a:xfrm>
          <a:prstGeom prst="rect">
            <a:avLst/>
          </a:prstGeom>
          <a:solidFill>
            <a:srgbClr val="F2F6F7"/>
          </a:solidFill>
          <a:ln w="0">
            <a:noFill/>
          </a:ln>
        </p:spPr>
      </p:sp>
      <p:sp>
        <p:nvSpPr>
          <p:cNvPr id="2" name="shape-319">
            <a:extLst>
              <a:ext uri="{FF2B5EF4-FFF2-40B4-BE49-F238E27FC236}">
                <a16:creationId xmlns:a16="http://schemas.microsoft.com/office/drawing/2014/main" id="{ED7113AD-0B45-4C58-B7EB-9FC96FCA9F64}"/>
              </a:ext>
            </a:extLst>
          </p:cNvPr>
          <p:cNvSpPr>
            <a:spLocks noGrp="1"/>
          </p:cNvSpPr>
          <p:nvPr/>
        </p:nvSpPr>
        <p:spPr>
          <a:xfrm>
            <a:off x="0" y="1038225"/>
            <a:ext cx="12192000" cy="28575"/>
          </a:xfrm>
          <a:prstGeom prst="rect">
            <a:avLst/>
          </a:prstGeom>
          <a:solidFill>
            <a:srgbClr val="006D77"/>
          </a:solidFill>
          <a:ln w="0">
            <a:noFill/>
          </a:ln>
        </p:spPr>
      </p:sp>
      <p:sp>
        <p:nvSpPr>
          <p:cNvPr id="3" name="slide-12-title">
            <a:extLst>
              <a:ext uri="{FF2B5EF4-FFF2-40B4-BE49-F238E27FC236}">
                <a16:creationId xmlns:a16="http://schemas.microsoft.com/office/drawing/2014/main" id="{45570A08-F719-4F02-98BA-EE31591239EC}"/>
              </a:ext>
            </a:extLst>
          </p:cNvPr>
          <p:cNvSpPr>
            <a:spLocks noGrp="1"/>
          </p:cNvSpPr>
          <p:nvPr/>
        </p:nvSpPr>
        <p:spPr>
          <a:xfrm>
            <a:off x="609600" y="304800"/>
            <a:ext cx="8239125" cy="542925"/>
          </a:xfrm>
          <a:prstGeom prst="rect">
            <a:avLst/>
          </a:prstGeom>
          <a:noFill/>
          <a:ln w="0">
            <a:noFill/>
          </a:ln>
        </p:spPr>
        <p:txBody>
          <a:bodyPr wrap="square" lIns="0" tIns="0" rIns="0" bIns="0" anchor="t">
            <a:noAutofit/>
          </a:bodyPr>
          <a:lstStyle>
            <a:defPPr algn="l">
              <a:defRPr sz="3150" b="1">
                <a:solidFill>
                  <a:srgbClr val="102A43"/>
                </a:solidFill>
                <a:latin typeface="Arial"/>
                <a:ea typeface="Arial"/>
                <a:cs typeface="Arial"/>
              </a:defRPr>
            </a:defPPr>
          </a:lstStyle>
          <a:p>
            <a:pPr algn="l">
              <a:lnSpc>
                <a:spcPct val="112000"/>
              </a:lnSpc>
              <a:buNone/>
              <a:defRPr sz="3150" b="1">
                <a:solidFill>
                  <a:srgbClr val="102A43"/>
                </a:solidFill>
                <a:latin typeface="Arial"/>
                <a:ea typeface="Arial"/>
                <a:cs typeface="Arial"/>
              </a:defRPr>
            </a:pPr>
            <a:r>
              <a:rPr sz="3150" b="1">
                <a:solidFill>
                  <a:srgbClr val="102A43"/>
                </a:solidFill>
                <a:latin typeface="Arial"/>
                <a:ea typeface="Arial"/>
                <a:cs typeface="Arial"/>
              </a:rPr>
              <a:t>Research references</a:t>
            </a:r>
          </a:p>
        </p:txBody>
      </p:sp>
      <p:sp>
        <p:nvSpPr>
          <p:cNvPr id="4" name="shape-320">
            <a:extLst>
              <a:ext uri="{FF2B5EF4-FFF2-40B4-BE49-F238E27FC236}">
                <a16:creationId xmlns:a16="http://schemas.microsoft.com/office/drawing/2014/main" id="{20A379CE-91A5-4C53-A2FE-9EAE8E5C6C8A}"/>
              </a:ext>
            </a:extLst>
          </p:cNvPr>
          <p:cNvSpPr>
            <a:spLocks noGrp="1"/>
          </p:cNvSpPr>
          <p:nvPr/>
        </p:nvSpPr>
        <p:spPr>
          <a:xfrm>
            <a:off x="0" y="6381750"/>
            <a:ext cx="12192000" cy="476250"/>
          </a:xfrm>
          <a:prstGeom prst="rect">
            <a:avLst/>
          </a:prstGeom>
          <a:solidFill>
            <a:srgbClr val="102A43"/>
          </a:solidFill>
          <a:ln w="0">
            <a:noFill/>
          </a:ln>
        </p:spPr>
      </p:sp>
      <p:sp>
        <p:nvSpPr>
          <p:cNvPr id="5" name="brand-12">
            <a:extLst>
              <a:ext uri="{FF2B5EF4-FFF2-40B4-BE49-F238E27FC236}">
                <a16:creationId xmlns:a16="http://schemas.microsoft.com/office/drawing/2014/main" id="{4379010E-E486-4DBE-8CE6-50DBFE2EC7CC}"/>
              </a:ext>
            </a:extLst>
          </p:cNvPr>
          <p:cNvSpPr>
            <a:spLocks noGrp="1"/>
          </p:cNvSpPr>
          <p:nvPr/>
        </p:nvSpPr>
        <p:spPr>
          <a:xfrm>
            <a:off x="609600" y="6467475"/>
            <a:ext cx="3429000" cy="333375"/>
          </a:xfrm>
          <a:prstGeom prst="rect">
            <a:avLst/>
          </a:prstGeom>
          <a:noFill/>
          <a:ln w="0">
            <a:noFill/>
          </a:ln>
        </p:spPr>
        <p:txBody>
          <a:bodyPr wrap="square" lIns="0" tIns="0" rIns="0" bIns="0" anchor="t">
            <a:noAutofit/>
          </a:bodyPr>
          <a:lstStyle>
            <a:defPPr algn="l">
              <a:defRPr sz="1950" b="1">
                <a:solidFill>
                  <a:srgbClr val="8AE1D5"/>
                </a:solidFill>
                <a:latin typeface="Arial"/>
                <a:ea typeface="Arial"/>
                <a:cs typeface="Arial"/>
              </a:defRPr>
            </a:defPPr>
          </a:lstStyle>
          <a:p>
            <a:pPr algn="l">
              <a:lnSpc>
                <a:spcPct val="112000"/>
              </a:lnSpc>
              <a:buNone/>
              <a:defRPr sz="1950" b="1">
                <a:solidFill>
                  <a:srgbClr val="8AE1D5"/>
                </a:solidFill>
                <a:latin typeface="Arial"/>
                <a:ea typeface="Arial"/>
                <a:cs typeface="Arial"/>
              </a:defRPr>
            </a:pPr>
            <a:r>
              <a:rPr sz="1950" b="1">
                <a:solidFill>
                  <a:srgbClr val="8AE1D5"/>
                </a:solidFill>
                <a:latin typeface="Arial"/>
                <a:ea typeface="Arial"/>
                <a:cs typeface="Arial"/>
              </a:rPr>
              <a:t>Sapience</a:t>
            </a:r>
          </a:p>
        </p:txBody>
      </p:sp>
      <p:sp>
        <p:nvSpPr>
          <p:cNvPr id="6" name="page-12">
            <a:extLst>
              <a:ext uri="{FF2B5EF4-FFF2-40B4-BE49-F238E27FC236}">
                <a16:creationId xmlns:a16="http://schemas.microsoft.com/office/drawing/2014/main" id="{9F6007F5-4928-423C-9B17-436A7CCCCC36}"/>
              </a:ext>
            </a:extLst>
          </p:cNvPr>
          <p:cNvSpPr>
            <a:spLocks noGrp="1"/>
          </p:cNvSpPr>
          <p:nvPr/>
        </p:nvSpPr>
        <p:spPr>
          <a:xfrm>
            <a:off x="10629900" y="6505575"/>
            <a:ext cx="952500" cy="276225"/>
          </a:xfrm>
          <a:prstGeom prst="rect">
            <a:avLst/>
          </a:prstGeom>
          <a:noFill/>
          <a:ln w="0">
            <a:noFill/>
          </a:ln>
        </p:spPr>
        <p:txBody>
          <a:bodyPr wrap="square" lIns="0" tIns="0" rIns="0" bIns="0" anchor="t">
            <a:noAutofit/>
          </a:bodyPr>
          <a:lstStyle>
            <a:defPPr algn="r">
              <a:defRPr sz="1575" b="0">
                <a:solidFill>
                  <a:srgbClr val="FFFFFF"/>
                </a:solidFill>
                <a:latin typeface="Arial"/>
                <a:ea typeface="Arial"/>
                <a:cs typeface="Arial"/>
              </a:defRPr>
            </a:defPPr>
          </a:lstStyle>
          <a:p>
            <a:pPr algn="r">
              <a:lnSpc>
                <a:spcPct val="112000"/>
              </a:lnSpc>
              <a:buNone/>
              <a:defRPr sz="1575" b="0">
                <a:solidFill>
                  <a:srgbClr val="FFFFFF"/>
                </a:solidFill>
                <a:latin typeface="Arial"/>
                <a:ea typeface="Arial"/>
                <a:cs typeface="Arial"/>
              </a:defRPr>
            </a:pPr>
            <a:r>
              <a:rPr sz="1575" b="0">
                <a:solidFill>
                  <a:srgbClr val="FFFFFF"/>
                </a:solidFill>
                <a:latin typeface="Arial"/>
                <a:ea typeface="Arial"/>
                <a:cs typeface="Arial"/>
              </a:rPr>
              <a:t>16 / 18</a:t>
            </a:r>
          </a:p>
        </p:txBody>
      </p:sp>
      <p:sp>
        <p:nvSpPr>
          <p:cNvPr id="7" name="text-321">
            <a:extLst>
              <a:ext uri="{FF2B5EF4-FFF2-40B4-BE49-F238E27FC236}">
                <a16:creationId xmlns:a16="http://schemas.microsoft.com/office/drawing/2014/main" id="{0D5E147E-318D-46A0-B98C-5D2DA5C88B2B}"/>
              </a:ext>
            </a:extLst>
          </p:cNvPr>
          <p:cNvSpPr>
            <a:spLocks noGrp="1"/>
          </p:cNvSpPr>
          <p:nvPr/>
        </p:nvSpPr>
        <p:spPr>
          <a:xfrm>
            <a:off x="609600" y="1419225"/>
            <a:ext cx="523875" cy="323850"/>
          </a:xfrm>
          <a:prstGeom prst="rect">
            <a:avLst/>
          </a:prstGeom>
          <a:noFill/>
          <a:ln w="0">
            <a:noFill/>
          </a:ln>
        </p:spPr>
        <p:txBody>
          <a:bodyPr wrap="square" lIns="0" tIns="0" rIns="0" bIns="0" anchor="t">
            <a:noAutofit/>
          </a:bodyPr>
          <a:lstStyle>
            <a:defPPr algn="l">
              <a:defRPr sz="1800" b="1">
                <a:solidFill>
                  <a:srgbClr val="006D77"/>
                </a:solidFill>
                <a:latin typeface="Arial"/>
                <a:ea typeface="Arial"/>
                <a:cs typeface="Arial"/>
              </a:defRPr>
            </a:defPPr>
          </a:lstStyle>
          <a:p>
            <a:pPr algn="l">
              <a:lnSpc>
                <a:spcPct val="112000"/>
              </a:lnSpc>
              <a:buNone/>
              <a:defRPr sz="1800" b="1">
                <a:solidFill>
                  <a:srgbClr val="006D77"/>
                </a:solidFill>
                <a:latin typeface="Arial"/>
                <a:ea typeface="Arial"/>
                <a:cs typeface="Arial"/>
              </a:defRPr>
            </a:pPr>
            <a:r>
              <a:rPr sz="1800" b="1">
                <a:solidFill>
                  <a:srgbClr val="006D77"/>
                </a:solidFill>
                <a:latin typeface="Arial"/>
                <a:ea typeface="Arial"/>
                <a:cs typeface="Arial"/>
              </a:rPr>
              <a:t>01</a:t>
            </a:r>
          </a:p>
        </p:txBody>
      </p:sp>
      <p:sp>
        <p:nvSpPr>
          <p:cNvPr id="8" name="text-322">
            <a:extLst>
              <a:ext uri="{FF2B5EF4-FFF2-40B4-BE49-F238E27FC236}">
                <a16:creationId xmlns:a16="http://schemas.microsoft.com/office/drawing/2014/main" id="{E9BBA2C8-50FE-4809-96DF-158B8BD69F54}"/>
              </a:ext>
            </a:extLst>
          </p:cNvPr>
          <p:cNvSpPr>
            <a:spLocks noGrp="1"/>
          </p:cNvSpPr>
          <p:nvPr/>
        </p:nvSpPr>
        <p:spPr>
          <a:xfrm>
            <a:off x="1247775" y="1419225"/>
            <a:ext cx="4429125" cy="685800"/>
          </a:xfrm>
          <a:prstGeom prst="rect">
            <a:avLst/>
          </a:prstGeom>
          <a:noFill/>
          <a:ln w="0">
            <a:noFill/>
          </a:ln>
        </p:spPr>
        <p:txBody>
          <a:bodyPr wrap="square" lIns="0" tIns="0" rIns="0" bIns="0" anchor="t">
            <a:noAutofit/>
          </a:bodyPr>
          <a:lstStyle>
            <a:defPPr algn="l">
              <a:defRPr sz="1725" b="1">
                <a:solidFill>
                  <a:srgbClr val="17324A"/>
                </a:solidFill>
                <a:latin typeface="Arial"/>
                <a:ea typeface="Arial"/>
                <a:cs typeface="Arial"/>
              </a:defRPr>
            </a:defPPr>
          </a:lstStyle>
          <a:p>
            <a:pPr algn="l">
              <a:lnSpc>
                <a:spcPct val="112000"/>
              </a:lnSpc>
              <a:buNone/>
              <a:defRPr sz="1725" b="1">
                <a:solidFill>
                  <a:srgbClr val="17324A"/>
                </a:solidFill>
                <a:latin typeface="Arial"/>
                <a:ea typeface="Arial"/>
                <a:cs typeface="Arial"/>
              </a:defRPr>
            </a:pPr>
            <a:r>
              <a:rPr sz="1725" b="1">
                <a:solidFill>
                  <a:srgbClr val="17324A"/>
                </a:solidFill>
                <a:latin typeface="Arial"/>
                <a:ea typeface="Arial"/>
                <a:cs typeface="Arial"/>
                <a:hlinkClick r:id="rId3"/>
              </a:rPr>
              <a:t>WebVoyager: End-to-End</a:t>
            </a:r>
          </a:p>
          <a:p>
            <a:pPr algn="l">
              <a:lnSpc>
                <a:spcPct val="112000"/>
              </a:lnSpc>
              <a:buNone/>
              <a:defRPr sz="1725" b="1">
                <a:solidFill>
                  <a:srgbClr val="17324A"/>
                </a:solidFill>
                <a:latin typeface="Arial"/>
                <a:ea typeface="Arial"/>
                <a:cs typeface="Arial"/>
              </a:defRPr>
            </a:pPr>
            <a:r>
              <a:rPr sz="1725" b="1">
                <a:solidFill>
                  <a:srgbClr val="17324A"/>
                </a:solidFill>
                <a:latin typeface="Arial"/>
                <a:ea typeface="Arial"/>
                <a:cs typeface="Arial"/>
                <a:hlinkClick r:id="rId3"/>
              </a:rPr>
              <a:t>Web Agent</a:t>
            </a:r>
          </a:p>
        </p:txBody>
      </p:sp>
      <p:sp>
        <p:nvSpPr>
          <p:cNvPr id="9" name="text-323">
            <a:extLst>
              <a:ext uri="{FF2B5EF4-FFF2-40B4-BE49-F238E27FC236}">
                <a16:creationId xmlns:a16="http://schemas.microsoft.com/office/drawing/2014/main" id="{42AD9F1B-72BA-4C0D-A318-3B990977D87D}"/>
              </a:ext>
            </a:extLst>
          </p:cNvPr>
          <p:cNvSpPr>
            <a:spLocks noGrp="1"/>
          </p:cNvSpPr>
          <p:nvPr/>
        </p:nvSpPr>
        <p:spPr>
          <a:xfrm>
            <a:off x="1247775" y="2028825"/>
            <a:ext cx="4429125" cy="304800"/>
          </a:xfrm>
          <a:prstGeom prst="rect">
            <a:avLst/>
          </a:prstGeom>
          <a:noFill/>
          <a:ln w="0">
            <a:noFill/>
          </a:ln>
        </p:spPr>
        <p:txBody>
          <a:bodyPr wrap="square" lIns="0" tIns="0" rIns="0" bIns="0" anchor="t">
            <a:noAutofit/>
          </a:bodyPr>
          <a:lstStyle>
            <a:defPPr algn="l">
              <a:defRPr sz="1575" b="0">
                <a:solidFill>
                  <a:srgbClr val="4D6270"/>
                </a:solidFill>
                <a:latin typeface="Arial"/>
                <a:ea typeface="Arial"/>
                <a:cs typeface="Arial"/>
              </a:defRPr>
            </a:defPPr>
          </a:lstStyle>
          <a:p>
            <a:pPr algn="l">
              <a:lnSpc>
                <a:spcPct val="112000"/>
              </a:lnSpc>
              <a:buNone/>
              <a:defRPr sz="1575" b="0">
                <a:solidFill>
                  <a:srgbClr val="4D6270"/>
                </a:solidFill>
                <a:latin typeface="Arial"/>
                <a:ea typeface="Arial"/>
                <a:cs typeface="Arial"/>
              </a:defRPr>
            </a:pPr>
            <a:r>
              <a:rPr sz="1575" b="0">
                <a:solidFill>
                  <a:srgbClr val="4D6270"/>
                </a:solidFill>
                <a:latin typeface="Arial"/>
                <a:ea typeface="Arial"/>
                <a:cs typeface="Arial"/>
              </a:rPr>
              <a:t>He et al.  /  ACL 2024</a:t>
            </a:r>
          </a:p>
        </p:txBody>
      </p:sp>
      <p:sp>
        <p:nvSpPr>
          <p:cNvPr id="10" name="text-324">
            <a:extLst>
              <a:ext uri="{FF2B5EF4-FFF2-40B4-BE49-F238E27FC236}">
                <a16:creationId xmlns:a16="http://schemas.microsoft.com/office/drawing/2014/main" id="{6D134DA9-5671-410E-BBA1-06324B089CEF}"/>
              </a:ext>
            </a:extLst>
          </p:cNvPr>
          <p:cNvSpPr>
            <a:spLocks noGrp="1"/>
          </p:cNvSpPr>
          <p:nvPr/>
        </p:nvSpPr>
        <p:spPr>
          <a:xfrm>
            <a:off x="609600" y="2562225"/>
            <a:ext cx="523875" cy="323850"/>
          </a:xfrm>
          <a:prstGeom prst="rect">
            <a:avLst/>
          </a:prstGeom>
          <a:noFill/>
          <a:ln w="0">
            <a:noFill/>
          </a:ln>
        </p:spPr>
        <p:txBody>
          <a:bodyPr wrap="square" lIns="0" tIns="0" rIns="0" bIns="0" anchor="t">
            <a:noAutofit/>
          </a:bodyPr>
          <a:lstStyle>
            <a:defPPr algn="l">
              <a:defRPr sz="1800" b="1">
                <a:solidFill>
                  <a:srgbClr val="006D77"/>
                </a:solidFill>
                <a:latin typeface="Arial"/>
                <a:ea typeface="Arial"/>
                <a:cs typeface="Arial"/>
              </a:defRPr>
            </a:defPPr>
          </a:lstStyle>
          <a:p>
            <a:pPr algn="l">
              <a:lnSpc>
                <a:spcPct val="112000"/>
              </a:lnSpc>
              <a:buNone/>
              <a:defRPr sz="1800" b="1">
                <a:solidFill>
                  <a:srgbClr val="006D77"/>
                </a:solidFill>
                <a:latin typeface="Arial"/>
                <a:ea typeface="Arial"/>
                <a:cs typeface="Arial"/>
              </a:defRPr>
            </a:pPr>
            <a:r>
              <a:rPr sz="1800" b="1">
                <a:solidFill>
                  <a:srgbClr val="006D77"/>
                </a:solidFill>
                <a:latin typeface="Arial"/>
                <a:ea typeface="Arial"/>
                <a:cs typeface="Arial"/>
              </a:rPr>
              <a:t>02</a:t>
            </a:r>
          </a:p>
        </p:txBody>
      </p:sp>
      <p:sp>
        <p:nvSpPr>
          <p:cNvPr id="11" name="text-325">
            <a:extLst>
              <a:ext uri="{FF2B5EF4-FFF2-40B4-BE49-F238E27FC236}">
                <a16:creationId xmlns:a16="http://schemas.microsoft.com/office/drawing/2014/main" id="{42D18301-48CF-4A12-9C3B-E7FD0B886F3D}"/>
              </a:ext>
            </a:extLst>
          </p:cNvPr>
          <p:cNvSpPr>
            <a:spLocks noGrp="1"/>
          </p:cNvSpPr>
          <p:nvPr/>
        </p:nvSpPr>
        <p:spPr>
          <a:xfrm>
            <a:off x="1247775" y="2562225"/>
            <a:ext cx="4429125" cy="685800"/>
          </a:xfrm>
          <a:prstGeom prst="rect">
            <a:avLst/>
          </a:prstGeom>
          <a:noFill/>
          <a:ln w="0">
            <a:noFill/>
          </a:ln>
        </p:spPr>
        <p:txBody>
          <a:bodyPr wrap="square" lIns="0" tIns="0" rIns="0" bIns="0" anchor="t">
            <a:noAutofit/>
          </a:bodyPr>
          <a:lstStyle>
            <a:defPPr algn="l">
              <a:defRPr sz="1725" b="1">
                <a:solidFill>
                  <a:srgbClr val="17324A"/>
                </a:solidFill>
                <a:latin typeface="Arial"/>
                <a:ea typeface="Arial"/>
                <a:cs typeface="Arial"/>
              </a:defRPr>
            </a:defPPr>
          </a:lstStyle>
          <a:p>
            <a:pPr algn="l">
              <a:lnSpc>
                <a:spcPct val="112000"/>
              </a:lnSpc>
              <a:buNone/>
              <a:defRPr sz="1725" b="1">
                <a:solidFill>
                  <a:srgbClr val="17324A"/>
                </a:solidFill>
                <a:latin typeface="Arial"/>
                <a:ea typeface="Arial"/>
                <a:cs typeface="Arial"/>
              </a:defRPr>
            </a:pPr>
            <a:r>
              <a:rPr sz="1725" b="1">
                <a:solidFill>
                  <a:srgbClr val="17324A"/>
                </a:solidFill>
                <a:latin typeface="Arial"/>
                <a:ea typeface="Arial"/>
                <a:cs typeface="Arial"/>
                <a:hlinkClick r:id="rId4"/>
              </a:rPr>
              <a:t>Beyond Browsing:</a:t>
            </a:r>
          </a:p>
          <a:p>
            <a:pPr algn="l">
              <a:lnSpc>
                <a:spcPct val="112000"/>
              </a:lnSpc>
              <a:buNone/>
              <a:defRPr sz="1725" b="1">
                <a:solidFill>
                  <a:srgbClr val="17324A"/>
                </a:solidFill>
                <a:latin typeface="Arial"/>
                <a:ea typeface="Arial"/>
                <a:cs typeface="Arial"/>
              </a:defRPr>
            </a:pPr>
            <a:r>
              <a:rPr sz="1725" b="1">
                <a:solidFill>
                  <a:srgbClr val="17324A"/>
                </a:solidFill>
                <a:latin typeface="Arial"/>
                <a:ea typeface="Arial"/>
                <a:cs typeface="Arial"/>
                <a:hlinkClick r:id="rId4"/>
              </a:rPr>
              <a:t>API-Based Web Agents</a:t>
            </a:r>
          </a:p>
        </p:txBody>
      </p:sp>
      <p:sp>
        <p:nvSpPr>
          <p:cNvPr id="12" name="text-326">
            <a:extLst>
              <a:ext uri="{FF2B5EF4-FFF2-40B4-BE49-F238E27FC236}">
                <a16:creationId xmlns:a16="http://schemas.microsoft.com/office/drawing/2014/main" id="{64F40D10-05B7-4E6B-975B-EA7298E165D3}"/>
              </a:ext>
            </a:extLst>
          </p:cNvPr>
          <p:cNvSpPr>
            <a:spLocks noGrp="1"/>
          </p:cNvSpPr>
          <p:nvPr/>
        </p:nvSpPr>
        <p:spPr>
          <a:xfrm>
            <a:off x="1247775" y="3171825"/>
            <a:ext cx="4429125" cy="304800"/>
          </a:xfrm>
          <a:prstGeom prst="rect">
            <a:avLst/>
          </a:prstGeom>
          <a:noFill/>
          <a:ln w="0">
            <a:noFill/>
          </a:ln>
        </p:spPr>
        <p:txBody>
          <a:bodyPr wrap="square" lIns="0" tIns="0" rIns="0" bIns="0" anchor="t">
            <a:noAutofit/>
          </a:bodyPr>
          <a:lstStyle>
            <a:defPPr algn="l">
              <a:defRPr sz="1575" b="0">
                <a:solidFill>
                  <a:srgbClr val="4D6270"/>
                </a:solidFill>
                <a:latin typeface="Arial"/>
                <a:ea typeface="Arial"/>
                <a:cs typeface="Arial"/>
              </a:defRPr>
            </a:defPPr>
          </a:lstStyle>
          <a:p>
            <a:pPr algn="l">
              <a:lnSpc>
                <a:spcPct val="112000"/>
              </a:lnSpc>
              <a:buNone/>
              <a:defRPr sz="1575" b="0">
                <a:solidFill>
                  <a:srgbClr val="4D6270"/>
                </a:solidFill>
                <a:latin typeface="Arial"/>
                <a:ea typeface="Arial"/>
                <a:cs typeface="Arial"/>
              </a:defRPr>
            </a:pPr>
            <a:r>
              <a:rPr sz="1575" b="0">
                <a:solidFill>
                  <a:srgbClr val="4D6270"/>
                </a:solidFill>
                <a:latin typeface="Arial"/>
                <a:ea typeface="Arial"/>
                <a:cs typeface="Arial"/>
              </a:rPr>
              <a:t>Song et al.  /  2025</a:t>
            </a:r>
          </a:p>
        </p:txBody>
      </p:sp>
      <p:sp>
        <p:nvSpPr>
          <p:cNvPr id="13" name="text-327">
            <a:extLst>
              <a:ext uri="{FF2B5EF4-FFF2-40B4-BE49-F238E27FC236}">
                <a16:creationId xmlns:a16="http://schemas.microsoft.com/office/drawing/2014/main" id="{6ED6D1EF-9488-44CF-AB00-DE199F48905E}"/>
              </a:ext>
            </a:extLst>
          </p:cNvPr>
          <p:cNvSpPr>
            <a:spLocks noGrp="1"/>
          </p:cNvSpPr>
          <p:nvPr/>
        </p:nvSpPr>
        <p:spPr>
          <a:xfrm>
            <a:off x="609600" y="3705225"/>
            <a:ext cx="523875" cy="323850"/>
          </a:xfrm>
          <a:prstGeom prst="rect">
            <a:avLst/>
          </a:prstGeom>
          <a:noFill/>
          <a:ln w="0">
            <a:noFill/>
          </a:ln>
        </p:spPr>
        <p:txBody>
          <a:bodyPr wrap="square" lIns="0" tIns="0" rIns="0" bIns="0" anchor="t">
            <a:noAutofit/>
          </a:bodyPr>
          <a:lstStyle>
            <a:defPPr algn="l">
              <a:defRPr sz="1800" b="1">
                <a:solidFill>
                  <a:srgbClr val="006D77"/>
                </a:solidFill>
                <a:latin typeface="Arial"/>
                <a:ea typeface="Arial"/>
                <a:cs typeface="Arial"/>
              </a:defRPr>
            </a:defPPr>
          </a:lstStyle>
          <a:p>
            <a:pPr algn="l">
              <a:lnSpc>
                <a:spcPct val="112000"/>
              </a:lnSpc>
              <a:buNone/>
              <a:defRPr sz="1800" b="1">
                <a:solidFill>
                  <a:srgbClr val="006D77"/>
                </a:solidFill>
                <a:latin typeface="Arial"/>
                <a:ea typeface="Arial"/>
                <a:cs typeface="Arial"/>
              </a:defRPr>
            </a:pPr>
            <a:r>
              <a:rPr sz="1800" b="1">
                <a:solidFill>
                  <a:srgbClr val="006D77"/>
                </a:solidFill>
                <a:latin typeface="Arial"/>
                <a:ea typeface="Arial"/>
                <a:cs typeface="Arial"/>
              </a:rPr>
              <a:t>03</a:t>
            </a:r>
          </a:p>
        </p:txBody>
      </p:sp>
      <p:sp>
        <p:nvSpPr>
          <p:cNvPr id="14" name="text-328">
            <a:extLst>
              <a:ext uri="{FF2B5EF4-FFF2-40B4-BE49-F238E27FC236}">
                <a16:creationId xmlns:a16="http://schemas.microsoft.com/office/drawing/2014/main" id="{FC14F678-024E-499F-B1C6-7CDE52BE628A}"/>
              </a:ext>
            </a:extLst>
          </p:cNvPr>
          <p:cNvSpPr>
            <a:spLocks noGrp="1"/>
          </p:cNvSpPr>
          <p:nvPr/>
        </p:nvSpPr>
        <p:spPr>
          <a:xfrm>
            <a:off x="1247775" y="3705225"/>
            <a:ext cx="4429125" cy="685800"/>
          </a:xfrm>
          <a:prstGeom prst="rect">
            <a:avLst/>
          </a:prstGeom>
          <a:noFill/>
          <a:ln w="0">
            <a:noFill/>
          </a:ln>
        </p:spPr>
        <p:txBody>
          <a:bodyPr wrap="square" lIns="0" tIns="0" rIns="0" bIns="0" anchor="t">
            <a:noAutofit/>
          </a:bodyPr>
          <a:lstStyle>
            <a:defPPr algn="l">
              <a:defRPr sz="1725" b="1">
                <a:solidFill>
                  <a:srgbClr val="17324A"/>
                </a:solidFill>
                <a:latin typeface="Arial"/>
                <a:ea typeface="Arial"/>
                <a:cs typeface="Arial"/>
              </a:defRPr>
            </a:defPPr>
          </a:lstStyle>
          <a:p>
            <a:pPr algn="l">
              <a:lnSpc>
                <a:spcPct val="112000"/>
              </a:lnSpc>
              <a:buNone/>
              <a:defRPr sz="1725" b="1">
                <a:solidFill>
                  <a:srgbClr val="17324A"/>
                </a:solidFill>
                <a:latin typeface="Arial"/>
                <a:ea typeface="Arial"/>
                <a:cs typeface="Arial"/>
              </a:defRPr>
            </a:pPr>
            <a:r>
              <a:rPr sz="1725" b="1">
                <a:solidFill>
                  <a:srgbClr val="17324A"/>
                </a:solidFill>
                <a:latin typeface="Arial"/>
                <a:ea typeface="Arial"/>
                <a:cs typeface="Arial"/>
                <a:hlinkClick r:id="rId5"/>
              </a:rPr>
              <a:t>VACP: Visual Analytics</a:t>
            </a:r>
          </a:p>
          <a:p>
            <a:pPr algn="l">
              <a:lnSpc>
                <a:spcPct val="112000"/>
              </a:lnSpc>
              <a:buNone/>
              <a:defRPr sz="1725" b="1">
                <a:solidFill>
                  <a:srgbClr val="17324A"/>
                </a:solidFill>
                <a:latin typeface="Arial"/>
                <a:ea typeface="Arial"/>
                <a:cs typeface="Arial"/>
              </a:defRPr>
            </a:pPr>
            <a:r>
              <a:rPr sz="1725" b="1">
                <a:solidFill>
                  <a:srgbClr val="17324A"/>
                </a:solidFill>
                <a:latin typeface="Arial"/>
                <a:ea typeface="Arial"/>
                <a:cs typeface="Arial"/>
                <a:hlinkClick r:id="rId5"/>
              </a:rPr>
              <a:t>Context Protocol</a:t>
            </a:r>
          </a:p>
        </p:txBody>
      </p:sp>
      <p:sp>
        <p:nvSpPr>
          <p:cNvPr id="15" name="text-329">
            <a:extLst>
              <a:ext uri="{FF2B5EF4-FFF2-40B4-BE49-F238E27FC236}">
                <a16:creationId xmlns:a16="http://schemas.microsoft.com/office/drawing/2014/main" id="{563FCF1A-B702-42BE-BB6B-6F185F394A96}"/>
              </a:ext>
            </a:extLst>
          </p:cNvPr>
          <p:cNvSpPr>
            <a:spLocks noGrp="1"/>
          </p:cNvSpPr>
          <p:nvPr/>
        </p:nvSpPr>
        <p:spPr>
          <a:xfrm>
            <a:off x="1247775" y="4314825"/>
            <a:ext cx="4429125" cy="304800"/>
          </a:xfrm>
          <a:prstGeom prst="rect">
            <a:avLst/>
          </a:prstGeom>
          <a:noFill/>
          <a:ln w="0">
            <a:noFill/>
          </a:ln>
        </p:spPr>
        <p:txBody>
          <a:bodyPr wrap="square" lIns="0" tIns="0" rIns="0" bIns="0" anchor="t">
            <a:noAutofit/>
          </a:bodyPr>
          <a:lstStyle>
            <a:defPPr algn="l">
              <a:defRPr sz="1575" b="0">
                <a:solidFill>
                  <a:srgbClr val="4D6270"/>
                </a:solidFill>
                <a:latin typeface="Arial"/>
                <a:ea typeface="Arial"/>
                <a:cs typeface="Arial"/>
              </a:defRPr>
            </a:defPPr>
          </a:lstStyle>
          <a:p>
            <a:pPr algn="l">
              <a:lnSpc>
                <a:spcPct val="112000"/>
              </a:lnSpc>
              <a:buNone/>
              <a:defRPr sz="1575" b="0">
                <a:solidFill>
                  <a:srgbClr val="4D6270"/>
                </a:solidFill>
                <a:latin typeface="Arial"/>
                <a:ea typeface="Arial"/>
                <a:cs typeface="Arial"/>
              </a:defRPr>
            </a:pPr>
            <a:r>
              <a:rPr sz="1575" b="0">
                <a:solidFill>
                  <a:srgbClr val="4D6270"/>
                </a:solidFill>
                <a:latin typeface="Arial"/>
                <a:ea typeface="Arial"/>
                <a:cs typeface="Arial"/>
              </a:rPr>
              <a:t>Stähle et al.  /  2026</a:t>
            </a:r>
          </a:p>
        </p:txBody>
      </p:sp>
      <p:sp>
        <p:nvSpPr>
          <p:cNvPr id="16" name="text-330">
            <a:extLst>
              <a:ext uri="{FF2B5EF4-FFF2-40B4-BE49-F238E27FC236}">
                <a16:creationId xmlns:a16="http://schemas.microsoft.com/office/drawing/2014/main" id="{01478E23-DE5D-4771-B627-EB284C3EDC81}"/>
              </a:ext>
            </a:extLst>
          </p:cNvPr>
          <p:cNvSpPr>
            <a:spLocks noGrp="1"/>
          </p:cNvSpPr>
          <p:nvPr/>
        </p:nvSpPr>
        <p:spPr>
          <a:xfrm>
            <a:off x="609600" y="4848225"/>
            <a:ext cx="523875" cy="323850"/>
          </a:xfrm>
          <a:prstGeom prst="rect">
            <a:avLst/>
          </a:prstGeom>
          <a:noFill/>
          <a:ln w="0">
            <a:noFill/>
          </a:ln>
        </p:spPr>
        <p:txBody>
          <a:bodyPr wrap="square" lIns="0" tIns="0" rIns="0" bIns="0" anchor="t">
            <a:noAutofit/>
          </a:bodyPr>
          <a:lstStyle>
            <a:defPPr algn="l">
              <a:defRPr sz="1800" b="1">
                <a:solidFill>
                  <a:srgbClr val="006D77"/>
                </a:solidFill>
                <a:latin typeface="Arial"/>
                <a:ea typeface="Arial"/>
                <a:cs typeface="Arial"/>
              </a:defRPr>
            </a:defPPr>
          </a:lstStyle>
          <a:p>
            <a:pPr algn="l">
              <a:lnSpc>
                <a:spcPct val="112000"/>
              </a:lnSpc>
              <a:buNone/>
              <a:defRPr sz="1800" b="1">
                <a:solidFill>
                  <a:srgbClr val="006D77"/>
                </a:solidFill>
                <a:latin typeface="Arial"/>
                <a:ea typeface="Arial"/>
                <a:cs typeface="Arial"/>
              </a:defRPr>
            </a:pPr>
            <a:r>
              <a:rPr sz="1800" b="1">
                <a:solidFill>
                  <a:srgbClr val="006D77"/>
                </a:solidFill>
                <a:latin typeface="Arial"/>
                <a:ea typeface="Arial"/>
                <a:cs typeface="Arial"/>
              </a:rPr>
              <a:t>04</a:t>
            </a:r>
          </a:p>
        </p:txBody>
      </p:sp>
      <p:sp>
        <p:nvSpPr>
          <p:cNvPr id="17" name="text-331">
            <a:extLst>
              <a:ext uri="{FF2B5EF4-FFF2-40B4-BE49-F238E27FC236}">
                <a16:creationId xmlns:a16="http://schemas.microsoft.com/office/drawing/2014/main" id="{C9CB84A3-B0A6-4BF5-8BFE-74014EABCC62}"/>
              </a:ext>
            </a:extLst>
          </p:cNvPr>
          <p:cNvSpPr>
            <a:spLocks noGrp="1"/>
          </p:cNvSpPr>
          <p:nvPr/>
        </p:nvSpPr>
        <p:spPr>
          <a:xfrm>
            <a:off x="1247775" y="4848225"/>
            <a:ext cx="4429125" cy="685800"/>
          </a:xfrm>
          <a:prstGeom prst="rect">
            <a:avLst/>
          </a:prstGeom>
          <a:noFill/>
          <a:ln w="0">
            <a:noFill/>
          </a:ln>
        </p:spPr>
        <p:txBody>
          <a:bodyPr wrap="square" lIns="0" tIns="0" rIns="0" bIns="0" anchor="t">
            <a:noAutofit/>
          </a:bodyPr>
          <a:lstStyle>
            <a:defPPr algn="l">
              <a:defRPr sz="1725" b="1">
                <a:solidFill>
                  <a:srgbClr val="17324A"/>
                </a:solidFill>
                <a:latin typeface="Arial"/>
                <a:ea typeface="Arial"/>
                <a:cs typeface="Arial"/>
              </a:defRPr>
            </a:defPPr>
          </a:lstStyle>
          <a:p>
            <a:pPr algn="l">
              <a:lnSpc>
                <a:spcPct val="112000"/>
              </a:lnSpc>
              <a:buNone/>
              <a:defRPr sz="1725" b="1">
                <a:solidFill>
                  <a:srgbClr val="17324A"/>
                </a:solidFill>
                <a:latin typeface="Arial"/>
                <a:ea typeface="Arial"/>
                <a:cs typeface="Arial"/>
              </a:defRPr>
            </a:pPr>
            <a:r>
              <a:rPr sz="1725" b="1">
                <a:solidFill>
                  <a:srgbClr val="17324A"/>
                </a:solidFill>
                <a:latin typeface="Arial"/>
                <a:ea typeface="Arial"/>
                <a:cs typeface="Arial"/>
                <a:hlinkClick r:id="rId6"/>
              </a:rPr>
              <a:t>LedgerAgent: Structured State for</a:t>
            </a:r>
          </a:p>
          <a:p>
            <a:pPr algn="l">
              <a:lnSpc>
                <a:spcPct val="112000"/>
              </a:lnSpc>
              <a:buNone/>
              <a:defRPr sz="1725" b="1">
                <a:solidFill>
                  <a:srgbClr val="17324A"/>
                </a:solidFill>
                <a:latin typeface="Arial"/>
                <a:ea typeface="Arial"/>
                <a:cs typeface="Arial"/>
              </a:defRPr>
            </a:pPr>
            <a:r>
              <a:rPr sz="1725" b="1">
                <a:solidFill>
                  <a:srgbClr val="17324A"/>
                </a:solidFill>
                <a:latin typeface="Arial"/>
                <a:ea typeface="Arial"/>
                <a:cs typeface="Arial"/>
                <a:hlinkClick r:id="rId6"/>
              </a:rPr>
              <a:t>Tool-Calling Agents</a:t>
            </a:r>
          </a:p>
        </p:txBody>
      </p:sp>
      <p:sp>
        <p:nvSpPr>
          <p:cNvPr id="18" name="text-332">
            <a:extLst>
              <a:ext uri="{FF2B5EF4-FFF2-40B4-BE49-F238E27FC236}">
                <a16:creationId xmlns:a16="http://schemas.microsoft.com/office/drawing/2014/main" id="{EDB214E3-8E76-493B-AD12-95E471EEC963}"/>
              </a:ext>
            </a:extLst>
          </p:cNvPr>
          <p:cNvSpPr>
            <a:spLocks noGrp="1"/>
          </p:cNvSpPr>
          <p:nvPr/>
        </p:nvSpPr>
        <p:spPr>
          <a:xfrm>
            <a:off x="1247775" y="5457825"/>
            <a:ext cx="4429125" cy="304800"/>
          </a:xfrm>
          <a:prstGeom prst="rect">
            <a:avLst/>
          </a:prstGeom>
          <a:noFill/>
          <a:ln w="0">
            <a:noFill/>
          </a:ln>
        </p:spPr>
        <p:txBody>
          <a:bodyPr wrap="square" lIns="0" tIns="0" rIns="0" bIns="0" anchor="t">
            <a:noAutofit/>
          </a:bodyPr>
          <a:lstStyle>
            <a:defPPr algn="l">
              <a:defRPr sz="1575" b="0">
                <a:solidFill>
                  <a:srgbClr val="4D6270"/>
                </a:solidFill>
                <a:latin typeface="Arial"/>
                <a:ea typeface="Arial"/>
                <a:cs typeface="Arial"/>
              </a:defRPr>
            </a:defPPr>
          </a:lstStyle>
          <a:p>
            <a:pPr algn="l">
              <a:lnSpc>
                <a:spcPct val="112000"/>
              </a:lnSpc>
              <a:buNone/>
              <a:defRPr sz="1575" b="0">
                <a:solidFill>
                  <a:srgbClr val="4D6270"/>
                </a:solidFill>
                <a:latin typeface="Arial"/>
                <a:ea typeface="Arial"/>
                <a:cs typeface="Arial"/>
              </a:defRPr>
            </a:pPr>
            <a:r>
              <a:rPr sz="1575" b="0">
                <a:solidFill>
                  <a:srgbClr val="4D6270"/>
                </a:solidFill>
                <a:latin typeface="Arial"/>
                <a:ea typeface="Arial"/>
                <a:cs typeface="Arial"/>
              </a:rPr>
              <a:t>Uddin et al.  /  2026</a:t>
            </a:r>
          </a:p>
        </p:txBody>
      </p:sp>
      <p:sp>
        <p:nvSpPr>
          <p:cNvPr id="19" name="text-333">
            <a:extLst>
              <a:ext uri="{FF2B5EF4-FFF2-40B4-BE49-F238E27FC236}">
                <a16:creationId xmlns:a16="http://schemas.microsoft.com/office/drawing/2014/main" id="{8BC9058A-049F-4790-9789-ABCE5E1F4608}"/>
              </a:ext>
            </a:extLst>
          </p:cNvPr>
          <p:cNvSpPr>
            <a:spLocks noGrp="1"/>
          </p:cNvSpPr>
          <p:nvPr/>
        </p:nvSpPr>
        <p:spPr>
          <a:xfrm>
            <a:off x="6477000" y="1419225"/>
            <a:ext cx="523875" cy="323850"/>
          </a:xfrm>
          <a:prstGeom prst="rect">
            <a:avLst/>
          </a:prstGeom>
          <a:noFill/>
          <a:ln w="0">
            <a:noFill/>
          </a:ln>
        </p:spPr>
        <p:txBody>
          <a:bodyPr wrap="square" lIns="0" tIns="0" rIns="0" bIns="0" anchor="t">
            <a:noAutofit/>
          </a:bodyPr>
          <a:lstStyle>
            <a:defPPr algn="l">
              <a:defRPr sz="1800" b="1">
                <a:solidFill>
                  <a:srgbClr val="006D77"/>
                </a:solidFill>
                <a:latin typeface="Arial"/>
                <a:ea typeface="Arial"/>
                <a:cs typeface="Arial"/>
              </a:defRPr>
            </a:defPPr>
          </a:lstStyle>
          <a:p>
            <a:pPr algn="l">
              <a:lnSpc>
                <a:spcPct val="112000"/>
              </a:lnSpc>
              <a:buNone/>
              <a:defRPr sz="1800" b="1">
                <a:solidFill>
                  <a:srgbClr val="006D77"/>
                </a:solidFill>
                <a:latin typeface="Arial"/>
                <a:ea typeface="Arial"/>
                <a:cs typeface="Arial"/>
              </a:defRPr>
            </a:pPr>
            <a:r>
              <a:rPr sz="1800" b="1">
                <a:solidFill>
                  <a:srgbClr val="006D77"/>
                </a:solidFill>
                <a:latin typeface="Arial"/>
                <a:ea typeface="Arial"/>
                <a:cs typeface="Arial"/>
              </a:rPr>
              <a:t>05</a:t>
            </a:r>
          </a:p>
        </p:txBody>
      </p:sp>
      <p:sp>
        <p:nvSpPr>
          <p:cNvPr id="20" name="text-334">
            <a:extLst>
              <a:ext uri="{FF2B5EF4-FFF2-40B4-BE49-F238E27FC236}">
                <a16:creationId xmlns:a16="http://schemas.microsoft.com/office/drawing/2014/main" id="{C738C65F-FAA7-4B20-8494-52F177DD173B}"/>
              </a:ext>
            </a:extLst>
          </p:cNvPr>
          <p:cNvSpPr>
            <a:spLocks noGrp="1"/>
          </p:cNvSpPr>
          <p:nvPr/>
        </p:nvSpPr>
        <p:spPr>
          <a:xfrm>
            <a:off x="7115175" y="1419225"/>
            <a:ext cx="4429125" cy="685800"/>
          </a:xfrm>
          <a:prstGeom prst="rect">
            <a:avLst/>
          </a:prstGeom>
          <a:noFill/>
          <a:ln w="0">
            <a:noFill/>
          </a:ln>
        </p:spPr>
        <p:txBody>
          <a:bodyPr wrap="square" lIns="0" tIns="0" rIns="0" bIns="0" anchor="t">
            <a:noAutofit/>
          </a:bodyPr>
          <a:lstStyle>
            <a:defPPr algn="l">
              <a:defRPr sz="1725" b="1">
                <a:solidFill>
                  <a:srgbClr val="17324A"/>
                </a:solidFill>
                <a:latin typeface="Arial"/>
                <a:ea typeface="Arial"/>
                <a:cs typeface="Arial"/>
              </a:defRPr>
            </a:defPPr>
          </a:lstStyle>
          <a:p>
            <a:pPr algn="l">
              <a:lnSpc>
                <a:spcPct val="112000"/>
              </a:lnSpc>
              <a:buNone/>
              <a:defRPr sz="1725" b="1">
                <a:solidFill>
                  <a:srgbClr val="17324A"/>
                </a:solidFill>
                <a:latin typeface="Arial"/>
                <a:ea typeface="Arial"/>
                <a:cs typeface="Arial"/>
              </a:defRPr>
            </a:pPr>
            <a:r>
              <a:rPr sz="1725" b="1">
                <a:solidFill>
                  <a:srgbClr val="17324A"/>
                </a:solidFill>
                <a:latin typeface="Arial"/>
                <a:ea typeface="Arial"/>
                <a:cs typeface="Arial"/>
                <a:hlinkClick r:id="rId7"/>
              </a:rPr>
              <a:t>Reason Less, Verify More</a:t>
            </a:r>
          </a:p>
        </p:txBody>
      </p:sp>
      <p:sp>
        <p:nvSpPr>
          <p:cNvPr id="21" name="text-335">
            <a:extLst>
              <a:ext uri="{FF2B5EF4-FFF2-40B4-BE49-F238E27FC236}">
                <a16:creationId xmlns:a16="http://schemas.microsoft.com/office/drawing/2014/main" id="{201D90B6-668F-4774-879E-CC8EDC663AB9}"/>
              </a:ext>
            </a:extLst>
          </p:cNvPr>
          <p:cNvSpPr>
            <a:spLocks noGrp="1"/>
          </p:cNvSpPr>
          <p:nvPr/>
        </p:nvSpPr>
        <p:spPr>
          <a:xfrm>
            <a:off x="7115175" y="1800225"/>
            <a:ext cx="4429125" cy="304800"/>
          </a:xfrm>
          <a:prstGeom prst="rect">
            <a:avLst/>
          </a:prstGeom>
          <a:noFill/>
          <a:ln w="0">
            <a:noFill/>
          </a:ln>
        </p:spPr>
        <p:txBody>
          <a:bodyPr wrap="square" lIns="0" tIns="0" rIns="0" bIns="0" anchor="t">
            <a:noAutofit/>
          </a:bodyPr>
          <a:lstStyle>
            <a:defPPr algn="l">
              <a:defRPr sz="1575" b="0">
                <a:solidFill>
                  <a:srgbClr val="4D6270"/>
                </a:solidFill>
                <a:latin typeface="Arial"/>
                <a:ea typeface="Arial"/>
                <a:cs typeface="Arial"/>
              </a:defRPr>
            </a:defPPr>
          </a:lstStyle>
          <a:p>
            <a:pPr algn="l">
              <a:lnSpc>
                <a:spcPct val="112000"/>
              </a:lnSpc>
              <a:buNone/>
              <a:defRPr sz="1575" b="0">
                <a:solidFill>
                  <a:srgbClr val="4D6270"/>
                </a:solidFill>
                <a:latin typeface="Arial"/>
                <a:ea typeface="Arial"/>
                <a:cs typeface="Arial"/>
              </a:defRPr>
            </a:pPr>
            <a:r>
              <a:rPr sz="1575" b="0">
                <a:solidFill>
                  <a:srgbClr val="4D6270"/>
                </a:solidFill>
                <a:latin typeface="Arial"/>
                <a:ea typeface="Arial"/>
                <a:cs typeface="Arial"/>
              </a:rPr>
              <a:t>Reddy et al.  /  2026</a:t>
            </a:r>
          </a:p>
        </p:txBody>
      </p:sp>
      <p:sp>
        <p:nvSpPr>
          <p:cNvPr id="22" name="text-336">
            <a:extLst>
              <a:ext uri="{FF2B5EF4-FFF2-40B4-BE49-F238E27FC236}">
                <a16:creationId xmlns:a16="http://schemas.microsoft.com/office/drawing/2014/main" id="{B3B981D3-E0A3-476C-B46B-20392B9DB2D9}"/>
              </a:ext>
            </a:extLst>
          </p:cNvPr>
          <p:cNvSpPr>
            <a:spLocks noGrp="1"/>
          </p:cNvSpPr>
          <p:nvPr/>
        </p:nvSpPr>
        <p:spPr>
          <a:xfrm>
            <a:off x="6477000" y="2562225"/>
            <a:ext cx="523875" cy="323850"/>
          </a:xfrm>
          <a:prstGeom prst="rect">
            <a:avLst/>
          </a:prstGeom>
          <a:noFill/>
          <a:ln w="0">
            <a:noFill/>
          </a:ln>
        </p:spPr>
        <p:txBody>
          <a:bodyPr wrap="square" lIns="0" tIns="0" rIns="0" bIns="0" anchor="t">
            <a:noAutofit/>
          </a:bodyPr>
          <a:lstStyle>
            <a:defPPr algn="l">
              <a:defRPr sz="1800" b="1">
                <a:solidFill>
                  <a:srgbClr val="006D77"/>
                </a:solidFill>
                <a:latin typeface="Arial"/>
                <a:ea typeface="Arial"/>
                <a:cs typeface="Arial"/>
              </a:defRPr>
            </a:defPPr>
          </a:lstStyle>
          <a:p>
            <a:pPr algn="l">
              <a:lnSpc>
                <a:spcPct val="112000"/>
              </a:lnSpc>
              <a:buNone/>
              <a:defRPr sz="1800" b="1">
                <a:solidFill>
                  <a:srgbClr val="006D77"/>
                </a:solidFill>
                <a:latin typeface="Arial"/>
                <a:ea typeface="Arial"/>
                <a:cs typeface="Arial"/>
              </a:defRPr>
            </a:pPr>
            <a:r>
              <a:rPr sz="1800" b="1">
                <a:solidFill>
                  <a:srgbClr val="006D77"/>
                </a:solidFill>
                <a:latin typeface="Arial"/>
                <a:ea typeface="Arial"/>
                <a:cs typeface="Arial"/>
              </a:rPr>
              <a:t>06</a:t>
            </a:r>
          </a:p>
        </p:txBody>
      </p:sp>
      <p:sp>
        <p:nvSpPr>
          <p:cNvPr id="23" name="text-337">
            <a:extLst>
              <a:ext uri="{FF2B5EF4-FFF2-40B4-BE49-F238E27FC236}">
                <a16:creationId xmlns:a16="http://schemas.microsoft.com/office/drawing/2014/main" id="{C1ED5D2C-645A-4939-94E5-5EC7916FEBCA}"/>
              </a:ext>
            </a:extLst>
          </p:cNvPr>
          <p:cNvSpPr>
            <a:spLocks noGrp="1"/>
          </p:cNvSpPr>
          <p:nvPr/>
        </p:nvSpPr>
        <p:spPr>
          <a:xfrm>
            <a:off x="7115175" y="2562225"/>
            <a:ext cx="4429125" cy="685800"/>
          </a:xfrm>
          <a:prstGeom prst="rect">
            <a:avLst/>
          </a:prstGeom>
          <a:noFill/>
          <a:ln w="0">
            <a:noFill/>
          </a:ln>
        </p:spPr>
        <p:txBody>
          <a:bodyPr wrap="square" lIns="0" tIns="0" rIns="0" bIns="0" anchor="t">
            <a:noAutofit/>
          </a:bodyPr>
          <a:lstStyle>
            <a:defPPr algn="l">
              <a:defRPr sz="1725" b="1">
                <a:solidFill>
                  <a:srgbClr val="17324A"/>
                </a:solidFill>
                <a:latin typeface="Arial"/>
                <a:ea typeface="Arial"/>
                <a:cs typeface="Arial"/>
              </a:defRPr>
            </a:defPPr>
          </a:lstStyle>
          <a:p>
            <a:pPr algn="l">
              <a:lnSpc>
                <a:spcPct val="112000"/>
              </a:lnSpc>
              <a:buNone/>
              <a:defRPr sz="1725" b="1">
                <a:solidFill>
                  <a:srgbClr val="17324A"/>
                </a:solidFill>
                <a:latin typeface="Arial"/>
                <a:ea typeface="Arial"/>
                <a:cs typeface="Arial"/>
              </a:defRPr>
            </a:pPr>
            <a:r>
              <a:rPr sz="1725" b="1">
                <a:solidFill>
                  <a:srgbClr val="17324A"/>
                </a:solidFill>
                <a:latin typeface="Arial"/>
                <a:ea typeface="Arial"/>
                <a:cs typeface="Arial"/>
                <a:hlinkClick r:id="rId8"/>
              </a:rPr>
              <a:t>The Tool Illusion</a:t>
            </a:r>
          </a:p>
        </p:txBody>
      </p:sp>
      <p:sp>
        <p:nvSpPr>
          <p:cNvPr id="24" name="text-338">
            <a:extLst>
              <a:ext uri="{FF2B5EF4-FFF2-40B4-BE49-F238E27FC236}">
                <a16:creationId xmlns:a16="http://schemas.microsoft.com/office/drawing/2014/main" id="{1BA52E96-7274-408B-AF56-C078E3D764AD}"/>
              </a:ext>
            </a:extLst>
          </p:cNvPr>
          <p:cNvSpPr>
            <a:spLocks noGrp="1"/>
          </p:cNvSpPr>
          <p:nvPr/>
        </p:nvSpPr>
        <p:spPr>
          <a:xfrm>
            <a:off x="7115175" y="2943225"/>
            <a:ext cx="4429125" cy="304800"/>
          </a:xfrm>
          <a:prstGeom prst="rect">
            <a:avLst/>
          </a:prstGeom>
          <a:noFill/>
          <a:ln w="0">
            <a:noFill/>
          </a:ln>
        </p:spPr>
        <p:txBody>
          <a:bodyPr wrap="square" lIns="0" tIns="0" rIns="0" bIns="0" anchor="t">
            <a:noAutofit/>
          </a:bodyPr>
          <a:lstStyle>
            <a:defPPr algn="l">
              <a:defRPr sz="1575" b="0">
                <a:solidFill>
                  <a:srgbClr val="4D6270"/>
                </a:solidFill>
                <a:latin typeface="Arial"/>
                <a:ea typeface="Arial"/>
                <a:cs typeface="Arial"/>
              </a:defRPr>
            </a:defPPr>
          </a:lstStyle>
          <a:p>
            <a:pPr algn="l">
              <a:lnSpc>
                <a:spcPct val="112000"/>
              </a:lnSpc>
              <a:buNone/>
              <a:defRPr sz="1575" b="0">
                <a:solidFill>
                  <a:srgbClr val="4D6270"/>
                </a:solidFill>
                <a:latin typeface="Arial"/>
                <a:ea typeface="Arial"/>
                <a:cs typeface="Arial"/>
              </a:defRPr>
            </a:pPr>
            <a:r>
              <a:rPr sz="1575" b="0">
                <a:solidFill>
                  <a:srgbClr val="4D6270"/>
                </a:solidFill>
                <a:latin typeface="Arial"/>
                <a:ea typeface="Arial"/>
                <a:cs typeface="Arial"/>
              </a:rPr>
              <a:t>Lou et al.  /  2026</a:t>
            </a:r>
          </a:p>
        </p:txBody>
      </p:sp>
      <p:sp>
        <p:nvSpPr>
          <p:cNvPr id="25" name="text-339">
            <a:extLst>
              <a:ext uri="{FF2B5EF4-FFF2-40B4-BE49-F238E27FC236}">
                <a16:creationId xmlns:a16="http://schemas.microsoft.com/office/drawing/2014/main" id="{DB3C8D64-1F73-40FF-B773-3E7ED49BA2F4}"/>
              </a:ext>
            </a:extLst>
          </p:cNvPr>
          <p:cNvSpPr>
            <a:spLocks noGrp="1"/>
          </p:cNvSpPr>
          <p:nvPr/>
        </p:nvSpPr>
        <p:spPr>
          <a:xfrm>
            <a:off x="6477000" y="3705225"/>
            <a:ext cx="523875" cy="323850"/>
          </a:xfrm>
          <a:prstGeom prst="rect">
            <a:avLst/>
          </a:prstGeom>
          <a:noFill/>
          <a:ln w="0">
            <a:noFill/>
          </a:ln>
        </p:spPr>
        <p:txBody>
          <a:bodyPr wrap="square" lIns="0" tIns="0" rIns="0" bIns="0" anchor="t">
            <a:noAutofit/>
          </a:bodyPr>
          <a:lstStyle>
            <a:defPPr algn="l">
              <a:defRPr sz="1800" b="1">
                <a:solidFill>
                  <a:srgbClr val="006D77"/>
                </a:solidFill>
                <a:latin typeface="Arial"/>
                <a:ea typeface="Arial"/>
                <a:cs typeface="Arial"/>
              </a:defRPr>
            </a:defPPr>
          </a:lstStyle>
          <a:p>
            <a:pPr algn="l">
              <a:lnSpc>
                <a:spcPct val="112000"/>
              </a:lnSpc>
              <a:buNone/>
              <a:defRPr sz="1800" b="1">
                <a:solidFill>
                  <a:srgbClr val="006D77"/>
                </a:solidFill>
                <a:latin typeface="Arial"/>
                <a:ea typeface="Arial"/>
                <a:cs typeface="Arial"/>
              </a:defRPr>
            </a:pPr>
            <a:r>
              <a:rPr sz="1800" b="1">
                <a:solidFill>
                  <a:srgbClr val="006D77"/>
                </a:solidFill>
                <a:latin typeface="Arial"/>
                <a:ea typeface="Arial"/>
                <a:cs typeface="Arial"/>
              </a:rPr>
              <a:t>07</a:t>
            </a:r>
          </a:p>
        </p:txBody>
      </p:sp>
      <p:sp>
        <p:nvSpPr>
          <p:cNvPr id="26" name="text-340">
            <a:extLst>
              <a:ext uri="{FF2B5EF4-FFF2-40B4-BE49-F238E27FC236}">
                <a16:creationId xmlns:a16="http://schemas.microsoft.com/office/drawing/2014/main" id="{7606A72C-6191-4033-8A1E-7C7B9CF10EE2}"/>
              </a:ext>
            </a:extLst>
          </p:cNvPr>
          <p:cNvSpPr>
            <a:spLocks noGrp="1"/>
          </p:cNvSpPr>
          <p:nvPr/>
        </p:nvSpPr>
        <p:spPr>
          <a:xfrm>
            <a:off x="7115175" y="3705225"/>
            <a:ext cx="4429125" cy="685800"/>
          </a:xfrm>
          <a:prstGeom prst="rect">
            <a:avLst/>
          </a:prstGeom>
          <a:noFill/>
          <a:ln w="0">
            <a:noFill/>
          </a:ln>
        </p:spPr>
        <p:txBody>
          <a:bodyPr wrap="square" lIns="0" tIns="0" rIns="0" bIns="0" anchor="t">
            <a:noAutofit/>
          </a:bodyPr>
          <a:lstStyle>
            <a:defPPr algn="l">
              <a:defRPr sz="1725" b="1">
                <a:solidFill>
                  <a:srgbClr val="17324A"/>
                </a:solidFill>
                <a:latin typeface="Arial"/>
                <a:ea typeface="Arial"/>
                <a:cs typeface="Arial"/>
              </a:defRPr>
            </a:defPPr>
          </a:lstStyle>
          <a:p>
            <a:pPr algn="l">
              <a:lnSpc>
                <a:spcPct val="112000"/>
              </a:lnSpc>
              <a:buNone/>
              <a:defRPr sz="1725" b="1">
                <a:solidFill>
                  <a:srgbClr val="17324A"/>
                </a:solidFill>
                <a:latin typeface="Arial"/>
                <a:ea typeface="Arial"/>
                <a:cs typeface="Arial"/>
              </a:defRPr>
            </a:pPr>
            <a:r>
              <a:rPr sz="1725" b="1">
                <a:solidFill>
                  <a:srgbClr val="17324A"/>
                </a:solidFill>
                <a:latin typeface="Arial"/>
                <a:ea typeface="Arial"/>
                <a:cs typeface="Arial"/>
                <a:hlinkClick r:id="rId9"/>
              </a:rPr>
              <a:t>Beyond Text-to-SQL: Governed</a:t>
            </a:r>
          </a:p>
          <a:p>
            <a:pPr algn="l">
              <a:lnSpc>
                <a:spcPct val="112000"/>
              </a:lnSpc>
              <a:buNone/>
              <a:defRPr sz="1725" b="1">
                <a:solidFill>
                  <a:srgbClr val="17324A"/>
                </a:solidFill>
                <a:latin typeface="Arial"/>
                <a:ea typeface="Arial"/>
                <a:cs typeface="Arial"/>
              </a:defRPr>
            </a:pPr>
            <a:r>
              <a:rPr sz="1725" b="1">
                <a:solidFill>
                  <a:srgbClr val="17324A"/>
                </a:solidFill>
                <a:latin typeface="Arial"/>
                <a:ea typeface="Arial"/>
                <a:cs typeface="Arial"/>
                <a:hlinkClick r:id="rId9"/>
              </a:rPr>
              <a:t>Enterprise Analytics APIs</a:t>
            </a:r>
          </a:p>
        </p:txBody>
      </p:sp>
      <p:sp>
        <p:nvSpPr>
          <p:cNvPr id="27" name="text-341">
            <a:extLst>
              <a:ext uri="{FF2B5EF4-FFF2-40B4-BE49-F238E27FC236}">
                <a16:creationId xmlns:a16="http://schemas.microsoft.com/office/drawing/2014/main" id="{7F857D45-EC6B-42AE-8C17-68C31AAB9431}"/>
              </a:ext>
            </a:extLst>
          </p:cNvPr>
          <p:cNvSpPr>
            <a:spLocks noGrp="1"/>
          </p:cNvSpPr>
          <p:nvPr/>
        </p:nvSpPr>
        <p:spPr>
          <a:xfrm>
            <a:off x="7115175" y="4314825"/>
            <a:ext cx="4429125" cy="304800"/>
          </a:xfrm>
          <a:prstGeom prst="rect">
            <a:avLst/>
          </a:prstGeom>
          <a:noFill/>
          <a:ln w="0">
            <a:noFill/>
          </a:ln>
        </p:spPr>
        <p:txBody>
          <a:bodyPr wrap="square" lIns="0" tIns="0" rIns="0" bIns="0" anchor="t">
            <a:noAutofit/>
          </a:bodyPr>
          <a:lstStyle>
            <a:defPPr algn="l">
              <a:defRPr sz="1575" b="0">
                <a:solidFill>
                  <a:srgbClr val="4D6270"/>
                </a:solidFill>
                <a:latin typeface="Arial"/>
                <a:ea typeface="Arial"/>
                <a:cs typeface="Arial"/>
              </a:defRPr>
            </a:defPPr>
          </a:lstStyle>
          <a:p>
            <a:pPr algn="l">
              <a:lnSpc>
                <a:spcPct val="112000"/>
              </a:lnSpc>
              <a:buNone/>
              <a:defRPr sz="1575" b="0">
                <a:solidFill>
                  <a:srgbClr val="4D6270"/>
                </a:solidFill>
                <a:latin typeface="Arial"/>
                <a:ea typeface="Arial"/>
                <a:cs typeface="Arial"/>
              </a:defRPr>
            </a:pPr>
            <a:r>
              <a:rPr sz="1575" b="0">
                <a:solidFill>
                  <a:srgbClr val="4D6270"/>
                </a:solidFill>
                <a:latin typeface="Arial"/>
                <a:ea typeface="Arial"/>
                <a:cs typeface="Arial"/>
              </a:rPr>
              <a:t>Singh et al.  /  2026</a:t>
            </a:r>
          </a:p>
        </p:txBody>
      </p:sp>
      <p:sp>
        <p:nvSpPr>
          <p:cNvPr id="28" name="text-342">
            <a:extLst>
              <a:ext uri="{FF2B5EF4-FFF2-40B4-BE49-F238E27FC236}">
                <a16:creationId xmlns:a16="http://schemas.microsoft.com/office/drawing/2014/main" id="{12A119AD-B861-4788-AF0B-19950CCC0C58}"/>
              </a:ext>
            </a:extLst>
          </p:cNvPr>
          <p:cNvSpPr>
            <a:spLocks noGrp="1"/>
          </p:cNvSpPr>
          <p:nvPr/>
        </p:nvSpPr>
        <p:spPr>
          <a:xfrm>
            <a:off x="6477000" y="4848225"/>
            <a:ext cx="523875" cy="323850"/>
          </a:xfrm>
          <a:prstGeom prst="rect">
            <a:avLst/>
          </a:prstGeom>
          <a:noFill/>
          <a:ln w="0">
            <a:noFill/>
          </a:ln>
        </p:spPr>
        <p:txBody>
          <a:bodyPr wrap="square" lIns="0" tIns="0" rIns="0" bIns="0" anchor="t">
            <a:noAutofit/>
          </a:bodyPr>
          <a:lstStyle>
            <a:defPPr algn="l">
              <a:defRPr sz="1800" b="1">
                <a:solidFill>
                  <a:srgbClr val="006D77"/>
                </a:solidFill>
                <a:latin typeface="Arial"/>
                <a:ea typeface="Arial"/>
                <a:cs typeface="Arial"/>
              </a:defRPr>
            </a:defPPr>
          </a:lstStyle>
          <a:p>
            <a:pPr algn="l">
              <a:lnSpc>
                <a:spcPct val="112000"/>
              </a:lnSpc>
              <a:buNone/>
              <a:defRPr sz="1800" b="1">
                <a:solidFill>
                  <a:srgbClr val="006D77"/>
                </a:solidFill>
                <a:latin typeface="Arial"/>
                <a:ea typeface="Arial"/>
                <a:cs typeface="Arial"/>
              </a:defRPr>
            </a:pPr>
            <a:r>
              <a:rPr sz="1800" b="1">
                <a:solidFill>
                  <a:srgbClr val="006D77"/>
                </a:solidFill>
                <a:latin typeface="Arial"/>
                <a:ea typeface="Arial"/>
                <a:cs typeface="Arial"/>
              </a:rPr>
              <a:t>08</a:t>
            </a:r>
          </a:p>
        </p:txBody>
      </p:sp>
      <p:sp>
        <p:nvSpPr>
          <p:cNvPr id="29" name="text-343">
            <a:extLst>
              <a:ext uri="{FF2B5EF4-FFF2-40B4-BE49-F238E27FC236}">
                <a16:creationId xmlns:a16="http://schemas.microsoft.com/office/drawing/2014/main" id="{86E1D96F-D5C2-4D0F-A9E9-89274428DAF7}"/>
              </a:ext>
            </a:extLst>
          </p:cNvPr>
          <p:cNvSpPr>
            <a:spLocks noGrp="1"/>
          </p:cNvSpPr>
          <p:nvPr/>
        </p:nvSpPr>
        <p:spPr>
          <a:xfrm>
            <a:off x="7115175" y="4848225"/>
            <a:ext cx="4429125" cy="685800"/>
          </a:xfrm>
          <a:prstGeom prst="rect">
            <a:avLst/>
          </a:prstGeom>
          <a:noFill/>
          <a:ln w="0">
            <a:noFill/>
          </a:ln>
        </p:spPr>
        <p:txBody>
          <a:bodyPr wrap="square" lIns="0" tIns="0" rIns="0" bIns="0" anchor="t">
            <a:noAutofit/>
          </a:bodyPr>
          <a:lstStyle>
            <a:defPPr algn="l">
              <a:defRPr sz="1725" b="1">
                <a:solidFill>
                  <a:srgbClr val="17324A"/>
                </a:solidFill>
                <a:latin typeface="Arial"/>
                <a:ea typeface="Arial"/>
                <a:cs typeface="Arial"/>
              </a:defRPr>
            </a:defPPr>
          </a:lstStyle>
          <a:p>
            <a:pPr algn="l">
              <a:lnSpc>
                <a:spcPct val="112000"/>
              </a:lnSpc>
              <a:buNone/>
              <a:defRPr sz="1725" b="1">
                <a:solidFill>
                  <a:srgbClr val="17324A"/>
                </a:solidFill>
                <a:latin typeface="Arial"/>
                <a:ea typeface="Arial"/>
                <a:cs typeface="Arial"/>
              </a:defRPr>
            </a:pPr>
            <a:r>
              <a:rPr sz="1725" b="1">
                <a:solidFill>
                  <a:srgbClr val="17324A"/>
                </a:solidFill>
                <a:latin typeface="Arial"/>
                <a:ea typeface="Arial"/>
                <a:cs typeface="Arial"/>
                <a:hlinkClick r:id="rId10"/>
              </a:rPr>
              <a:t>Mingbird: Agent Harness for</a:t>
            </a:r>
          </a:p>
          <a:p>
            <a:pPr algn="l">
              <a:lnSpc>
                <a:spcPct val="112000"/>
              </a:lnSpc>
              <a:buNone/>
              <a:defRPr sz="1725" b="1">
                <a:solidFill>
                  <a:srgbClr val="17324A"/>
                </a:solidFill>
                <a:latin typeface="Arial"/>
                <a:ea typeface="Arial"/>
                <a:cs typeface="Arial"/>
              </a:defRPr>
            </a:pPr>
            <a:r>
              <a:rPr sz="1725" b="1">
                <a:solidFill>
                  <a:srgbClr val="17324A"/>
                </a:solidFill>
                <a:latin typeface="Arial"/>
                <a:ea typeface="Arial"/>
                <a:cs typeface="Arial"/>
                <a:hlinkClick r:id="rId10"/>
              </a:rPr>
              <a:t>Small Open Models</a:t>
            </a:r>
          </a:p>
        </p:txBody>
      </p:sp>
      <p:sp>
        <p:nvSpPr>
          <p:cNvPr id="30" name="text-344">
            <a:extLst>
              <a:ext uri="{FF2B5EF4-FFF2-40B4-BE49-F238E27FC236}">
                <a16:creationId xmlns:a16="http://schemas.microsoft.com/office/drawing/2014/main" id="{FFB8421C-6712-48E0-A869-CF340A78A896}"/>
              </a:ext>
            </a:extLst>
          </p:cNvPr>
          <p:cNvSpPr>
            <a:spLocks noGrp="1"/>
          </p:cNvSpPr>
          <p:nvPr/>
        </p:nvSpPr>
        <p:spPr>
          <a:xfrm>
            <a:off x="7115175" y="5457825"/>
            <a:ext cx="4429125" cy="304800"/>
          </a:xfrm>
          <a:prstGeom prst="rect">
            <a:avLst/>
          </a:prstGeom>
          <a:noFill/>
          <a:ln w="0">
            <a:noFill/>
          </a:ln>
        </p:spPr>
        <p:txBody>
          <a:bodyPr wrap="square" lIns="0" tIns="0" rIns="0" bIns="0" anchor="t">
            <a:noAutofit/>
          </a:bodyPr>
          <a:lstStyle>
            <a:defPPr algn="l">
              <a:defRPr sz="1575" b="0">
                <a:solidFill>
                  <a:srgbClr val="4D6270"/>
                </a:solidFill>
                <a:latin typeface="Arial"/>
                <a:ea typeface="Arial"/>
                <a:cs typeface="Arial"/>
              </a:defRPr>
            </a:defPPr>
          </a:lstStyle>
          <a:p>
            <a:pPr algn="l">
              <a:lnSpc>
                <a:spcPct val="112000"/>
              </a:lnSpc>
              <a:buNone/>
              <a:defRPr sz="1575" b="0">
                <a:solidFill>
                  <a:srgbClr val="4D6270"/>
                </a:solidFill>
                <a:latin typeface="Arial"/>
                <a:ea typeface="Arial"/>
                <a:cs typeface="Arial"/>
              </a:defRPr>
            </a:pPr>
            <a:r>
              <a:rPr sz="1575" b="0">
                <a:solidFill>
                  <a:srgbClr val="4D6270"/>
                </a:solidFill>
                <a:latin typeface="Arial"/>
                <a:ea typeface="Arial"/>
                <a:cs typeface="Arial"/>
              </a:rPr>
              <a:t>Wang and Huang  /  2026</a:t>
            </a:r>
          </a:p>
        </p:txBody>
      </p:sp>
      <p:pic>
        <p:nvPicPr>
          <p:cNvPr id="31" name="Picture 30">
            <a:extLst>
              <a:ext uri="{FF2B5EF4-FFF2-40B4-BE49-F238E27FC236}">
                <a16:creationId xmlns:a16="http://schemas.microsoft.com/office/drawing/2014/main" id="{BD783710-E100-415A-8D92-2EBB30C4B319}"/>
              </a:ext>
            </a:extLst>
          </p:cNvPr>
          <p:cNvPicPr>
            <a:picLocks noChangeAspect="1"/>
          </p:cNvPicPr>
          <p:nvPr/>
        </p:nvPicPr>
        <p:blipFill>
          <a:blip r:embed="rId11"/>
          <a:stretch/>
        </p:blipFill>
        <p:spPr>
          <a:xfrm>
            <a:off x="9220220" y="295275"/>
            <a:ext cx="2362160" cy="442436"/>
          </a:xfrm>
          <a:prstGeom prst="rect">
            <a:avLst/>
          </a:prstGeom>
        </p:spPr>
      </p:pic>
    </p:spTree>
    <p:extLst>
      <p:ext uri="{BB962C8B-B14F-4D97-AF65-F5344CB8AC3E}">
        <p14:creationId xmlns:p14="http://schemas.microsoft.com/office/powerpoint/2010/main" val="200311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6" name="shape-345">
            <a:extLst>
              <a:ext uri="{FF2B5EF4-FFF2-40B4-BE49-F238E27FC236}">
                <a16:creationId xmlns:a16="http://schemas.microsoft.com/office/drawing/2014/main" id="{A13565C3-1E94-4CA8-900F-CCDF04FBCBFC}"/>
              </a:ext>
            </a:extLst>
          </p:cNvPr>
          <p:cNvSpPr>
            <a:spLocks noGrp="1"/>
          </p:cNvSpPr>
          <p:nvPr/>
        </p:nvSpPr>
        <p:spPr>
          <a:xfrm>
            <a:off x="0" y="0"/>
            <a:ext cx="12192000" cy="1066800"/>
          </a:xfrm>
          <a:prstGeom prst="rect">
            <a:avLst/>
          </a:prstGeom>
          <a:solidFill>
            <a:srgbClr val="F2F6F7"/>
          </a:solidFill>
          <a:ln w="0">
            <a:noFill/>
          </a:ln>
        </p:spPr>
      </p:sp>
      <p:sp>
        <p:nvSpPr>
          <p:cNvPr id="2" name="shape-346">
            <a:extLst>
              <a:ext uri="{FF2B5EF4-FFF2-40B4-BE49-F238E27FC236}">
                <a16:creationId xmlns:a16="http://schemas.microsoft.com/office/drawing/2014/main" id="{4BB248C8-3F73-444E-AD29-EEC8B8039B20}"/>
              </a:ext>
            </a:extLst>
          </p:cNvPr>
          <p:cNvSpPr>
            <a:spLocks noGrp="1"/>
          </p:cNvSpPr>
          <p:nvPr/>
        </p:nvSpPr>
        <p:spPr>
          <a:xfrm>
            <a:off x="0" y="1038225"/>
            <a:ext cx="12192000" cy="28575"/>
          </a:xfrm>
          <a:prstGeom prst="rect">
            <a:avLst/>
          </a:prstGeom>
          <a:solidFill>
            <a:srgbClr val="006D77"/>
          </a:solidFill>
          <a:ln w="0">
            <a:noFill/>
          </a:ln>
        </p:spPr>
      </p:sp>
      <p:sp>
        <p:nvSpPr>
          <p:cNvPr id="3" name="slide-13-title">
            <a:extLst>
              <a:ext uri="{FF2B5EF4-FFF2-40B4-BE49-F238E27FC236}">
                <a16:creationId xmlns:a16="http://schemas.microsoft.com/office/drawing/2014/main" id="{AFD80963-AB59-4177-B581-04C37873339E}"/>
              </a:ext>
            </a:extLst>
          </p:cNvPr>
          <p:cNvSpPr>
            <a:spLocks noGrp="1"/>
          </p:cNvSpPr>
          <p:nvPr/>
        </p:nvSpPr>
        <p:spPr>
          <a:xfrm>
            <a:off x="609600" y="304800"/>
            <a:ext cx="8239125" cy="542925"/>
          </a:xfrm>
          <a:prstGeom prst="rect">
            <a:avLst/>
          </a:prstGeom>
          <a:noFill/>
          <a:ln w="0">
            <a:noFill/>
          </a:ln>
        </p:spPr>
        <p:txBody>
          <a:bodyPr wrap="square" lIns="0" tIns="0" rIns="0" bIns="0" anchor="t">
            <a:noAutofit/>
          </a:bodyPr>
          <a:lstStyle>
            <a:defPPr algn="l">
              <a:defRPr sz="3150" b="1">
                <a:solidFill>
                  <a:srgbClr val="102A43"/>
                </a:solidFill>
                <a:latin typeface="Arial"/>
                <a:ea typeface="Arial"/>
                <a:cs typeface="Arial"/>
              </a:defRPr>
            </a:defPPr>
          </a:lstStyle>
          <a:p>
            <a:pPr algn="l">
              <a:lnSpc>
                <a:spcPct val="112000"/>
              </a:lnSpc>
              <a:buNone/>
              <a:defRPr sz="3150" b="1">
                <a:solidFill>
                  <a:srgbClr val="102A43"/>
                </a:solidFill>
                <a:latin typeface="Arial"/>
                <a:ea typeface="Arial"/>
                <a:cs typeface="Arial"/>
              </a:defRPr>
            </a:pPr>
            <a:r>
              <a:rPr sz="3150" b="1">
                <a:solidFill>
                  <a:srgbClr val="102A43"/>
                </a:solidFill>
                <a:latin typeface="Arial"/>
                <a:ea typeface="Arial"/>
                <a:cs typeface="Arial"/>
              </a:rPr>
              <a:t>Data sources and AI disclosure</a:t>
            </a:r>
          </a:p>
        </p:txBody>
      </p:sp>
      <p:sp>
        <p:nvSpPr>
          <p:cNvPr id="4" name="shape-347">
            <a:extLst>
              <a:ext uri="{FF2B5EF4-FFF2-40B4-BE49-F238E27FC236}">
                <a16:creationId xmlns:a16="http://schemas.microsoft.com/office/drawing/2014/main" id="{C13AC0AA-05BC-459F-92B6-E86077F4817A}"/>
              </a:ext>
            </a:extLst>
          </p:cNvPr>
          <p:cNvSpPr>
            <a:spLocks noGrp="1"/>
          </p:cNvSpPr>
          <p:nvPr/>
        </p:nvSpPr>
        <p:spPr>
          <a:xfrm>
            <a:off x="0" y="6381750"/>
            <a:ext cx="12192000" cy="476250"/>
          </a:xfrm>
          <a:prstGeom prst="rect">
            <a:avLst/>
          </a:prstGeom>
          <a:solidFill>
            <a:srgbClr val="102A43"/>
          </a:solidFill>
          <a:ln w="0">
            <a:noFill/>
          </a:ln>
        </p:spPr>
      </p:sp>
      <p:sp>
        <p:nvSpPr>
          <p:cNvPr id="5" name="brand-13">
            <a:extLst>
              <a:ext uri="{FF2B5EF4-FFF2-40B4-BE49-F238E27FC236}">
                <a16:creationId xmlns:a16="http://schemas.microsoft.com/office/drawing/2014/main" id="{52816084-C053-4D17-9E4B-57F1D85B5AE5}"/>
              </a:ext>
            </a:extLst>
          </p:cNvPr>
          <p:cNvSpPr>
            <a:spLocks noGrp="1"/>
          </p:cNvSpPr>
          <p:nvPr/>
        </p:nvSpPr>
        <p:spPr>
          <a:xfrm>
            <a:off x="609600" y="6467475"/>
            <a:ext cx="3429000" cy="333375"/>
          </a:xfrm>
          <a:prstGeom prst="rect">
            <a:avLst/>
          </a:prstGeom>
          <a:noFill/>
          <a:ln w="0">
            <a:noFill/>
          </a:ln>
        </p:spPr>
        <p:txBody>
          <a:bodyPr wrap="square" lIns="0" tIns="0" rIns="0" bIns="0" anchor="t">
            <a:noAutofit/>
          </a:bodyPr>
          <a:lstStyle>
            <a:defPPr algn="l">
              <a:defRPr sz="1950" b="1">
                <a:solidFill>
                  <a:srgbClr val="8AE1D5"/>
                </a:solidFill>
                <a:latin typeface="Arial"/>
                <a:ea typeface="Arial"/>
                <a:cs typeface="Arial"/>
              </a:defRPr>
            </a:defPPr>
          </a:lstStyle>
          <a:p>
            <a:pPr algn="l">
              <a:lnSpc>
                <a:spcPct val="112000"/>
              </a:lnSpc>
              <a:buNone/>
              <a:defRPr sz="1950" b="1">
                <a:solidFill>
                  <a:srgbClr val="8AE1D5"/>
                </a:solidFill>
                <a:latin typeface="Arial"/>
                <a:ea typeface="Arial"/>
                <a:cs typeface="Arial"/>
              </a:defRPr>
            </a:pPr>
            <a:r>
              <a:rPr sz="1950" b="1">
                <a:solidFill>
                  <a:srgbClr val="8AE1D5"/>
                </a:solidFill>
                <a:latin typeface="Arial"/>
                <a:ea typeface="Arial"/>
                <a:cs typeface="Arial"/>
              </a:rPr>
              <a:t>Sapience</a:t>
            </a:r>
          </a:p>
        </p:txBody>
      </p:sp>
      <p:sp>
        <p:nvSpPr>
          <p:cNvPr id="6" name="page-13">
            <a:extLst>
              <a:ext uri="{FF2B5EF4-FFF2-40B4-BE49-F238E27FC236}">
                <a16:creationId xmlns:a16="http://schemas.microsoft.com/office/drawing/2014/main" id="{5B8AE600-5BA6-4042-B472-4E42228FEEE0}"/>
              </a:ext>
            </a:extLst>
          </p:cNvPr>
          <p:cNvSpPr>
            <a:spLocks noGrp="1"/>
          </p:cNvSpPr>
          <p:nvPr/>
        </p:nvSpPr>
        <p:spPr>
          <a:xfrm>
            <a:off x="10629900" y="6505575"/>
            <a:ext cx="952500" cy="276225"/>
          </a:xfrm>
          <a:prstGeom prst="rect">
            <a:avLst/>
          </a:prstGeom>
          <a:noFill/>
          <a:ln w="0">
            <a:noFill/>
          </a:ln>
        </p:spPr>
        <p:txBody>
          <a:bodyPr wrap="square" lIns="0" tIns="0" rIns="0" bIns="0" anchor="t">
            <a:noAutofit/>
          </a:bodyPr>
          <a:lstStyle>
            <a:defPPr algn="r">
              <a:defRPr sz="1575" b="0">
                <a:solidFill>
                  <a:srgbClr val="FFFFFF"/>
                </a:solidFill>
                <a:latin typeface="Arial"/>
                <a:ea typeface="Arial"/>
                <a:cs typeface="Arial"/>
              </a:defRPr>
            </a:defPPr>
          </a:lstStyle>
          <a:p>
            <a:pPr algn="r">
              <a:lnSpc>
                <a:spcPct val="112000"/>
              </a:lnSpc>
              <a:buNone/>
              <a:defRPr sz="1575" b="0">
                <a:solidFill>
                  <a:srgbClr val="FFFFFF"/>
                </a:solidFill>
                <a:latin typeface="Arial"/>
                <a:ea typeface="Arial"/>
                <a:cs typeface="Arial"/>
              </a:defRPr>
            </a:pPr>
            <a:r>
              <a:rPr sz="1575" b="0">
                <a:solidFill>
                  <a:srgbClr val="FFFFFF"/>
                </a:solidFill>
                <a:latin typeface="Arial"/>
                <a:ea typeface="Arial"/>
                <a:cs typeface="Arial"/>
              </a:rPr>
              <a:t>18 / 18</a:t>
            </a:r>
          </a:p>
        </p:txBody>
      </p:sp>
      <p:sp>
        <p:nvSpPr>
          <p:cNvPr id="7" name="text-348">
            <a:extLst>
              <a:ext uri="{FF2B5EF4-FFF2-40B4-BE49-F238E27FC236}">
                <a16:creationId xmlns:a16="http://schemas.microsoft.com/office/drawing/2014/main" id="{6ED9BB09-FD16-4370-8C62-033E507E2F65}"/>
              </a:ext>
            </a:extLst>
          </p:cNvPr>
          <p:cNvSpPr>
            <a:spLocks noGrp="1"/>
          </p:cNvSpPr>
          <p:nvPr/>
        </p:nvSpPr>
        <p:spPr>
          <a:xfrm>
            <a:off x="609600" y="1485900"/>
            <a:ext cx="523875" cy="323850"/>
          </a:xfrm>
          <a:prstGeom prst="rect">
            <a:avLst/>
          </a:prstGeom>
          <a:noFill/>
          <a:ln w="0">
            <a:noFill/>
          </a:ln>
        </p:spPr>
        <p:txBody>
          <a:bodyPr wrap="square" lIns="0" tIns="0" rIns="0" bIns="0" anchor="t">
            <a:noAutofit/>
          </a:bodyPr>
          <a:lstStyle>
            <a:defPPr algn="l">
              <a:defRPr sz="1800" b="1">
                <a:solidFill>
                  <a:srgbClr val="006D77"/>
                </a:solidFill>
                <a:latin typeface="Arial"/>
                <a:ea typeface="Arial"/>
                <a:cs typeface="Arial"/>
              </a:defRPr>
            </a:defPPr>
          </a:lstStyle>
          <a:p>
            <a:pPr algn="l">
              <a:lnSpc>
                <a:spcPct val="112000"/>
              </a:lnSpc>
              <a:buNone/>
              <a:defRPr sz="1800" b="1">
                <a:solidFill>
                  <a:srgbClr val="006D77"/>
                </a:solidFill>
                <a:latin typeface="Arial"/>
                <a:ea typeface="Arial"/>
                <a:cs typeface="Arial"/>
              </a:defRPr>
            </a:pPr>
            <a:r>
              <a:rPr sz="1800" b="1">
                <a:solidFill>
                  <a:srgbClr val="006D77"/>
                </a:solidFill>
                <a:latin typeface="Arial"/>
                <a:ea typeface="Arial"/>
                <a:cs typeface="Arial"/>
              </a:rPr>
              <a:t>09</a:t>
            </a:r>
          </a:p>
        </p:txBody>
      </p:sp>
      <p:sp>
        <p:nvSpPr>
          <p:cNvPr id="8" name="text-349">
            <a:extLst>
              <a:ext uri="{FF2B5EF4-FFF2-40B4-BE49-F238E27FC236}">
                <a16:creationId xmlns:a16="http://schemas.microsoft.com/office/drawing/2014/main" id="{83DA5CC5-68D2-40A5-8A1A-7C516E90306A}"/>
              </a:ext>
            </a:extLst>
          </p:cNvPr>
          <p:cNvSpPr>
            <a:spLocks noGrp="1"/>
          </p:cNvSpPr>
          <p:nvPr/>
        </p:nvSpPr>
        <p:spPr>
          <a:xfrm>
            <a:off x="1247775" y="1485900"/>
            <a:ext cx="5305425" cy="590550"/>
          </a:xfrm>
          <a:prstGeom prst="rect">
            <a:avLst/>
          </a:prstGeom>
          <a:noFill/>
          <a:ln w="0">
            <a:noFill/>
          </a:ln>
        </p:spPr>
        <p:txBody>
          <a:bodyPr wrap="square" lIns="0" tIns="0" rIns="0" bIns="0" anchor="t">
            <a:noAutofit/>
          </a:bodyPr>
          <a:lstStyle>
            <a:defPPr algn="l">
              <a:defRPr sz="1800" b="1">
                <a:solidFill>
                  <a:srgbClr val="17324A"/>
                </a:solidFill>
                <a:latin typeface="Arial"/>
                <a:ea typeface="Arial"/>
                <a:cs typeface="Arial"/>
              </a:defRPr>
            </a:defPPr>
          </a:lstStyle>
          <a:p>
            <a:pPr algn="l">
              <a:lnSpc>
                <a:spcPct val="112000"/>
              </a:lnSpc>
              <a:buNone/>
              <a:defRPr sz="1800" b="1">
                <a:solidFill>
                  <a:srgbClr val="17324A"/>
                </a:solidFill>
                <a:latin typeface="Arial"/>
                <a:ea typeface="Arial"/>
                <a:cs typeface="Arial"/>
              </a:defRPr>
            </a:pPr>
            <a:r>
              <a:rPr sz="1800" b="1">
                <a:solidFill>
                  <a:srgbClr val="17324A"/>
                </a:solidFill>
                <a:latin typeface="Arial"/>
                <a:ea typeface="Arial"/>
                <a:cs typeface="Arial"/>
                <a:hlinkClick r:id="rId3"/>
              </a:rPr>
              <a:t>Wide World Importers</a:t>
            </a:r>
          </a:p>
          <a:p>
            <a:pPr algn="l">
              <a:lnSpc>
                <a:spcPct val="112000"/>
              </a:lnSpc>
              <a:buNone/>
              <a:defRPr sz="1800" b="1">
                <a:solidFill>
                  <a:srgbClr val="17324A"/>
                </a:solidFill>
                <a:latin typeface="Arial"/>
                <a:ea typeface="Arial"/>
                <a:cs typeface="Arial"/>
              </a:defRPr>
            </a:pPr>
            <a:r>
              <a:rPr sz="1800" b="1">
                <a:solidFill>
                  <a:srgbClr val="17324A"/>
                </a:solidFill>
                <a:latin typeface="Arial"/>
                <a:ea typeface="Arial"/>
                <a:cs typeface="Arial"/>
                <a:hlinkClick r:id="rId3"/>
              </a:rPr>
              <a:t>sample database</a:t>
            </a:r>
          </a:p>
        </p:txBody>
      </p:sp>
      <p:sp>
        <p:nvSpPr>
          <p:cNvPr id="9" name="text-350">
            <a:extLst>
              <a:ext uri="{FF2B5EF4-FFF2-40B4-BE49-F238E27FC236}">
                <a16:creationId xmlns:a16="http://schemas.microsoft.com/office/drawing/2014/main" id="{B4F93A81-A780-497E-8A72-AF7A888A1533}"/>
              </a:ext>
            </a:extLst>
          </p:cNvPr>
          <p:cNvSpPr>
            <a:spLocks noGrp="1"/>
          </p:cNvSpPr>
          <p:nvPr/>
        </p:nvSpPr>
        <p:spPr>
          <a:xfrm>
            <a:off x="1247775" y="2095500"/>
            <a:ext cx="5305425" cy="314325"/>
          </a:xfrm>
          <a:prstGeom prst="rect">
            <a:avLst/>
          </a:prstGeom>
          <a:noFill/>
          <a:ln w="0">
            <a:noFill/>
          </a:ln>
        </p:spPr>
        <p:txBody>
          <a:bodyPr wrap="square" lIns="0" tIns="0" rIns="0" bIns="0" anchor="t">
            <a:noAutofit/>
          </a:bodyPr>
          <a:lstStyle>
            <a:defPPr algn="l">
              <a:defRPr sz="1575" b="0">
                <a:solidFill>
                  <a:srgbClr val="4D6270"/>
                </a:solidFill>
                <a:latin typeface="Arial"/>
                <a:ea typeface="Arial"/>
                <a:cs typeface="Arial"/>
              </a:defRPr>
            </a:defPPr>
          </a:lstStyle>
          <a:p>
            <a:pPr algn="l">
              <a:lnSpc>
                <a:spcPct val="112000"/>
              </a:lnSpc>
              <a:buNone/>
              <a:defRPr sz="1575" b="0">
                <a:solidFill>
                  <a:srgbClr val="4D6270"/>
                </a:solidFill>
                <a:latin typeface="Arial"/>
                <a:ea typeface="Arial"/>
                <a:cs typeface="Arial"/>
              </a:defRPr>
            </a:pPr>
            <a:r>
              <a:rPr sz="1575" b="0">
                <a:solidFill>
                  <a:srgbClr val="4D6270"/>
                </a:solidFill>
                <a:latin typeface="Arial"/>
                <a:ea typeface="Arial"/>
                <a:cs typeface="Arial"/>
              </a:rPr>
              <a:t>Microsoft  /  SQL Server samples</a:t>
            </a:r>
          </a:p>
        </p:txBody>
      </p:sp>
      <p:sp>
        <p:nvSpPr>
          <p:cNvPr id="10" name="text-351">
            <a:extLst>
              <a:ext uri="{FF2B5EF4-FFF2-40B4-BE49-F238E27FC236}">
                <a16:creationId xmlns:a16="http://schemas.microsoft.com/office/drawing/2014/main" id="{E345F0E7-DB06-4A60-A3BE-F28E5CE1F067}"/>
              </a:ext>
            </a:extLst>
          </p:cNvPr>
          <p:cNvSpPr>
            <a:spLocks noGrp="1"/>
          </p:cNvSpPr>
          <p:nvPr/>
        </p:nvSpPr>
        <p:spPr>
          <a:xfrm>
            <a:off x="609600" y="2533650"/>
            <a:ext cx="523875" cy="323850"/>
          </a:xfrm>
          <a:prstGeom prst="rect">
            <a:avLst/>
          </a:prstGeom>
          <a:noFill/>
          <a:ln w="0">
            <a:noFill/>
          </a:ln>
        </p:spPr>
        <p:txBody>
          <a:bodyPr wrap="square" lIns="0" tIns="0" rIns="0" bIns="0" anchor="t">
            <a:noAutofit/>
          </a:bodyPr>
          <a:lstStyle>
            <a:defPPr algn="l">
              <a:defRPr sz="1800" b="1">
                <a:solidFill>
                  <a:srgbClr val="006D77"/>
                </a:solidFill>
                <a:latin typeface="Arial"/>
                <a:ea typeface="Arial"/>
                <a:cs typeface="Arial"/>
              </a:defRPr>
            </a:defPPr>
          </a:lstStyle>
          <a:p>
            <a:pPr algn="l">
              <a:lnSpc>
                <a:spcPct val="112000"/>
              </a:lnSpc>
              <a:buNone/>
              <a:defRPr sz="1800" b="1">
                <a:solidFill>
                  <a:srgbClr val="006D77"/>
                </a:solidFill>
                <a:latin typeface="Arial"/>
                <a:ea typeface="Arial"/>
                <a:cs typeface="Arial"/>
              </a:defRPr>
            </a:pPr>
            <a:r>
              <a:rPr sz="1800" b="1">
                <a:solidFill>
                  <a:srgbClr val="006D77"/>
                </a:solidFill>
                <a:latin typeface="Arial"/>
                <a:ea typeface="Arial"/>
                <a:cs typeface="Arial"/>
              </a:rPr>
              <a:t>10</a:t>
            </a:r>
          </a:p>
        </p:txBody>
      </p:sp>
      <p:sp>
        <p:nvSpPr>
          <p:cNvPr id="11" name="text-352">
            <a:extLst>
              <a:ext uri="{FF2B5EF4-FFF2-40B4-BE49-F238E27FC236}">
                <a16:creationId xmlns:a16="http://schemas.microsoft.com/office/drawing/2014/main" id="{E0042F3A-7FF8-4EBD-84A1-FB9985B2297C}"/>
              </a:ext>
            </a:extLst>
          </p:cNvPr>
          <p:cNvSpPr>
            <a:spLocks noGrp="1"/>
          </p:cNvSpPr>
          <p:nvPr/>
        </p:nvSpPr>
        <p:spPr>
          <a:xfrm>
            <a:off x="1247775" y="2533650"/>
            <a:ext cx="5305425" cy="590550"/>
          </a:xfrm>
          <a:prstGeom prst="rect">
            <a:avLst/>
          </a:prstGeom>
          <a:noFill/>
          <a:ln w="0">
            <a:noFill/>
          </a:ln>
        </p:spPr>
        <p:txBody>
          <a:bodyPr wrap="square" lIns="0" tIns="0" rIns="0" bIns="0" anchor="t">
            <a:noAutofit/>
          </a:bodyPr>
          <a:lstStyle>
            <a:defPPr algn="l">
              <a:defRPr sz="1800" b="1">
                <a:solidFill>
                  <a:srgbClr val="17324A"/>
                </a:solidFill>
                <a:latin typeface="Arial"/>
                <a:ea typeface="Arial"/>
                <a:cs typeface="Arial"/>
              </a:defRPr>
            </a:defPPr>
          </a:lstStyle>
          <a:p>
            <a:pPr algn="l">
              <a:lnSpc>
                <a:spcPct val="112000"/>
              </a:lnSpc>
              <a:buNone/>
              <a:defRPr sz="1800" b="1">
                <a:solidFill>
                  <a:srgbClr val="17324A"/>
                </a:solidFill>
                <a:latin typeface="Arial"/>
                <a:ea typeface="Arial"/>
                <a:cs typeface="Arial"/>
              </a:defRPr>
            </a:pPr>
            <a:r>
              <a:rPr sz="1800" b="1">
                <a:solidFill>
                  <a:srgbClr val="17324A"/>
                </a:solidFill>
                <a:latin typeface="Arial"/>
                <a:ea typeface="Arial"/>
                <a:cs typeface="Arial"/>
                <a:hlinkClick r:id="rId4"/>
              </a:rPr>
              <a:t>ERPNext</a:t>
            </a:r>
          </a:p>
        </p:txBody>
      </p:sp>
      <p:sp>
        <p:nvSpPr>
          <p:cNvPr id="12" name="text-353">
            <a:extLst>
              <a:ext uri="{FF2B5EF4-FFF2-40B4-BE49-F238E27FC236}">
                <a16:creationId xmlns:a16="http://schemas.microsoft.com/office/drawing/2014/main" id="{ED3FB06D-1511-4A1D-B4A3-2A23B4E67B8C}"/>
              </a:ext>
            </a:extLst>
          </p:cNvPr>
          <p:cNvSpPr>
            <a:spLocks noGrp="1"/>
          </p:cNvSpPr>
          <p:nvPr/>
        </p:nvSpPr>
        <p:spPr>
          <a:xfrm>
            <a:off x="1247775" y="2971800"/>
            <a:ext cx="5305425" cy="314325"/>
          </a:xfrm>
          <a:prstGeom prst="rect">
            <a:avLst/>
          </a:prstGeom>
          <a:noFill/>
          <a:ln w="0">
            <a:noFill/>
          </a:ln>
        </p:spPr>
        <p:txBody>
          <a:bodyPr wrap="square" lIns="0" tIns="0" rIns="0" bIns="0" anchor="t">
            <a:noAutofit/>
          </a:bodyPr>
          <a:lstStyle>
            <a:defPPr algn="l">
              <a:defRPr sz="1575" b="0">
                <a:solidFill>
                  <a:srgbClr val="4D6270"/>
                </a:solidFill>
                <a:latin typeface="Arial"/>
                <a:ea typeface="Arial"/>
                <a:cs typeface="Arial"/>
              </a:defRPr>
            </a:defPPr>
          </a:lstStyle>
          <a:p>
            <a:pPr algn="l">
              <a:lnSpc>
                <a:spcPct val="112000"/>
              </a:lnSpc>
              <a:buNone/>
              <a:defRPr sz="1575" b="0">
                <a:solidFill>
                  <a:srgbClr val="4D6270"/>
                </a:solidFill>
                <a:latin typeface="Arial"/>
                <a:ea typeface="Arial"/>
                <a:cs typeface="Arial"/>
              </a:defRPr>
            </a:pPr>
            <a:r>
              <a:rPr sz="1575" b="0">
                <a:solidFill>
                  <a:srgbClr val="4D6270"/>
                </a:solidFill>
                <a:latin typeface="Arial"/>
                <a:ea typeface="Arial"/>
                <a:cs typeface="Arial"/>
              </a:rPr>
              <a:t>Frappe  /  Open-source ERP</a:t>
            </a:r>
          </a:p>
        </p:txBody>
      </p:sp>
      <p:sp>
        <p:nvSpPr>
          <p:cNvPr id="13" name="text-354">
            <a:extLst>
              <a:ext uri="{FF2B5EF4-FFF2-40B4-BE49-F238E27FC236}">
                <a16:creationId xmlns:a16="http://schemas.microsoft.com/office/drawing/2014/main" id="{B0BFEC7E-AC8D-4AC0-BFF8-BDED4166CFBB}"/>
              </a:ext>
            </a:extLst>
          </p:cNvPr>
          <p:cNvSpPr>
            <a:spLocks noGrp="1"/>
          </p:cNvSpPr>
          <p:nvPr/>
        </p:nvSpPr>
        <p:spPr>
          <a:xfrm>
            <a:off x="609600" y="3581400"/>
            <a:ext cx="523875" cy="323850"/>
          </a:xfrm>
          <a:prstGeom prst="rect">
            <a:avLst/>
          </a:prstGeom>
          <a:noFill/>
          <a:ln w="0">
            <a:noFill/>
          </a:ln>
        </p:spPr>
        <p:txBody>
          <a:bodyPr wrap="square" lIns="0" tIns="0" rIns="0" bIns="0" anchor="t">
            <a:noAutofit/>
          </a:bodyPr>
          <a:lstStyle>
            <a:defPPr algn="l">
              <a:defRPr sz="1800" b="1">
                <a:solidFill>
                  <a:srgbClr val="006D77"/>
                </a:solidFill>
                <a:latin typeface="Arial"/>
                <a:ea typeface="Arial"/>
                <a:cs typeface="Arial"/>
              </a:defRPr>
            </a:defPPr>
          </a:lstStyle>
          <a:p>
            <a:pPr algn="l">
              <a:lnSpc>
                <a:spcPct val="112000"/>
              </a:lnSpc>
              <a:buNone/>
              <a:defRPr sz="1800" b="1">
                <a:solidFill>
                  <a:srgbClr val="006D77"/>
                </a:solidFill>
                <a:latin typeface="Arial"/>
                <a:ea typeface="Arial"/>
                <a:cs typeface="Arial"/>
              </a:defRPr>
            </a:pPr>
            <a:r>
              <a:rPr sz="1800" b="1">
                <a:solidFill>
                  <a:srgbClr val="006D77"/>
                </a:solidFill>
                <a:latin typeface="Arial"/>
                <a:ea typeface="Arial"/>
                <a:cs typeface="Arial"/>
              </a:rPr>
              <a:t>11</a:t>
            </a:r>
          </a:p>
        </p:txBody>
      </p:sp>
      <p:sp>
        <p:nvSpPr>
          <p:cNvPr id="14" name="text-355">
            <a:extLst>
              <a:ext uri="{FF2B5EF4-FFF2-40B4-BE49-F238E27FC236}">
                <a16:creationId xmlns:a16="http://schemas.microsoft.com/office/drawing/2014/main" id="{F7228FB3-CEFC-4277-A427-7CDACB1DB275}"/>
              </a:ext>
            </a:extLst>
          </p:cNvPr>
          <p:cNvSpPr>
            <a:spLocks noGrp="1"/>
          </p:cNvSpPr>
          <p:nvPr/>
        </p:nvSpPr>
        <p:spPr>
          <a:xfrm>
            <a:off x="1247775" y="3581400"/>
            <a:ext cx="5305425" cy="590550"/>
          </a:xfrm>
          <a:prstGeom prst="rect">
            <a:avLst/>
          </a:prstGeom>
          <a:noFill/>
          <a:ln w="0">
            <a:noFill/>
          </a:ln>
        </p:spPr>
        <p:txBody>
          <a:bodyPr wrap="square" lIns="0" tIns="0" rIns="0" bIns="0" anchor="t">
            <a:noAutofit/>
          </a:bodyPr>
          <a:lstStyle>
            <a:defPPr algn="l">
              <a:defRPr sz="1800" b="1">
                <a:solidFill>
                  <a:srgbClr val="17324A"/>
                </a:solidFill>
                <a:latin typeface="Arial"/>
                <a:ea typeface="Arial"/>
                <a:cs typeface="Arial"/>
              </a:defRPr>
            </a:defPPr>
          </a:lstStyle>
          <a:p>
            <a:pPr algn="l">
              <a:lnSpc>
                <a:spcPct val="112000"/>
              </a:lnSpc>
              <a:buNone/>
              <a:defRPr sz="1800" b="1">
                <a:solidFill>
                  <a:srgbClr val="17324A"/>
                </a:solidFill>
                <a:latin typeface="Arial"/>
                <a:ea typeface="Arial"/>
                <a:cs typeface="Arial"/>
              </a:defRPr>
            </a:pPr>
            <a:r>
              <a:rPr sz="1800" b="1">
                <a:solidFill>
                  <a:srgbClr val="17324A"/>
                </a:solidFill>
                <a:latin typeface="Arial"/>
                <a:ea typeface="Arial"/>
                <a:cs typeface="Arial"/>
                <a:hlinkClick r:id="rId5"/>
              </a:rPr>
              <a:t>Frappe REST API</a:t>
            </a:r>
          </a:p>
        </p:txBody>
      </p:sp>
      <p:sp>
        <p:nvSpPr>
          <p:cNvPr id="15" name="text-356">
            <a:extLst>
              <a:ext uri="{FF2B5EF4-FFF2-40B4-BE49-F238E27FC236}">
                <a16:creationId xmlns:a16="http://schemas.microsoft.com/office/drawing/2014/main" id="{4282AD9D-8802-474C-B137-3651E2990B2F}"/>
              </a:ext>
            </a:extLst>
          </p:cNvPr>
          <p:cNvSpPr>
            <a:spLocks noGrp="1"/>
          </p:cNvSpPr>
          <p:nvPr/>
        </p:nvSpPr>
        <p:spPr>
          <a:xfrm>
            <a:off x="1247775" y="4019550"/>
            <a:ext cx="5305425" cy="314325"/>
          </a:xfrm>
          <a:prstGeom prst="rect">
            <a:avLst/>
          </a:prstGeom>
          <a:noFill/>
          <a:ln w="0">
            <a:noFill/>
          </a:ln>
        </p:spPr>
        <p:txBody>
          <a:bodyPr wrap="square" lIns="0" tIns="0" rIns="0" bIns="0" anchor="t">
            <a:noAutofit/>
          </a:bodyPr>
          <a:lstStyle>
            <a:defPPr algn="l">
              <a:defRPr sz="1575" b="0">
                <a:solidFill>
                  <a:srgbClr val="4D6270"/>
                </a:solidFill>
                <a:latin typeface="Arial"/>
                <a:ea typeface="Arial"/>
                <a:cs typeface="Arial"/>
              </a:defRPr>
            </a:defPPr>
          </a:lstStyle>
          <a:p>
            <a:pPr algn="l">
              <a:lnSpc>
                <a:spcPct val="112000"/>
              </a:lnSpc>
              <a:buNone/>
              <a:defRPr sz="1575" b="0">
                <a:solidFill>
                  <a:srgbClr val="4D6270"/>
                </a:solidFill>
                <a:latin typeface="Arial"/>
                <a:ea typeface="Arial"/>
                <a:cs typeface="Arial"/>
              </a:defRPr>
            </a:pPr>
            <a:r>
              <a:rPr sz="1575" b="0">
                <a:solidFill>
                  <a:srgbClr val="4D6270"/>
                </a:solidFill>
                <a:latin typeface="Arial"/>
                <a:ea typeface="Arial"/>
                <a:cs typeface="Arial"/>
              </a:rPr>
              <a:t>Frappe  /  Framework documentation</a:t>
            </a:r>
          </a:p>
        </p:txBody>
      </p:sp>
      <p:sp>
        <p:nvSpPr>
          <p:cNvPr id="16" name="text-357">
            <a:extLst>
              <a:ext uri="{FF2B5EF4-FFF2-40B4-BE49-F238E27FC236}">
                <a16:creationId xmlns:a16="http://schemas.microsoft.com/office/drawing/2014/main" id="{FFEFBA27-0438-49DB-A865-A370FCA1F3A4}"/>
              </a:ext>
            </a:extLst>
          </p:cNvPr>
          <p:cNvSpPr>
            <a:spLocks noGrp="1"/>
          </p:cNvSpPr>
          <p:nvPr/>
        </p:nvSpPr>
        <p:spPr>
          <a:xfrm>
            <a:off x="609600" y="4629150"/>
            <a:ext cx="523875" cy="323850"/>
          </a:xfrm>
          <a:prstGeom prst="rect">
            <a:avLst/>
          </a:prstGeom>
          <a:noFill/>
          <a:ln w="0">
            <a:noFill/>
          </a:ln>
        </p:spPr>
        <p:txBody>
          <a:bodyPr wrap="square" lIns="0" tIns="0" rIns="0" bIns="0" anchor="t">
            <a:noAutofit/>
          </a:bodyPr>
          <a:lstStyle>
            <a:defPPr algn="l">
              <a:defRPr sz="1800" b="1">
                <a:solidFill>
                  <a:srgbClr val="006D77"/>
                </a:solidFill>
                <a:latin typeface="Arial"/>
                <a:ea typeface="Arial"/>
                <a:cs typeface="Arial"/>
              </a:defRPr>
            </a:defPPr>
          </a:lstStyle>
          <a:p>
            <a:pPr algn="l">
              <a:lnSpc>
                <a:spcPct val="112000"/>
              </a:lnSpc>
              <a:buNone/>
              <a:defRPr sz="1800" b="1">
                <a:solidFill>
                  <a:srgbClr val="006D77"/>
                </a:solidFill>
                <a:latin typeface="Arial"/>
                <a:ea typeface="Arial"/>
                <a:cs typeface="Arial"/>
              </a:defRPr>
            </a:pPr>
            <a:r>
              <a:rPr sz="1800" b="1">
                <a:solidFill>
                  <a:srgbClr val="006D77"/>
                </a:solidFill>
                <a:latin typeface="Arial"/>
                <a:ea typeface="Arial"/>
                <a:cs typeface="Arial"/>
              </a:rPr>
              <a:t>12</a:t>
            </a:r>
          </a:p>
        </p:txBody>
      </p:sp>
      <p:sp>
        <p:nvSpPr>
          <p:cNvPr id="17" name="text-358">
            <a:extLst>
              <a:ext uri="{FF2B5EF4-FFF2-40B4-BE49-F238E27FC236}">
                <a16:creationId xmlns:a16="http://schemas.microsoft.com/office/drawing/2014/main" id="{2F99ACAC-2B8B-4C37-AFBC-6238E28FE9E9}"/>
              </a:ext>
            </a:extLst>
          </p:cNvPr>
          <p:cNvSpPr>
            <a:spLocks noGrp="1"/>
          </p:cNvSpPr>
          <p:nvPr/>
        </p:nvSpPr>
        <p:spPr>
          <a:xfrm>
            <a:off x="1247775" y="4629150"/>
            <a:ext cx="5305425" cy="590550"/>
          </a:xfrm>
          <a:prstGeom prst="rect">
            <a:avLst/>
          </a:prstGeom>
          <a:noFill/>
          <a:ln w="0">
            <a:noFill/>
          </a:ln>
        </p:spPr>
        <p:txBody>
          <a:bodyPr wrap="square" lIns="0" tIns="0" rIns="0" bIns="0" anchor="t">
            <a:noAutofit/>
          </a:bodyPr>
          <a:lstStyle>
            <a:defPPr algn="l">
              <a:defRPr sz="1800" b="1">
                <a:solidFill>
                  <a:srgbClr val="17324A"/>
                </a:solidFill>
                <a:latin typeface="Arial"/>
                <a:ea typeface="Arial"/>
                <a:cs typeface="Arial"/>
              </a:defRPr>
            </a:defPPr>
          </a:lstStyle>
          <a:p>
            <a:pPr algn="l">
              <a:lnSpc>
                <a:spcPct val="112000"/>
              </a:lnSpc>
              <a:buNone/>
              <a:defRPr sz="1800" b="1">
                <a:solidFill>
                  <a:srgbClr val="17324A"/>
                </a:solidFill>
                <a:latin typeface="Arial"/>
                <a:ea typeface="Arial"/>
                <a:cs typeface="Arial"/>
              </a:defRPr>
            </a:pPr>
            <a:r>
              <a:rPr sz="1800" b="1">
                <a:solidFill>
                  <a:srgbClr val="17324A"/>
                </a:solidFill>
                <a:latin typeface="Arial"/>
                <a:ea typeface="Arial"/>
                <a:cs typeface="Arial"/>
                <a:hlinkClick r:id="rId6"/>
              </a:rPr>
              <a:t>WebArena</a:t>
            </a:r>
          </a:p>
        </p:txBody>
      </p:sp>
      <p:sp>
        <p:nvSpPr>
          <p:cNvPr id="18" name="text-359">
            <a:extLst>
              <a:ext uri="{FF2B5EF4-FFF2-40B4-BE49-F238E27FC236}">
                <a16:creationId xmlns:a16="http://schemas.microsoft.com/office/drawing/2014/main" id="{F0DE1BCC-4CDE-46CA-A3EC-196DD343AFD9}"/>
              </a:ext>
            </a:extLst>
          </p:cNvPr>
          <p:cNvSpPr>
            <a:spLocks noGrp="1"/>
          </p:cNvSpPr>
          <p:nvPr/>
        </p:nvSpPr>
        <p:spPr>
          <a:xfrm>
            <a:off x="1247775" y="5067300"/>
            <a:ext cx="5305425" cy="314325"/>
          </a:xfrm>
          <a:prstGeom prst="rect">
            <a:avLst/>
          </a:prstGeom>
          <a:noFill/>
          <a:ln w="0">
            <a:noFill/>
          </a:ln>
        </p:spPr>
        <p:txBody>
          <a:bodyPr wrap="square" lIns="0" tIns="0" rIns="0" bIns="0" anchor="t">
            <a:noAutofit/>
          </a:bodyPr>
          <a:lstStyle>
            <a:defPPr algn="l">
              <a:defRPr sz="1575" b="0">
                <a:solidFill>
                  <a:srgbClr val="4D6270"/>
                </a:solidFill>
                <a:latin typeface="Arial"/>
                <a:ea typeface="Arial"/>
                <a:cs typeface="Arial"/>
              </a:defRPr>
            </a:defPPr>
          </a:lstStyle>
          <a:p>
            <a:pPr algn="l">
              <a:lnSpc>
                <a:spcPct val="112000"/>
              </a:lnSpc>
              <a:buNone/>
              <a:defRPr sz="1575" b="0">
                <a:solidFill>
                  <a:srgbClr val="4D6270"/>
                </a:solidFill>
                <a:latin typeface="Arial"/>
                <a:ea typeface="Arial"/>
                <a:cs typeface="Arial"/>
              </a:defRPr>
            </a:pPr>
            <a:r>
              <a:rPr sz="1575" b="0">
                <a:solidFill>
                  <a:srgbClr val="4D6270"/>
                </a:solidFill>
                <a:latin typeface="Arial"/>
                <a:ea typeface="Arial"/>
                <a:cs typeface="Arial"/>
              </a:rPr>
              <a:t>Zhou et al.  /  ICLR 2024</a:t>
            </a:r>
          </a:p>
        </p:txBody>
      </p:sp>
      <p:sp>
        <p:nvSpPr>
          <p:cNvPr id="19" name="shape-360">
            <a:extLst>
              <a:ext uri="{FF2B5EF4-FFF2-40B4-BE49-F238E27FC236}">
                <a16:creationId xmlns:a16="http://schemas.microsoft.com/office/drawing/2014/main" id="{D19ADE8C-7D80-489C-911B-7D342F1DD876}"/>
              </a:ext>
            </a:extLst>
          </p:cNvPr>
          <p:cNvSpPr>
            <a:spLocks noGrp="1"/>
          </p:cNvSpPr>
          <p:nvPr/>
        </p:nvSpPr>
        <p:spPr>
          <a:xfrm>
            <a:off x="6981825" y="1485900"/>
            <a:ext cx="14288" cy="4076700"/>
          </a:xfrm>
          <a:prstGeom prst="rect">
            <a:avLst/>
          </a:prstGeom>
          <a:solidFill>
            <a:srgbClr val="CDD7D9"/>
          </a:solidFill>
          <a:ln w="0">
            <a:noFill/>
          </a:ln>
        </p:spPr>
      </p:sp>
      <p:sp>
        <p:nvSpPr>
          <p:cNvPr id="20" name="text-361">
            <a:extLst>
              <a:ext uri="{FF2B5EF4-FFF2-40B4-BE49-F238E27FC236}">
                <a16:creationId xmlns:a16="http://schemas.microsoft.com/office/drawing/2014/main" id="{CE154820-C6E7-4776-87CB-8C101F8D7211}"/>
              </a:ext>
            </a:extLst>
          </p:cNvPr>
          <p:cNvSpPr>
            <a:spLocks noGrp="1"/>
          </p:cNvSpPr>
          <p:nvPr/>
        </p:nvSpPr>
        <p:spPr>
          <a:xfrm>
            <a:off x="7524750" y="1485900"/>
            <a:ext cx="4057650" cy="419100"/>
          </a:xfrm>
          <a:prstGeom prst="rect">
            <a:avLst/>
          </a:prstGeom>
          <a:noFill/>
          <a:ln w="0">
            <a:noFill/>
          </a:ln>
        </p:spPr>
        <p:txBody>
          <a:bodyPr wrap="square" lIns="0" tIns="0" rIns="0" bIns="0" anchor="t">
            <a:noAutofit/>
          </a:bodyPr>
          <a:lstStyle>
            <a:defPPr algn="l">
              <a:defRPr sz="2400" b="1">
                <a:solidFill>
                  <a:srgbClr val="006D77"/>
                </a:solidFill>
                <a:latin typeface="Arial"/>
                <a:ea typeface="Arial"/>
                <a:cs typeface="Arial"/>
              </a:defRPr>
            </a:defPPr>
          </a:lstStyle>
          <a:p>
            <a:pPr algn="l">
              <a:lnSpc>
                <a:spcPct val="112000"/>
              </a:lnSpc>
              <a:buNone/>
              <a:defRPr sz="2400" b="1">
                <a:solidFill>
                  <a:srgbClr val="006D77"/>
                </a:solidFill>
                <a:latin typeface="Arial"/>
                <a:ea typeface="Arial"/>
                <a:cs typeface="Arial"/>
              </a:defRPr>
            </a:pPr>
            <a:r>
              <a:rPr sz="2400" b="1">
                <a:solidFill>
                  <a:srgbClr val="006D77"/>
                </a:solidFill>
                <a:latin typeface="Arial"/>
                <a:ea typeface="Arial"/>
                <a:cs typeface="Arial"/>
              </a:rPr>
              <a:t>AI assistance</a:t>
            </a:r>
          </a:p>
        </p:txBody>
      </p:sp>
      <p:sp>
        <p:nvSpPr>
          <p:cNvPr id="21" name="text-362">
            <a:extLst>
              <a:ext uri="{FF2B5EF4-FFF2-40B4-BE49-F238E27FC236}">
                <a16:creationId xmlns:a16="http://schemas.microsoft.com/office/drawing/2014/main" id="{79612B64-36A0-49C6-A66B-0BA639646B32}"/>
              </a:ext>
            </a:extLst>
          </p:cNvPr>
          <p:cNvSpPr>
            <a:spLocks noGrp="1"/>
          </p:cNvSpPr>
          <p:nvPr/>
        </p:nvSpPr>
        <p:spPr>
          <a:xfrm>
            <a:off x="7524750" y="2143125"/>
            <a:ext cx="4057650" cy="419100"/>
          </a:xfrm>
          <a:prstGeom prst="rect">
            <a:avLst/>
          </a:prstGeom>
          <a:noFill/>
          <a:ln w="0">
            <a:noFill/>
          </a:ln>
        </p:spPr>
        <p:txBody>
          <a:bodyPr wrap="square" lIns="0" tIns="0" rIns="0" bIns="0" anchor="t">
            <a:noAutofit/>
          </a:bodyPr>
          <a:lstStyle>
            <a:defPPr algn="l">
              <a:defRPr sz="2175" b="1">
                <a:solidFill>
                  <a:srgbClr val="17324A"/>
                </a:solidFill>
                <a:latin typeface="Arial"/>
                <a:ea typeface="Arial"/>
                <a:cs typeface="Arial"/>
              </a:defRPr>
            </a:defPPr>
          </a:lstStyle>
          <a:p>
            <a:pPr algn="l">
              <a:lnSpc>
                <a:spcPct val="112000"/>
              </a:lnSpc>
              <a:buNone/>
              <a:defRPr sz="2175" b="1">
                <a:solidFill>
                  <a:srgbClr val="17324A"/>
                </a:solidFill>
                <a:latin typeface="Arial"/>
                <a:ea typeface="Arial"/>
                <a:cs typeface="Arial"/>
              </a:defRPr>
            </a:pPr>
            <a:r>
              <a:rPr sz="2175" b="1">
                <a:solidFill>
                  <a:srgbClr val="17324A"/>
                </a:solidFill>
                <a:latin typeface="Arial"/>
                <a:ea typeface="Arial"/>
                <a:cs typeface="Arial"/>
              </a:rPr>
              <a:t>OpenAI Codex</a:t>
            </a:r>
          </a:p>
        </p:txBody>
      </p:sp>
      <p:sp>
        <p:nvSpPr>
          <p:cNvPr id="22" name="text-363">
            <a:extLst>
              <a:ext uri="{FF2B5EF4-FFF2-40B4-BE49-F238E27FC236}">
                <a16:creationId xmlns:a16="http://schemas.microsoft.com/office/drawing/2014/main" id="{182DCA10-24F1-4C1B-9AA5-EB6A171874C2}"/>
              </a:ext>
            </a:extLst>
          </p:cNvPr>
          <p:cNvSpPr>
            <a:spLocks noGrp="1"/>
          </p:cNvSpPr>
          <p:nvPr/>
        </p:nvSpPr>
        <p:spPr>
          <a:xfrm>
            <a:off x="7524750" y="2743200"/>
            <a:ext cx="4057650" cy="1228725"/>
          </a:xfrm>
          <a:prstGeom prst="rect">
            <a:avLst/>
          </a:prstGeom>
          <a:noFill/>
          <a:ln w="0">
            <a:noFill/>
          </a:ln>
        </p:spPr>
        <p:txBody>
          <a:bodyPr wrap="square" lIns="0" tIns="0" rIns="0" bIns="0" anchor="t">
            <a:noAutofit/>
          </a:bodyPr>
          <a:lstStyle>
            <a:defPPr algn="l">
              <a:defRPr sz="2025" b="0">
                <a:solidFill>
                  <a:srgbClr val="17324A"/>
                </a:solidFill>
                <a:latin typeface="Arial"/>
                <a:ea typeface="Arial"/>
                <a:cs typeface="Arial"/>
              </a:defRPr>
            </a:defPPr>
          </a:lstStyle>
          <a:p>
            <a:pPr algn="l">
              <a:lnSpc>
                <a:spcPct val="112000"/>
              </a:lnSpc>
              <a:buNone/>
              <a:defRPr sz="2025" b="0">
                <a:solidFill>
                  <a:srgbClr val="17324A"/>
                </a:solidFill>
                <a:latin typeface="Arial"/>
                <a:ea typeface="Arial"/>
                <a:cs typeface="Arial"/>
              </a:defRPr>
            </a:pPr>
            <a:r>
              <a:rPr sz="2025" b="0">
                <a:solidFill>
                  <a:srgbClr val="17324A"/>
                </a:solidFill>
                <a:latin typeface="Arial"/>
                <a:ea typeface="Arial"/>
                <a:cs typeface="Arial"/>
              </a:rPr>
              <a:t>Research synthesis</a:t>
            </a:r>
          </a:p>
          <a:p>
            <a:pPr algn="l">
              <a:lnSpc>
                <a:spcPct val="112000"/>
              </a:lnSpc>
              <a:buNone/>
              <a:defRPr sz="2025" b="0">
                <a:solidFill>
                  <a:srgbClr val="17324A"/>
                </a:solidFill>
                <a:latin typeface="Arial"/>
                <a:ea typeface="Arial"/>
                <a:cs typeface="Arial"/>
              </a:defRPr>
            </a:pPr>
            <a:r>
              <a:rPr sz="2025" b="0">
                <a:solidFill>
                  <a:srgbClr val="17324A"/>
                </a:solidFill>
                <a:latin typeface="Arial"/>
                <a:ea typeface="Arial"/>
                <a:cs typeface="Arial"/>
              </a:rPr>
              <a:t>Implementation assistance</a:t>
            </a:r>
          </a:p>
          <a:p>
            <a:pPr algn="l">
              <a:lnSpc>
                <a:spcPct val="112000"/>
              </a:lnSpc>
              <a:buNone/>
              <a:defRPr sz="2025" b="0">
                <a:solidFill>
                  <a:srgbClr val="17324A"/>
                </a:solidFill>
                <a:latin typeface="Arial"/>
                <a:ea typeface="Arial"/>
                <a:cs typeface="Arial"/>
              </a:defRPr>
            </a:pPr>
            <a:r>
              <a:rPr sz="2025" b="0">
                <a:solidFill>
                  <a:srgbClr val="17324A"/>
                </a:solidFill>
                <a:latin typeface="Arial"/>
                <a:ea typeface="Arial"/>
                <a:cs typeface="Arial"/>
              </a:rPr>
              <a:t>Presentation authoring</a:t>
            </a:r>
          </a:p>
        </p:txBody>
      </p:sp>
      <p:sp>
        <p:nvSpPr>
          <p:cNvPr id="23" name="text-364">
            <a:extLst>
              <a:ext uri="{FF2B5EF4-FFF2-40B4-BE49-F238E27FC236}">
                <a16:creationId xmlns:a16="http://schemas.microsoft.com/office/drawing/2014/main" id="{3C3D33FA-9A26-439E-A6D0-743E42B544D7}"/>
              </a:ext>
            </a:extLst>
          </p:cNvPr>
          <p:cNvSpPr>
            <a:spLocks noGrp="1"/>
          </p:cNvSpPr>
          <p:nvPr/>
        </p:nvSpPr>
        <p:spPr>
          <a:xfrm>
            <a:off x="7524750" y="4314825"/>
            <a:ext cx="4057650" cy="771525"/>
          </a:xfrm>
          <a:prstGeom prst="rect">
            <a:avLst/>
          </a:prstGeom>
          <a:noFill/>
          <a:ln w="0">
            <a:noFill/>
          </a:ln>
        </p:spPr>
        <p:txBody>
          <a:bodyPr wrap="square" lIns="0" tIns="0" rIns="0" bIns="0" anchor="t">
            <a:noAutofit/>
          </a:bodyPr>
          <a:lstStyle>
            <a:defPPr algn="l">
              <a:defRPr sz="1875" b="0">
                <a:solidFill>
                  <a:srgbClr val="4D6270"/>
                </a:solidFill>
                <a:latin typeface="Arial"/>
                <a:ea typeface="Arial"/>
                <a:cs typeface="Arial"/>
              </a:defRPr>
            </a:defPPr>
          </a:lstStyle>
          <a:p>
            <a:pPr algn="l">
              <a:lnSpc>
                <a:spcPct val="112000"/>
              </a:lnSpc>
              <a:buNone/>
              <a:defRPr sz="1875" b="0">
                <a:solidFill>
                  <a:srgbClr val="4D6270"/>
                </a:solidFill>
                <a:latin typeface="Arial"/>
                <a:ea typeface="Arial"/>
                <a:cs typeface="Arial"/>
              </a:defRPr>
            </a:pPr>
            <a:r>
              <a:rPr sz="1875" b="0">
                <a:solidFill>
                  <a:srgbClr val="4D6270"/>
                </a:solidFill>
                <a:latin typeface="Arial"/>
                <a:ea typeface="Arial"/>
                <a:cs typeface="Arial"/>
              </a:rPr>
              <a:t>Primary references and project</a:t>
            </a:r>
          </a:p>
          <a:p>
            <a:pPr algn="l">
              <a:lnSpc>
                <a:spcPct val="112000"/>
              </a:lnSpc>
              <a:buNone/>
              <a:defRPr sz="1875" b="0">
                <a:solidFill>
                  <a:srgbClr val="4D6270"/>
                </a:solidFill>
                <a:latin typeface="Arial"/>
                <a:ea typeface="Arial"/>
                <a:cs typeface="Arial"/>
              </a:defRPr>
            </a:pPr>
            <a:r>
              <a:rPr sz="1875" b="0">
                <a:solidFill>
                  <a:srgbClr val="4D6270"/>
                </a:solidFill>
                <a:latin typeface="Arial"/>
                <a:ea typeface="Arial"/>
                <a:cs typeface="Arial"/>
              </a:rPr>
              <a:t>evidence support the claims.</a:t>
            </a:r>
          </a:p>
        </p:txBody>
      </p:sp>
      <p:sp>
        <p:nvSpPr>
          <p:cNvPr id="24" name="text-365">
            <a:extLst>
              <a:ext uri="{FF2B5EF4-FFF2-40B4-BE49-F238E27FC236}">
                <a16:creationId xmlns:a16="http://schemas.microsoft.com/office/drawing/2014/main" id="{3FF837A4-C102-4221-AC3A-09FAA54AA393}"/>
              </a:ext>
            </a:extLst>
          </p:cNvPr>
          <p:cNvSpPr>
            <a:spLocks noGrp="1"/>
          </p:cNvSpPr>
          <p:nvPr/>
        </p:nvSpPr>
        <p:spPr>
          <a:xfrm>
            <a:off x="7524750" y="5657850"/>
            <a:ext cx="4057650" cy="552450"/>
          </a:xfrm>
          <a:prstGeom prst="rect">
            <a:avLst/>
          </a:prstGeom>
          <a:noFill/>
          <a:ln w="0">
            <a:noFill/>
          </a:ln>
        </p:spPr>
        <p:txBody>
          <a:bodyPr wrap="square" lIns="0" tIns="0" rIns="0" bIns="0" anchor="t">
            <a:noAutofit/>
          </a:bodyPr>
          <a:lstStyle>
            <a:defPPr algn="l">
              <a:defRPr sz="1725" b="0">
                <a:solidFill>
                  <a:srgbClr val="4D6270"/>
                </a:solidFill>
                <a:latin typeface="Arial"/>
                <a:ea typeface="Arial"/>
                <a:cs typeface="Arial"/>
              </a:defRPr>
            </a:defPPr>
          </a:lstStyle>
          <a:p>
            <a:pPr algn="l">
              <a:lnSpc>
                <a:spcPct val="112000"/>
              </a:lnSpc>
              <a:buNone/>
              <a:defRPr sz="1725" b="0">
                <a:solidFill>
                  <a:srgbClr val="4D6270"/>
                </a:solidFill>
                <a:latin typeface="Arial"/>
                <a:ea typeface="Arial"/>
                <a:cs typeface="Arial"/>
              </a:defRPr>
            </a:pPr>
            <a:r>
              <a:rPr sz="1725" b="0">
                <a:solidFill>
                  <a:srgbClr val="4D6270"/>
                </a:solidFill>
                <a:latin typeface="Arial"/>
                <a:ea typeface="Arial"/>
                <a:cs typeface="Arial"/>
              </a:rPr>
              <a:t>Evaluation results remain pending.</a:t>
            </a:r>
          </a:p>
        </p:txBody>
      </p:sp>
      <p:pic>
        <p:nvPicPr>
          <p:cNvPr id="25" name="Picture 24">
            <a:extLst>
              <a:ext uri="{FF2B5EF4-FFF2-40B4-BE49-F238E27FC236}">
                <a16:creationId xmlns:a16="http://schemas.microsoft.com/office/drawing/2014/main" id="{E66090ED-C45A-40F6-9CA2-32985CFDA172}"/>
              </a:ext>
            </a:extLst>
          </p:cNvPr>
          <p:cNvPicPr>
            <a:picLocks noChangeAspect="1"/>
          </p:cNvPicPr>
          <p:nvPr/>
        </p:nvPicPr>
        <p:blipFill>
          <a:blip r:embed="rId7"/>
          <a:stretch/>
        </p:blipFill>
        <p:spPr>
          <a:xfrm>
            <a:off x="9220220" y="295275"/>
            <a:ext cx="2362160" cy="442436"/>
          </a:xfrm>
          <a:prstGeom prst="rect">
            <a:avLst/>
          </a:prstGeom>
        </p:spPr>
      </p:pic>
    </p:spTree>
    <p:extLst>
      <p:ext uri="{BB962C8B-B14F-4D97-AF65-F5344CB8AC3E}">
        <p14:creationId xmlns:p14="http://schemas.microsoft.com/office/powerpoint/2010/main" val="972713053"/>
      </p:ext>
    </p:extLst>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1" name="shape-103">
            <a:extLst>
              <a:ext uri="{FF2B5EF4-FFF2-40B4-BE49-F238E27FC236}">
                <a16:creationId xmlns:a16="http://schemas.microsoft.com/office/drawing/2014/main" id="{2562CD2C-9E3E-4C69-A477-A75E7A395205}"/>
              </a:ext>
            </a:extLst>
          </p:cNvPr>
          <p:cNvSpPr>
            <a:spLocks noGrp="1"/>
          </p:cNvSpPr>
          <p:nvPr/>
        </p:nvSpPr>
        <p:spPr>
          <a:xfrm>
            <a:off x="0" y="0"/>
            <a:ext cx="12192000" cy="1066800"/>
          </a:xfrm>
          <a:prstGeom prst="rect">
            <a:avLst/>
          </a:prstGeom>
          <a:solidFill>
            <a:srgbClr val="F2F6F7"/>
          </a:solidFill>
          <a:ln w="0">
            <a:noFill/>
          </a:ln>
        </p:spPr>
      </p:sp>
      <p:sp>
        <p:nvSpPr>
          <p:cNvPr id="2" name="shape-104">
            <a:extLst>
              <a:ext uri="{FF2B5EF4-FFF2-40B4-BE49-F238E27FC236}">
                <a16:creationId xmlns:a16="http://schemas.microsoft.com/office/drawing/2014/main" id="{71631536-2294-40C9-AC9F-AFC33E3B96DA}"/>
              </a:ext>
            </a:extLst>
          </p:cNvPr>
          <p:cNvSpPr>
            <a:spLocks noGrp="1"/>
          </p:cNvSpPr>
          <p:nvPr/>
        </p:nvSpPr>
        <p:spPr>
          <a:xfrm>
            <a:off x="0" y="1038225"/>
            <a:ext cx="12192000" cy="28575"/>
          </a:xfrm>
          <a:prstGeom prst="rect">
            <a:avLst/>
          </a:prstGeom>
          <a:solidFill>
            <a:srgbClr val="006D77"/>
          </a:solidFill>
          <a:ln w="0">
            <a:noFill/>
          </a:ln>
        </p:spPr>
      </p:sp>
      <p:sp>
        <p:nvSpPr>
          <p:cNvPr id="3" name="slide-5-title">
            <a:extLst>
              <a:ext uri="{FF2B5EF4-FFF2-40B4-BE49-F238E27FC236}">
                <a16:creationId xmlns:a16="http://schemas.microsoft.com/office/drawing/2014/main" id="{1455044C-2DA0-495A-9F6C-D56E6E0D2C68}"/>
              </a:ext>
            </a:extLst>
          </p:cNvPr>
          <p:cNvSpPr>
            <a:spLocks noGrp="1"/>
          </p:cNvSpPr>
          <p:nvPr/>
        </p:nvSpPr>
        <p:spPr>
          <a:xfrm>
            <a:off x="609600" y="304800"/>
            <a:ext cx="8239125" cy="542925"/>
          </a:xfrm>
          <a:prstGeom prst="rect">
            <a:avLst/>
          </a:prstGeom>
          <a:noFill/>
          <a:ln w="0">
            <a:noFill/>
          </a:ln>
        </p:spPr>
        <p:txBody>
          <a:bodyPr wrap="square" lIns="0" tIns="0" rIns="0" bIns="0" anchor="t">
            <a:noAutofit/>
          </a:bodyPr>
          <a:lstStyle>
            <a:defPPr algn="l">
              <a:defRPr sz="3150" b="1">
                <a:solidFill>
                  <a:srgbClr val="102A43"/>
                </a:solidFill>
                <a:latin typeface="Arial"/>
                <a:ea typeface="Arial"/>
                <a:cs typeface="Arial"/>
              </a:defRPr>
            </a:defPPr>
          </a:lstStyle>
          <a:p>
            <a:pPr algn="l">
              <a:lnSpc>
                <a:spcPct val="112000"/>
              </a:lnSpc>
              <a:buNone/>
              <a:defRPr sz="3150" b="1">
                <a:solidFill>
                  <a:srgbClr val="102A43"/>
                </a:solidFill>
                <a:latin typeface="Arial"/>
                <a:ea typeface="Arial"/>
                <a:cs typeface="Arial"/>
              </a:defRPr>
            </a:pPr>
            <a:r>
              <a:rPr sz="3150" b="1">
                <a:solidFill>
                  <a:srgbClr val="102A43"/>
                </a:solidFill>
                <a:latin typeface="Arial"/>
                <a:ea typeface="Arial"/>
                <a:cs typeface="Arial"/>
              </a:rPr>
              <a:t>Where API-only agents fall short</a:t>
            </a:r>
          </a:p>
        </p:txBody>
      </p:sp>
      <p:sp>
        <p:nvSpPr>
          <p:cNvPr id="4" name="shape-105">
            <a:extLst>
              <a:ext uri="{FF2B5EF4-FFF2-40B4-BE49-F238E27FC236}">
                <a16:creationId xmlns:a16="http://schemas.microsoft.com/office/drawing/2014/main" id="{B38EE9C8-9B23-41DE-BCB7-61D9A656A111}"/>
              </a:ext>
            </a:extLst>
          </p:cNvPr>
          <p:cNvSpPr>
            <a:spLocks noGrp="1"/>
          </p:cNvSpPr>
          <p:nvPr/>
        </p:nvSpPr>
        <p:spPr>
          <a:xfrm>
            <a:off x="0" y="6381750"/>
            <a:ext cx="12192000" cy="476250"/>
          </a:xfrm>
          <a:prstGeom prst="rect">
            <a:avLst/>
          </a:prstGeom>
          <a:solidFill>
            <a:srgbClr val="102A43"/>
          </a:solidFill>
          <a:ln w="0">
            <a:noFill/>
          </a:ln>
        </p:spPr>
      </p:sp>
      <p:sp>
        <p:nvSpPr>
          <p:cNvPr id="5" name="brand-5">
            <a:extLst>
              <a:ext uri="{FF2B5EF4-FFF2-40B4-BE49-F238E27FC236}">
                <a16:creationId xmlns:a16="http://schemas.microsoft.com/office/drawing/2014/main" id="{31610A6C-CA92-42F2-9154-E5526A315EAE}"/>
              </a:ext>
            </a:extLst>
          </p:cNvPr>
          <p:cNvSpPr>
            <a:spLocks noGrp="1"/>
          </p:cNvSpPr>
          <p:nvPr/>
        </p:nvSpPr>
        <p:spPr>
          <a:xfrm>
            <a:off x="609600" y="6467475"/>
            <a:ext cx="3429000" cy="333375"/>
          </a:xfrm>
          <a:prstGeom prst="rect">
            <a:avLst/>
          </a:prstGeom>
          <a:noFill/>
          <a:ln w="0">
            <a:noFill/>
          </a:ln>
        </p:spPr>
        <p:txBody>
          <a:bodyPr wrap="square" lIns="0" tIns="0" rIns="0" bIns="0" anchor="t">
            <a:noAutofit/>
          </a:bodyPr>
          <a:lstStyle>
            <a:defPPr algn="l">
              <a:defRPr sz="1950" b="1">
                <a:solidFill>
                  <a:srgbClr val="8AE1D5"/>
                </a:solidFill>
                <a:latin typeface="Arial"/>
                <a:ea typeface="Arial"/>
                <a:cs typeface="Arial"/>
              </a:defRPr>
            </a:defPPr>
          </a:lstStyle>
          <a:p>
            <a:pPr algn="l">
              <a:lnSpc>
                <a:spcPct val="112000"/>
              </a:lnSpc>
              <a:buNone/>
              <a:defRPr sz="1950" b="1">
                <a:solidFill>
                  <a:srgbClr val="8AE1D5"/>
                </a:solidFill>
                <a:latin typeface="Arial"/>
                <a:ea typeface="Arial"/>
                <a:cs typeface="Arial"/>
              </a:defRPr>
            </a:pPr>
            <a:r>
              <a:rPr sz="1950" b="1">
                <a:solidFill>
                  <a:srgbClr val="8AE1D5"/>
                </a:solidFill>
                <a:latin typeface="Arial"/>
                <a:ea typeface="Arial"/>
                <a:cs typeface="Arial"/>
              </a:rPr>
              <a:t>Sapience</a:t>
            </a:r>
          </a:p>
        </p:txBody>
      </p:sp>
      <p:sp>
        <p:nvSpPr>
          <p:cNvPr id="6" name="page-5">
            <a:extLst>
              <a:ext uri="{FF2B5EF4-FFF2-40B4-BE49-F238E27FC236}">
                <a16:creationId xmlns:a16="http://schemas.microsoft.com/office/drawing/2014/main" id="{3FA06EAC-5E3E-4A4F-BC8D-300A8EEAF3F5}"/>
              </a:ext>
            </a:extLst>
          </p:cNvPr>
          <p:cNvSpPr>
            <a:spLocks noGrp="1"/>
          </p:cNvSpPr>
          <p:nvPr/>
        </p:nvSpPr>
        <p:spPr>
          <a:xfrm>
            <a:off x="10629900" y="6505575"/>
            <a:ext cx="952500" cy="276225"/>
          </a:xfrm>
          <a:prstGeom prst="rect">
            <a:avLst/>
          </a:prstGeom>
          <a:noFill/>
          <a:ln w="0">
            <a:noFill/>
          </a:ln>
        </p:spPr>
        <p:txBody>
          <a:bodyPr wrap="square" lIns="0" tIns="0" rIns="0" bIns="0" anchor="t">
            <a:noAutofit/>
          </a:bodyPr>
          <a:lstStyle>
            <a:defPPr algn="r">
              <a:defRPr sz="1575" b="0">
                <a:solidFill>
                  <a:srgbClr val="FFFFFF"/>
                </a:solidFill>
                <a:latin typeface="Arial"/>
                <a:ea typeface="Arial"/>
                <a:cs typeface="Arial"/>
              </a:defRPr>
            </a:defPPr>
          </a:lstStyle>
          <a:p>
            <a:pPr algn="r">
              <a:lnSpc>
                <a:spcPct val="112000"/>
              </a:lnSpc>
              <a:buNone/>
              <a:defRPr sz="1575" b="0">
                <a:solidFill>
                  <a:srgbClr val="FFFFFF"/>
                </a:solidFill>
                <a:latin typeface="Arial"/>
                <a:ea typeface="Arial"/>
                <a:cs typeface="Arial"/>
              </a:defRPr>
            </a:pPr>
            <a:r>
              <a:rPr sz="1575" b="0">
                <a:solidFill>
                  <a:srgbClr val="FFFFFF"/>
                </a:solidFill>
                <a:latin typeface="Arial"/>
                <a:ea typeface="Arial"/>
                <a:cs typeface="Arial"/>
              </a:rPr>
              <a:t>04 / 18</a:t>
            </a:r>
          </a:p>
        </p:txBody>
      </p:sp>
      <p:pic>
        <p:nvPicPr>
          <p:cNvPr id="12" name="KLE logo" descr="image.png"/>
          <p:cNvPicPr>
            <a:picLocks noChangeAspect="1"/>
          </p:cNvPicPr>
          <p:nvPr/>
        </p:nvPicPr>
        <p:blipFill>
          <a:blip r:embed="rId2"/>
          <a:stretch>
            <a:fillRect/>
          </a:stretch>
        </p:blipFill>
        <p:spPr>
          <a:xfrm>
            <a:off x="9220220" y="295275"/>
            <a:ext cx="2362160" cy="442436"/>
          </a:xfrm>
          <a:prstGeom prst="rect">
            <a:avLst/>
          </a:prstGeom>
        </p:spPr>
      </p:pic>
      <p:sp>
        <p:nvSpPr>
          <p:cNvPr id="13" name="subtitle"/>
          <p:cNvSpPr/>
          <p:nvPr/>
        </p:nvSpPr>
        <p:spPr>
          <a:xfrm>
            <a:off x="640080" y="1325880"/>
            <a:ext cx="10972800" cy="457200"/>
          </a:xfrm>
          <a:prstGeom prst="rect">
            <a:avLst/>
          </a:prstGeom>
          <a:noFill/>
          <a:ln w="0">
            <a:noFill/>
          </a:ln>
        </p:spPr>
        <p:txBody>
          <a:bodyPr wrap="square" lIns="0" tIns="0" rIns="0" bIns="0" anchor="t">
            <a:noAutofit/>
          </a:bodyPr>
          <a:lstStyle/>
          <a:p>
            <a:pPr algn="l">
              <a:lnSpc>
                <a:spcPct val="112000"/>
              </a:lnSpc>
              <a:buNone/>
            </a:pPr>
            <a:r>
              <a:rPr lang="en-US" sz="2175" b="1">
                <a:solidFill>
                  <a:srgbClr val="006D77"/>
                </a:solidFill>
                <a:latin typeface="Arial"/>
                <a:ea typeface="Arial"/>
                <a:cs typeface="Arial"/>
              </a:rPr>
              <a:t>Half of the sampled tasks had no endpoint to call</a:t>
            </a:r>
          </a:p>
        </p:txBody>
      </p:sp>
      <p:sp>
        <p:nvSpPr>
          <p:cNvPr id="14" name="cap-left"/>
          <p:cNvSpPr/>
          <p:nvPr/>
        </p:nvSpPr>
        <p:spPr>
          <a:xfrm>
            <a:off x="640080" y="1920240"/>
            <a:ext cx="5394960" cy="320040"/>
          </a:xfrm>
          <a:prstGeom prst="rect">
            <a:avLst/>
          </a:prstGeom>
          <a:noFill/>
          <a:ln w="0">
            <a:noFill/>
          </a:ln>
        </p:spPr>
        <p:txBody>
          <a:bodyPr wrap="square" lIns="0" tIns="0" rIns="0" bIns="0" anchor="t">
            <a:noAutofit/>
          </a:bodyPr>
          <a:lstStyle/>
          <a:p>
            <a:pPr algn="l">
              <a:lnSpc>
                <a:spcPct val="112000"/>
              </a:lnSpc>
              <a:buNone/>
            </a:pPr>
            <a:r>
              <a:rPr lang="en-US" sz="1725" b="0">
                <a:solidFill>
                  <a:srgbClr val="4D6270"/>
                </a:solidFill>
                <a:latin typeface="Arial"/>
                <a:ea typeface="Arial"/>
                <a:cs typeface="Arial"/>
              </a:rPr>
              <a:t>API-only agent, 100 sampled WebArena tasks</a:t>
            </a:r>
            <a:r>
              <a:rPr lang="en-US" sz="1500" b="1" baseline="30000">
                <a:solidFill>
                  <a:srgbClr val="006D77"/>
                </a:solidFill>
                <a:latin typeface="Arial"/>
                <a:ea typeface="Arial"/>
                <a:cs typeface="Arial"/>
              </a:rPr>
              <a:t>2</a:t>
            </a:r>
          </a:p>
        </p:txBody>
      </p:sp>
      <p:graphicFrame>
        <p:nvGraphicFramePr>
          <p:cNvPr id="15" name="Chart 14"/>
          <p:cNvGraphicFramePr>
            <a:graphicFrameLocks noGrp="1"/>
          </p:cNvGraphicFramePr>
          <p:nvPr/>
        </p:nvGraphicFramePr>
        <p:xfrm>
          <a:off x="502920" y="2286000"/>
          <a:ext cx="5852160" cy="2651760"/>
        </p:xfrm>
        <a:graphic>
          <a:graphicData uri="http://schemas.openxmlformats.org/drawingml/2006/chart">
            <c:chart xmlns:c="http://schemas.openxmlformats.org/drawingml/2006/chart" r:id="rId3"/>
          </a:graphicData>
        </a:graphic>
      </p:graphicFrame>
      <p:sp>
        <p:nvSpPr>
          <p:cNvPr id="16" name="big-50"/>
          <p:cNvSpPr/>
          <p:nvPr/>
        </p:nvSpPr>
        <p:spPr>
          <a:xfrm>
            <a:off x="6766560" y="1874519"/>
            <a:ext cx="1828800" cy="777240"/>
          </a:xfrm>
          <a:prstGeom prst="rect">
            <a:avLst/>
          </a:prstGeom>
          <a:noFill/>
          <a:ln w="0">
            <a:noFill/>
          </a:ln>
        </p:spPr>
        <p:txBody>
          <a:bodyPr wrap="square" lIns="0" tIns="0" rIns="0" bIns="0" anchor="t">
            <a:noAutofit/>
          </a:bodyPr>
          <a:lstStyle/>
          <a:p>
            <a:pPr algn="l">
              <a:lnSpc>
                <a:spcPct val="112000"/>
              </a:lnSpc>
              <a:buNone/>
            </a:pPr>
            <a:r>
              <a:rPr lang="en-US" sz="4800" b="1">
                <a:solidFill>
                  <a:srgbClr val="006D77"/>
                </a:solidFill>
                <a:latin typeface="Arial"/>
                <a:ea typeface="Arial"/>
                <a:cs typeface="Arial"/>
              </a:rPr>
              <a:t>50%</a:t>
            </a:r>
          </a:p>
        </p:txBody>
      </p:sp>
      <p:sp>
        <p:nvSpPr>
          <p:cNvPr id="17" name="big-50-label"/>
          <p:cNvSpPr/>
          <p:nvPr/>
        </p:nvSpPr>
        <p:spPr>
          <a:xfrm>
            <a:off x="8549640" y="1920240"/>
            <a:ext cx="3108960" cy="731520"/>
          </a:xfrm>
          <a:prstGeom prst="rect">
            <a:avLst/>
          </a:prstGeom>
          <a:noFill/>
          <a:ln w="0">
            <a:noFill/>
          </a:ln>
        </p:spPr>
        <p:txBody>
          <a:bodyPr wrap="square" lIns="0" tIns="0" rIns="0" bIns="0" anchor="t">
            <a:noAutofit/>
          </a:bodyPr>
          <a:lstStyle/>
          <a:p>
            <a:pPr algn="l">
              <a:lnSpc>
                <a:spcPct val="112000"/>
              </a:lnSpc>
              <a:buNone/>
            </a:pPr>
            <a:r>
              <a:rPr lang="en-US" sz="1725" b="0">
                <a:solidFill>
                  <a:srgbClr val="17324A"/>
                </a:solidFill>
                <a:latin typeface="Arial"/>
                <a:ea typeface="Arial"/>
                <a:cs typeface="Arial"/>
              </a:rPr>
              <a:t>unsolvable: the needed endpoint does not exist</a:t>
            </a:r>
          </a:p>
        </p:txBody>
      </p:sp>
      <p:sp>
        <p:nvSpPr>
          <p:cNvPr id="18" name="cap-right"/>
          <p:cNvSpPr/>
          <p:nvPr/>
        </p:nvSpPr>
        <p:spPr>
          <a:xfrm>
            <a:off x="6766560" y="2926080"/>
            <a:ext cx="4846320" cy="320040"/>
          </a:xfrm>
          <a:prstGeom prst="rect">
            <a:avLst/>
          </a:prstGeom>
          <a:noFill/>
          <a:ln w="0">
            <a:noFill/>
          </a:ln>
        </p:spPr>
        <p:txBody>
          <a:bodyPr wrap="square" lIns="0" tIns="0" rIns="0" bIns="0" anchor="t">
            <a:noAutofit/>
          </a:bodyPr>
          <a:lstStyle/>
          <a:p>
            <a:pPr algn="l">
              <a:lnSpc>
                <a:spcPct val="112000"/>
              </a:lnSpc>
              <a:buNone/>
            </a:pPr>
            <a:r>
              <a:rPr lang="en-US" sz="1725" b="0">
                <a:solidFill>
                  <a:srgbClr val="4D6270"/>
                </a:solidFill>
                <a:latin typeface="Arial"/>
                <a:ea typeface="Arial"/>
                <a:cs typeface="Arial"/>
              </a:rPr>
              <a:t>Success rate by agent type, WebArena</a:t>
            </a:r>
            <a:r>
              <a:rPr lang="en-US" sz="1500" b="1" baseline="30000">
                <a:solidFill>
                  <a:srgbClr val="006D77"/>
                </a:solidFill>
                <a:latin typeface="Arial"/>
                <a:ea typeface="Arial"/>
                <a:cs typeface="Arial"/>
              </a:rPr>
              <a:t>2</a:t>
            </a:r>
          </a:p>
        </p:txBody>
      </p:sp>
      <p:graphicFrame>
        <p:nvGraphicFramePr>
          <p:cNvPr id="19" name="Chart 18"/>
          <p:cNvGraphicFramePr>
            <a:graphicFrameLocks noGrp="1"/>
          </p:cNvGraphicFramePr>
          <p:nvPr/>
        </p:nvGraphicFramePr>
        <p:xfrm>
          <a:off x="6629400" y="3246120"/>
          <a:ext cx="5029200" cy="1691640"/>
        </p:xfrm>
        <a:graphic>
          <a:graphicData uri="http://schemas.openxmlformats.org/drawingml/2006/chart">
            <c:chart xmlns:c="http://schemas.openxmlformats.org/drawingml/2006/chart" r:id="rId4"/>
          </a:graphicData>
        </a:graphic>
      </p:graphicFrame>
      <p:sp>
        <p:nvSpPr>
          <p:cNvPr id="20" name="rule"/>
          <p:cNvSpPr/>
          <p:nvPr/>
        </p:nvSpPr>
        <p:spPr>
          <a:xfrm>
            <a:off x="640080" y="5138928"/>
            <a:ext cx="10972800" cy="14630"/>
          </a:xfrm>
          <a:prstGeom prst="rect">
            <a:avLst/>
          </a:prstGeom>
          <a:solidFill>
            <a:srgbClr val="CDD7D9"/>
          </a:solidFill>
          <a:ln w="0">
            <a:noFill/>
          </a:ln>
        </p:spPr>
      </p:sp>
      <p:sp>
        <p:nvSpPr>
          <p:cNvPr id="21" name="hypothesis"/>
          <p:cNvSpPr/>
          <p:nvPr/>
        </p:nvSpPr>
        <p:spPr>
          <a:xfrm>
            <a:off x="640080" y="5303520"/>
            <a:ext cx="10972800" cy="365760"/>
          </a:xfrm>
          <a:prstGeom prst="rect">
            <a:avLst/>
          </a:prstGeom>
          <a:noFill/>
          <a:ln w="0">
            <a:noFill/>
          </a:ln>
        </p:spPr>
        <p:txBody>
          <a:bodyPr wrap="square" lIns="0" tIns="0" rIns="0" bIns="0" anchor="t">
            <a:noAutofit/>
          </a:bodyPr>
          <a:lstStyle/>
          <a:p>
            <a:pPr algn="l">
              <a:lnSpc>
                <a:spcPct val="112000"/>
              </a:lnSpc>
              <a:buNone/>
            </a:pPr>
            <a:r>
              <a:rPr lang="en-US" sz="1875" b="1">
                <a:solidFill>
                  <a:srgbClr val="17324A"/>
                </a:solidFill>
                <a:latin typeface="Arial"/>
                <a:ea typeface="Arial"/>
                <a:cs typeface="Arial"/>
              </a:rPr>
              <a:t>Hypothesis: declared in-app actions fill the gap better than blind clicking.</a:t>
            </a:r>
          </a:p>
        </p:txBody>
      </p:sp>
      <p:sp>
        <p:nvSpPr>
          <p:cNvPr id="22" name="gap-note"/>
          <p:cNvSpPr/>
          <p:nvPr/>
        </p:nvSpPr>
        <p:spPr>
          <a:xfrm>
            <a:off x="640080" y="6035040"/>
            <a:ext cx="10972800" cy="274320"/>
          </a:xfrm>
          <a:prstGeom prst="rect">
            <a:avLst/>
          </a:prstGeom>
          <a:noFill/>
          <a:ln w="0">
            <a:noFill/>
          </a:ln>
        </p:spPr>
        <p:txBody>
          <a:bodyPr wrap="square" lIns="0" tIns="0" rIns="0" bIns="0" anchor="t">
            <a:noAutofit/>
          </a:bodyPr>
          <a:lstStyle/>
          <a:p>
            <a:pPr algn="l">
              <a:lnSpc>
                <a:spcPct val="112000"/>
              </a:lnSpc>
              <a:buNone/>
            </a:pPr>
            <a:r>
              <a:rPr lang="en-US" sz="1500" b="0">
                <a:solidFill>
                  <a:srgbClr val="4D6270"/>
                </a:solidFill>
                <a:latin typeface="Arial"/>
                <a:ea typeface="Arial"/>
                <a:cs typeface="Arial"/>
              </a:rPr>
              <a:t>Published results (refs 2, 14, 15). Our hypothesis is not yet measured.</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1" name="shape-103">
            <a:extLst>
              <a:ext uri="{FF2B5EF4-FFF2-40B4-BE49-F238E27FC236}">
                <a16:creationId xmlns:a16="http://schemas.microsoft.com/office/drawing/2014/main" id="{2562CD2C-9E3E-4C69-A477-A75E7A395205}"/>
              </a:ext>
            </a:extLst>
          </p:cNvPr>
          <p:cNvSpPr>
            <a:spLocks noGrp="1"/>
          </p:cNvSpPr>
          <p:nvPr/>
        </p:nvSpPr>
        <p:spPr>
          <a:xfrm>
            <a:off x="0" y="0"/>
            <a:ext cx="12192000" cy="1066800"/>
          </a:xfrm>
          <a:prstGeom prst="rect">
            <a:avLst/>
          </a:prstGeom>
          <a:solidFill>
            <a:srgbClr val="F2F6F7"/>
          </a:solidFill>
          <a:ln w="0">
            <a:noFill/>
          </a:ln>
        </p:spPr>
      </p:sp>
      <p:sp>
        <p:nvSpPr>
          <p:cNvPr id="2" name="shape-104">
            <a:extLst>
              <a:ext uri="{FF2B5EF4-FFF2-40B4-BE49-F238E27FC236}">
                <a16:creationId xmlns:a16="http://schemas.microsoft.com/office/drawing/2014/main" id="{71631536-2294-40C9-AC9F-AFC33E3B96DA}"/>
              </a:ext>
            </a:extLst>
          </p:cNvPr>
          <p:cNvSpPr>
            <a:spLocks noGrp="1"/>
          </p:cNvSpPr>
          <p:nvPr/>
        </p:nvSpPr>
        <p:spPr>
          <a:xfrm>
            <a:off x="0" y="1038225"/>
            <a:ext cx="12192000" cy="28575"/>
          </a:xfrm>
          <a:prstGeom prst="rect">
            <a:avLst/>
          </a:prstGeom>
          <a:solidFill>
            <a:srgbClr val="006D77"/>
          </a:solidFill>
          <a:ln w="0">
            <a:noFill/>
          </a:ln>
        </p:spPr>
      </p:sp>
      <p:sp>
        <p:nvSpPr>
          <p:cNvPr id="3" name="slide-5-title">
            <a:extLst>
              <a:ext uri="{FF2B5EF4-FFF2-40B4-BE49-F238E27FC236}">
                <a16:creationId xmlns:a16="http://schemas.microsoft.com/office/drawing/2014/main" id="{1455044C-2DA0-495A-9F6C-D56E6E0D2C68}"/>
              </a:ext>
            </a:extLst>
          </p:cNvPr>
          <p:cNvSpPr>
            <a:spLocks noGrp="1"/>
          </p:cNvSpPr>
          <p:nvPr/>
        </p:nvSpPr>
        <p:spPr>
          <a:xfrm>
            <a:off x="609600" y="304800"/>
            <a:ext cx="8239125" cy="542925"/>
          </a:xfrm>
          <a:prstGeom prst="rect">
            <a:avLst/>
          </a:prstGeom>
          <a:noFill/>
          <a:ln w="0">
            <a:noFill/>
          </a:ln>
        </p:spPr>
        <p:txBody>
          <a:bodyPr wrap="square" lIns="0" tIns="0" rIns="0" bIns="0" anchor="t">
            <a:noAutofit/>
          </a:bodyPr>
          <a:lstStyle>
            <a:defPPr algn="l">
              <a:defRPr sz="3150" b="1">
                <a:solidFill>
                  <a:srgbClr val="102A43"/>
                </a:solidFill>
                <a:latin typeface="Arial"/>
                <a:ea typeface="Arial"/>
                <a:cs typeface="Arial"/>
              </a:defRPr>
            </a:defPPr>
          </a:lstStyle>
          <a:p>
            <a:pPr algn="l">
              <a:lnSpc>
                <a:spcPct val="112000"/>
              </a:lnSpc>
              <a:buNone/>
              <a:defRPr sz="3150" b="1">
                <a:solidFill>
                  <a:srgbClr val="102A43"/>
                </a:solidFill>
                <a:latin typeface="Arial"/>
                <a:ea typeface="Arial"/>
                <a:cs typeface="Arial"/>
              </a:defRPr>
            </a:pPr>
            <a:r>
              <a:rPr sz="3150" b="1">
                <a:solidFill>
                  <a:srgbClr val="102A43"/>
                </a:solidFill>
                <a:latin typeface="Arial"/>
                <a:ea typeface="Arial"/>
                <a:cs typeface="Arial"/>
              </a:rPr>
              <a:t>Development-set KPI results</a:t>
            </a:r>
          </a:p>
        </p:txBody>
      </p:sp>
      <p:sp>
        <p:nvSpPr>
          <p:cNvPr id="4" name="shape-105">
            <a:extLst>
              <a:ext uri="{FF2B5EF4-FFF2-40B4-BE49-F238E27FC236}">
                <a16:creationId xmlns:a16="http://schemas.microsoft.com/office/drawing/2014/main" id="{B38EE9C8-9B23-41DE-BCB7-61D9A656A111}"/>
              </a:ext>
            </a:extLst>
          </p:cNvPr>
          <p:cNvSpPr>
            <a:spLocks noGrp="1"/>
          </p:cNvSpPr>
          <p:nvPr/>
        </p:nvSpPr>
        <p:spPr>
          <a:xfrm>
            <a:off x="0" y="6381750"/>
            <a:ext cx="12192000" cy="476250"/>
          </a:xfrm>
          <a:prstGeom prst="rect">
            <a:avLst/>
          </a:prstGeom>
          <a:solidFill>
            <a:srgbClr val="102A43"/>
          </a:solidFill>
          <a:ln w="0">
            <a:noFill/>
          </a:ln>
        </p:spPr>
      </p:sp>
      <p:sp>
        <p:nvSpPr>
          <p:cNvPr id="5" name="brand-5">
            <a:extLst>
              <a:ext uri="{FF2B5EF4-FFF2-40B4-BE49-F238E27FC236}">
                <a16:creationId xmlns:a16="http://schemas.microsoft.com/office/drawing/2014/main" id="{31610A6C-CA92-42F2-9154-E5526A315EAE}"/>
              </a:ext>
            </a:extLst>
          </p:cNvPr>
          <p:cNvSpPr>
            <a:spLocks noGrp="1"/>
          </p:cNvSpPr>
          <p:nvPr/>
        </p:nvSpPr>
        <p:spPr>
          <a:xfrm>
            <a:off x="609600" y="6467475"/>
            <a:ext cx="3429000" cy="333375"/>
          </a:xfrm>
          <a:prstGeom prst="rect">
            <a:avLst/>
          </a:prstGeom>
          <a:noFill/>
          <a:ln w="0">
            <a:noFill/>
          </a:ln>
        </p:spPr>
        <p:txBody>
          <a:bodyPr wrap="square" lIns="0" tIns="0" rIns="0" bIns="0" anchor="t">
            <a:noAutofit/>
          </a:bodyPr>
          <a:lstStyle>
            <a:defPPr algn="l">
              <a:defRPr sz="1950" b="1">
                <a:solidFill>
                  <a:srgbClr val="8AE1D5"/>
                </a:solidFill>
                <a:latin typeface="Arial"/>
                <a:ea typeface="Arial"/>
                <a:cs typeface="Arial"/>
              </a:defRPr>
            </a:defPPr>
          </a:lstStyle>
          <a:p>
            <a:pPr algn="l">
              <a:lnSpc>
                <a:spcPct val="112000"/>
              </a:lnSpc>
              <a:buNone/>
              <a:defRPr sz="1950" b="1">
                <a:solidFill>
                  <a:srgbClr val="8AE1D5"/>
                </a:solidFill>
                <a:latin typeface="Arial"/>
                <a:ea typeface="Arial"/>
                <a:cs typeface="Arial"/>
              </a:defRPr>
            </a:pPr>
            <a:r>
              <a:rPr sz="1950" b="1">
                <a:solidFill>
                  <a:srgbClr val="8AE1D5"/>
                </a:solidFill>
                <a:latin typeface="Arial"/>
                <a:ea typeface="Arial"/>
                <a:cs typeface="Arial"/>
              </a:rPr>
              <a:t>Sapience</a:t>
            </a:r>
          </a:p>
        </p:txBody>
      </p:sp>
      <p:sp>
        <p:nvSpPr>
          <p:cNvPr id="6" name="page-5">
            <a:extLst>
              <a:ext uri="{FF2B5EF4-FFF2-40B4-BE49-F238E27FC236}">
                <a16:creationId xmlns:a16="http://schemas.microsoft.com/office/drawing/2014/main" id="{3FA06EAC-5E3E-4A4F-BC8D-300A8EEAF3F5}"/>
              </a:ext>
            </a:extLst>
          </p:cNvPr>
          <p:cNvSpPr>
            <a:spLocks noGrp="1"/>
          </p:cNvSpPr>
          <p:nvPr/>
        </p:nvSpPr>
        <p:spPr>
          <a:xfrm>
            <a:off x="10629900" y="6505575"/>
            <a:ext cx="952500" cy="276225"/>
          </a:xfrm>
          <a:prstGeom prst="rect">
            <a:avLst/>
          </a:prstGeom>
          <a:noFill/>
          <a:ln w="0">
            <a:noFill/>
          </a:ln>
        </p:spPr>
        <p:txBody>
          <a:bodyPr wrap="square" lIns="0" tIns="0" rIns="0" bIns="0" anchor="t">
            <a:noAutofit/>
          </a:bodyPr>
          <a:lstStyle>
            <a:defPPr algn="r">
              <a:defRPr sz="1575" b="0">
                <a:solidFill>
                  <a:srgbClr val="FFFFFF"/>
                </a:solidFill>
                <a:latin typeface="Arial"/>
                <a:ea typeface="Arial"/>
                <a:cs typeface="Arial"/>
              </a:defRPr>
            </a:defPPr>
          </a:lstStyle>
          <a:p>
            <a:pPr algn="r">
              <a:lnSpc>
                <a:spcPct val="112000"/>
              </a:lnSpc>
              <a:buNone/>
              <a:defRPr sz="1575" b="0">
                <a:solidFill>
                  <a:srgbClr val="FFFFFF"/>
                </a:solidFill>
                <a:latin typeface="Arial"/>
                <a:ea typeface="Arial"/>
                <a:cs typeface="Arial"/>
              </a:defRPr>
            </a:pPr>
            <a:r>
              <a:rPr sz="1575" b="0">
                <a:solidFill>
                  <a:srgbClr val="FFFFFF"/>
                </a:solidFill>
                <a:latin typeface="Arial"/>
                <a:ea typeface="Arial"/>
                <a:cs typeface="Arial"/>
              </a:rPr>
              <a:t>13 / 18</a:t>
            </a:r>
          </a:p>
        </p:txBody>
      </p:sp>
      <p:pic>
        <p:nvPicPr>
          <p:cNvPr id="12" name="KLE logo" descr="image.png"/>
          <p:cNvPicPr>
            <a:picLocks noChangeAspect="1"/>
          </p:cNvPicPr>
          <p:nvPr/>
        </p:nvPicPr>
        <p:blipFill>
          <a:blip r:embed="rId2"/>
          <a:stretch>
            <a:fillRect/>
          </a:stretch>
        </p:blipFill>
        <p:spPr>
          <a:xfrm>
            <a:off x="9220220" y="295275"/>
            <a:ext cx="2362160" cy="442436"/>
          </a:xfrm>
          <a:prstGeom prst="rect">
            <a:avLst/>
          </a:prstGeom>
        </p:spPr>
      </p:pic>
      <p:sp>
        <p:nvSpPr>
          <p:cNvPr id="13" name="subtitle"/>
          <p:cNvSpPr/>
          <p:nvPr/>
        </p:nvSpPr>
        <p:spPr>
          <a:xfrm>
            <a:off x="640080" y="1280160"/>
            <a:ext cx="10972800" cy="365760"/>
          </a:xfrm>
          <a:prstGeom prst="rect">
            <a:avLst/>
          </a:prstGeom>
          <a:noFill/>
          <a:ln w="0">
            <a:noFill/>
          </a:ln>
        </p:spPr>
        <p:txBody>
          <a:bodyPr wrap="square" lIns="0" tIns="0" rIns="0" bIns="0" anchor="t">
            <a:noAutofit/>
          </a:bodyPr>
          <a:lstStyle/>
          <a:p>
            <a:pPr algn="l">
              <a:lnSpc>
                <a:spcPct val="112000"/>
              </a:lnSpc>
              <a:buNone/>
            </a:pPr>
            <a:r>
              <a:rPr lang="en-US" sz="2100" b="1">
                <a:solidFill>
                  <a:srgbClr val="006D77"/>
                </a:solidFill>
                <a:latin typeface="Arial"/>
                <a:ea typeface="Arial"/>
                <a:cs typeface="Arial"/>
              </a:rPr>
              <a:t>Current system on 31 development chains (87 steps), one run</a:t>
            </a:r>
          </a:p>
        </p:txBody>
      </p:sp>
      <p:graphicFrame>
        <p:nvGraphicFramePr>
          <p:cNvPr id="14" name="Table 13"/>
          <p:cNvGraphicFramePr>
            <a:graphicFrameLocks noGrp="1"/>
          </p:cNvGraphicFramePr>
          <p:nvPr/>
        </p:nvGraphicFramePr>
        <p:xfrm>
          <a:off x="640080" y="1719072"/>
          <a:ext cx="10972800" cy="4169664"/>
        </p:xfrm>
        <a:graphic>
          <a:graphicData uri="http://schemas.openxmlformats.org/drawingml/2006/table">
            <a:tbl>
              <a:tblPr/>
              <a:tblGrid>
                <a:gridCol w="3383280"/>
                <a:gridCol w="3108960"/>
                <a:gridCol w="4480560"/>
              </a:tblGrid>
              <a:tr h="384048">
                <a:tc>
                  <a:txBody>
                    <a:bodyPr wrap="square"/>
                    <a:lstStyle/>
                    <a:p>
                      <a:pPr>
                        <a:lnSpc>
                          <a:spcPct val="108000"/>
                        </a:lnSpc>
                      </a:pPr>
                      <a:r>
                        <a:rPr sz="1725" b="1">
                          <a:solidFill>
                            <a:srgbClr val="FFFFFF"/>
                          </a:solidFill>
                          <a:latin typeface="Arial"/>
                        </a:rPr>
                        <a:t>KPI from the brief</a:t>
                      </a:r>
                    </a:p>
                  </a:txBody>
                  <a:tcPr marL="133502" marR="133502" marT="64008" marB="54864" anchor="ctr">
                    <a:solidFill>
                      <a:srgbClr val="006D77"/>
                    </a:solidFill>
                  </a:tcPr>
                </a:tc>
                <a:tc>
                  <a:txBody>
                    <a:bodyPr wrap="square"/>
                    <a:lstStyle/>
                    <a:p>
                      <a:pPr>
                        <a:lnSpc>
                          <a:spcPct val="108000"/>
                        </a:lnSpc>
                      </a:pPr>
                      <a:r>
                        <a:rPr sz="1725" b="1">
                          <a:solidFill>
                            <a:srgbClr val="FFFFFF"/>
                          </a:solidFill>
                          <a:latin typeface="Arial"/>
                        </a:rPr>
                        <a:t>Result</a:t>
                      </a:r>
                    </a:p>
                  </a:txBody>
                  <a:tcPr marL="133502" marR="133502" marT="64008" marB="54864" anchor="ctr">
                    <a:solidFill>
                      <a:srgbClr val="006D77"/>
                    </a:solidFill>
                  </a:tcPr>
                </a:tc>
                <a:tc>
                  <a:txBody>
                    <a:bodyPr wrap="square"/>
                    <a:lstStyle/>
                    <a:p>
                      <a:pPr>
                        <a:lnSpc>
                          <a:spcPct val="108000"/>
                        </a:lnSpc>
                      </a:pPr>
                      <a:r>
                        <a:rPr sz="1725" b="1">
                          <a:solidFill>
                            <a:srgbClr val="FFFFFF"/>
                          </a:solidFill>
                          <a:latin typeface="Arial"/>
                        </a:rPr>
                        <a:t>Basis</a:t>
                      </a:r>
                    </a:p>
                  </a:txBody>
                  <a:tcPr marL="133502" marR="133502" marT="64008" marB="54864" anchor="ctr">
                    <a:solidFill>
                      <a:srgbClr val="006D77"/>
                    </a:solidFill>
                  </a:tcPr>
                </a:tc>
              </a:tr>
              <a:tr h="420624">
                <a:tc>
                  <a:txBody>
                    <a:bodyPr wrap="square"/>
                    <a:lstStyle/>
                    <a:p>
                      <a:pPr>
                        <a:lnSpc>
                          <a:spcPct val="108000"/>
                        </a:lnSpc>
                      </a:pPr>
                      <a:r>
                        <a:rPr sz="1575" b="1">
                          <a:solidFill>
                            <a:srgbClr val="17324A"/>
                          </a:solidFill>
                          <a:latin typeface="Arial"/>
                        </a:rPr>
                        <a:t>Intent-to-destination accuracy</a:t>
                      </a:r>
                    </a:p>
                  </a:txBody>
                  <a:tcPr marL="133502" marR="133502" marT="64008" marB="54864" anchor="ctr">
                    <a:solidFill>
                      <a:srgbClr val="F1F6F6"/>
                    </a:solidFill>
                  </a:tcPr>
                </a:tc>
                <a:tc>
                  <a:txBody>
                    <a:bodyPr wrap="square"/>
                    <a:lstStyle/>
                    <a:p>
                      <a:pPr>
                        <a:lnSpc>
                          <a:spcPct val="108000"/>
                        </a:lnSpc>
                      </a:pPr>
                      <a:r>
                        <a:rPr sz="1575" b="0">
                          <a:solidFill>
                            <a:srgbClr val="17324A"/>
                          </a:solidFill>
                          <a:latin typeface="Arial"/>
                        </a:rPr>
                        <a:t>78.2% (68 of 87)</a:t>
                      </a:r>
                    </a:p>
                  </a:txBody>
                  <a:tcPr marL="133502" marR="133502" marT="64008" marB="54864" anchor="ctr">
                    <a:solidFill>
                      <a:srgbClr val="F1F6F6"/>
                    </a:solidFill>
                  </a:tcPr>
                </a:tc>
                <a:tc>
                  <a:txBody>
                    <a:bodyPr wrap="square"/>
                    <a:lstStyle/>
                    <a:p>
                      <a:pPr>
                        <a:lnSpc>
                          <a:spcPct val="108000"/>
                        </a:lnSpc>
                      </a:pPr>
                      <a:r>
                        <a:rPr sz="1575" b="0">
                          <a:solidFill>
                            <a:srgbClr val="17324A"/>
                          </a:solidFill>
                          <a:latin typeface="Arial"/>
                        </a:rPr>
                        <a:t>Right page and operation</a:t>
                      </a:r>
                    </a:p>
                  </a:txBody>
                  <a:tcPr marL="133502" marR="133502" marT="64008" marB="54864" anchor="ctr">
                    <a:solidFill>
                      <a:srgbClr val="F1F6F6"/>
                    </a:solidFill>
                  </a:tcPr>
                </a:tc>
              </a:tr>
              <a:tr h="420624">
                <a:tc>
                  <a:txBody>
                    <a:bodyPr wrap="square"/>
                    <a:lstStyle/>
                    <a:p>
                      <a:pPr>
                        <a:lnSpc>
                          <a:spcPct val="108000"/>
                        </a:lnSpc>
                      </a:pPr>
                      <a:r>
                        <a:rPr sz="1575" b="1">
                          <a:solidFill>
                            <a:srgbClr val="17324A"/>
                          </a:solidFill>
                          <a:latin typeface="Arial"/>
                        </a:rPr>
                        <a:t>UI-state correctness</a:t>
                      </a:r>
                    </a:p>
                  </a:txBody>
                  <a:tcPr marL="133502" marR="133502" marT="64008" marB="54864" anchor="ctr">
                    <a:solidFill>
                      <a:srgbClr val="FFFFFF"/>
                    </a:solidFill>
                  </a:tcPr>
                </a:tc>
                <a:tc>
                  <a:txBody>
                    <a:bodyPr wrap="square"/>
                    <a:lstStyle/>
                    <a:p>
                      <a:pPr>
                        <a:lnSpc>
                          <a:spcPct val="108000"/>
                        </a:lnSpc>
                      </a:pPr>
                      <a:r>
                        <a:rPr sz="1575" b="0">
                          <a:solidFill>
                            <a:srgbClr val="17324A"/>
                          </a:solidFill>
                          <a:latin typeface="Arial"/>
                        </a:rPr>
                        <a:t>79.3% (69 of 87)</a:t>
                      </a:r>
                    </a:p>
                  </a:txBody>
                  <a:tcPr marL="133502" marR="133502" marT="64008" marB="54864" anchor="ctr">
                    <a:solidFill>
                      <a:srgbClr val="FFFFFF"/>
                    </a:solidFill>
                  </a:tcPr>
                </a:tc>
                <a:tc>
                  <a:txBody>
                    <a:bodyPr wrap="square"/>
                    <a:lstStyle/>
                    <a:p>
                      <a:pPr>
                        <a:lnSpc>
                          <a:spcPct val="108000"/>
                        </a:lnSpc>
                      </a:pPr>
                      <a:r>
                        <a:rPr sz="1575" b="0">
                          <a:solidFill>
                            <a:srgbClr val="17324A"/>
                          </a:solidFill>
                          <a:latin typeface="Arial"/>
                        </a:rPr>
                        <a:t>Filters, dates and sort match the key</a:t>
                      </a:r>
                    </a:p>
                  </a:txBody>
                  <a:tcPr marL="133502" marR="133502" marT="64008" marB="54864" anchor="ctr">
                    <a:solidFill>
                      <a:srgbClr val="FFFFFF"/>
                    </a:solidFill>
                  </a:tcPr>
                </a:tc>
              </a:tr>
              <a:tr h="420624">
                <a:tc>
                  <a:txBody>
                    <a:bodyPr wrap="square"/>
                    <a:lstStyle/>
                    <a:p>
                      <a:pPr>
                        <a:lnSpc>
                          <a:spcPct val="108000"/>
                        </a:lnSpc>
                      </a:pPr>
                      <a:r>
                        <a:rPr sz="1575" b="1">
                          <a:solidFill>
                            <a:srgbClr val="17324A"/>
                          </a:solidFill>
                          <a:latin typeface="Arial"/>
                        </a:rPr>
                        <a:t>Multi-step task success</a:t>
                      </a:r>
                    </a:p>
                  </a:txBody>
                  <a:tcPr marL="133502" marR="133502" marT="64008" marB="54864" anchor="ctr">
                    <a:solidFill>
                      <a:srgbClr val="F1F6F6"/>
                    </a:solidFill>
                  </a:tcPr>
                </a:tc>
                <a:tc>
                  <a:txBody>
                    <a:bodyPr wrap="square"/>
                    <a:lstStyle/>
                    <a:p>
                      <a:pPr>
                        <a:lnSpc>
                          <a:spcPct val="108000"/>
                        </a:lnSpc>
                      </a:pPr>
                      <a:r>
                        <a:rPr sz="1575" b="0">
                          <a:solidFill>
                            <a:srgbClr val="17324A"/>
                          </a:solidFill>
                          <a:latin typeface="Arial"/>
                        </a:rPr>
                        <a:t>58.1% (18 of 31)</a:t>
                      </a:r>
                    </a:p>
                  </a:txBody>
                  <a:tcPr marL="133502" marR="133502" marT="64008" marB="54864" anchor="ctr">
                    <a:solidFill>
                      <a:srgbClr val="F1F6F6"/>
                    </a:solidFill>
                  </a:tcPr>
                </a:tc>
                <a:tc>
                  <a:txBody>
                    <a:bodyPr wrap="square"/>
                    <a:lstStyle/>
                    <a:p>
                      <a:pPr>
                        <a:lnSpc>
                          <a:spcPct val="108000"/>
                        </a:lnSpc>
                      </a:pPr>
                      <a:r>
                        <a:rPr sz="1575" b="0">
                          <a:solidFill>
                            <a:srgbClr val="17324A"/>
                          </a:solidFill>
                          <a:latin typeface="Arial"/>
                        </a:rPr>
                        <a:t>Every step right; steps alone 77.0%</a:t>
                      </a:r>
                    </a:p>
                  </a:txBody>
                  <a:tcPr marL="133502" marR="133502" marT="64008" marB="54864" anchor="ctr">
                    <a:solidFill>
                      <a:srgbClr val="F1F6F6"/>
                    </a:solidFill>
                  </a:tcPr>
                </a:tc>
              </a:tr>
              <a:tr h="420624">
                <a:tc>
                  <a:txBody>
                    <a:bodyPr wrap="square"/>
                    <a:lstStyle/>
                    <a:p>
                      <a:pPr>
                        <a:lnSpc>
                          <a:spcPct val="108000"/>
                        </a:lnSpc>
                      </a:pPr>
                      <a:r>
                        <a:rPr sz="1575" b="1">
                          <a:solidFill>
                            <a:srgbClr val="17324A"/>
                          </a:solidFill>
                          <a:latin typeface="Arial"/>
                        </a:rPr>
                        <a:t>Steps and latency</a:t>
                      </a:r>
                    </a:p>
                  </a:txBody>
                  <a:tcPr marL="133502" marR="133502" marT="64008" marB="54864" anchor="ctr">
                    <a:solidFill>
                      <a:srgbClr val="FFFFFF"/>
                    </a:solidFill>
                  </a:tcPr>
                </a:tc>
                <a:tc>
                  <a:txBody>
                    <a:bodyPr wrap="square"/>
                    <a:lstStyle/>
                    <a:p>
                      <a:pPr>
                        <a:lnSpc>
                          <a:spcPct val="108000"/>
                        </a:lnSpc>
                      </a:pPr>
                      <a:r>
                        <a:rPr sz="1575" b="0">
                          <a:solidFill>
                            <a:srgbClr val="17324A"/>
                          </a:solidFill>
                          <a:latin typeface="Arial"/>
                        </a:rPr>
                        <a:t>19.3 s per step</a:t>
                      </a:r>
                    </a:p>
                  </a:txBody>
                  <a:tcPr marL="133502" marR="133502" marT="64008" marB="54864" anchor="ctr">
                    <a:solidFill>
                      <a:srgbClr val="FFFFFF"/>
                    </a:solidFill>
                  </a:tcPr>
                </a:tc>
                <a:tc>
                  <a:txBody>
                    <a:bodyPr wrap="square"/>
                    <a:lstStyle/>
                    <a:p>
                      <a:pPr>
                        <a:lnSpc>
                          <a:spcPct val="108000"/>
                        </a:lnSpc>
                      </a:pPr>
                      <a:r>
                        <a:rPr sz="1575" b="0">
                          <a:solidFill>
                            <a:srgbClr val="17324A"/>
                          </a:solidFill>
                          <a:latin typeface="Arial"/>
                        </a:rPr>
                        <a:t>2.8 steps per chain; p95 39 s</a:t>
                      </a:r>
                    </a:p>
                  </a:txBody>
                  <a:tcPr marL="133502" marR="133502" marT="64008" marB="54864" anchor="ctr">
                    <a:solidFill>
                      <a:srgbClr val="FFFFFF"/>
                    </a:solidFill>
                  </a:tcPr>
                </a:tc>
              </a:tr>
              <a:tr h="420624">
                <a:tc>
                  <a:txBody>
                    <a:bodyPr wrap="square"/>
                    <a:lstStyle/>
                    <a:p>
                      <a:pPr>
                        <a:lnSpc>
                          <a:spcPct val="108000"/>
                        </a:lnSpc>
                      </a:pPr>
                      <a:r>
                        <a:rPr sz="1575" b="1">
                          <a:solidFill>
                            <a:srgbClr val="17324A"/>
                          </a:solidFill>
                          <a:latin typeface="Arial"/>
                        </a:rPr>
                        <a:t>Analytical correctness</a:t>
                      </a:r>
                    </a:p>
                  </a:txBody>
                  <a:tcPr marL="133502" marR="133502" marT="64008" marB="54864" anchor="ctr">
                    <a:solidFill>
                      <a:srgbClr val="F1F6F6"/>
                    </a:solidFill>
                  </a:tcPr>
                </a:tc>
                <a:tc>
                  <a:txBody>
                    <a:bodyPr wrap="square"/>
                    <a:lstStyle/>
                    <a:p>
                      <a:pPr>
                        <a:lnSpc>
                          <a:spcPct val="108000"/>
                        </a:lnSpc>
                      </a:pPr>
                      <a:r>
                        <a:rPr sz="1575" b="0">
                          <a:solidFill>
                            <a:srgbClr val="17324A"/>
                          </a:solidFill>
                          <a:latin typeface="Arial"/>
                        </a:rPr>
                        <a:t>78.2% (68 of 87)</a:t>
                      </a:r>
                    </a:p>
                  </a:txBody>
                  <a:tcPr marL="133502" marR="133502" marT="64008" marB="54864" anchor="ctr">
                    <a:solidFill>
                      <a:srgbClr val="F1F6F6"/>
                    </a:solidFill>
                  </a:tcPr>
                </a:tc>
                <a:tc>
                  <a:txBody>
                    <a:bodyPr wrap="square"/>
                    <a:lstStyle/>
                    <a:p>
                      <a:pPr>
                        <a:lnSpc>
                          <a:spcPct val="108000"/>
                        </a:lnSpc>
                      </a:pPr>
                      <a:r>
                        <a:rPr sz="1575" b="0">
                          <a:solidFill>
                            <a:srgbClr val="17324A"/>
                          </a:solidFill>
                          <a:latin typeface="Arial"/>
                        </a:rPr>
                        <a:t>Totals and rows match the oracle</a:t>
                      </a:r>
                    </a:p>
                  </a:txBody>
                  <a:tcPr marL="133502" marR="133502" marT="64008" marB="54864" anchor="ctr">
                    <a:solidFill>
                      <a:srgbClr val="F1F6F6"/>
                    </a:solidFill>
                  </a:tcPr>
                </a:tc>
              </a:tr>
              <a:tr h="420624">
                <a:tc>
                  <a:txBody>
                    <a:bodyPr wrap="square"/>
                    <a:lstStyle/>
                    <a:p>
                      <a:pPr>
                        <a:lnSpc>
                          <a:spcPct val="108000"/>
                        </a:lnSpc>
                      </a:pPr>
                      <a:r>
                        <a:rPr sz="1575" b="1">
                          <a:solidFill>
                            <a:srgbClr val="17324A"/>
                          </a:solidFill>
                          <a:latin typeface="Arial"/>
                        </a:rPr>
                        <a:t>Faithfulness</a:t>
                      </a:r>
                    </a:p>
                  </a:txBody>
                  <a:tcPr marL="133502" marR="133502" marT="64008" marB="54864" anchor="ctr">
                    <a:solidFill>
                      <a:srgbClr val="FFFFFF"/>
                    </a:solidFill>
                  </a:tcPr>
                </a:tc>
                <a:tc>
                  <a:txBody>
                    <a:bodyPr wrap="square"/>
                    <a:lstStyle/>
                    <a:p>
                      <a:pPr>
                        <a:lnSpc>
                          <a:spcPct val="108000"/>
                        </a:lnSpc>
                      </a:pPr>
                      <a:r>
                        <a:rPr sz="1575" b="0">
                          <a:solidFill>
                            <a:srgbClr val="17324A"/>
                          </a:solidFill>
                          <a:latin typeface="Arial"/>
                        </a:rPr>
                        <a:t>100%</a:t>
                      </a:r>
                    </a:p>
                  </a:txBody>
                  <a:tcPr marL="133502" marR="133502" marT="64008" marB="54864" anchor="ctr">
                    <a:solidFill>
                      <a:srgbClr val="FFFFFF"/>
                    </a:solidFill>
                  </a:tcPr>
                </a:tc>
                <a:tc>
                  <a:txBody>
                    <a:bodyPr wrap="square"/>
                    <a:lstStyle/>
                    <a:p>
                      <a:pPr>
                        <a:lnSpc>
                          <a:spcPct val="108000"/>
                        </a:lnSpc>
                      </a:pPr>
                      <a:r>
                        <a:rPr sz="1575" b="0">
                          <a:solidFill>
                            <a:srgbClr val="17324A"/>
                          </a:solidFill>
                          <a:latin typeface="Arial"/>
                        </a:rPr>
                        <a:t>Every number traced to a tool result</a:t>
                      </a:r>
                    </a:p>
                  </a:txBody>
                  <a:tcPr marL="133502" marR="133502" marT="64008" marB="54864" anchor="ctr">
                    <a:solidFill>
                      <a:srgbClr val="FFFFFF"/>
                    </a:solidFill>
                  </a:tcPr>
                </a:tc>
              </a:tr>
              <a:tr h="420624">
                <a:tc>
                  <a:txBody>
                    <a:bodyPr wrap="square"/>
                    <a:lstStyle/>
                    <a:p>
                      <a:pPr>
                        <a:lnSpc>
                          <a:spcPct val="108000"/>
                        </a:lnSpc>
                      </a:pPr>
                      <a:r>
                        <a:rPr sz="1575" b="1">
                          <a:solidFill>
                            <a:srgbClr val="17324A"/>
                          </a:solidFill>
                          <a:latin typeface="Arial"/>
                        </a:rPr>
                        <a:t>Retrieval over 293 pages</a:t>
                      </a:r>
                    </a:p>
                  </a:txBody>
                  <a:tcPr marL="133502" marR="133502" marT="64008" marB="54864" anchor="ctr">
                    <a:solidFill>
                      <a:srgbClr val="F1F6F6"/>
                    </a:solidFill>
                  </a:tcPr>
                </a:tc>
                <a:tc>
                  <a:txBody>
                    <a:bodyPr wrap="square"/>
                    <a:lstStyle/>
                    <a:p>
                      <a:pPr>
                        <a:lnSpc>
                          <a:spcPct val="108000"/>
                        </a:lnSpc>
                      </a:pPr>
                      <a:r>
                        <a:rPr sz="1575" b="0">
                          <a:solidFill>
                            <a:srgbClr val="17324A"/>
                          </a:solidFill>
                          <a:latin typeface="Arial"/>
                        </a:rPr>
                        <a:t>MRR 0.677; hit@5 77.9%</a:t>
                      </a:r>
                    </a:p>
                  </a:txBody>
                  <a:tcPr marL="133502" marR="133502" marT="64008" marB="54864" anchor="ctr">
                    <a:solidFill>
                      <a:srgbClr val="F1F6F6"/>
                    </a:solidFill>
                  </a:tcPr>
                </a:tc>
                <a:tc>
                  <a:txBody>
                    <a:bodyPr wrap="square"/>
                    <a:lstStyle/>
                    <a:p>
                      <a:pPr>
                        <a:lnSpc>
                          <a:spcPct val="108000"/>
                        </a:lnSpc>
                      </a:pPr>
                      <a:r>
                        <a:rPr sz="1575" b="0">
                          <a:solidFill>
                            <a:srgbClr val="17324A"/>
                          </a:solidFill>
                          <a:latin typeface="Arial"/>
                        </a:rPr>
                        <a:t>140 queries; hit@1 61.4%</a:t>
                      </a:r>
                    </a:p>
                  </a:txBody>
                  <a:tcPr marL="133502" marR="133502" marT="64008" marB="54864" anchor="ctr">
                    <a:solidFill>
                      <a:srgbClr val="F1F6F6"/>
                    </a:solidFill>
                  </a:tcPr>
                </a:tc>
              </a:tr>
              <a:tr h="420624">
                <a:tc>
                  <a:txBody>
                    <a:bodyPr wrap="square"/>
                    <a:lstStyle/>
                    <a:p>
                      <a:pPr>
                        <a:lnSpc>
                          <a:spcPct val="108000"/>
                        </a:lnSpc>
                      </a:pPr>
                      <a:r>
                        <a:rPr sz="1575" b="1">
                          <a:solidFill>
                            <a:srgbClr val="17324A"/>
                          </a:solidFill>
                          <a:latin typeface="Arial"/>
                        </a:rPr>
                        <a:t>Action hallucination</a:t>
                      </a:r>
                    </a:p>
                  </a:txBody>
                  <a:tcPr marL="133502" marR="133502" marT="64008" marB="54864" anchor="ctr">
                    <a:solidFill>
                      <a:srgbClr val="FFFFFF"/>
                    </a:solidFill>
                  </a:tcPr>
                </a:tc>
                <a:tc>
                  <a:txBody>
                    <a:bodyPr wrap="square"/>
                    <a:lstStyle/>
                    <a:p>
                      <a:pPr>
                        <a:lnSpc>
                          <a:spcPct val="108000"/>
                        </a:lnSpc>
                      </a:pPr>
                      <a:r>
                        <a:rPr sz="1575" b="0">
                          <a:solidFill>
                            <a:srgbClr val="17324A"/>
                          </a:solidFill>
                          <a:latin typeface="Arial"/>
                        </a:rPr>
                        <a:t>4.6% of steps</a:t>
                      </a:r>
                    </a:p>
                  </a:txBody>
                  <a:tcPr marL="133502" marR="133502" marT="64008" marB="54864" anchor="ctr">
                    <a:solidFill>
                      <a:srgbClr val="FFFFFF"/>
                    </a:solidFill>
                  </a:tcPr>
                </a:tc>
                <a:tc>
                  <a:txBody>
                    <a:bodyPr wrap="square"/>
                    <a:lstStyle/>
                    <a:p>
                      <a:pPr>
                        <a:lnSpc>
                          <a:spcPct val="108000"/>
                        </a:lnSpc>
                      </a:pPr>
                      <a:r>
                        <a:rPr sz="1575" b="0">
                          <a:solidFill>
                            <a:srgbClr val="17324A"/>
                          </a:solidFill>
                          <a:latin typeface="Arial"/>
                        </a:rPr>
                        <a:t>4 of 87 steps; target 0</a:t>
                      </a:r>
                    </a:p>
                  </a:txBody>
                  <a:tcPr marL="133502" marR="133502" marT="64008" marB="54864" anchor="ctr">
                    <a:solidFill>
                      <a:srgbClr val="FFFFFF"/>
                    </a:solidFill>
                  </a:tcPr>
                </a:tc>
              </a:tr>
              <a:tr h="420624">
                <a:tc>
                  <a:txBody>
                    <a:bodyPr wrap="square"/>
                    <a:lstStyle/>
                    <a:p>
                      <a:pPr>
                        <a:lnSpc>
                          <a:spcPct val="108000"/>
                        </a:lnSpc>
                      </a:pPr>
                      <a:r>
                        <a:rPr sz="1575" b="1">
                          <a:solidFill>
                            <a:srgbClr val="17324A"/>
                          </a:solidFill>
                          <a:latin typeface="Arial"/>
                        </a:rPr>
                        <a:t>Error and recovery rate</a:t>
                      </a:r>
                    </a:p>
                  </a:txBody>
                  <a:tcPr marL="133502" marR="133502" marT="64008" marB="54864" anchor="ctr">
                    <a:solidFill>
                      <a:srgbClr val="F1F6F6"/>
                    </a:solidFill>
                  </a:tcPr>
                </a:tc>
                <a:tc>
                  <a:txBody>
                    <a:bodyPr wrap="square"/>
                    <a:lstStyle/>
                    <a:p>
                      <a:pPr>
                        <a:lnSpc>
                          <a:spcPct val="108000"/>
                        </a:lnSpc>
                      </a:pPr>
                      <a:r>
                        <a:rPr sz="1575" b="0">
                          <a:solidFill>
                            <a:srgbClr val="17324A"/>
                          </a:solidFill>
                          <a:latin typeface="Arial"/>
                        </a:rPr>
                        <a:t>Pending</a:t>
                      </a:r>
                    </a:p>
                  </a:txBody>
                  <a:tcPr marL="133502" marR="133502" marT="64008" marB="54864" anchor="ctr">
                    <a:solidFill>
                      <a:srgbClr val="F1F6F6"/>
                    </a:solidFill>
                  </a:tcPr>
                </a:tc>
                <a:tc>
                  <a:txBody>
                    <a:bodyPr wrap="square"/>
                    <a:lstStyle/>
                    <a:p>
                      <a:pPr>
                        <a:lnSpc>
                          <a:spcPct val="108000"/>
                        </a:lnSpc>
                      </a:pPr>
                      <a:r>
                        <a:rPr sz="1575" b="0">
                          <a:solidFill>
                            <a:srgbClr val="17324A"/>
                          </a:solidFill>
                          <a:latin typeface="Arial"/>
                        </a:rPr>
                        <a:t>Not yet reported separately</a:t>
                      </a:r>
                    </a:p>
                  </a:txBody>
                  <a:tcPr marL="133502" marR="133502" marT="64008" marB="54864" anchor="ctr">
                    <a:solidFill>
                      <a:srgbClr val="F1F6F6"/>
                    </a:solidFill>
                  </a:tcPr>
                </a:tc>
              </a:tr>
            </a:tbl>
          </a:graphicData>
        </a:graphic>
      </p:graphicFrame>
      <p:sp>
        <p:nvSpPr>
          <p:cNvPr id="15" name="kpi-note"/>
          <p:cNvSpPr/>
          <p:nvPr/>
        </p:nvSpPr>
        <p:spPr>
          <a:xfrm>
            <a:off x="640080" y="5989320"/>
            <a:ext cx="10972800" cy="274320"/>
          </a:xfrm>
          <a:prstGeom prst="rect">
            <a:avLst/>
          </a:prstGeom>
          <a:noFill/>
          <a:ln w="0">
            <a:noFill/>
          </a:ln>
        </p:spPr>
        <p:txBody>
          <a:bodyPr wrap="square" lIns="0" tIns="0" rIns="0" bIns="0" anchor="t">
            <a:noAutofit/>
          </a:bodyPr>
          <a:lstStyle/>
          <a:p>
            <a:pPr algn="l">
              <a:lnSpc>
                <a:spcPct val="112000"/>
              </a:lnSpc>
              <a:buNone/>
            </a:pPr>
            <a:r>
              <a:rPr lang="en-US" sz="1500" b="0">
                <a:solidFill>
                  <a:srgbClr val="4D6270"/>
                </a:solidFill>
                <a:latin typeface="Arial"/>
                <a:ea typeface="Arial"/>
                <a:cs typeface="Arial"/>
              </a:rPr>
              <a:t>Development set, single run, tuned on these chains. Held-out chains not run.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1" name="shape-103">
            <a:extLst>
              <a:ext uri="{FF2B5EF4-FFF2-40B4-BE49-F238E27FC236}">
                <a16:creationId xmlns:a16="http://schemas.microsoft.com/office/drawing/2014/main" id="{2562CD2C-9E3E-4C69-A477-A75E7A395205}"/>
              </a:ext>
            </a:extLst>
          </p:cNvPr>
          <p:cNvSpPr>
            <a:spLocks noGrp="1"/>
          </p:cNvSpPr>
          <p:nvPr/>
        </p:nvSpPr>
        <p:spPr>
          <a:xfrm>
            <a:off x="0" y="0"/>
            <a:ext cx="12192000" cy="1066800"/>
          </a:xfrm>
          <a:prstGeom prst="rect">
            <a:avLst/>
          </a:prstGeom>
          <a:solidFill>
            <a:srgbClr val="F2F6F7"/>
          </a:solidFill>
          <a:ln w="0">
            <a:noFill/>
          </a:ln>
        </p:spPr>
      </p:sp>
      <p:sp>
        <p:nvSpPr>
          <p:cNvPr id="2" name="shape-104">
            <a:extLst>
              <a:ext uri="{FF2B5EF4-FFF2-40B4-BE49-F238E27FC236}">
                <a16:creationId xmlns:a16="http://schemas.microsoft.com/office/drawing/2014/main" id="{71631536-2294-40C9-AC9F-AFC33E3B96DA}"/>
              </a:ext>
            </a:extLst>
          </p:cNvPr>
          <p:cNvSpPr>
            <a:spLocks noGrp="1"/>
          </p:cNvSpPr>
          <p:nvPr/>
        </p:nvSpPr>
        <p:spPr>
          <a:xfrm>
            <a:off x="0" y="1038225"/>
            <a:ext cx="12192000" cy="28575"/>
          </a:xfrm>
          <a:prstGeom prst="rect">
            <a:avLst/>
          </a:prstGeom>
          <a:solidFill>
            <a:srgbClr val="006D77"/>
          </a:solidFill>
          <a:ln w="0">
            <a:noFill/>
          </a:ln>
        </p:spPr>
      </p:sp>
      <p:sp>
        <p:nvSpPr>
          <p:cNvPr id="3" name="slide-5-title">
            <a:extLst>
              <a:ext uri="{FF2B5EF4-FFF2-40B4-BE49-F238E27FC236}">
                <a16:creationId xmlns:a16="http://schemas.microsoft.com/office/drawing/2014/main" id="{1455044C-2DA0-495A-9F6C-D56E6E0D2C68}"/>
              </a:ext>
            </a:extLst>
          </p:cNvPr>
          <p:cNvSpPr>
            <a:spLocks noGrp="1"/>
          </p:cNvSpPr>
          <p:nvPr/>
        </p:nvSpPr>
        <p:spPr>
          <a:xfrm>
            <a:off x="609600" y="304800"/>
            <a:ext cx="8239125" cy="542925"/>
          </a:xfrm>
          <a:prstGeom prst="rect">
            <a:avLst/>
          </a:prstGeom>
          <a:noFill/>
          <a:ln w="0">
            <a:noFill/>
          </a:ln>
        </p:spPr>
        <p:txBody>
          <a:bodyPr wrap="square" lIns="0" tIns="0" rIns="0" bIns="0" anchor="t">
            <a:noAutofit/>
          </a:bodyPr>
          <a:lstStyle>
            <a:defPPr algn="l">
              <a:defRPr sz="3150" b="1">
                <a:solidFill>
                  <a:srgbClr val="102A43"/>
                </a:solidFill>
                <a:latin typeface="Arial"/>
                <a:ea typeface="Arial"/>
                <a:cs typeface="Arial"/>
              </a:defRPr>
            </a:defPPr>
          </a:lstStyle>
          <a:p>
            <a:pPr algn="l">
              <a:lnSpc>
                <a:spcPct val="112000"/>
              </a:lnSpc>
              <a:buNone/>
              <a:defRPr sz="3150" b="1">
                <a:solidFill>
                  <a:srgbClr val="102A43"/>
                </a:solidFill>
                <a:latin typeface="Arial"/>
                <a:ea typeface="Arial"/>
                <a:cs typeface="Arial"/>
              </a:defRPr>
            </a:pPr>
            <a:r>
              <a:rPr sz="3150" b="1">
                <a:solidFill>
                  <a:srgbClr val="102A43"/>
                </a:solidFill>
                <a:latin typeface="Arial"/>
                <a:ea typeface="Arial"/>
                <a:cs typeface="Arial"/>
              </a:rPr>
              <a:t>What drove the result</a:t>
            </a:r>
          </a:p>
        </p:txBody>
      </p:sp>
      <p:sp>
        <p:nvSpPr>
          <p:cNvPr id="4" name="shape-105">
            <a:extLst>
              <a:ext uri="{FF2B5EF4-FFF2-40B4-BE49-F238E27FC236}">
                <a16:creationId xmlns:a16="http://schemas.microsoft.com/office/drawing/2014/main" id="{B38EE9C8-9B23-41DE-BCB7-61D9A656A111}"/>
              </a:ext>
            </a:extLst>
          </p:cNvPr>
          <p:cNvSpPr>
            <a:spLocks noGrp="1"/>
          </p:cNvSpPr>
          <p:nvPr/>
        </p:nvSpPr>
        <p:spPr>
          <a:xfrm>
            <a:off x="0" y="6381750"/>
            <a:ext cx="12192000" cy="476250"/>
          </a:xfrm>
          <a:prstGeom prst="rect">
            <a:avLst/>
          </a:prstGeom>
          <a:solidFill>
            <a:srgbClr val="102A43"/>
          </a:solidFill>
          <a:ln w="0">
            <a:noFill/>
          </a:ln>
        </p:spPr>
      </p:sp>
      <p:sp>
        <p:nvSpPr>
          <p:cNvPr id="5" name="brand-5">
            <a:extLst>
              <a:ext uri="{FF2B5EF4-FFF2-40B4-BE49-F238E27FC236}">
                <a16:creationId xmlns:a16="http://schemas.microsoft.com/office/drawing/2014/main" id="{31610A6C-CA92-42F2-9154-E5526A315EAE}"/>
              </a:ext>
            </a:extLst>
          </p:cNvPr>
          <p:cNvSpPr>
            <a:spLocks noGrp="1"/>
          </p:cNvSpPr>
          <p:nvPr/>
        </p:nvSpPr>
        <p:spPr>
          <a:xfrm>
            <a:off x="609600" y="6467475"/>
            <a:ext cx="3429000" cy="333375"/>
          </a:xfrm>
          <a:prstGeom prst="rect">
            <a:avLst/>
          </a:prstGeom>
          <a:noFill/>
          <a:ln w="0">
            <a:noFill/>
          </a:ln>
        </p:spPr>
        <p:txBody>
          <a:bodyPr wrap="square" lIns="0" tIns="0" rIns="0" bIns="0" anchor="t">
            <a:noAutofit/>
          </a:bodyPr>
          <a:lstStyle>
            <a:defPPr algn="l">
              <a:defRPr sz="1950" b="1">
                <a:solidFill>
                  <a:srgbClr val="8AE1D5"/>
                </a:solidFill>
                <a:latin typeface="Arial"/>
                <a:ea typeface="Arial"/>
                <a:cs typeface="Arial"/>
              </a:defRPr>
            </a:defPPr>
          </a:lstStyle>
          <a:p>
            <a:pPr algn="l">
              <a:lnSpc>
                <a:spcPct val="112000"/>
              </a:lnSpc>
              <a:buNone/>
              <a:defRPr sz="1950" b="1">
                <a:solidFill>
                  <a:srgbClr val="8AE1D5"/>
                </a:solidFill>
                <a:latin typeface="Arial"/>
                <a:ea typeface="Arial"/>
                <a:cs typeface="Arial"/>
              </a:defRPr>
            </a:pPr>
            <a:r>
              <a:rPr sz="1950" b="1">
                <a:solidFill>
                  <a:srgbClr val="8AE1D5"/>
                </a:solidFill>
                <a:latin typeface="Arial"/>
                <a:ea typeface="Arial"/>
                <a:cs typeface="Arial"/>
              </a:rPr>
              <a:t>Sapience</a:t>
            </a:r>
          </a:p>
        </p:txBody>
      </p:sp>
      <p:sp>
        <p:nvSpPr>
          <p:cNvPr id="6" name="page-5">
            <a:extLst>
              <a:ext uri="{FF2B5EF4-FFF2-40B4-BE49-F238E27FC236}">
                <a16:creationId xmlns:a16="http://schemas.microsoft.com/office/drawing/2014/main" id="{3FA06EAC-5E3E-4A4F-BC8D-300A8EEAF3F5}"/>
              </a:ext>
            </a:extLst>
          </p:cNvPr>
          <p:cNvSpPr>
            <a:spLocks noGrp="1"/>
          </p:cNvSpPr>
          <p:nvPr/>
        </p:nvSpPr>
        <p:spPr>
          <a:xfrm>
            <a:off x="10629900" y="6505575"/>
            <a:ext cx="952500" cy="276225"/>
          </a:xfrm>
          <a:prstGeom prst="rect">
            <a:avLst/>
          </a:prstGeom>
          <a:noFill/>
          <a:ln w="0">
            <a:noFill/>
          </a:ln>
        </p:spPr>
        <p:txBody>
          <a:bodyPr wrap="square" lIns="0" tIns="0" rIns="0" bIns="0" anchor="t">
            <a:noAutofit/>
          </a:bodyPr>
          <a:lstStyle>
            <a:defPPr algn="r">
              <a:defRPr sz="1575" b="0">
                <a:solidFill>
                  <a:srgbClr val="FFFFFF"/>
                </a:solidFill>
                <a:latin typeface="Arial"/>
                <a:ea typeface="Arial"/>
                <a:cs typeface="Arial"/>
              </a:defRPr>
            </a:defPPr>
          </a:lstStyle>
          <a:p>
            <a:pPr algn="r">
              <a:lnSpc>
                <a:spcPct val="112000"/>
              </a:lnSpc>
              <a:buNone/>
              <a:defRPr sz="1575" b="0">
                <a:solidFill>
                  <a:srgbClr val="FFFFFF"/>
                </a:solidFill>
                <a:latin typeface="Arial"/>
                <a:ea typeface="Arial"/>
                <a:cs typeface="Arial"/>
              </a:defRPr>
            </a:pPr>
            <a:r>
              <a:rPr sz="1575" b="0">
                <a:solidFill>
                  <a:srgbClr val="FFFFFF"/>
                </a:solidFill>
                <a:latin typeface="Arial"/>
                <a:ea typeface="Arial"/>
                <a:cs typeface="Arial"/>
              </a:rPr>
              <a:t>14 / 18</a:t>
            </a:r>
          </a:p>
        </p:txBody>
      </p:sp>
      <p:pic>
        <p:nvPicPr>
          <p:cNvPr id="12" name="KLE logo" descr="image.png"/>
          <p:cNvPicPr>
            <a:picLocks noChangeAspect="1"/>
          </p:cNvPicPr>
          <p:nvPr/>
        </p:nvPicPr>
        <p:blipFill>
          <a:blip r:embed="rId2"/>
          <a:stretch>
            <a:fillRect/>
          </a:stretch>
        </p:blipFill>
        <p:spPr>
          <a:xfrm>
            <a:off x="9220220" y="295275"/>
            <a:ext cx="2362160" cy="442436"/>
          </a:xfrm>
          <a:prstGeom prst="rect">
            <a:avLst/>
          </a:prstGeom>
        </p:spPr>
      </p:pic>
      <p:sp>
        <p:nvSpPr>
          <p:cNvPr id="13" name="subtitle"/>
          <p:cNvSpPr/>
          <p:nvPr/>
        </p:nvSpPr>
        <p:spPr>
          <a:xfrm>
            <a:off x="640080" y="1280160"/>
            <a:ext cx="10972800" cy="365760"/>
          </a:xfrm>
          <a:prstGeom prst="rect">
            <a:avLst/>
          </a:prstGeom>
          <a:noFill/>
          <a:ln w="0">
            <a:noFill/>
          </a:ln>
        </p:spPr>
        <p:txBody>
          <a:bodyPr wrap="square" lIns="0" tIns="0" rIns="0" bIns="0" anchor="t">
            <a:noAutofit/>
          </a:bodyPr>
          <a:lstStyle/>
          <a:p>
            <a:pPr algn="l">
              <a:lnSpc>
                <a:spcPct val="112000"/>
              </a:lnSpc>
              <a:buNone/>
            </a:pPr>
            <a:r>
              <a:rPr lang="en-US" sz="2100" b="1">
                <a:solidFill>
                  <a:srgbClr val="006D77"/>
                </a:solidFill>
                <a:latin typeface="Arial"/>
                <a:ea typeface="Arial"/>
                <a:cs typeface="Arial"/>
              </a:rPr>
              <a:t>Three runs on the same development chains</a:t>
            </a:r>
          </a:p>
        </p:txBody>
      </p:sp>
      <p:graphicFrame>
        <p:nvGraphicFramePr>
          <p:cNvPr id="14" name="Chart 13"/>
          <p:cNvGraphicFramePr>
            <a:graphicFrameLocks noGrp="1"/>
          </p:cNvGraphicFramePr>
          <p:nvPr/>
        </p:nvGraphicFramePr>
        <p:xfrm>
          <a:off x="502920" y="1737360"/>
          <a:ext cx="6583680" cy="2743200"/>
        </p:xfrm>
        <a:graphic>
          <a:graphicData uri="http://schemas.openxmlformats.org/drawingml/2006/chart">
            <c:chart xmlns:c="http://schemas.openxmlformats.org/drawingml/2006/chart" r:id="rId3"/>
          </a:graphicData>
        </a:graphic>
      </p:graphicFrame>
      <p:sp>
        <p:nvSpPr>
          <p:cNvPr id="15" name="leg-chain"/>
          <p:cNvSpPr/>
          <p:nvPr/>
        </p:nvSpPr>
        <p:spPr>
          <a:xfrm>
            <a:off x="868680" y="4590288"/>
            <a:ext cx="146304" cy="146304"/>
          </a:xfrm>
          <a:prstGeom prst="rect">
            <a:avLst/>
          </a:prstGeom>
          <a:solidFill>
            <a:srgbClr val="17324A"/>
          </a:solidFill>
          <a:ln w="0">
            <a:noFill/>
          </a:ln>
        </p:spPr>
      </p:sp>
      <p:sp>
        <p:nvSpPr>
          <p:cNvPr id="16" name="leg-chain-t"/>
          <p:cNvSpPr/>
          <p:nvPr/>
        </p:nvSpPr>
        <p:spPr>
          <a:xfrm>
            <a:off x="1097280" y="4526280"/>
            <a:ext cx="1828800" cy="274320"/>
          </a:xfrm>
          <a:prstGeom prst="rect">
            <a:avLst/>
          </a:prstGeom>
          <a:noFill/>
          <a:ln w="0">
            <a:noFill/>
          </a:ln>
        </p:spPr>
        <p:txBody>
          <a:bodyPr wrap="square" lIns="0" tIns="0" rIns="0" bIns="0" anchor="t">
            <a:noAutofit/>
          </a:bodyPr>
          <a:lstStyle/>
          <a:p>
            <a:pPr algn="l">
              <a:lnSpc>
                <a:spcPct val="112000"/>
              </a:lnSpc>
              <a:buNone/>
            </a:pPr>
            <a:r>
              <a:rPr lang="en-US" sz="1500" b="0">
                <a:solidFill>
                  <a:srgbClr val="17324A"/>
                </a:solidFill>
                <a:latin typeface="Arial"/>
                <a:ea typeface="Arial"/>
                <a:cs typeface="Arial"/>
              </a:rPr>
              <a:t>Chain success</a:t>
            </a:r>
          </a:p>
        </p:txBody>
      </p:sp>
      <p:sp>
        <p:nvSpPr>
          <p:cNvPr id="17" name="leg-step"/>
          <p:cNvSpPr/>
          <p:nvPr/>
        </p:nvSpPr>
        <p:spPr>
          <a:xfrm>
            <a:off x="3063240" y="4590288"/>
            <a:ext cx="146304" cy="146304"/>
          </a:xfrm>
          <a:prstGeom prst="rect">
            <a:avLst/>
          </a:prstGeom>
          <a:solidFill>
            <a:srgbClr val="006D77"/>
          </a:solidFill>
          <a:ln w="0">
            <a:noFill/>
          </a:ln>
        </p:spPr>
      </p:sp>
      <p:sp>
        <p:nvSpPr>
          <p:cNvPr id="18" name="leg-step-t"/>
          <p:cNvSpPr/>
          <p:nvPr/>
        </p:nvSpPr>
        <p:spPr>
          <a:xfrm>
            <a:off x="3291840" y="4526280"/>
            <a:ext cx="1828800" cy="274320"/>
          </a:xfrm>
          <a:prstGeom prst="rect">
            <a:avLst/>
          </a:prstGeom>
          <a:noFill/>
          <a:ln w="0">
            <a:noFill/>
          </a:ln>
        </p:spPr>
        <p:txBody>
          <a:bodyPr wrap="square" lIns="0" tIns="0" rIns="0" bIns="0" anchor="t">
            <a:noAutofit/>
          </a:bodyPr>
          <a:lstStyle/>
          <a:p>
            <a:pPr algn="l">
              <a:lnSpc>
                <a:spcPct val="112000"/>
              </a:lnSpc>
              <a:buNone/>
            </a:pPr>
            <a:r>
              <a:rPr lang="en-US" sz="1500" b="0">
                <a:solidFill>
                  <a:srgbClr val="17324A"/>
                </a:solidFill>
                <a:latin typeface="Arial"/>
                <a:ea typeface="Arial"/>
                <a:cs typeface="Arial"/>
              </a:rPr>
              <a:t>Step pass</a:t>
            </a:r>
          </a:p>
        </p:txBody>
      </p:sp>
      <p:graphicFrame>
        <p:nvGraphicFramePr>
          <p:cNvPr id="19" name="Table 18"/>
          <p:cNvGraphicFramePr>
            <a:graphicFrameLocks noGrp="1"/>
          </p:cNvGraphicFramePr>
          <p:nvPr/>
        </p:nvGraphicFramePr>
        <p:xfrm>
          <a:off x="7269480" y="1783080"/>
          <a:ext cx="4389120" cy="2231136"/>
        </p:xfrm>
        <a:graphic>
          <a:graphicData uri="http://schemas.openxmlformats.org/drawingml/2006/table">
            <a:tbl>
              <a:tblPr/>
              <a:tblGrid>
                <a:gridCol w="1920240"/>
                <a:gridCol w="1188720"/>
                <a:gridCol w="1280160"/>
              </a:tblGrid>
              <a:tr h="365760">
                <a:tc>
                  <a:txBody>
                    <a:bodyPr wrap="square"/>
                    <a:lstStyle/>
                    <a:p>
                      <a:pPr>
                        <a:lnSpc>
                          <a:spcPct val="108000"/>
                        </a:lnSpc>
                      </a:pPr>
                      <a:r>
                        <a:rPr sz="1575" b="1">
                          <a:solidFill>
                            <a:srgbClr val="FFFFFF"/>
                          </a:solidFill>
                          <a:latin typeface="Arial"/>
                        </a:rPr>
                        <a:t>Run</a:t>
                      </a:r>
                    </a:p>
                  </a:txBody>
                  <a:tcPr marL="133502" marR="133502" marT="64008" marB="54864" anchor="ctr">
                    <a:solidFill>
                      <a:srgbClr val="006D77"/>
                    </a:solidFill>
                  </a:tcPr>
                </a:tc>
                <a:tc>
                  <a:txBody>
                    <a:bodyPr wrap="square"/>
                    <a:lstStyle/>
                    <a:p>
                      <a:pPr>
                        <a:lnSpc>
                          <a:spcPct val="108000"/>
                        </a:lnSpc>
                      </a:pPr>
                      <a:r>
                        <a:rPr sz="1575" b="1">
                          <a:solidFill>
                            <a:srgbClr val="FFFFFF"/>
                          </a:solidFill>
                          <a:latin typeface="Arial"/>
                        </a:rPr>
                        <a:t>Halluc.</a:t>
                      </a:r>
                    </a:p>
                  </a:txBody>
                  <a:tcPr marL="133502" marR="133502" marT="64008" marB="54864" anchor="ctr">
                    <a:solidFill>
                      <a:srgbClr val="006D77"/>
                    </a:solidFill>
                  </a:tcPr>
                </a:tc>
                <a:tc>
                  <a:txBody>
                    <a:bodyPr wrap="square"/>
                    <a:lstStyle/>
                    <a:p>
                      <a:pPr>
                        <a:lnSpc>
                          <a:spcPct val="108000"/>
                        </a:lnSpc>
                      </a:pPr>
                      <a:r>
                        <a:rPr sz="1575" b="1">
                          <a:solidFill>
                            <a:srgbClr val="FFFFFF"/>
                          </a:solidFill>
                          <a:latin typeface="Arial"/>
                        </a:rPr>
                        <a:t>Latency</a:t>
                      </a:r>
                    </a:p>
                  </a:txBody>
                  <a:tcPr marL="133502" marR="133502" marT="64008" marB="54864" anchor="ctr">
                    <a:solidFill>
                      <a:srgbClr val="006D77"/>
                    </a:solidFill>
                  </a:tcPr>
                </a:tc>
              </a:tr>
              <a:tr h="621792">
                <a:tc>
                  <a:txBody>
                    <a:bodyPr wrap="square"/>
                    <a:lstStyle/>
                    <a:p>
                      <a:pPr>
                        <a:lnSpc>
                          <a:spcPct val="108000"/>
                        </a:lnSpc>
                      </a:pPr>
                      <a:r>
                        <a:rPr sz="1575" b="1">
                          <a:solidFill>
                            <a:srgbClr val="17324A"/>
                          </a:solidFill>
                          <a:latin typeface="Arial"/>
                        </a:rPr>
                        <a:t>R1-32B</a:t>
                      </a:r>
                    </a:p>
                    <a:p>
                      <a:pPr>
                        <a:lnSpc>
                          <a:spcPct val="108000"/>
                        </a:lnSpc>
                      </a:pPr>
                      <a:r>
                        <a:rPr sz="1575" b="1">
                          <a:solidFill>
                            <a:srgbClr val="17324A"/>
                          </a:solidFill>
                          <a:latin typeface="Arial"/>
                        </a:rPr>
                        <a:t>emits calls</a:t>
                      </a:r>
                    </a:p>
                  </a:txBody>
                  <a:tcPr marL="133502" marR="133502" marT="64008" marB="54864" anchor="ctr">
                    <a:solidFill>
                      <a:srgbClr val="F1F6F6"/>
                    </a:solidFill>
                  </a:tcPr>
                </a:tc>
                <a:tc>
                  <a:txBody>
                    <a:bodyPr wrap="square"/>
                    <a:lstStyle/>
                    <a:p>
                      <a:pPr>
                        <a:lnSpc>
                          <a:spcPct val="108000"/>
                        </a:lnSpc>
                      </a:pPr>
                      <a:r>
                        <a:rPr sz="1575" b="0">
                          <a:solidFill>
                            <a:srgbClr val="17324A"/>
                          </a:solidFill>
                          <a:latin typeface="Arial"/>
                        </a:rPr>
                        <a:t>3.4%</a:t>
                      </a:r>
                    </a:p>
                  </a:txBody>
                  <a:tcPr marL="133502" marR="133502" marT="64008" marB="54864" anchor="ctr">
                    <a:solidFill>
                      <a:srgbClr val="F1F6F6"/>
                    </a:solidFill>
                  </a:tcPr>
                </a:tc>
                <a:tc>
                  <a:txBody>
                    <a:bodyPr wrap="square"/>
                    <a:lstStyle/>
                    <a:p>
                      <a:pPr>
                        <a:lnSpc>
                          <a:spcPct val="108000"/>
                        </a:lnSpc>
                      </a:pPr>
                      <a:r>
                        <a:rPr sz="1575" b="0">
                          <a:solidFill>
                            <a:srgbClr val="17324A"/>
                          </a:solidFill>
                          <a:latin typeface="Arial"/>
                        </a:rPr>
                        <a:t>32 s</a:t>
                      </a:r>
                    </a:p>
                  </a:txBody>
                  <a:tcPr marL="133502" marR="133502" marT="64008" marB="54864" anchor="ctr">
                    <a:solidFill>
                      <a:srgbClr val="F1F6F6"/>
                    </a:solidFill>
                  </a:tcPr>
                </a:tc>
              </a:tr>
              <a:tr h="621792">
                <a:tc>
                  <a:txBody>
                    <a:bodyPr wrap="square"/>
                    <a:lstStyle/>
                    <a:p>
                      <a:pPr>
                        <a:lnSpc>
                          <a:spcPct val="108000"/>
                        </a:lnSpc>
                      </a:pPr>
                      <a:r>
                        <a:rPr sz="1575" b="1">
                          <a:solidFill>
                            <a:srgbClr val="17324A"/>
                          </a:solidFill>
                          <a:latin typeface="Arial"/>
                        </a:rPr>
                        <a:t>R1-32B slots,</a:t>
                      </a:r>
                    </a:p>
                    <a:p>
                      <a:pPr>
                        <a:lnSpc>
                          <a:spcPct val="108000"/>
                        </a:lnSpc>
                      </a:pPr>
                      <a:r>
                        <a:rPr sz="1575" b="1">
                          <a:solidFill>
                            <a:srgbClr val="17324A"/>
                          </a:solidFill>
                          <a:latin typeface="Arial"/>
                        </a:rPr>
                        <a:t>older code</a:t>
                      </a:r>
                    </a:p>
                  </a:txBody>
                  <a:tcPr marL="133502" marR="133502" marT="64008" marB="54864" anchor="ctr">
                    <a:solidFill>
                      <a:srgbClr val="FFFFFF"/>
                    </a:solidFill>
                  </a:tcPr>
                </a:tc>
                <a:tc>
                  <a:txBody>
                    <a:bodyPr wrap="square"/>
                    <a:lstStyle/>
                    <a:p>
                      <a:pPr>
                        <a:lnSpc>
                          <a:spcPct val="108000"/>
                        </a:lnSpc>
                      </a:pPr>
                      <a:r>
                        <a:rPr sz="1575" b="0">
                          <a:solidFill>
                            <a:srgbClr val="17324A"/>
                          </a:solidFill>
                          <a:latin typeface="Arial"/>
                        </a:rPr>
                        <a:t>2.3%</a:t>
                      </a:r>
                    </a:p>
                  </a:txBody>
                  <a:tcPr marL="133502" marR="133502" marT="64008" marB="54864" anchor="ctr">
                    <a:solidFill>
                      <a:srgbClr val="FFFFFF"/>
                    </a:solidFill>
                  </a:tcPr>
                </a:tc>
                <a:tc>
                  <a:txBody>
                    <a:bodyPr wrap="square"/>
                    <a:lstStyle/>
                    <a:p>
                      <a:pPr>
                        <a:lnSpc>
                          <a:spcPct val="108000"/>
                        </a:lnSpc>
                      </a:pPr>
                      <a:r>
                        <a:rPr sz="1575" b="0">
                          <a:solidFill>
                            <a:srgbClr val="17324A"/>
                          </a:solidFill>
                          <a:latin typeface="Arial"/>
                        </a:rPr>
                        <a:t>8 s</a:t>
                      </a:r>
                    </a:p>
                  </a:txBody>
                  <a:tcPr marL="133502" marR="133502" marT="64008" marB="54864" anchor="ctr">
                    <a:solidFill>
                      <a:srgbClr val="FFFFFF"/>
                    </a:solidFill>
                  </a:tcPr>
                </a:tc>
              </a:tr>
              <a:tr h="621792">
                <a:tc>
                  <a:txBody>
                    <a:bodyPr wrap="square"/>
                    <a:lstStyle/>
                    <a:p>
                      <a:pPr>
                        <a:lnSpc>
                          <a:spcPct val="108000"/>
                        </a:lnSpc>
                      </a:pPr>
                      <a:r>
                        <a:rPr sz="1575" b="1">
                          <a:solidFill>
                            <a:srgbClr val="17324A"/>
                          </a:solidFill>
                          <a:latin typeface="Arial"/>
                        </a:rPr>
                        <a:t>R1-32B slots,</a:t>
                      </a:r>
                    </a:p>
                    <a:p>
                      <a:pPr>
                        <a:lnSpc>
                          <a:spcPct val="108000"/>
                        </a:lnSpc>
                      </a:pPr>
                      <a:r>
                        <a:rPr sz="1575" b="1">
                          <a:solidFill>
                            <a:srgbClr val="17324A"/>
                          </a:solidFill>
                          <a:latin typeface="Arial"/>
                        </a:rPr>
                        <a:t>current code</a:t>
                      </a:r>
                    </a:p>
                  </a:txBody>
                  <a:tcPr marL="133502" marR="133502" marT="64008" marB="54864" anchor="ctr">
                    <a:solidFill>
                      <a:srgbClr val="F1F6F6"/>
                    </a:solidFill>
                  </a:tcPr>
                </a:tc>
                <a:tc>
                  <a:txBody>
                    <a:bodyPr wrap="square"/>
                    <a:lstStyle/>
                    <a:p>
                      <a:pPr>
                        <a:lnSpc>
                          <a:spcPct val="108000"/>
                        </a:lnSpc>
                      </a:pPr>
                      <a:r>
                        <a:rPr sz="1575" b="0">
                          <a:solidFill>
                            <a:srgbClr val="17324A"/>
                          </a:solidFill>
                          <a:latin typeface="Arial"/>
                        </a:rPr>
                        <a:t>4.6%</a:t>
                      </a:r>
                    </a:p>
                  </a:txBody>
                  <a:tcPr marL="133502" marR="133502" marT="64008" marB="54864" anchor="ctr">
                    <a:solidFill>
                      <a:srgbClr val="F1F6F6"/>
                    </a:solidFill>
                  </a:tcPr>
                </a:tc>
                <a:tc>
                  <a:txBody>
                    <a:bodyPr wrap="square"/>
                    <a:lstStyle/>
                    <a:p>
                      <a:pPr>
                        <a:lnSpc>
                          <a:spcPct val="108000"/>
                        </a:lnSpc>
                      </a:pPr>
                      <a:r>
                        <a:rPr sz="1575" b="0">
                          <a:solidFill>
                            <a:srgbClr val="17324A"/>
                          </a:solidFill>
                          <a:latin typeface="Arial"/>
                        </a:rPr>
                        <a:t>19 s</a:t>
                      </a:r>
                    </a:p>
                  </a:txBody>
                  <a:tcPr marL="133502" marR="133502" marT="64008" marB="54864" anchor="ctr">
                    <a:solidFill>
                      <a:srgbClr val="F1F6F6"/>
                    </a:solidFill>
                  </a:tcPr>
                </a:tc>
              </a:tr>
            </a:tbl>
          </a:graphicData>
        </a:graphic>
      </p:graphicFrame>
      <p:sp>
        <p:nvSpPr>
          <p:cNvPr id="20" name="caveat-card"/>
          <p:cNvSpPr/>
          <p:nvPr/>
        </p:nvSpPr>
        <p:spPr>
          <a:xfrm>
            <a:off x="640080" y="4937760"/>
            <a:ext cx="10972800" cy="1005840"/>
          </a:xfrm>
          <a:prstGeom prst="rect">
            <a:avLst/>
          </a:prstGeom>
          <a:solidFill>
            <a:srgbClr val="EAF2F1"/>
          </a:solidFill>
          <a:ln w="15240">
            <a:solidFill>
              <a:srgbClr val="006D77"/>
            </a:solidFill>
          </a:ln>
        </p:spPr>
      </p:sp>
      <p:sp>
        <p:nvSpPr>
          <p:cNvPr id="21" name="caveat"/>
          <p:cNvSpPr/>
          <p:nvPr/>
        </p:nvSpPr>
        <p:spPr>
          <a:xfrm>
            <a:off x="822960" y="5029200"/>
            <a:ext cx="10607040" cy="868680"/>
          </a:xfrm>
          <a:prstGeom prst="rect">
            <a:avLst/>
          </a:prstGeom>
          <a:noFill/>
          <a:ln w="0">
            <a:noFill/>
          </a:ln>
        </p:spPr>
        <p:txBody>
          <a:bodyPr wrap="square" lIns="0" tIns="0" rIns="0" bIns="0" anchor="t">
            <a:noAutofit/>
          </a:bodyPr>
          <a:lstStyle/>
          <a:p>
            <a:pPr algn="l">
              <a:lnSpc>
                <a:spcPct val="112000"/>
              </a:lnSpc>
              <a:spcAft>
                <a:spcPts val="3"/>
              </a:spcAft>
              <a:buNone/>
            </a:pPr>
            <a:r>
              <a:rPr lang="en-US" sz="1575" b="0">
                <a:solidFill>
                  <a:srgbClr val="17324A"/>
                </a:solidFill>
                <a:latin typeface="Arial"/>
                <a:ea typeface="Arial"/>
                <a:cs typeface="Arial"/>
              </a:rPr>
              <a:t>Not a controlled comparison: the first two runs used earlier code, and prompts and guards were tuned on these chains.</a:t>
            </a:r>
          </a:p>
          <a:p>
            <a:pPr algn="l">
              <a:lnSpc>
                <a:spcPct val="112000"/>
              </a:lnSpc>
              <a:spcAft>
                <a:spcPts val="3"/>
              </a:spcAft>
              <a:buNone/>
            </a:pPr>
            <a:r>
              <a:rPr lang="en-US" sz="1575" b="0">
                <a:solidFill>
                  <a:srgbClr val="17324A"/>
                </a:solidFill>
                <a:latin typeface="Arial"/>
                <a:ea typeface="Arial"/>
                <a:cs typeface="Arial"/>
              </a:rPr>
              <a:t>A same-code rerun of the model-emits variant is pending.</a:t>
            </a:r>
          </a:p>
        </p:txBody>
      </p:sp>
      <p:sp>
        <p:nvSpPr>
          <p:cNvPr id="22" name="var-note"/>
          <p:cNvSpPr/>
          <p:nvPr/>
        </p:nvSpPr>
        <p:spPr>
          <a:xfrm>
            <a:off x="640080" y="6035040"/>
            <a:ext cx="10972800" cy="274320"/>
          </a:xfrm>
          <a:prstGeom prst="rect">
            <a:avLst/>
          </a:prstGeom>
          <a:noFill/>
          <a:ln w="0">
            <a:noFill/>
          </a:ln>
        </p:spPr>
        <p:txBody>
          <a:bodyPr wrap="square" lIns="0" tIns="0" rIns="0" bIns="0" anchor="t">
            <a:noAutofit/>
          </a:bodyPr>
          <a:lstStyle/>
          <a:p>
            <a:pPr algn="l">
              <a:lnSpc>
                <a:spcPct val="112000"/>
              </a:lnSpc>
              <a:buNone/>
            </a:pPr>
            <a:r>
              <a:rPr lang="en-US" sz="1500" b="0">
                <a:solidFill>
                  <a:srgbClr val="4D6270"/>
                </a:solidFill>
                <a:latin typeface="Arial"/>
                <a:ea typeface="Arial"/>
                <a:cs typeface="Arial"/>
              </a:rPr>
              <a:t>Development set, one run each. Held-out chains not run. Row 2 latency excludes the written answer.</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1" name="shape-103">
            <a:extLst>
              <a:ext uri="{FF2B5EF4-FFF2-40B4-BE49-F238E27FC236}">
                <a16:creationId xmlns:a16="http://schemas.microsoft.com/office/drawing/2014/main" id="{2562CD2C-9E3E-4C69-A477-A75E7A395205}"/>
              </a:ext>
            </a:extLst>
          </p:cNvPr>
          <p:cNvSpPr>
            <a:spLocks noGrp="1"/>
          </p:cNvSpPr>
          <p:nvPr/>
        </p:nvSpPr>
        <p:spPr>
          <a:xfrm>
            <a:off x="0" y="0"/>
            <a:ext cx="12192000" cy="1066800"/>
          </a:xfrm>
          <a:prstGeom prst="rect">
            <a:avLst/>
          </a:prstGeom>
          <a:solidFill>
            <a:srgbClr val="F2F6F7"/>
          </a:solidFill>
          <a:ln w="0">
            <a:noFill/>
          </a:ln>
        </p:spPr>
      </p:sp>
      <p:sp>
        <p:nvSpPr>
          <p:cNvPr id="2" name="shape-104">
            <a:extLst>
              <a:ext uri="{FF2B5EF4-FFF2-40B4-BE49-F238E27FC236}">
                <a16:creationId xmlns:a16="http://schemas.microsoft.com/office/drawing/2014/main" id="{71631536-2294-40C9-AC9F-AFC33E3B96DA}"/>
              </a:ext>
            </a:extLst>
          </p:cNvPr>
          <p:cNvSpPr>
            <a:spLocks noGrp="1"/>
          </p:cNvSpPr>
          <p:nvPr/>
        </p:nvSpPr>
        <p:spPr>
          <a:xfrm>
            <a:off x="0" y="1038225"/>
            <a:ext cx="12192000" cy="28575"/>
          </a:xfrm>
          <a:prstGeom prst="rect">
            <a:avLst/>
          </a:prstGeom>
          <a:solidFill>
            <a:srgbClr val="006D77"/>
          </a:solidFill>
          <a:ln w="0">
            <a:noFill/>
          </a:ln>
        </p:spPr>
      </p:sp>
      <p:sp>
        <p:nvSpPr>
          <p:cNvPr id="3" name="slide-5-title">
            <a:extLst>
              <a:ext uri="{FF2B5EF4-FFF2-40B4-BE49-F238E27FC236}">
                <a16:creationId xmlns:a16="http://schemas.microsoft.com/office/drawing/2014/main" id="{1455044C-2DA0-495A-9F6C-D56E6E0D2C68}"/>
              </a:ext>
            </a:extLst>
          </p:cNvPr>
          <p:cNvSpPr>
            <a:spLocks noGrp="1"/>
          </p:cNvSpPr>
          <p:nvPr/>
        </p:nvSpPr>
        <p:spPr>
          <a:xfrm>
            <a:off x="609600" y="304800"/>
            <a:ext cx="8239125" cy="542925"/>
          </a:xfrm>
          <a:prstGeom prst="rect">
            <a:avLst/>
          </a:prstGeom>
          <a:noFill/>
          <a:ln w="0">
            <a:noFill/>
          </a:ln>
        </p:spPr>
        <p:txBody>
          <a:bodyPr wrap="square" lIns="0" tIns="0" rIns="0" bIns="0" anchor="t">
            <a:noAutofit/>
          </a:bodyPr>
          <a:lstStyle>
            <a:defPPr algn="l">
              <a:defRPr sz="3150" b="1">
                <a:solidFill>
                  <a:srgbClr val="102A43"/>
                </a:solidFill>
                <a:latin typeface="Arial"/>
                <a:ea typeface="Arial"/>
                <a:cs typeface="Arial"/>
              </a:defRPr>
            </a:defPPr>
          </a:lstStyle>
          <a:p>
            <a:pPr algn="l">
              <a:lnSpc>
                <a:spcPct val="112000"/>
              </a:lnSpc>
              <a:buNone/>
              <a:defRPr sz="3150" b="1">
                <a:solidFill>
                  <a:srgbClr val="102A43"/>
                </a:solidFill>
                <a:latin typeface="Arial"/>
                <a:ea typeface="Arial"/>
                <a:cs typeface="Arial"/>
              </a:defRPr>
            </a:pPr>
            <a:r>
              <a:rPr sz="3150" b="1">
                <a:solidFill>
                  <a:srgbClr val="102A43"/>
                </a:solidFill>
                <a:latin typeface="Arial"/>
                <a:ea typeface="Arial"/>
                <a:cs typeface="Arial"/>
              </a:rPr>
              <a:t>Built and verified so far</a:t>
            </a:r>
          </a:p>
        </p:txBody>
      </p:sp>
      <p:sp>
        <p:nvSpPr>
          <p:cNvPr id="4" name="shape-105">
            <a:extLst>
              <a:ext uri="{FF2B5EF4-FFF2-40B4-BE49-F238E27FC236}">
                <a16:creationId xmlns:a16="http://schemas.microsoft.com/office/drawing/2014/main" id="{B38EE9C8-9B23-41DE-BCB7-61D9A656A111}"/>
              </a:ext>
            </a:extLst>
          </p:cNvPr>
          <p:cNvSpPr>
            <a:spLocks noGrp="1"/>
          </p:cNvSpPr>
          <p:nvPr/>
        </p:nvSpPr>
        <p:spPr>
          <a:xfrm>
            <a:off x="0" y="6381750"/>
            <a:ext cx="12192000" cy="476250"/>
          </a:xfrm>
          <a:prstGeom prst="rect">
            <a:avLst/>
          </a:prstGeom>
          <a:solidFill>
            <a:srgbClr val="102A43"/>
          </a:solidFill>
          <a:ln w="0">
            <a:noFill/>
          </a:ln>
        </p:spPr>
      </p:sp>
      <p:sp>
        <p:nvSpPr>
          <p:cNvPr id="5" name="brand-5">
            <a:extLst>
              <a:ext uri="{FF2B5EF4-FFF2-40B4-BE49-F238E27FC236}">
                <a16:creationId xmlns:a16="http://schemas.microsoft.com/office/drawing/2014/main" id="{31610A6C-CA92-42F2-9154-E5526A315EAE}"/>
              </a:ext>
            </a:extLst>
          </p:cNvPr>
          <p:cNvSpPr>
            <a:spLocks noGrp="1"/>
          </p:cNvSpPr>
          <p:nvPr/>
        </p:nvSpPr>
        <p:spPr>
          <a:xfrm>
            <a:off x="609600" y="6467475"/>
            <a:ext cx="3429000" cy="333375"/>
          </a:xfrm>
          <a:prstGeom prst="rect">
            <a:avLst/>
          </a:prstGeom>
          <a:noFill/>
          <a:ln w="0">
            <a:noFill/>
          </a:ln>
        </p:spPr>
        <p:txBody>
          <a:bodyPr wrap="square" lIns="0" tIns="0" rIns="0" bIns="0" anchor="t">
            <a:noAutofit/>
          </a:bodyPr>
          <a:lstStyle>
            <a:defPPr algn="l">
              <a:defRPr sz="1950" b="1">
                <a:solidFill>
                  <a:srgbClr val="8AE1D5"/>
                </a:solidFill>
                <a:latin typeface="Arial"/>
                <a:ea typeface="Arial"/>
                <a:cs typeface="Arial"/>
              </a:defRPr>
            </a:defPPr>
          </a:lstStyle>
          <a:p>
            <a:pPr algn="l">
              <a:lnSpc>
                <a:spcPct val="112000"/>
              </a:lnSpc>
              <a:buNone/>
              <a:defRPr sz="1950" b="1">
                <a:solidFill>
                  <a:srgbClr val="8AE1D5"/>
                </a:solidFill>
                <a:latin typeface="Arial"/>
                <a:ea typeface="Arial"/>
                <a:cs typeface="Arial"/>
              </a:defRPr>
            </a:pPr>
            <a:r>
              <a:rPr sz="1950" b="1">
                <a:solidFill>
                  <a:srgbClr val="8AE1D5"/>
                </a:solidFill>
                <a:latin typeface="Arial"/>
                <a:ea typeface="Arial"/>
                <a:cs typeface="Arial"/>
              </a:rPr>
              <a:t>Sapience</a:t>
            </a:r>
          </a:p>
        </p:txBody>
      </p:sp>
      <p:sp>
        <p:nvSpPr>
          <p:cNvPr id="6" name="page-5">
            <a:extLst>
              <a:ext uri="{FF2B5EF4-FFF2-40B4-BE49-F238E27FC236}">
                <a16:creationId xmlns:a16="http://schemas.microsoft.com/office/drawing/2014/main" id="{3FA06EAC-5E3E-4A4F-BC8D-300A8EEAF3F5}"/>
              </a:ext>
            </a:extLst>
          </p:cNvPr>
          <p:cNvSpPr>
            <a:spLocks noGrp="1"/>
          </p:cNvSpPr>
          <p:nvPr/>
        </p:nvSpPr>
        <p:spPr>
          <a:xfrm>
            <a:off x="10629900" y="6505575"/>
            <a:ext cx="952500" cy="276225"/>
          </a:xfrm>
          <a:prstGeom prst="rect">
            <a:avLst/>
          </a:prstGeom>
          <a:noFill/>
          <a:ln w="0">
            <a:noFill/>
          </a:ln>
        </p:spPr>
        <p:txBody>
          <a:bodyPr wrap="square" lIns="0" tIns="0" rIns="0" bIns="0" anchor="t">
            <a:noAutofit/>
          </a:bodyPr>
          <a:lstStyle>
            <a:defPPr algn="r">
              <a:defRPr sz="1575" b="0">
                <a:solidFill>
                  <a:srgbClr val="FFFFFF"/>
                </a:solidFill>
                <a:latin typeface="Arial"/>
                <a:ea typeface="Arial"/>
                <a:cs typeface="Arial"/>
              </a:defRPr>
            </a:defPPr>
          </a:lstStyle>
          <a:p>
            <a:pPr algn="r">
              <a:lnSpc>
                <a:spcPct val="112000"/>
              </a:lnSpc>
              <a:buNone/>
              <a:defRPr sz="1575" b="0">
                <a:solidFill>
                  <a:srgbClr val="FFFFFF"/>
                </a:solidFill>
                <a:latin typeface="Arial"/>
                <a:ea typeface="Arial"/>
                <a:cs typeface="Arial"/>
              </a:defRPr>
            </a:pPr>
            <a:r>
              <a:rPr sz="1575" b="0">
                <a:solidFill>
                  <a:srgbClr val="FFFFFF"/>
                </a:solidFill>
                <a:latin typeface="Arial"/>
                <a:ea typeface="Arial"/>
                <a:cs typeface="Arial"/>
              </a:rPr>
              <a:t>15 / 18</a:t>
            </a:r>
          </a:p>
        </p:txBody>
      </p:sp>
      <p:pic>
        <p:nvPicPr>
          <p:cNvPr id="12" name="KLE logo" descr="image.png"/>
          <p:cNvPicPr>
            <a:picLocks noChangeAspect="1"/>
          </p:cNvPicPr>
          <p:nvPr/>
        </p:nvPicPr>
        <p:blipFill>
          <a:blip r:embed="rId2"/>
          <a:stretch>
            <a:fillRect/>
          </a:stretch>
        </p:blipFill>
        <p:spPr>
          <a:xfrm>
            <a:off x="9220220" y="295275"/>
            <a:ext cx="2362160" cy="442436"/>
          </a:xfrm>
          <a:prstGeom prst="rect">
            <a:avLst/>
          </a:prstGeom>
        </p:spPr>
      </p:pic>
      <p:sp>
        <p:nvSpPr>
          <p:cNvPr id="13" name="card-built"/>
          <p:cNvSpPr/>
          <p:nvPr/>
        </p:nvSpPr>
        <p:spPr>
          <a:xfrm>
            <a:off x="640080" y="1371600"/>
            <a:ext cx="6858000" cy="3611880"/>
          </a:xfrm>
          <a:prstGeom prst="rect">
            <a:avLst/>
          </a:prstGeom>
          <a:solidFill>
            <a:srgbClr val="FFFFFF"/>
          </a:solidFill>
          <a:ln w="15240">
            <a:solidFill>
              <a:srgbClr val="006D77"/>
            </a:solidFill>
          </a:ln>
        </p:spPr>
      </p:sp>
      <p:sp>
        <p:nvSpPr>
          <p:cNvPr id="14" name="built-h"/>
          <p:cNvSpPr/>
          <p:nvPr/>
        </p:nvSpPr>
        <p:spPr>
          <a:xfrm>
            <a:off x="868680" y="1481328"/>
            <a:ext cx="6400800" cy="365760"/>
          </a:xfrm>
          <a:prstGeom prst="rect">
            <a:avLst/>
          </a:prstGeom>
          <a:noFill/>
          <a:ln w="0">
            <a:noFill/>
          </a:ln>
        </p:spPr>
        <p:txBody>
          <a:bodyPr wrap="square" lIns="0" tIns="0" rIns="0" bIns="0" anchor="t">
            <a:noAutofit/>
          </a:bodyPr>
          <a:lstStyle/>
          <a:p>
            <a:pPr algn="l">
              <a:lnSpc>
                <a:spcPct val="112000"/>
              </a:lnSpc>
              <a:buNone/>
            </a:pPr>
            <a:r>
              <a:rPr lang="en-US" sz="2025" b="1">
                <a:solidFill>
                  <a:srgbClr val="006D77"/>
                </a:solidFill>
                <a:latin typeface="Arial"/>
                <a:ea typeface="Arial"/>
                <a:cs typeface="Arial"/>
              </a:rPr>
              <a:t>Verified individually</a:t>
            </a:r>
          </a:p>
        </p:txBody>
      </p:sp>
      <p:sp>
        <p:nvSpPr>
          <p:cNvPr id="15" name="lead-API ag"/>
          <p:cNvSpPr/>
          <p:nvPr/>
        </p:nvSpPr>
        <p:spPr>
          <a:xfrm>
            <a:off x="868680" y="1965960"/>
            <a:ext cx="6400800" cy="292608"/>
          </a:xfrm>
          <a:prstGeom prst="rect">
            <a:avLst/>
          </a:prstGeom>
          <a:noFill/>
          <a:ln w="0">
            <a:noFill/>
          </a:ln>
        </p:spPr>
        <p:txBody>
          <a:bodyPr wrap="square" lIns="0" tIns="0" rIns="0" bIns="0" anchor="t">
            <a:noAutofit/>
          </a:bodyPr>
          <a:lstStyle/>
          <a:p>
            <a:pPr algn="l">
              <a:lnSpc>
                <a:spcPct val="112000"/>
              </a:lnSpc>
              <a:buNone/>
            </a:pPr>
            <a:r>
              <a:rPr lang="en-US" sz="1725" b="1">
                <a:solidFill>
                  <a:srgbClr val="17324A"/>
                </a:solidFill>
                <a:latin typeface="Arial"/>
                <a:ea typeface="Arial"/>
                <a:cs typeface="Arial"/>
              </a:rPr>
              <a:t>API agent</a:t>
            </a:r>
          </a:p>
        </p:txBody>
      </p:sp>
      <p:sp>
        <p:nvSpPr>
          <p:cNvPr id="16" name="det-API ag"/>
          <p:cNvSpPr/>
          <p:nvPr/>
        </p:nvSpPr>
        <p:spPr>
          <a:xfrm>
            <a:off x="868680" y="2295144"/>
            <a:ext cx="6400800" cy="502920"/>
          </a:xfrm>
          <a:prstGeom prst="rect">
            <a:avLst/>
          </a:prstGeom>
          <a:noFill/>
          <a:ln w="0">
            <a:noFill/>
          </a:ln>
        </p:spPr>
        <p:txBody>
          <a:bodyPr wrap="square" lIns="0" tIns="0" rIns="0" bIns="0" anchor="t">
            <a:noAutofit/>
          </a:bodyPr>
          <a:lstStyle/>
          <a:p>
            <a:pPr algn="l">
              <a:lnSpc>
                <a:spcPct val="112000"/>
              </a:lnSpc>
              <a:buNone/>
            </a:pPr>
            <a:r>
              <a:rPr lang="en-US" sz="1500" b="0">
                <a:solidFill>
                  <a:srgbClr val="4D6270"/>
                </a:solidFill>
                <a:latin typeface="Arial"/>
                <a:ea typeface="Arial"/>
                <a:cs typeface="Arial"/>
              </a:rPr>
              <a:t>16 tests pass; live demo: +96 orders (4.92%), Great Lakes +65</a:t>
            </a:r>
          </a:p>
        </p:txBody>
      </p:sp>
      <p:sp>
        <p:nvSpPr>
          <p:cNvPr id="17" name="lead-ERPNex"/>
          <p:cNvSpPr/>
          <p:nvPr/>
        </p:nvSpPr>
        <p:spPr>
          <a:xfrm>
            <a:off x="868680" y="2953512"/>
            <a:ext cx="6400800" cy="292608"/>
          </a:xfrm>
          <a:prstGeom prst="rect">
            <a:avLst/>
          </a:prstGeom>
          <a:noFill/>
          <a:ln w="0">
            <a:noFill/>
          </a:ln>
        </p:spPr>
        <p:txBody>
          <a:bodyPr wrap="square" lIns="0" tIns="0" rIns="0" bIns="0" anchor="t">
            <a:noAutofit/>
          </a:bodyPr>
          <a:lstStyle/>
          <a:p>
            <a:pPr algn="l">
              <a:lnSpc>
                <a:spcPct val="112000"/>
              </a:lnSpc>
              <a:buNone/>
            </a:pPr>
            <a:r>
              <a:rPr lang="en-US" sz="1725" b="1">
                <a:solidFill>
                  <a:srgbClr val="17324A"/>
                </a:solidFill>
                <a:latin typeface="Arial"/>
                <a:ea typeface="Arial"/>
                <a:cs typeface="Arial"/>
              </a:rPr>
              <a:t>ERPNext 15 with WWI data</a:t>
            </a:r>
          </a:p>
        </p:txBody>
      </p:sp>
      <p:sp>
        <p:nvSpPr>
          <p:cNvPr id="18" name="det-ERPNex"/>
          <p:cNvSpPr/>
          <p:nvPr/>
        </p:nvSpPr>
        <p:spPr>
          <a:xfrm>
            <a:off x="868680" y="3282696"/>
            <a:ext cx="6400800" cy="502920"/>
          </a:xfrm>
          <a:prstGeom prst="rect">
            <a:avLst/>
          </a:prstGeom>
          <a:noFill/>
          <a:ln w="0">
            <a:noFill/>
          </a:ln>
        </p:spPr>
        <p:txBody>
          <a:bodyPr wrap="square" lIns="0" tIns="0" rIns="0" bIns="0" anchor="t">
            <a:noAutofit/>
          </a:bodyPr>
          <a:lstStyle/>
          <a:p>
            <a:pPr algn="l">
              <a:lnSpc>
                <a:spcPct val="112000"/>
              </a:lnSpc>
              <a:buNone/>
            </a:pPr>
            <a:r>
              <a:rPr lang="en-US" sz="1500" b="0">
                <a:solidFill>
                  <a:srgbClr val="4D6270"/>
                </a:solidFill>
                <a:latin typeface="Arial"/>
                <a:ea typeface="Arial"/>
                <a:cs typeface="Arial"/>
              </a:rPr>
              <a:t>73,596 orders, 64,500 invoices, 2,074 POs; 8 of 8 checks pass</a:t>
            </a:r>
          </a:p>
        </p:txBody>
      </p:sp>
      <p:sp>
        <p:nvSpPr>
          <p:cNvPr id="19" name="lead-ERPNex"/>
          <p:cNvSpPr/>
          <p:nvPr/>
        </p:nvSpPr>
        <p:spPr>
          <a:xfrm>
            <a:off x="868680" y="3941064"/>
            <a:ext cx="6400800" cy="292608"/>
          </a:xfrm>
          <a:prstGeom prst="rect">
            <a:avLst/>
          </a:prstGeom>
          <a:noFill/>
          <a:ln w="0">
            <a:noFill/>
          </a:ln>
        </p:spPr>
        <p:txBody>
          <a:bodyPr wrap="square" lIns="0" tIns="0" rIns="0" bIns="0" anchor="t">
            <a:noAutofit/>
          </a:bodyPr>
          <a:lstStyle/>
          <a:p>
            <a:pPr algn="l">
              <a:lnSpc>
                <a:spcPct val="112000"/>
              </a:lnSpc>
              <a:buNone/>
            </a:pPr>
            <a:r>
              <a:rPr lang="en-US" sz="1725" b="1">
                <a:solidFill>
                  <a:srgbClr val="17324A"/>
                </a:solidFill>
                <a:latin typeface="Arial"/>
                <a:ea typeface="Arial"/>
                <a:cs typeface="Arial"/>
              </a:rPr>
              <a:t>ERPNext bridge (window.__vacp)</a:t>
            </a:r>
          </a:p>
        </p:txBody>
      </p:sp>
      <p:sp>
        <p:nvSpPr>
          <p:cNvPr id="20" name="det-ERPNex"/>
          <p:cNvSpPr/>
          <p:nvPr/>
        </p:nvSpPr>
        <p:spPr>
          <a:xfrm>
            <a:off x="868680" y="4270248"/>
            <a:ext cx="6400800" cy="502920"/>
          </a:xfrm>
          <a:prstGeom prst="rect">
            <a:avLst/>
          </a:prstGeom>
          <a:noFill/>
          <a:ln w="0">
            <a:noFill/>
          </a:ln>
        </p:spPr>
        <p:txBody>
          <a:bodyPr wrap="square" lIns="0" tIns="0" rIns="0" bIns="0" anchor="t">
            <a:noAutofit/>
          </a:bodyPr>
          <a:lstStyle/>
          <a:p>
            <a:pPr algn="l">
              <a:lnSpc>
                <a:spcPct val="112000"/>
              </a:lnSpc>
              <a:buNone/>
            </a:pPr>
            <a:r>
              <a:rPr lang="en-US" sz="1500" b="0">
                <a:solidFill>
                  <a:srgbClr val="4D6270"/>
                </a:solidFill>
                <a:latin typeface="Arial"/>
                <a:ea typeface="Arial"/>
                <a:cs typeface="Arial"/>
              </a:rPr>
              <a:t>23 of 23 checks against SQL on the stock Desk; invalid calls refused</a:t>
            </a:r>
          </a:p>
        </p:txBody>
      </p:sp>
      <p:sp>
        <p:nvSpPr>
          <p:cNvPr id="21" name="card-todo"/>
          <p:cNvSpPr/>
          <p:nvPr/>
        </p:nvSpPr>
        <p:spPr>
          <a:xfrm>
            <a:off x="7772400" y="1371600"/>
            <a:ext cx="3840480" cy="3611880"/>
          </a:xfrm>
          <a:prstGeom prst="rect">
            <a:avLst/>
          </a:prstGeom>
          <a:solidFill>
            <a:srgbClr val="EAF2F1"/>
          </a:solidFill>
          <a:ln w="15240">
            <a:solidFill>
              <a:srgbClr val="006D77"/>
            </a:solidFill>
          </a:ln>
        </p:spPr>
      </p:sp>
      <p:sp>
        <p:nvSpPr>
          <p:cNvPr id="22" name="todo-h"/>
          <p:cNvSpPr/>
          <p:nvPr/>
        </p:nvSpPr>
        <p:spPr>
          <a:xfrm>
            <a:off x="8001000" y="1481328"/>
            <a:ext cx="3474720" cy="365760"/>
          </a:xfrm>
          <a:prstGeom prst="rect">
            <a:avLst/>
          </a:prstGeom>
          <a:noFill/>
          <a:ln w="0">
            <a:noFill/>
          </a:ln>
        </p:spPr>
        <p:txBody>
          <a:bodyPr wrap="square" lIns="0" tIns="0" rIns="0" bIns="0" anchor="t">
            <a:noAutofit/>
          </a:bodyPr>
          <a:lstStyle/>
          <a:p>
            <a:pPr algn="l">
              <a:lnSpc>
                <a:spcPct val="112000"/>
              </a:lnSpc>
              <a:buNone/>
            </a:pPr>
            <a:r>
              <a:rPr lang="en-US" sz="2025" b="1">
                <a:solidFill>
                  <a:srgbClr val="17324A"/>
                </a:solidFill>
                <a:latin typeface="Arial"/>
                <a:ea typeface="Arial"/>
                <a:cs typeface="Arial"/>
              </a:rPr>
              <a:t>Not done yet</a:t>
            </a:r>
          </a:p>
        </p:txBody>
      </p:sp>
      <p:sp>
        <p:nvSpPr>
          <p:cNvPr id="23" name="todo-Held-o"/>
          <p:cNvSpPr/>
          <p:nvPr/>
        </p:nvSpPr>
        <p:spPr>
          <a:xfrm>
            <a:off x="8001000" y="2011680"/>
            <a:ext cx="3474720" cy="292608"/>
          </a:xfrm>
          <a:prstGeom prst="rect">
            <a:avLst/>
          </a:prstGeom>
          <a:noFill/>
          <a:ln w="0">
            <a:noFill/>
          </a:ln>
        </p:spPr>
        <p:txBody>
          <a:bodyPr wrap="square" lIns="0" tIns="0" rIns="0" bIns="0" anchor="t">
            <a:noAutofit/>
          </a:bodyPr>
          <a:lstStyle/>
          <a:p>
            <a:pPr algn="l">
              <a:lnSpc>
                <a:spcPct val="112000"/>
              </a:lnSpc>
              <a:buNone/>
            </a:pPr>
            <a:r>
              <a:rPr lang="en-US" sz="1650" b="0">
                <a:solidFill>
                  <a:srgbClr val="17324A"/>
                </a:solidFill>
                <a:latin typeface="Arial"/>
                <a:ea typeface="Arial"/>
                <a:cs typeface="Arial"/>
              </a:rPr>
              <a:t>Held-out run, 15 chains</a:t>
            </a:r>
          </a:p>
        </p:txBody>
      </p:sp>
      <p:sp>
        <p:nvSpPr>
          <p:cNvPr id="24" name="todo-Joined"/>
          <p:cNvSpPr/>
          <p:nvPr/>
        </p:nvSpPr>
        <p:spPr>
          <a:xfrm>
            <a:off x="8001000" y="2578608"/>
            <a:ext cx="3474720" cy="292608"/>
          </a:xfrm>
          <a:prstGeom prst="rect">
            <a:avLst/>
          </a:prstGeom>
          <a:noFill/>
          <a:ln w="0">
            <a:noFill/>
          </a:ln>
        </p:spPr>
        <p:txBody>
          <a:bodyPr wrap="square" lIns="0" tIns="0" rIns="0" bIns="0" anchor="t">
            <a:noAutofit/>
          </a:bodyPr>
          <a:lstStyle/>
          <a:p>
            <a:pPr algn="l">
              <a:lnSpc>
                <a:spcPct val="112000"/>
              </a:lnSpc>
              <a:buNone/>
            </a:pPr>
            <a:r>
              <a:rPr lang="en-US" sz="1650" b="0">
                <a:solidFill>
                  <a:srgbClr val="17324A"/>
                </a:solidFill>
                <a:latin typeface="Arial"/>
                <a:ea typeface="Arial"/>
                <a:cs typeface="Arial"/>
              </a:rPr>
              <a:t>Joined API + bridge agent</a:t>
            </a:r>
          </a:p>
        </p:txBody>
      </p:sp>
      <p:sp>
        <p:nvSpPr>
          <p:cNvPr id="25" name="todo-Durabl"/>
          <p:cNvSpPr/>
          <p:nvPr/>
        </p:nvSpPr>
        <p:spPr>
          <a:xfrm>
            <a:off x="8001000" y="3145536"/>
            <a:ext cx="3474720" cy="292608"/>
          </a:xfrm>
          <a:prstGeom prst="rect">
            <a:avLst/>
          </a:prstGeom>
          <a:noFill/>
          <a:ln w="0">
            <a:noFill/>
          </a:ln>
        </p:spPr>
        <p:txBody>
          <a:bodyPr wrap="square" lIns="0" tIns="0" rIns="0" bIns="0" anchor="t">
            <a:noAutofit/>
          </a:bodyPr>
          <a:lstStyle/>
          <a:p>
            <a:pPr algn="l">
              <a:lnSpc>
                <a:spcPct val="112000"/>
              </a:lnSpc>
              <a:buNone/>
            </a:pPr>
            <a:r>
              <a:rPr lang="en-US" sz="1650" b="0">
                <a:solidFill>
                  <a:srgbClr val="17324A"/>
                </a:solidFill>
                <a:latin typeface="Arial"/>
                <a:ea typeface="Arial"/>
                <a:cs typeface="Arial"/>
              </a:rPr>
              <a:t>Durable session state</a:t>
            </a:r>
          </a:p>
        </p:txBody>
      </p:sp>
      <p:sp>
        <p:nvSpPr>
          <p:cNvPr id="26" name="todo-Assist"/>
          <p:cNvSpPr/>
          <p:nvPr/>
        </p:nvSpPr>
        <p:spPr>
          <a:xfrm>
            <a:off x="8001000" y="3712464"/>
            <a:ext cx="3474720" cy="292608"/>
          </a:xfrm>
          <a:prstGeom prst="rect">
            <a:avLst/>
          </a:prstGeom>
          <a:noFill/>
          <a:ln w="0">
            <a:noFill/>
          </a:ln>
        </p:spPr>
        <p:txBody>
          <a:bodyPr wrap="square" lIns="0" tIns="0" rIns="0" bIns="0" anchor="t">
            <a:noAutofit/>
          </a:bodyPr>
          <a:lstStyle/>
          <a:p>
            <a:pPr algn="l">
              <a:lnSpc>
                <a:spcPct val="112000"/>
              </a:lnSpc>
              <a:buNone/>
            </a:pPr>
            <a:r>
              <a:rPr lang="en-US" sz="1650" b="0">
                <a:solidFill>
                  <a:srgbClr val="17324A"/>
                </a:solidFill>
                <a:latin typeface="Arial"/>
                <a:ea typeface="Arial"/>
                <a:cs typeface="Arial"/>
              </a:rPr>
              <a:t>Assistant panel in the app</a:t>
            </a:r>
          </a:p>
        </p:txBody>
      </p:sp>
      <p:sp>
        <p:nvSpPr>
          <p:cNvPr id="27" name="todo-WebAre"/>
          <p:cNvSpPr/>
          <p:nvPr/>
        </p:nvSpPr>
        <p:spPr>
          <a:xfrm>
            <a:off x="8001000" y="4279392"/>
            <a:ext cx="3474720" cy="292608"/>
          </a:xfrm>
          <a:prstGeom prst="rect">
            <a:avLst/>
          </a:prstGeom>
          <a:noFill/>
          <a:ln w="0">
            <a:noFill/>
          </a:ln>
        </p:spPr>
        <p:txBody>
          <a:bodyPr wrap="square" lIns="0" tIns="0" rIns="0" bIns="0" anchor="t">
            <a:noAutofit/>
          </a:bodyPr>
          <a:lstStyle/>
          <a:p>
            <a:pPr algn="l">
              <a:lnSpc>
                <a:spcPct val="112000"/>
              </a:lnSpc>
              <a:buNone/>
            </a:pPr>
            <a:r>
              <a:rPr lang="en-US" sz="1650" b="0">
                <a:solidFill>
                  <a:srgbClr val="17324A"/>
                </a:solidFill>
                <a:latin typeface="Arial"/>
                <a:ea typeface="Arial"/>
                <a:cs typeface="Arial"/>
              </a:rPr>
              <a:t>WebArena runs, baselines</a:t>
            </a:r>
          </a:p>
        </p:txBody>
      </p:sp>
      <p:sp>
        <p:nvSpPr>
          <p:cNvPr id="28" name="status-line"/>
          <p:cNvSpPr/>
          <p:nvPr/>
        </p:nvSpPr>
        <p:spPr>
          <a:xfrm>
            <a:off x="640080" y="5212080"/>
            <a:ext cx="10972800" cy="365760"/>
          </a:xfrm>
          <a:prstGeom prst="rect">
            <a:avLst/>
          </a:prstGeom>
          <a:noFill/>
          <a:ln w="0">
            <a:noFill/>
          </a:ln>
        </p:spPr>
        <p:txBody>
          <a:bodyPr wrap="square" lIns="0" tIns="0" rIns="0" bIns="0" anchor="t">
            <a:noAutofit/>
          </a:bodyPr>
          <a:lstStyle/>
          <a:p>
            <a:pPr algn="l">
              <a:lnSpc>
                <a:spcPct val="112000"/>
              </a:lnSpc>
              <a:buNone/>
            </a:pPr>
            <a:r>
              <a:rPr lang="en-US" sz="1875" b="1">
                <a:solidFill>
                  <a:srgbClr val="17324A"/>
                </a:solidFill>
                <a:latin typeface="Arial"/>
                <a:ea typeface="Arial"/>
                <a:cs typeface="Arial"/>
              </a:rPr>
              <a:t>Both channels are built and verified individually; joining them is the last step.</a:t>
            </a:r>
          </a:p>
        </p:txBody>
      </p:sp>
      <p:sp>
        <p:nvSpPr>
          <p:cNvPr id="29" name="status-note"/>
          <p:cNvSpPr/>
          <p:nvPr/>
        </p:nvSpPr>
        <p:spPr>
          <a:xfrm>
            <a:off x="640080" y="5650992"/>
            <a:ext cx="10972800" cy="594360"/>
          </a:xfrm>
          <a:prstGeom prst="rect">
            <a:avLst/>
          </a:prstGeom>
          <a:noFill/>
          <a:ln w="0">
            <a:noFill/>
          </a:ln>
        </p:spPr>
        <p:txBody>
          <a:bodyPr wrap="square" lIns="0" tIns="0" rIns="0" bIns="0" anchor="t">
            <a:noAutofit/>
          </a:bodyPr>
          <a:lstStyle/>
          <a:p>
            <a:pPr algn="l">
              <a:lnSpc>
                <a:spcPct val="112000"/>
              </a:lnSpc>
              <a:buNone/>
            </a:pPr>
            <a:r>
              <a:rPr lang="en-US" sz="1500" b="0">
                <a:solidFill>
                  <a:srgbClr val="4D6270"/>
                </a:solidFill>
                <a:latin typeface="Arial"/>
                <a:ea typeface="Arial"/>
                <a:cs typeface="Arial"/>
              </a:rPr>
              <a:t>The bridge is our own window.__vacp, tested in headless Chromium on the Sales Order and Sales Invoice lists, not VACP's kit. ERPNext invoices stop at 24 Feb 2016.</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1" name="shape-103">
            <a:extLst>
              <a:ext uri="{FF2B5EF4-FFF2-40B4-BE49-F238E27FC236}">
                <a16:creationId xmlns:a16="http://schemas.microsoft.com/office/drawing/2014/main" id="{2562CD2C-9E3E-4C69-A477-A75E7A395205}"/>
              </a:ext>
            </a:extLst>
          </p:cNvPr>
          <p:cNvSpPr>
            <a:spLocks noGrp="1"/>
          </p:cNvSpPr>
          <p:nvPr/>
        </p:nvSpPr>
        <p:spPr>
          <a:xfrm>
            <a:off x="0" y="0"/>
            <a:ext cx="12192000" cy="1066800"/>
          </a:xfrm>
          <a:prstGeom prst="rect">
            <a:avLst/>
          </a:prstGeom>
          <a:solidFill>
            <a:srgbClr val="F2F6F7"/>
          </a:solidFill>
          <a:ln w="0">
            <a:noFill/>
          </a:ln>
        </p:spPr>
      </p:sp>
      <p:sp>
        <p:nvSpPr>
          <p:cNvPr id="2" name="shape-104">
            <a:extLst>
              <a:ext uri="{FF2B5EF4-FFF2-40B4-BE49-F238E27FC236}">
                <a16:creationId xmlns:a16="http://schemas.microsoft.com/office/drawing/2014/main" id="{71631536-2294-40C9-AC9F-AFC33E3B96DA}"/>
              </a:ext>
            </a:extLst>
          </p:cNvPr>
          <p:cNvSpPr>
            <a:spLocks noGrp="1"/>
          </p:cNvSpPr>
          <p:nvPr/>
        </p:nvSpPr>
        <p:spPr>
          <a:xfrm>
            <a:off x="0" y="1038225"/>
            <a:ext cx="12192000" cy="28575"/>
          </a:xfrm>
          <a:prstGeom prst="rect">
            <a:avLst/>
          </a:prstGeom>
          <a:solidFill>
            <a:srgbClr val="006D77"/>
          </a:solidFill>
          <a:ln w="0">
            <a:noFill/>
          </a:ln>
        </p:spPr>
      </p:sp>
      <p:sp>
        <p:nvSpPr>
          <p:cNvPr id="3" name="slide-5-title">
            <a:extLst>
              <a:ext uri="{FF2B5EF4-FFF2-40B4-BE49-F238E27FC236}">
                <a16:creationId xmlns:a16="http://schemas.microsoft.com/office/drawing/2014/main" id="{1455044C-2DA0-495A-9F6C-D56E6E0D2C68}"/>
              </a:ext>
            </a:extLst>
          </p:cNvPr>
          <p:cNvSpPr>
            <a:spLocks noGrp="1"/>
          </p:cNvSpPr>
          <p:nvPr/>
        </p:nvSpPr>
        <p:spPr>
          <a:xfrm>
            <a:off x="609600" y="304800"/>
            <a:ext cx="8239125" cy="542925"/>
          </a:xfrm>
          <a:prstGeom prst="rect">
            <a:avLst/>
          </a:prstGeom>
          <a:noFill/>
          <a:ln w="0">
            <a:noFill/>
          </a:ln>
        </p:spPr>
        <p:txBody>
          <a:bodyPr wrap="square" lIns="0" tIns="0" rIns="0" bIns="0" anchor="t">
            <a:noAutofit/>
          </a:bodyPr>
          <a:lstStyle>
            <a:defPPr algn="l">
              <a:defRPr sz="3150" b="1">
                <a:solidFill>
                  <a:srgbClr val="102A43"/>
                </a:solidFill>
                <a:latin typeface="Arial"/>
                <a:ea typeface="Arial"/>
                <a:cs typeface="Arial"/>
              </a:defRPr>
            </a:defPPr>
          </a:lstStyle>
          <a:p>
            <a:pPr algn="l">
              <a:lnSpc>
                <a:spcPct val="112000"/>
              </a:lnSpc>
              <a:buNone/>
              <a:defRPr sz="3150" b="1">
                <a:solidFill>
                  <a:srgbClr val="102A43"/>
                </a:solidFill>
                <a:latin typeface="Arial"/>
                <a:ea typeface="Arial"/>
                <a:cs typeface="Arial"/>
              </a:defRPr>
            </a:pPr>
            <a:r>
              <a:rPr sz="3150" b="1">
                <a:solidFill>
                  <a:srgbClr val="102A43"/>
                </a:solidFill>
                <a:latin typeface="Arial"/>
                <a:ea typeface="Arial"/>
                <a:cs typeface="Arial"/>
              </a:rPr>
              <a:t>Research references (continued)</a:t>
            </a:r>
          </a:p>
        </p:txBody>
      </p:sp>
      <p:sp>
        <p:nvSpPr>
          <p:cNvPr id="4" name="shape-105">
            <a:extLst>
              <a:ext uri="{FF2B5EF4-FFF2-40B4-BE49-F238E27FC236}">
                <a16:creationId xmlns:a16="http://schemas.microsoft.com/office/drawing/2014/main" id="{B38EE9C8-9B23-41DE-BCB7-61D9A656A111}"/>
              </a:ext>
            </a:extLst>
          </p:cNvPr>
          <p:cNvSpPr>
            <a:spLocks noGrp="1"/>
          </p:cNvSpPr>
          <p:nvPr/>
        </p:nvSpPr>
        <p:spPr>
          <a:xfrm>
            <a:off x="0" y="6381750"/>
            <a:ext cx="12192000" cy="476250"/>
          </a:xfrm>
          <a:prstGeom prst="rect">
            <a:avLst/>
          </a:prstGeom>
          <a:solidFill>
            <a:srgbClr val="102A43"/>
          </a:solidFill>
          <a:ln w="0">
            <a:noFill/>
          </a:ln>
        </p:spPr>
      </p:sp>
      <p:sp>
        <p:nvSpPr>
          <p:cNvPr id="5" name="brand-5">
            <a:extLst>
              <a:ext uri="{FF2B5EF4-FFF2-40B4-BE49-F238E27FC236}">
                <a16:creationId xmlns:a16="http://schemas.microsoft.com/office/drawing/2014/main" id="{31610A6C-CA92-42F2-9154-E5526A315EAE}"/>
              </a:ext>
            </a:extLst>
          </p:cNvPr>
          <p:cNvSpPr>
            <a:spLocks noGrp="1"/>
          </p:cNvSpPr>
          <p:nvPr/>
        </p:nvSpPr>
        <p:spPr>
          <a:xfrm>
            <a:off x="609600" y="6467475"/>
            <a:ext cx="3429000" cy="333375"/>
          </a:xfrm>
          <a:prstGeom prst="rect">
            <a:avLst/>
          </a:prstGeom>
          <a:noFill/>
          <a:ln w="0">
            <a:noFill/>
          </a:ln>
        </p:spPr>
        <p:txBody>
          <a:bodyPr wrap="square" lIns="0" tIns="0" rIns="0" bIns="0" anchor="t">
            <a:noAutofit/>
          </a:bodyPr>
          <a:lstStyle>
            <a:defPPr algn="l">
              <a:defRPr sz="1950" b="1">
                <a:solidFill>
                  <a:srgbClr val="8AE1D5"/>
                </a:solidFill>
                <a:latin typeface="Arial"/>
                <a:ea typeface="Arial"/>
                <a:cs typeface="Arial"/>
              </a:defRPr>
            </a:defPPr>
          </a:lstStyle>
          <a:p>
            <a:pPr algn="l">
              <a:lnSpc>
                <a:spcPct val="112000"/>
              </a:lnSpc>
              <a:buNone/>
              <a:defRPr sz="1950" b="1">
                <a:solidFill>
                  <a:srgbClr val="8AE1D5"/>
                </a:solidFill>
                <a:latin typeface="Arial"/>
                <a:ea typeface="Arial"/>
                <a:cs typeface="Arial"/>
              </a:defRPr>
            </a:pPr>
            <a:r>
              <a:rPr sz="1950" b="1">
                <a:solidFill>
                  <a:srgbClr val="8AE1D5"/>
                </a:solidFill>
                <a:latin typeface="Arial"/>
                <a:ea typeface="Arial"/>
                <a:cs typeface="Arial"/>
              </a:rPr>
              <a:t>Sapience</a:t>
            </a:r>
          </a:p>
        </p:txBody>
      </p:sp>
      <p:sp>
        <p:nvSpPr>
          <p:cNvPr id="6" name="page-5">
            <a:extLst>
              <a:ext uri="{FF2B5EF4-FFF2-40B4-BE49-F238E27FC236}">
                <a16:creationId xmlns:a16="http://schemas.microsoft.com/office/drawing/2014/main" id="{3FA06EAC-5E3E-4A4F-BC8D-300A8EEAF3F5}"/>
              </a:ext>
            </a:extLst>
          </p:cNvPr>
          <p:cNvSpPr>
            <a:spLocks noGrp="1"/>
          </p:cNvSpPr>
          <p:nvPr/>
        </p:nvSpPr>
        <p:spPr>
          <a:xfrm>
            <a:off x="10629900" y="6505575"/>
            <a:ext cx="952500" cy="276225"/>
          </a:xfrm>
          <a:prstGeom prst="rect">
            <a:avLst/>
          </a:prstGeom>
          <a:noFill/>
          <a:ln w="0">
            <a:noFill/>
          </a:ln>
        </p:spPr>
        <p:txBody>
          <a:bodyPr wrap="square" lIns="0" tIns="0" rIns="0" bIns="0" anchor="t">
            <a:noAutofit/>
          </a:bodyPr>
          <a:lstStyle>
            <a:defPPr algn="r">
              <a:defRPr sz="1575" b="0">
                <a:solidFill>
                  <a:srgbClr val="FFFFFF"/>
                </a:solidFill>
                <a:latin typeface="Arial"/>
                <a:ea typeface="Arial"/>
                <a:cs typeface="Arial"/>
              </a:defRPr>
            </a:defPPr>
          </a:lstStyle>
          <a:p>
            <a:pPr algn="r">
              <a:lnSpc>
                <a:spcPct val="112000"/>
              </a:lnSpc>
              <a:buNone/>
              <a:defRPr sz="1575" b="0">
                <a:solidFill>
                  <a:srgbClr val="FFFFFF"/>
                </a:solidFill>
                <a:latin typeface="Arial"/>
                <a:ea typeface="Arial"/>
                <a:cs typeface="Arial"/>
              </a:defRPr>
            </a:pPr>
            <a:r>
              <a:rPr sz="1575" b="0">
                <a:solidFill>
                  <a:srgbClr val="FFFFFF"/>
                </a:solidFill>
                <a:latin typeface="Arial"/>
                <a:ea typeface="Arial"/>
                <a:cs typeface="Arial"/>
              </a:rPr>
              <a:t>17 / 18</a:t>
            </a:r>
          </a:p>
        </p:txBody>
      </p:sp>
      <p:pic>
        <p:nvPicPr>
          <p:cNvPr id="12" name="KLE logo" descr="image.png"/>
          <p:cNvPicPr>
            <a:picLocks noChangeAspect="1"/>
          </p:cNvPicPr>
          <p:nvPr/>
        </p:nvPicPr>
        <p:blipFill>
          <a:blip r:embed="rId2"/>
          <a:stretch>
            <a:fillRect/>
          </a:stretch>
        </p:blipFill>
        <p:spPr>
          <a:xfrm>
            <a:off x="9220220" y="295275"/>
            <a:ext cx="2362160" cy="442436"/>
          </a:xfrm>
          <a:prstGeom prst="rect">
            <a:avLst/>
          </a:prstGeom>
        </p:spPr>
      </p:pic>
      <p:sp>
        <p:nvSpPr>
          <p:cNvPr id="13" name="ref-num-13"/>
          <p:cNvSpPr/>
          <p:nvPr/>
        </p:nvSpPr>
        <p:spPr>
          <a:xfrm>
            <a:off x="640080" y="1554480"/>
            <a:ext cx="548640" cy="365760"/>
          </a:xfrm>
          <a:prstGeom prst="rect">
            <a:avLst/>
          </a:prstGeom>
          <a:noFill/>
          <a:ln w="0">
            <a:noFill/>
          </a:ln>
        </p:spPr>
        <p:txBody>
          <a:bodyPr wrap="square" lIns="0" tIns="0" rIns="0" bIns="0" anchor="t">
            <a:noAutofit/>
          </a:bodyPr>
          <a:lstStyle/>
          <a:p>
            <a:pPr algn="l">
              <a:lnSpc>
                <a:spcPct val="112000"/>
              </a:lnSpc>
              <a:buNone/>
            </a:pPr>
            <a:r>
              <a:rPr lang="en-US" sz="1800" b="1">
                <a:solidFill>
                  <a:srgbClr val="006D77"/>
                </a:solidFill>
                <a:latin typeface="Arial"/>
                <a:ea typeface="Arial"/>
                <a:cs typeface="Arial"/>
              </a:rPr>
              <a:t>13</a:t>
            </a:r>
          </a:p>
        </p:txBody>
      </p:sp>
      <p:sp>
        <p:nvSpPr>
          <p:cNvPr id="14" name="ref-title-13"/>
          <p:cNvSpPr/>
          <p:nvPr/>
        </p:nvSpPr>
        <p:spPr>
          <a:xfrm>
            <a:off x="1280160" y="1554480"/>
            <a:ext cx="4663440" cy="914400"/>
          </a:xfrm>
          <a:prstGeom prst="rect">
            <a:avLst/>
          </a:prstGeom>
          <a:noFill/>
          <a:ln w="0">
            <a:noFill/>
          </a:ln>
        </p:spPr>
        <p:txBody>
          <a:bodyPr wrap="square" lIns="0" tIns="0" rIns="0" bIns="0" anchor="t">
            <a:noAutofit/>
          </a:bodyPr>
          <a:lstStyle/>
          <a:p>
            <a:pPr algn="l">
              <a:lnSpc>
                <a:spcPct val="112000"/>
              </a:lnSpc>
              <a:buNone/>
            </a:pPr>
            <a:r>
              <a:rPr lang="en-US" sz="1725" b="1" u="sng">
                <a:solidFill>
                  <a:srgbClr val="17324A"/>
                </a:solidFill>
                <a:latin typeface="Arial"/>
                <a:ea typeface="Arial"/>
                <a:cs typeface="Arial"/>
                <a:hlinkClick r:id="rId3"/>
              </a:rPr>
              <a:t>WebArena Verified: Reliable</a:t>
            </a:r>
          </a:p>
          <a:p>
            <a:pPr algn="l">
              <a:lnSpc>
                <a:spcPct val="112000"/>
              </a:lnSpc>
              <a:buNone/>
            </a:pPr>
            <a:r>
              <a:rPr lang="en-US" sz="1725" b="1" u="sng">
                <a:solidFill>
                  <a:srgbClr val="17324A"/>
                </a:solidFill>
                <a:latin typeface="Arial"/>
                <a:ea typeface="Arial"/>
                <a:cs typeface="Arial"/>
                <a:hlinkClick r:id="rId3"/>
              </a:rPr>
              <a:t>Evaluation for Web Agents</a:t>
            </a:r>
          </a:p>
        </p:txBody>
      </p:sp>
      <p:sp>
        <p:nvSpPr>
          <p:cNvPr id="15" name="ref-meta-13"/>
          <p:cNvSpPr/>
          <p:nvPr/>
        </p:nvSpPr>
        <p:spPr>
          <a:xfrm>
            <a:off x="1280160" y="2231136"/>
            <a:ext cx="4663440" cy="274320"/>
          </a:xfrm>
          <a:prstGeom prst="rect">
            <a:avLst/>
          </a:prstGeom>
          <a:noFill/>
          <a:ln w="0">
            <a:noFill/>
          </a:ln>
        </p:spPr>
        <p:txBody>
          <a:bodyPr wrap="square" lIns="0" tIns="0" rIns="0" bIns="0" anchor="t">
            <a:noAutofit/>
          </a:bodyPr>
          <a:lstStyle/>
          <a:p>
            <a:pPr algn="l">
              <a:lnSpc>
                <a:spcPct val="112000"/>
              </a:lnSpc>
              <a:buNone/>
            </a:pPr>
            <a:r>
              <a:rPr lang="en-US" sz="1575" b="0">
                <a:solidFill>
                  <a:srgbClr val="4D6270"/>
                </a:solidFill>
                <a:latin typeface="Arial"/>
                <a:ea typeface="Arial"/>
                <a:cs typeface="Arial"/>
              </a:rPr>
              <a:t>El hattami et al.  /  NeurIPS 2025 workshop</a:t>
            </a:r>
          </a:p>
        </p:txBody>
      </p:sp>
      <p:sp>
        <p:nvSpPr>
          <p:cNvPr id="16" name="ref-num-14"/>
          <p:cNvSpPr/>
          <p:nvPr/>
        </p:nvSpPr>
        <p:spPr>
          <a:xfrm>
            <a:off x="6492240" y="1554480"/>
            <a:ext cx="548640" cy="365760"/>
          </a:xfrm>
          <a:prstGeom prst="rect">
            <a:avLst/>
          </a:prstGeom>
          <a:noFill/>
          <a:ln w="0">
            <a:noFill/>
          </a:ln>
        </p:spPr>
        <p:txBody>
          <a:bodyPr wrap="square" lIns="0" tIns="0" rIns="0" bIns="0" anchor="t">
            <a:noAutofit/>
          </a:bodyPr>
          <a:lstStyle/>
          <a:p>
            <a:pPr algn="l">
              <a:lnSpc>
                <a:spcPct val="112000"/>
              </a:lnSpc>
              <a:buNone/>
            </a:pPr>
            <a:r>
              <a:rPr lang="en-US" sz="1800" b="1">
                <a:solidFill>
                  <a:srgbClr val="006D77"/>
                </a:solidFill>
                <a:latin typeface="Arial"/>
                <a:ea typeface="Arial"/>
                <a:cs typeface="Arial"/>
              </a:rPr>
              <a:t>14</a:t>
            </a:r>
          </a:p>
        </p:txBody>
      </p:sp>
      <p:sp>
        <p:nvSpPr>
          <p:cNvPr id="17" name="ref-title-14"/>
          <p:cNvSpPr/>
          <p:nvPr/>
        </p:nvSpPr>
        <p:spPr>
          <a:xfrm>
            <a:off x="7132320" y="1554480"/>
            <a:ext cx="4663440" cy="914400"/>
          </a:xfrm>
          <a:prstGeom prst="rect">
            <a:avLst/>
          </a:prstGeom>
          <a:noFill/>
          <a:ln w="0">
            <a:noFill/>
          </a:ln>
        </p:spPr>
        <p:txBody>
          <a:bodyPr wrap="square" lIns="0" tIns="0" rIns="0" bIns="0" anchor="t">
            <a:noAutofit/>
          </a:bodyPr>
          <a:lstStyle/>
          <a:p>
            <a:pPr algn="l">
              <a:lnSpc>
                <a:spcPct val="112000"/>
              </a:lnSpc>
              <a:buNone/>
            </a:pPr>
            <a:r>
              <a:rPr lang="en-US" sz="1725" b="1" u="sng">
                <a:solidFill>
                  <a:srgbClr val="17324A"/>
                </a:solidFill>
                <a:latin typeface="Arial"/>
                <a:ea typeface="Arial"/>
                <a:cs typeface="Arial"/>
                <a:hlinkClick r:id="rId4"/>
              </a:rPr>
              <a:t>WALT: Web Agents that Learn Tools</a:t>
            </a:r>
          </a:p>
        </p:txBody>
      </p:sp>
      <p:sp>
        <p:nvSpPr>
          <p:cNvPr id="18" name="ref-meta-14"/>
          <p:cNvSpPr/>
          <p:nvPr/>
        </p:nvSpPr>
        <p:spPr>
          <a:xfrm>
            <a:off x="7132320" y="1947672"/>
            <a:ext cx="4663440" cy="274320"/>
          </a:xfrm>
          <a:prstGeom prst="rect">
            <a:avLst/>
          </a:prstGeom>
          <a:noFill/>
          <a:ln w="0">
            <a:noFill/>
          </a:ln>
        </p:spPr>
        <p:txBody>
          <a:bodyPr wrap="square" lIns="0" tIns="0" rIns="0" bIns="0" anchor="t">
            <a:noAutofit/>
          </a:bodyPr>
          <a:lstStyle/>
          <a:p>
            <a:pPr algn="l">
              <a:lnSpc>
                <a:spcPct val="112000"/>
              </a:lnSpc>
              <a:buNone/>
            </a:pPr>
            <a:r>
              <a:rPr lang="en-US" sz="1575" b="0">
                <a:solidFill>
                  <a:srgbClr val="4D6270"/>
                </a:solidFill>
                <a:latin typeface="Arial"/>
                <a:ea typeface="Arial"/>
                <a:cs typeface="Arial"/>
              </a:rPr>
              <a:t>Prabhu et al.  /  2025</a:t>
            </a:r>
          </a:p>
        </p:txBody>
      </p:sp>
      <p:sp>
        <p:nvSpPr>
          <p:cNvPr id="19" name="ref-num-15"/>
          <p:cNvSpPr/>
          <p:nvPr/>
        </p:nvSpPr>
        <p:spPr>
          <a:xfrm>
            <a:off x="640080" y="3429000"/>
            <a:ext cx="548640" cy="365760"/>
          </a:xfrm>
          <a:prstGeom prst="rect">
            <a:avLst/>
          </a:prstGeom>
          <a:noFill/>
          <a:ln w="0">
            <a:noFill/>
          </a:ln>
        </p:spPr>
        <p:txBody>
          <a:bodyPr wrap="square" lIns="0" tIns="0" rIns="0" bIns="0" anchor="t">
            <a:noAutofit/>
          </a:bodyPr>
          <a:lstStyle/>
          <a:p>
            <a:pPr algn="l">
              <a:lnSpc>
                <a:spcPct val="112000"/>
              </a:lnSpc>
              <a:buNone/>
            </a:pPr>
            <a:r>
              <a:rPr lang="en-US" sz="1800" b="1">
                <a:solidFill>
                  <a:srgbClr val="006D77"/>
                </a:solidFill>
                <a:latin typeface="Arial"/>
                <a:ea typeface="Arial"/>
                <a:cs typeface="Arial"/>
              </a:rPr>
              <a:t>15</a:t>
            </a:r>
          </a:p>
        </p:txBody>
      </p:sp>
      <p:sp>
        <p:nvSpPr>
          <p:cNvPr id="20" name="ref-title-15"/>
          <p:cNvSpPr/>
          <p:nvPr/>
        </p:nvSpPr>
        <p:spPr>
          <a:xfrm>
            <a:off x="1280160" y="3429000"/>
            <a:ext cx="4663440" cy="914400"/>
          </a:xfrm>
          <a:prstGeom prst="rect">
            <a:avLst/>
          </a:prstGeom>
          <a:noFill/>
          <a:ln w="0">
            <a:noFill/>
          </a:ln>
        </p:spPr>
        <p:txBody>
          <a:bodyPr wrap="square" lIns="0" tIns="0" rIns="0" bIns="0" anchor="t">
            <a:noAutofit/>
          </a:bodyPr>
          <a:lstStyle/>
          <a:p>
            <a:pPr algn="l">
              <a:lnSpc>
                <a:spcPct val="112000"/>
              </a:lnSpc>
              <a:buNone/>
            </a:pPr>
            <a:r>
              <a:rPr lang="en-US" sz="1725" b="1" u="sng">
                <a:solidFill>
                  <a:srgbClr val="17324A"/>
                </a:solidFill>
                <a:latin typeface="Arial"/>
                <a:ea typeface="Arial"/>
                <a:cs typeface="Arial"/>
                <a:hlinkClick r:id="rId5"/>
              </a:rPr>
              <a:t>Web Agents Should Adopt the</a:t>
            </a:r>
          </a:p>
          <a:p>
            <a:pPr algn="l">
              <a:lnSpc>
                <a:spcPct val="112000"/>
              </a:lnSpc>
              <a:buNone/>
            </a:pPr>
            <a:r>
              <a:rPr lang="en-US" sz="1725" b="1" u="sng">
                <a:solidFill>
                  <a:srgbClr val="17324A"/>
                </a:solidFill>
                <a:latin typeface="Arial"/>
                <a:ea typeface="Arial"/>
                <a:cs typeface="Arial"/>
                <a:hlinkClick r:id="rId5"/>
              </a:rPr>
              <a:t>Plan-Then-Execute Paradigm</a:t>
            </a:r>
          </a:p>
        </p:txBody>
      </p:sp>
      <p:sp>
        <p:nvSpPr>
          <p:cNvPr id="21" name="ref-meta-15"/>
          <p:cNvSpPr/>
          <p:nvPr/>
        </p:nvSpPr>
        <p:spPr>
          <a:xfrm>
            <a:off x="1280160" y="4105656"/>
            <a:ext cx="4663440" cy="274320"/>
          </a:xfrm>
          <a:prstGeom prst="rect">
            <a:avLst/>
          </a:prstGeom>
          <a:noFill/>
          <a:ln w="0">
            <a:noFill/>
          </a:ln>
        </p:spPr>
        <p:txBody>
          <a:bodyPr wrap="square" lIns="0" tIns="0" rIns="0" bIns="0" anchor="t">
            <a:noAutofit/>
          </a:bodyPr>
          <a:lstStyle/>
          <a:p>
            <a:pPr algn="l">
              <a:lnSpc>
                <a:spcPct val="112000"/>
              </a:lnSpc>
              <a:buNone/>
            </a:pPr>
            <a:r>
              <a:rPr lang="en-US" sz="1575" b="0">
                <a:solidFill>
                  <a:srgbClr val="4D6270"/>
                </a:solidFill>
                <a:latin typeface="Arial"/>
                <a:ea typeface="Arial"/>
                <a:cs typeface="Arial"/>
              </a:rPr>
              <a:t>Piet et al.  /  2026</a:t>
            </a:r>
          </a:p>
        </p:txBody>
      </p:sp>
      <p:sp>
        <p:nvSpPr>
          <p:cNvPr id="22" name="ref-num-16"/>
          <p:cNvSpPr/>
          <p:nvPr/>
        </p:nvSpPr>
        <p:spPr>
          <a:xfrm>
            <a:off x="6492240" y="3429000"/>
            <a:ext cx="548640" cy="365760"/>
          </a:xfrm>
          <a:prstGeom prst="rect">
            <a:avLst/>
          </a:prstGeom>
          <a:noFill/>
          <a:ln w="0">
            <a:noFill/>
          </a:ln>
        </p:spPr>
        <p:txBody>
          <a:bodyPr wrap="square" lIns="0" tIns="0" rIns="0" bIns="0" anchor="t">
            <a:noAutofit/>
          </a:bodyPr>
          <a:lstStyle/>
          <a:p>
            <a:pPr algn="l">
              <a:lnSpc>
                <a:spcPct val="112000"/>
              </a:lnSpc>
              <a:buNone/>
            </a:pPr>
            <a:r>
              <a:rPr lang="en-US" sz="1800" b="1">
                <a:solidFill>
                  <a:srgbClr val="006D77"/>
                </a:solidFill>
                <a:latin typeface="Arial"/>
                <a:ea typeface="Arial"/>
                <a:cs typeface="Arial"/>
              </a:rPr>
              <a:t>16</a:t>
            </a:r>
          </a:p>
        </p:txBody>
      </p:sp>
      <p:sp>
        <p:nvSpPr>
          <p:cNvPr id="23" name="ref-title-16"/>
          <p:cNvSpPr/>
          <p:nvPr/>
        </p:nvSpPr>
        <p:spPr>
          <a:xfrm>
            <a:off x="7132320" y="3429000"/>
            <a:ext cx="4663440" cy="914400"/>
          </a:xfrm>
          <a:prstGeom prst="rect">
            <a:avLst/>
          </a:prstGeom>
          <a:noFill/>
          <a:ln w="0">
            <a:noFill/>
          </a:ln>
        </p:spPr>
        <p:txBody>
          <a:bodyPr wrap="square" lIns="0" tIns="0" rIns="0" bIns="0" anchor="t">
            <a:noAutofit/>
          </a:bodyPr>
          <a:lstStyle/>
          <a:p>
            <a:pPr algn="l">
              <a:lnSpc>
                <a:spcPct val="112000"/>
              </a:lnSpc>
              <a:buNone/>
            </a:pPr>
            <a:r>
              <a:rPr lang="en-US" sz="1725" b="1" u="sng">
                <a:solidFill>
                  <a:srgbClr val="17324A"/>
                </a:solidFill>
                <a:latin typeface="Arial"/>
                <a:ea typeface="Arial"/>
                <a:cs typeface="Arial"/>
                <a:hlinkClick r:id="rId6"/>
              </a:rPr>
              <a:t>Callability Is Not Operability:</a:t>
            </a:r>
          </a:p>
          <a:p>
            <a:pPr algn="l">
              <a:lnSpc>
                <a:spcPct val="112000"/>
              </a:lnSpc>
              <a:buNone/>
            </a:pPr>
            <a:r>
              <a:rPr lang="en-US" sz="1725" b="1" u="sng">
                <a:solidFill>
                  <a:srgbClr val="17324A"/>
                </a:solidFill>
                <a:latin typeface="Arial"/>
                <a:ea typeface="Arial"/>
                <a:cs typeface="Arial"/>
                <a:hlinkClick r:id="rId6"/>
              </a:rPr>
              <a:t>Controlled Interface Interventions</a:t>
            </a:r>
          </a:p>
          <a:p>
            <a:pPr algn="l">
              <a:lnSpc>
                <a:spcPct val="112000"/>
              </a:lnSpc>
              <a:buNone/>
            </a:pPr>
            <a:r>
              <a:rPr lang="en-US" sz="1725" b="1" u="sng">
                <a:solidFill>
                  <a:srgbClr val="17324A"/>
                </a:solidFill>
                <a:latin typeface="Arial"/>
                <a:ea typeface="Arial"/>
                <a:cs typeface="Arial"/>
                <a:hlinkClick r:id="rId6"/>
              </a:rPr>
              <a:t>for LLM Agents</a:t>
            </a:r>
          </a:p>
        </p:txBody>
      </p:sp>
      <p:sp>
        <p:nvSpPr>
          <p:cNvPr id="24" name="ref-meta-16"/>
          <p:cNvSpPr/>
          <p:nvPr/>
        </p:nvSpPr>
        <p:spPr>
          <a:xfrm>
            <a:off x="7132320" y="4389120"/>
            <a:ext cx="4663440" cy="274320"/>
          </a:xfrm>
          <a:prstGeom prst="rect">
            <a:avLst/>
          </a:prstGeom>
          <a:noFill/>
          <a:ln w="0">
            <a:noFill/>
          </a:ln>
        </p:spPr>
        <p:txBody>
          <a:bodyPr wrap="square" lIns="0" tIns="0" rIns="0" bIns="0" anchor="t">
            <a:noAutofit/>
          </a:bodyPr>
          <a:lstStyle/>
          <a:p>
            <a:pPr algn="l">
              <a:lnSpc>
                <a:spcPct val="112000"/>
              </a:lnSpc>
              <a:buNone/>
            </a:pPr>
            <a:r>
              <a:rPr lang="en-US" sz="1575" b="0">
                <a:solidFill>
                  <a:srgbClr val="4D6270"/>
                </a:solidFill>
                <a:latin typeface="Arial"/>
                <a:ea typeface="Arial"/>
                <a:cs typeface="Arial"/>
              </a:rPr>
              <a:t>Wang  /  2026</a:t>
            </a:r>
          </a:p>
        </p:txBody>
      </p:sp>
      <p:sp>
        <p:nvSpPr>
          <p:cNvPr id="25" name="ref-note"/>
          <p:cNvSpPr/>
          <p:nvPr/>
        </p:nvSpPr>
        <p:spPr>
          <a:xfrm>
            <a:off x="640080" y="5989320"/>
            <a:ext cx="10972800" cy="274320"/>
          </a:xfrm>
          <a:prstGeom prst="rect">
            <a:avLst/>
          </a:prstGeom>
          <a:noFill/>
          <a:ln w="0">
            <a:noFill/>
          </a:ln>
        </p:spPr>
        <p:txBody>
          <a:bodyPr wrap="square" lIns="0" tIns="0" rIns="0" bIns="0" anchor="t">
            <a:noAutofit/>
          </a:bodyPr>
          <a:lstStyle/>
          <a:p>
            <a:pPr algn="l">
              <a:lnSpc>
                <a:spcPct val="112000"/>
              </a:lnSpc>
              <a:buNone/>
            </a:pPr>
            <a:r>
              <a:rPr lang="en-US" sz="1500" b="0">
                <a:solidFill>
                  <a:srgbClr val="4D6270"/>
                </a:solidFill>
                <a:latin typeface="Arial"/>
                <a:ea typeface="Arial"/>
                <a:cs typeface="Arial"/>
              </a:rPr>
              <a:t>Added in v5. Authors and venues checked on arXiv and OpenReview, 11 October 2026.</a:t>
            </a:r>
          </a:p>
        </p:txBody>
      </p:sp>
    </p:spTree>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3855</Words>
  <Application>Microsoft Office PowerPoint</Application>
  <DocSecurity>0</DocSecurity>
  <PresentationFormat>Widescreen</PresentationFormat>
  <Paragraphs>478</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Aptos</vt:lpstr>
      <vt:lpstr>Arial</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Yashas Bhoomraddi</cp:lastModifiedBy>
  <cp:revision>1</cp:revision>
  <dcterms:created xsi:type="dcterms:W3CDTF">2026-10-11T01:55:57Z</dcterms:created>
  <dcterms:modified xsi:type="dcterms:W3CDTF">2026-10-11T02:04:37Z</dcterms:modified>
</cp:coreProperties>
</file>